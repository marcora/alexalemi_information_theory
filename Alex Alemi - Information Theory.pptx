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257.xml"/>
  <Override ContentType="application/vnd.openxmlformats-officedocument.presentationml.notesSlide+xml" PartName="/ppt/notesSlides/notesSlide265.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73.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261.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70.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253.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268.xml"/>
  <Override ContentType="application/vnd.openxmlformats-officedocument.presentationml.notesSlide+xml" PartName="/ppt/notesSlides/notesSlide274.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56.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266.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252.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262.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67.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263.xml"/>
  <Override ContentType="application/vnd.openxmlformats-officedocument.presentationml.notesSlide+xml" PartName="/ppt/notesSlides/notesSlide25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72.xml"/>
  <Override ContentType="application/vnd.openxmlformats-officedocument.presentationml.notesSlide+xml" PartName="/ppt/notesSlides/notesSlide255.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25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264.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260.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69.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71.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254.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253.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261.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65.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57.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272.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68.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270.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25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259.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264.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258.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269.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260.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71.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26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66.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274.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255.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262.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252.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6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256.xml"/>
  <Override ContentType="application/vnd.openxmlformats-officedocument.presentationml.slide+xml" PartName="/ppt/slides/slide128.xml"/>
  <Override ContentType="application/vnd.openxmlformats-officedocument.presentationml.slide+xml" PartName="/ppt/slides/slide273.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5"/>
    <p:sldMasterId id="214748368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Lst>
  <p:sldSz cy="5143500" cx="9144000"/>
  <p:notesSz cx="6858000" cy="9144000"/>
  <p:embeddedFontLst>
    <p:embeddedFont>
      <p:font typeface="Roboto"/>
      <p:regular r:id="rId282"/>
      <p:bold r:id="rId283"/>
      <p:italic r:id="rId284"/>
      <p:boldItalic r:id="rId285"/>
    </p:embeddedFont>
    <p:embeddedFont>
      <p:font typeface="Google Sans"/>
      <p:regular r:id="rId286"/>
      <p:bold r:id="rId287"/>
      <p:italic r:id="rId288"/>
      <p:boldItalic r:id="rId289"/>
    </p:embeddedFont>
    <p:embeddedFont>
      <p:font typeface="Source Code Pro"/>
      <p:regular r:id="rId290"/>
      <p:bold r:id="rId291"/>
      <p:italic r:id="rId292"/>
      <p:boldItalic r:id="rId293"/>
    </p:embeddedFont>
    <p:embeddedFont>
      <p:font typeface="Roboto Light"/>
      <p:regular r:id="rId294"/>
      <p:bold r:id="rId295"/>
      <p:italic r:id="rId296"/>
      <p:boldItalic r:id="rId297"/>
    </p:embeddedFont>
    <p:embeddedFont>
      <p:font typeface="Fira Code"/>
      <p:regular r:id="rId298"/>
      <p:bold r:id="rId299"/>
    </p:embeddedFont>
    <p:embeddedFont>
      <p:font typeface="Roboto Mono"/>
      <p:regular r:id="rId300"/>
      <p:bold r:id="rId301"/>
      <p:italic r:id="rId302"/>
      <p:boldItalic r:id="rId303"/>
    </p:embeddedFont>
    <p:embeddedFont>
      <p:font typeface="Merriweather"/>
      <p:regular r:id="rId304"/>
      <p:bold r:id="rId305"/>
      <p:italic r:id="rId306"/>
      <p:boldItalic r:id="rId307"/>
    </p:embeddedFont>
    <p:embeddedFont>
      <p:font typeface="Open Sans"/>
      <p:regular r:id="rId308"/>
      <p:bold r:id="rId309"/>
      <p:italic r:id="rId310"/>
      <p:boldItalic r:id="rId3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2C7768D-37AC-4C37-B4E8-91D0278590BF}">
  <a:tblStyle styleId="{22C7768D-37AC-4C37-B4E8-91D0278590B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190" Type="http://schemas.openxmlformats.org/officeDocument/2006/relationships/slide" Target="slides/slide18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194" Type="http://schemas.openxmlformats.org/officeDocument/2006/relationships/slide" Target="slides/slide187.xml"/><Relationship Id="rId43" Type="http://schemas.openxmlformats.org/officeDocument/2006/relationships/slide" Target="slides/slide36.xml"/><Relationship Id="rId193" Type="http://schemas.openxmlformats.org/officeDocument/2006/relationships/slide" Target="slides/slide186.xml"/><Relationship Id="rId46" Type="http://schemas.openxmlformats.org/officeDocument/2006/relationships/slide" Target="slides/slide39.xml"/><Relationship Id="rId192" Type="http://schemas.openxmlformats.org/officeDocument/2006/relationships/slide" Target="slides/slide185.xml"/><Relationship Id="rId45" Type="http://schemas.openxmlformats.org/officeDocument/2006/relationships/slide" Target="slides/slide38.xml"/><Relationship Id="rId191" Type="http://schemas.openxmlformats.org/officeDocument/2006/relationships/slide" Target="slides/slide184.xml"/><Relationship Id="rId48" Type="http://schemas.openxmlformats.org/officeDocument/2006/relationships/slide" Target="slides/slide41.xml"/><Relationship Id="rId187" Type="http://schemas.openxmlformats.org/officeDocument/2006/relationships/slide" Target="slides/slide180.xml"/><Relationship Id="rId47" Type="http://schemas.openxmlformats.org/officeDocument/2006/relationships/slide" Target="slides/slide40.xml"/><Relationship Id="rId186" Type="http://schemas.openxmlformats.org/officeDocument/2006/relationships/slide" Target="slides/slide179.xml"/><Relationship Id="rId185" Type="http://schemas.openxmlformats.org/officeDocument/2006/relationships/slide" Target="slides/slide178.xml"/><Relationship Id="rId49" Type="http://schemas.openxmlformats.org/officeDocument/2006/relationships/slide" Target="slides/slide42.xml"/><Relationship Id="rId184" Type="http://schemas.openxmlformats.org/officeDocument/2006/relationships/slide" Target="slides/slide177.xml"/><Relationship Id="rId189" Type="http://schemas.openxmlformats.org/officeDocument/2006/relationships/slide" Target="slides/slide182.xml"/><Relationship Id="rId188" Type="http://schemas.openxmlformats.org/officeDocument/2006/relationships/slide" Target="slides/slide18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183" Type="http://schemas.openxmlformats.org/officeDocument/2006/relationships/slide" Target="slides/slide176.xml"/><Relationship Id="rId32" Type="http://schemas.openxmlformats.org/officeDocument/2006/relationships/slide" Target="slides/slide25.xml"/><Relationship Id="rId182" Type="http://schemas.openxmlformats.org/officeDocument/2006/relationships/slide" Target="slides/slide175.xml"/><Relationship Id="rId35" Type="http://schemas.openxmlformats.org/officeDocument/2006/relationships/slide" Target="slides/slide28.xml"/><Relationship Id="rId181" Type="http://schemas.openxmlformats.org/officeDocument/2006/relationships/slide" Target="slides/slide174.xml"/><Relationship Id="rId34" Type="http://schemas.openxmlformats.org/officeDocument/2006/relationships/slide" Target="slides/slide27.xml"/><Relationship Id="rId180" Type="http://schemas.openxmlformats.org/officeDocument/2006/relationships/slide" Target="slides/slide173.xml"/><Relationship Id="rId37" Type="http://schemas.openxmlformats.org/officeDocument/2006/relationships/slide" Target="slides/slide30.xml"/><Relationship Id="rId176" Type="http://schemas.openxmlformats.org/officeDocument/2006/relationships/slide" Target="slides/slide169.xml"/><Relationship Id="rId297" Type="http://schemas.openxmlformats.org/officeDocument/2006/relationships/font" Target="fonts/RobotoLight-boldItalic.fntdata"/><Relationship Id="rId36" Type="http://schemas.openxmlformats.org/officeDocument/2006/relationships/slide" Target="slides/slide29.xml"/><Relationship Id="rId175" Type="http://schemas.openxmlformats.org/officeDocument/2006/relationships/slide" Target="slides/slide168.xml"/><Relationship Id="rId296" Type="http://schemas.openxmlformats.org/officeDocument/2006/relationships/font" Target="fonts/RobotoLight-italic.fntdata"/><Relationship Id="rId39" Type="http://schemas.openxmlformats.org/officeDocument/2006/relationships/slide" Target="slides/slide32.xml"/><Relationship Id="rId174" Type="http://schemas.openxmlformats.org/officeDocument/2006/relationships/slide" Target="slides/slide167.xml"/><Relationship Id="rId295" Type="http://schemas.openxmlformats.org/officeDocument/2006/relationships/font" Target="fonts/RobotoLight-bold.fntdata"/><Relationship Id="rId38" Type="http://schemas.openxmlformats.org/officeDocument/2006/relationships/slide" Target="slides/slide31.xml"/><Relationship Id="rId173" Type="http://schemas.openxmlformats.org/officeDocument/2006/relationships/slide" Target="slides/slide166.xml"/><Relationship Id="rId294" Type="http://schemas.openxmlformats.org/officeDocument/2006/relationships/font" Target="fonts/RobotoLight-regular.fntdata"/><Relationship Id="rId179" Type="http://schemas.openxmlformats.org/officeDocument/2006/relationships/slide" Target="slides/slide172.xml"/><Relationship Id="rId178" Type="http://schemas.openxmlformats.org/officeDocument/2006/relationships/slide" Target="slides/slide171.xml"/><Relationship Id="rId299" Type="http://schemas.openxmlformats.org/officeDocument/2006/relationships/font" Target="fonts/FiraCode-bold.fntdata"/><Relationship Id="rId177" Type="http://schemas.openxmlformats.org/officeDocument/2006/relationships/slide" Target="slides/slide170.xml"/><Relationship Id="rId298" Type="http://schemas.openxmlformats.org/officeDocument/2006/relationships/font" Target="fonts/FiraCode-regular.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98" Type="http://schemas.openxmlformats.org/officeDocument/2006/relationships/slide" Target="slides/slide191.xml"/><Relationship Id="rId14" Type="http://schemas.openxmlformats.org/officeDocument/2006/relationships/slide" Target="slides/slide7.xml"/><Relationship Id="rId197" Type="http://schemas.openxmlformats.org/officeDocument/2006/relationships/slide" Target="slides/slide190.xml"/><Relationship Id="rId17" Type="http://schemas.openxmlformats.org/officeDocument/2006/relationships/slide" Target="slides/slide10.xml"/><Relationship Id="rId196" Type="http://schemas.openxmlformats.org/officeDocument/2006/relationships/slide" Target="slides/slide189.xml"/><Relationship Id="rId16" Type="http://schemas.openxmlformats.org/officeDocument/2006/relationships/slide" Target="slides/slide9.xml"/><Relationship Id="rId195" Type="http://schemas.openxmlformats.org/officeDocument/2006/relationships/slide" Target="slides/slide188.xml"/><Relationship Id="rId19" Type="http://schemas.openxmlformats.org/officeDocument/2006/relationships/slide" Target="slides/slide12.xml"/><Relationship Id="rId18" Type="http://schemas.openxmlformats.org/officeDocument/2006/relationships/slide" Target="slides/slide11.xml"/><Relationship Id="rId199" Type="http://schemas.openxmlformats.org/officeDocument/2006/relationships/slide" Target="slides/slide192.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150" Type="http://schemas.openxmlformats.org/officeDocument/2006/relationships/slide" Target="slides/slide143.xml"/><Relationship Id="rId271" Type="http://schemas.openxmlformats.org/officeDocument/2006/relationships/slide" Target="slides/slide264.xml"/><Relationship Id="rId87" Type="http://schemas.openxmlformats.org/officeDocument/2006/relationships/slide" Target="slides/slide80.xml"/><Relationship Id="rId270" Type="http://schemas.openxmlformats.org/officeDocument/2006/relationships/slide" Target="slides/slide263.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2.xml"/><Relationship Id="rId4" Type="http://schemas.openxmlformats.org/officeDocument/2006/relationships/tableStyles" Target="tableStyles.xml"/><Relationship Id="rId148" Type="http://schemas.openxmlformats.org/officeDocument/2006/relationships/slide" Target="slides/slide141.xml"/><Relationship Id="rId269" Type="http://schemas.openxmlformats.org/officeDocument/2006/relationships/slide" Target="slides/slide262.xml"/><Relationship Id="rId9" Type="http://schemas.openxmlformats.org/officeDocument/2006/relationships/slide" Target="slides/slide2.xml"/><Relationship Id="rId143" Type="http://schemas.openxmlformats.org/officeDocument/2006/relationships/slide" Target="slides/slide136.xml"/><Relationship Id="rId264" Type="http://schemas.openxmlformats.org/officeDocument/2006/relationships/slide" Target="slides/slide257.xml"/><Relationship Id="rId142" Type="http://schemas.openxmlformats.org/officeDocument/2006/relationships/slide" Target="slides/slide135.xml"/><Relationship Id="rId263" Type="http://schemas.openxmlformats.org/officeDocument/2006/relationships/slide" Target="slides/slide256.xml"/><Relationship Id="rId141" Type="http://schemas.openxmlformats.org/officeDocument/2006/relationships/slide" Target="slides/slide134.xml"/><Relationship Id="rId262" Type="http://schemas.openxmlformats.org/officeDocument/2006/relationships/slide" Target="slides/slide255.xml"/><Relationship Id="rId140" Type="http://schemas.openxmlformats.org/officeDocument/2006/relationships/slide" Target="slides/slide133.xml"/><Relationship Id="rId261" Type="http://schemas.openxmlformats.org/officeDocument/2006/relationships/slide" Target="slides/slide254.xml"/><Relationship Id="rId5" Type="http://schemas.openxmlformats.org/officeDocument/2006/relationships/slideMaster" Target="slideMasters/slideMaster1.xml"/><Relationship Id="rId147" Type="http://schemas.openxmlformats.org/officeDocument/2006/relationships/slide" Target="slides/slide140.xml"/><Relationship Id="rId268" Type="http://schemas.openxmlformats.org/officeDocument/2006/relationships/slide" Target="slides/slide261.xml"/><Relationship Id="rId6" Type="http://schemas.openxmlformats.org/officeDocument/2006/relationships/slideMaster" Target="slideMasters/slideMaster2.xml"/><Relationship Id="rId146" Type="http://schemas.openxmlformats.org/officeDocument/2006/relationships/slide" Target="slides/slide139.xml"/><Relationship Id="rId267" Type="http://schemas.openxmlformats.org/officeDocument/2006/relationships/slide" Target="slides/slide260.xml"/><Relationship Id="rId7" Type="http://schemas.openxmlformats.org/officeDocument/2006/relationships/notesMaster" Target="notesMasters/notesMaster1.xml"/><Relationship Id="rId145" Type="http://schemas.openxmlformats.org/officeDocument/2006/relationships/slide" Target="slides/slide138.xml"/><Relationship Id="rId266" Type="http://schemas.openxmlformats.org/officeDocument/2006/relationships/slide" Target="slides/slide259.xml"/><Relationship Id="rId8" Type="http://schemas.openxmlformats.org/officeDocument/2006/relationships/slide" Target="slides/slide1.xml"/><Relationship Id="rId144" Type="http://schemas.openxmlformats.org/officeDocument/2006/relationships/slide" Target="slides/slide137.xml"/><Relationship Id="rId265" Type="http://schemas.openxmlformats.org/officeDocument/2006/relationships/slide" Target="slides/slide258.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260" Type="http://schemas.openxmlformats.org/officeDocument/2006/relationships/slide" Target="slides/slide253.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139" Type="http://schemas.openxmlformats.org/officeDocument/2006/relationships/slide" Target="slides/slide132.xml"/><Relationship Id="rId138" Type="http://schemas.openxmlformats.org/officeDocument/2006/relationships/slide" Target="slides/slide131.xml"/><Relationship Id="rId259" Type="http://schemas.openxmlformats.org/officeDocument/2006/relationships/slide" Target="slides/slide252.xml"/><Relationship Id="rId137" Type="http://schemas.openxmlformats.org/officeDocument/2006/relationships/slide" Target="slides/slide130.xml"/><Relationship Id="rId258" Type="http://schemas.openxmlformats.org/officeDocument/2006/relationships/slide" Target="slides/slide251.xml"/><Relationship Id="rId132" Type="http://schemas.openxmlformats.org/officeDocument/2006/relationships/slide" Target="slides/slide125.xml"/><Relationship Id="rId253" Type="http://schemas.openxmlformats.org/officeDocument/2006/relationships/slide" Target="slides/slide246.xml"/><Relationship Id="rId131" Type="http://schemas.openxmlformats.org/officeDocument/2006/relationships/slide" Target="slides/slide124.xml"/><Relationship Id="rId252" Type="http://schemas.openxmlformats.org/officeDocument/2006/relationships/slide" Target="slides/slide245.xml"/><Relationship Id="rId130" Type="http://schemas.openxmlformats.org/officeDocument/2006/relationships/slide" Target="slides/slide123.xml"/><Relationship Id="rId251" Type="http://schemas.openxmlformats.org/officeDocument/2006/relationships/slide" Target="slides/slide244.xml"/><Relationship Id="rId250" Type="http://schemas.openxmlformats.org/officeDocument/2006/relationships/slide" Target="slides/slide243.xml"/><Relationship Id="rId136" Type="http://schemas.openxmlformats.org/officeDocument/2006/relationships/slide" Target="slides/slide129.xml"/><Relationship Id="rId257" Type="http://schemas.openxmlformats.org/officeDocument/2006/relationships/slide" Target="slides/slide250.xml"/><Relationship Id="rId135" Type="http://schemas.openxmlformats.org/officeDocument/2006/relationships/slide" Target="slides/slide128.xml"/><Relationship Id="rId256" Type="http://schemas.openxmlformats.org/officeDocument/2006/relationships/slide" Target="slides/slide249.xml"/><Relationship Id="rId134" Type="http://schemas.openxmlformats.org/officeDocument/2006/relationships/slide" Target="slides/slide127.xml"/><Relationship Id="rId255" Type="http://schemas.openxmlformats.org/officeDocument/2006/relationships/slide" Target="slides/slide248.xml"/><Relationship Id="rId133" Type="http://schemas.openxmlformats.org/officeDocument/2006/relationships/slide" Target="slides/slide126.xml"/><Relationship Id="rId254" Type="http://schemas.openxmlformats.org/officeDocument/2006/relationships/slide" Target="slides/slide247.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172" Type="http://schemas.openxmlformats.org/officeDocument/2006/relationships/slide" Target="slides/slide165.xml"/><Relationship Id="rId293" Type="http://schemas.openxmlformats.org/officeDocument/2006/relationships/font" Target="fonts/SourceCodePro-boldItalic.fntdata"/><Relationship Id="rId65" Type="http://schemas.openxmlformats.org/officeDocument/2006/relationships/slide" Target="slides/slide58.xml"/><Relationship Id="rId171" Type="http://schemas.openxmlformats.org/officeDocument/2006/relationships/slide" Target="slides/slide164.xml"/><Relationship Id="rId292" Type="http://schemas.openxmlformats.org/officeDocument/2006/relationships/font" Target="fonts/SourceCodePro-italic.fntdata"/><Relationship Id="rId68" Type="http://schemas.openxmlformats.org/officeDocument/2006/relationships/slide" Target="slides/slide61.xml"/><Relationship Id="rId170" Type="http://schemas.openxmlformats.org/officeDocument/2006/relationships/slide" Target="slides/slide163.xml"/><Relationship Id="rId291" Type="http://schemas.openxmlformats.org/officeDocument/2006/relationships/font" Target="fonts/SourceCodePro-bold.fntdata"/><Relationship Id="rId67" Type="http://schemas.openxmlformats.org/officeDocument/2006/relationships/slide" Target="slides/slide60.xml"/><Relationship Id="rId290" Type="http://schemas.openxmlformats.org/officeDocument/2006/relationships/font" Target="fonts/SourceCodePro-regular.fntdata"/><Relationship Id="rId60" Type="http://schemas.openxmlformats.org/officeDocument/2006/relationships/slide" Target="slides/slide53.xml"/><Relationship Id="rId165" Type="http://schemas.openxmlformats.org/officeDocument/2006/relationships/slide" Target="slides/slide158.xml"/><Relationship Id="rId286" Type="http://schemas.openxmlformats.org/officeDocument/2006/relationships/font" Target="fonts/GoogleSans-regular.fntdata"/><Relationship Id="rId69" Type="http://schemas.openxmlformats.org/officeDocument/2006/relationships/slide" Target="slides/slide62.xml"/><Relationship Id="rId164" Type="http://schemas.openxmlformats.org/officeDocument/2006/relationships/slide" Target="slides/slide157.xml"/><Relationship Id="rId285" Type="http://schemas.openxmlformats.org/officeDocument/2006/relationships/font" Target="fonts/Roboto-boldItalic.fntdata"/><Relationship Id="rId163" Type="http://schemas.openxmlformats.org/officeDocument/2006/relationships/slide" Target="slides/slide156.xml"/><Relationship Id="rId284" Type="http://schemas.openxmlformats.org/officeDocument/2006/relationships/font" Target="fonts/Roboto-italic.fntdata"/><Relationship Id="rId162" Type="http://schemas.openxmlformats.org/officeDocument/2006/relationships/slide" Target="slides/slide155.xml"/><Relationship Id="rId283" Type="http://schemas.openxmlformats.org/officeDocument/2006/relationships/font" Target="fonts/Roboto-bold.fntdata"/><Relationship Id="rId169" Type="http://schemas.openxmlformats.org/officeDocument/2006/relationships/slide" Target="slides/slide162.xml"/><Relationship Id="rId168" Type="http://schemas.openxmlformats.org/officeDocument/2006/relationships/slide" Target="slides/slide161.xml"/><Relationship Id="rId289" Type="http://schemas.openxmlformats.org/officeDocument/2006/relationships/font" Target="fonts/GoogleSans-boldItalic.fntdata"/><Relationship Id="rId167" Type="http://schemas.openxmlformats.org/officeDocument/2006/relationships/slide" Target="slides/slide160.xml"/><Relationship Id="rId288" Type="http://schemas.openxmlformats.org/officeDocument/2006/relationships/font" Target="fonts/GoogleSans-italic.fntdata"/><Relationship Id="rId166" Type="http://schemas.openxmlformats.org/officeDocument/2006/relationships/slide" Target="slides/slide159.xml"/><Relationship Id="rId287" Type="http://schemas.openxmlformats.org/officeDocument/2006/relationships/font" Target="fonts/GoogleSans-bold.fntdata"/><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161" Type="http://schemas.openxmlformats.org/officeDocument/2006/relationships/slide" Target="slides/slide154.xml"/><Relationship Id="rId282" Type="http://schemas.openxmlformats.org/officeDocument/2006/relationships/font" Target="fonts/Roboto-regular.fntdata"/><Relationship Id="rId54" Type="http://schemas.openxmlformats.org/officeDocument/2006/relationships/slide" Target="slides/slide47.xml"/><Relationship Id="rId160" Type="http://schemas.openxmlformats.org/officeDocument/2006/relationships/slide" Target="slides/slide153.xml"/><Relationship Id="rId281" Type="http://schemas.openxmlformats.org/officeDocument/2006/relationships/slide" Target="slides/slide274.xml"/><Relationship Id="rId57" Type="http://schemas.openxmlformats.org/officeDocument/2006/relationships/slide" Target="slides/slide50.xml"/><Relationship Id="rId280" Type="http://schemas.openxmlformats.org/officeDocument/2006/relationships/slide" Target="slides/slide273.xml"/><Relationship Id="rId56" Type="http://schemas.openxmlformats.org/officeDocument/2006/relationships/slide" Target="slides/slide49.xml"/><Relationship Id="rId159" Type="http://schemas.openxmlformats.org/officeDocument/2006/relationships/slide" Target="slides/slide152.xml"/><Relationship Id="rId59" Type="http://schemas.openxmlformats.org/officeDocument/2006/relationships/slide" Target="slides/slide52.xml"/><Relationship Id="rId154" Type="http://schemas.openxmlformats.org/officeDocument/2006/relationships/slide" Target="slides/slide147.xml"/><Relationship Id="rId275" Type="http://schemas.openxmlformats.org/officeDocument/2006/relationships/slide" Target="slides/slide268.xml"/><Relationship Id="rId58" Type="http://schemas.openxmlformats.org/officeDocument/2006/relationships/slide" Target="slides/slide51.xml"/><Relationship Id="rId153" Type="http://schemas.openxmlformats.org/officeDocument/2006/relationships/slide" Target="slides/slide146.xml"/><Relationship Id="rId274" Type="http://schemas.openxmlformats.org/officeDocument/2006/relationships/slide" Target="slides/slide267.xml"/><Relationship Id="rId152" Type="http://schemas.openxmlformats.org/officeDocument/2006/relationships/slide" Target="slides/slide145.xml"/><Relationship Id="rId273" Type="http://schemas.openxmlformats.org/officeDocument/2006/relationships/slide" Target="slides/slide266.xml"/><Relationship Id="rId151" Type="http://schemas.openxmlformats.org/officeDocument/2006/relationships/slide" Target="slides/slide144.xml"/><Relationship Id="rId272" Type="http://schemas.openxmlformats.org/officeDocument/2006/relationships/slide" Target="slides/slide265.xml"/><Relationship Id="rId158" Type="http://schemas.openxmlformats.org/officeDocument/2006/relationships/slide" Target="slides/slide151.xml"/><Relationship Id="rId279" Type="http://schemas.openxmlformats.org/officeDocument/2006/relationships/slide" Target="slides/slide272.xml"/><Relationship Id="rId157" Type="http://schemas.openxmlformats.org/officeDocument/2006/relationships/slide" Target="slides/slide150.xml"/><Relationship Id="rId278" Type="http://schemas.openxmlformats.org/officeDocument/2006/relationships/slide" Target="slides/slide271.xml"/><Relationship Id="rId156" Type="http://schemas.openxmlformats.org/officeDocument/2006/relationships/slide" Target="slides/slide149.xml"/><Relationship Id="rId277" Type="http://schemas.openxmlformats.org/officeDocument/2006/relationships/slide" Target="slides/slide270.xml"/><Relationship Id="rId155" Type="http://schemas.openxmlformats.org/officeDocument/2006/relationships/slide" Target="slides/slide148.xml"/><Relationship Id="rId276" Type="http://schemas.openxmlformats.org/officeDocument/2006/relationships/slide" Target="slides/slide269.xml"/><Relationship Id="rId107" Type="http://schemas.openxmlformats.org/officeDocument/2006/relationships/slide" Target="slides/slide100.xml"/><Relationship Id="rId228" Type="http://schemas.openxmlformats.org/officeDocument/2006/relationships/slide" Target="slides/slide221.xml"/><Relationship Id="rId106" Type="http://schemas.openxmlformats.org/officeDocument/2006/relationships/slide" Target="slides/slide99.xml"/><Relationship Id="rId227" Type="http://schemas.openxmlformats.org/officeDocument/2006/relationships/slide" Target="slides/slide220.xml"/><Relationship Id="rId105" Type="http://schemas.openxmlformats.org/officeDocument/2006/relationships/slide" Target="slides/slide98.xml"/><Relationship Id="rId226" Type="http://schemas.openxmlformats.org/officeDocument/2006/relationships/slide" Target="slides/slide219.xml"/><Relationship Id="rId104" Type="http://schemas.openxmlformats.org/officeDocument/2006/relationships/slide" Target="slides/slide97.xml"/><Relationship Id="rId225" Type="http://schemas.openxmlformats.org/officeDocument/2006/relationships/slide" Target="slides/slide218.xml"/><Relationship Id="rId109" Type="http://schemas.openxmlformats.org/officeDocument/2006/relationships/slide" Target="slides/slide102.xml"/><Relationship Id="rId108" Type="http://schemas.openxmlformats.org/officeDocument/2006/relationships/slide" Target="slides/slide101.xml"/><Relationship Id="rId229" Type="http://schemas.openxmlformats.org/officeDocument/2006/relationships/slide" Target="slides/slide222.xml"/><Relationship Id="rId220" Type="http://schemas.openxmlformats.org/officeDocument/2006/relationships/slide" Target="slides/slide213.xml"/><Relationship Id="rId103" Type="http://schemas.openxmlformats.org/officeDocument/2006/relationships/slide" Target="slides/slide96.xml"/><Relationship Id="rId224" Type="http://schemas.openxmlformats.org/officeDocument/2006/relationships/slide" Target="slides/slide217.xml"/><Relationship Id="rId102" Type="http://schemas.openxmlformats.org/officeDocument/2006/relationships/slide" Target="slides/slide95.xml"/><Relationship Id="rId223" Type="http://schemas.openxmlformats.org/officeDocument/2006/relationships/slide" Target="slides/slide216.xml"/><Relationship Id="rId101" Type="http://schemas.openxmlformats.org/officeDocument/2006/relationships/slide" Target="slides/slide94.xml"/><Relationship Id="rId222" Type="http://schemas.openxmlformats.org/officeDocument/2006/relationships/slide" Target="slides/slide215.xml"/><Relationship Id="rId100" Type="http://schemas.openxmlformats.org/officeDocument/2006/relationships/slide" Target="slides/slide93.xml"/><Relationship Id="rId221" Type="http://schemas.openxmlformats.org/officeDocument/2006/relationships/slide" Target="slides/slide214.xml"/><Relationship Id="rId217" Type="http://schemas.openxmlformats.org/officeDocument/2006/relationships/slide" Target="slides/slide210.xml"/><Relationship Id="rId216" Type="http://schemas.openxmlformats.org/officeDocument/2006/relationships/slide" Target="slides/slide209.xml"/><Relationship Id="rId215" Type="http://schemas.openxmlformats.org/officeDocument/2006/relationships/slide" Target="slides/slide208.xml"/><Relationship Id="rId214" Type="http://schemas.openxmlformats.org/officeDocument/2006/relationships/slide" Target="slides/slide207.xml"/><Relationship Id="rId219" Type="http://schemas.openxmlformats.org/officeDocument/2006/relationships/slide" Target="slides/slide212.xml"/><Relationship Id="rId218" Type="http://schemas.openxmlformats.org/officeDocument/2006/relationships/slide" Target="slides/slide211.xml"/><Relationship Id="rId213" Type="http://schemas.openxmlformats.org/officeDocument/2006/relationships/slide" Target="slides/slide206.xml"/><Relationship Id="rId212" Type="http://schemas.openxmlformats.org/officeDocument/2006/relationships/slide" Target="slides/slide205.xml"/><Relationship Id="rId211" Type="http://schemas.openxmlformats.org/officeDocument/2006/relationships/slide" Target="slides/slide204.xml"/><Relationship Id="rId210" Type="http://schemas.openxmlformats.org/officeDocument/2006/relationships/slide" Target="slides/slide203.xml"/><Relationship Id="rId129" Type="http://schemas.openxmlformats.org/officeDocument/2006/relationships/slide" Target="slides/slide122.xml"/><Relationship Id="rId128" Type="http://schemas.openxmlformats.org/officeDocument/2006/relationships/slide" Target="slides/slide121.xml"/><Relationship Id="rId249" Type="http://schemas.openxmlformats.org/officeDocument/2006/relationships/slide" Target="slides/slide242.xml"/><Relationship Id="rId127" Type="http://schemas.openxmlformats.org/officeDocument/2006/relationships/slide" Target="slides/slide120.xml"/><Relationship Id="rId248" Type="http://schemas.openxmlformats.org/officeDocument/2006/relationships/slide" Target="slides/slide241.xml"/><Relationship Id="rId126" Type="http://schemas.openxmlformats.org/officeDocument/2006/relationships/slide" Target="slides/slide119.xml"/><Relationship Id="rId247" Type="http://schemas.openxmlformats.org/officeDocument/2006/relationships/slide" Target="slides/slide240.xml"/><Relationship Id="rId121" Type="http://schemas.openxmlformats.org/officeDocument/2006/relationships/slide" Target="slides/slide114.xml"/><Relationship Id="rId242" Type="http://schemas.openxmlformats.org/officeDocument/2006/relationships/slide" Target="slides/slide235.xml"/><Relationship Id="rId120" Type="http://schemas.openxmlformats.org/officeDocument/2006/relationships/slide" Target="slides/slide113.xml"/><Relationship Id="rId241" Type="http://schemas.openxmlformats.org/officeDocument/2006/relationships/slide" Target="slides/slide234.xml"/><Relationship Id="rId240" Type="http://schemas.openxmlformats.org/officeDocument/2006/relationships/slide" Target="slides/slide233.xml"/><Relationship Id="rId125" Type="http://schemas.openxmlformats.org/officeDocument/2006/relationships/slide" Target="slides/slide118.xml"/><Relationship Id="rId246" Type="http://schemas.openxmlformats.org/officeDocument/2006/relationships/slide" Target="slides/slide239.xml"/><Relationship Id="rId124" Type="http://schemas.openxmlformats.org/officeDocument/2006/relationships/slide" Target="slides/slide117.xml"/><Relationship Id="rId245" Type="http://schemas.openxmlformats.org/officeDocument/2006/relationships/slide" Target="slides/slide238.xml"/><Relationship Id="rId123" Type="http://schemas.openxmlformats.org/officeDocument/2006/relationships/slide" Target="slides/slide116.xml"/><Relationship Id="rId244" Type="http://schemas.openxmlformats.org/officeDocument/2006/relationships/slide" Target="slides/slide237.xml"/><Relationship Id="rId122" Type="http://schemas.openxmlformats.org/officeDocument/2006/relationships/slide" Target="slides/slide115.xml"/><Relationship Id="rId243" Type="http://schemas.openxmlformats.org/officeDocument/2006/relationships/slide" Target="slides/slide236.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99" Type="http://schemas.openxmlformats.org/officeDocument/2006/relationships/slide" Target="slides/slide92.xml"/><Relationship Id="rId98" Type="http://schemas.openxmlformats.org/officeDocument/2006/relationships/slide" Target="slides/slide91.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slide" Target="slides/slide111.xml"/><Relationship Id="rId239" Type="http://schemas.openxmlformats.org/officeDocument/2006/relationships/slide" Target="slides/slide232.xml"/><Relationship Id="rId117" Type="http://schemas.openxmlformats.org/officeDocument/2006/relationships/slide" Target="slides/slide110.xml"/><Relationship Id="rId238" Type="http://schemas.openxmlformats.org/officeDocument/2006/relationships/slide" Target="slides/slide231.xml"/><Relationship Id="rId116" Type="http://schemas.openxmlformats.org/officeDocument/2006/relationships/slide" Target="slides/slide109.xml"/><Relationship Id="rId237" Type="http://schemas.openxmlformats.org/officeDocument/2006/relationships/slide" Target="slides/slide230.xml"/><Relationship Id="rId115" Type="http://schemas.openxmlformats.org/officeDocument/2006/relationships/slide" Target="slides/slide108.xml"/><Relationship Id="rId236" Type="http://schemas.openxmlformats.org/officeDocument/2006/relationships/slide" Target="slides/slide229.xml"/><Relationship Id="rId119" Type="http://schemas.openxmlformats.org/officeDocument/2006/relationships/slide" Target="slides/slide112.xml"/><Relationship Id="rId110" Type="http://schemas.openxmlformats.org/officeDocument/2006/relationships/slide" Target="slides/slide103.xml"/><Relationship Id="rId231" Type="http://schemas.openxmlformats.org/officeDocument/2006/relationships/slide" Target="slides/slide224.xml"/><Relationship Id="rId230" Type="http://schemas.openxmlformats.org/officeDocument/2006/relationships/slide" Target="slides/slide223.xml"/><Relationship Id="rId114" Type="http://schemas.openxmlformats.org/officeDocument/2006/relationships/slide" Target="slides/slide107.xml"/><Relationship Id="rId235" Type="http://schemas.openxmlformats.org/officeDocument/2006/relationships/slide" Target="slides/slide228.xml"/><Relationship Id="rId113" Type="http://schemas.openxmlformats.org/officeDocument/2006/relationships/slide" Target="slides/slide106.xml"/><Relationship Id="rId234" Type="http://schemas.openxmlformats.org/officeDocument/2006/relationships/slide" Target="slides/slide227.xml"/><Relationship Id="rId112" Type="http://schemas.openxmlformats.org/officeDocument/2006/relationships/slide" Target="slides/slide105.xml"/><Relationship Id="rId233" Type="http://schemas.openxmlformats.org/officeDocument/2006/relationships/slide" Target="slides/slide226.xml"/><Relationship Id="rId111" Type="http://schemas.openxmlformats.org/officeDocument/2006/relationships/slide" Target="slides/slide104.xml"/><Relationship Id="rId232" Type="http://schemas.openxmlformats.org/officeDocument/2006/relationships/slide" Target="slides/slide225.xml"/><Relationship Id="rId305" Type="http://schemas.openxmlformats.org/officeDocument/2006/relationships/font" Target="fonts/Merriweather-bold.fntdata"/><Relationship Id="rId304" Type="http://schemas.openxmlformats.org/officeDocument/2006/relationships/font" Target="fonts/Merriweather-regular.fntdata"/><Relationship Id="rId303" Type="http://schemas.openxmlformats.org/officeDocument/2006/relationships/font" Target="fonts/RobotoMono-boldItalic.fntdata"/><Relationship Id="rId302" Type="http://schemas.openxmlformats.org/officeDocument/2006/relationships/font" Target="fonts/RobotoMono-italic.fntdata"/><Relationship Id="rId309" Type="http://schemas.openxmlformats.org/officeDocument/2006/relationships/font" Target="fonts/OpenSans-bold.fntdata"/><Relationship Id="rId308" Type="http://schemas.openxmlformats.org/officeDocument/2006/relationships/font" Target="fonts/OpenSans-regular.fntdata"/><Relationship Id="rId307" Type="http://schemas.openxmlformats.org/officeDocument/2006/relationships/font" Target="fonts/Merriweather-boldItalic.fntdata"/><Relationship Id="rId306" Type="http://schemas.openxmlformats.org/officeDocument/2006/relationships/font" Target="fonts/Merriweather-italic.fntdata"/><Relationship Id="rId301" Type="http://schemas.openxmlformats.org/officeDocument/2006/relationships/font" Target="fonts/RobotoMono-bold.fntdata"/><Relationship Id="rId300" Type="http://schemas.openxmlformats.org/officeDocument/2006/relationships/font" Target="fonts/RobotoMono-regular.fntdata"/><Relationship Id="rId206" Type="http://schemas.openxmlformats.org/officeDocument/2006/relationships/slide" Target="slides/slide199.xml"/><Relationship Id="rId205" Type="http://schemas.openxmlformats.org/officeDocument/2006/relationships/slide" Target="slides/slide198.xml"/><Relationship Id="rId204" Type="http://schemas.openxmlformats.org/officeDocument/2006/relationships/slide" Target="slides/slide197.xml"/><Relationship Id="rId203" Type="http://schemas.openxmlformats.org/officeDocument/2006/relationships/slide" Target="slides/slide196.xml"/><Relationship Id="rId209" Type="http://schemas.openxmlformats.org/officeDocument/2006/relationships/slide" Target="slides/slide202.xml"/><Relationship Id="rId208" Type="http://schemas.openxmlformats.org/officeDocument/2006/relationships/slide" Target="slides/slide201.xml"/><Relationship Id="rId207" Type="http://schemas.openxmlformats.org/officeDocument/2006/relationships/slide" Target="slides/slide200.xml"/><Relationship Id="rId202" Type="http://schemas.openxmlformats.org/officeDocument/2006/relationships/slide" Target="slides/slide195.xml"/><Relationship Id="rId201" Type="http://schemas.openxmlformats.org/officeDocument/2006/relationships/slide" Target="slides/slide194.xml"/><Relationship Id="rId200" Type="http://schemas.openxmlformats.org/officeDocument/2006/relationships/slide" Target="slides/slide193.xml"/><Relationship Id="rId311" Type="http://schemas.openxmlformats.org/officeDocument/2006/relationships/font" Target="fonts/OpenSans-boldItalic.fntdata"/><Relationship Id="rId310" Type="http://schemas.openxmlformats.org/officeDocument/2006/relationships/font" Target="fonts/Open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c845747b22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c845747b22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c845747b2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c845747b2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845747b22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c845747b2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c8f09c48bc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c8f09c48bc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c8f09c48bc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c8f09c48bc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c8f09c48bc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c8f09c48bc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c845747b2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c845747b2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c845747b22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c845747b22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c845747b22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c845747b22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c845747b22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c845747b22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c845747b22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c845747b22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c845747b2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c845747b22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c8fd1d7ae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c8fd1d7ae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c845747b22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c845747b22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c845747b22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c845747b22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c845747b22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c845747b22_0_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c845747b22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c845747b22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c845747b22_0_3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c845747b22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c845747b22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c845747b22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c845747b22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c845747b22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c845747b22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c845747b22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c845747b22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c845747b22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c845747b22_0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c845747b22_0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c845747b22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c845747b22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c845747b22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c845747b22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c8f09c48bc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c8f09c48bc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c845747b22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c845747b22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c845747b22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c845747b22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c845747b22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c845747b22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c8f09c48bc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c8f09c48bc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c845747b22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c845747b22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c8cfecbf6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c8cfecbf6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c845747b22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c845747b22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c845747b22_0_6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c845747b22_0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c8f09c48bc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c8f09c48bc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c845747b22_0_4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c845747b22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c845747b22_0_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c845747b22_0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c845747b2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c845747b2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c845747b22_0_4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c845747b22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c845747b22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c845747b22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c845747b22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9" name="Google Shape;659;gc845747b22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c845747b22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c845747b22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c845747b22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c845747b22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c845747b22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c845747b22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c845747b22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c845747b22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c8f09c48bc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c8f09c48bc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c8f09c48bc_0_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3" name="Google Shape;703;gc8f09c48bc_0_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c845747b22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c845747b22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c8f09c48bc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c8f09c48bc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c8f09c48bc_0_4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c8f09c48bc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c8f09c48bc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c8f09c48bc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c8cfecbf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c8cfecbf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c8f09c48bc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c8f09c48bc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c8cfecbf68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c8cfecbf68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c8f09c48bc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c8f09c48bc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c8cfecbf6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c8cfecbf6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c845747b22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c845747b22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c8cfecbf68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c8cfecbf68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c8cfecbf68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c8cfecbf6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c8cfecbf6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c8cfecbf6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c8cfecbf68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c8cfecbf68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c8f09c48bc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6" name="Google Shape;846;gc8f09c48bc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c8cfecbf6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c8cfecbf6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c8f09c48bc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c8f09c48bc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c8cfecbf68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c8cfecbf68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c8f09c48bc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c8f09c48bc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c8f09c48bc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c8f09c48bc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c845747b22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6" name="Google Shape;1076;gc845747b22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c8cfecbf68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1" name="Google Shape;1081;gc8cfecbf68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c845747b22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c845747b22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c8cfecbf68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8" name="Google Shape;1098;gc8cfecbf68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c8cfecbf68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c8cfecbf68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c8fd1d7ae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9" name="Google Shape;1119;gc8fd1d7ae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c8fd1d7aea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c8fd1d7aea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c8fd1d7aea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c8fd1d7aea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gc8fd1d7ae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6" name="Google Shape;1146;gc8fd1d7ae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c8fd1d7ae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1" name="Google Shape;1151;gc8fd1d7ae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6" name="Shape 1156"/>
        <p:cNvGrpSpPr/>
        <p:nvPr/>
      </p:nvGrpSpPr>
      <p:grpSpPr>
        <a:xfrm>
          <a:off x="0" y="0"/>
          <a:ext cx="0" cy="0"/>
          <a:chOff x="0" y="0"/>
          <a:chExt cx="0" cy="0"/>
        </a:xfrm>
      </p:grpSpPr>
      <p:sp>
        <p:nvSpPr>
          <p:cNvPr id="1157" name="Google Shape;1157;gc8fd1d7aea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8" name="Google Shape;1158;gc8fd1d7aea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gcafc7a1beb_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0" name="Google Shape;1170;gcafc7a1beb_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gcafc7a1beb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6" name="Google Shape;1176;gcafc7a1be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cafc7a1beb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cafc7a1beb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gcafc7a1beb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2" name="Google Shape;1192;gcafc7a1beb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cafc7a1beb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cafc7a1be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3" name="Shape 1203"/>
        <p:cNvGrpSpPr/>
        <p:nvPr/>
      </p:nvGrpSpPr>
      <p:grpSpPr>
        <a:xfrm>
          <a:off x="0" y="0"/>
          <a:ext cx="0" cy="0"/>
          <a:chOff x="0" y="0"/>
          <a:chExt cx="0" cy="0"/>
        </a:xfrm>
      </p:grpSpPr>
      <p:sp>
        <p:nvSpPr>
          <p:cNvPr id="1204" name="Google Shape;1204;gcafc7a1beb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5" name="Google Shape;1205;gcafc7a1beb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c8fd1d7aea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1" name="Google Shape;1211;gc8fd1d7aea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cca011de3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8" name="Google Shape;1268;gcca011de3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3" name="Shape 1323"/>
        <p:cNvGrpSpPr/>
        <p:nvPr/>
      </p:nvGrpSpPr>
      <p:grpSpPr>
        <a:xfrm>
          <a:off x="0" y="0"/>
          <a:ext cx="0" cy="0"/>
          <a:chOff x="0" y="0"/>
          <a:chExt cx="0" cy="0"/>
        </a:xfrm>
      </p:grpSpPr>
      <p:sp>
        <p:nvSpPr>
          <p:cNvPr id="1324" name="Google Shape;1324;gc8fd1d7aea_0_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5" name="Google Shape;1325;gc8fd1d7aea_0_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c8fd1d7aea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2" name="Google Shape;1382;gc8fd1d7aea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0" name="Shape 1390"/>
        <p:cNvGrpSpPr/>
        <p:nvPr/>
      </p:nvGrpSpPr>
      <p:grpSpPr>
        <a:xfrm>
          <a:off x="0" y="0"/>
          <a:ext cx="0" cy="0"/>
          <a:chOff x="0" y="0"/>
          <a:chExt cx="0" cy="0"/>
        </a:xfrm>
      </p:grpSpPr>
      <p:sp>
        <p:nvSpPr>
          <p:cNvPr id="1391" name="Google Shape;1391;gc8fd1d7aea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2" name="Google Shape;1392;gc8fd1d7aea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5" name="Shape 1395"/>
        <p:cNvGrpSpPr/>
        <p:nvPr/>
      </p:nvGrpSpPr>
      <p:grpSpPr>
        <a:xfrm>
          <a:off x="0" y="0"/>
          <a:ext cx="0" cy="0"/>
          <a:chOff x="0" y="0"/>
          <a:chExt cx="0" cy="0"/>
        </a:xfrm>
      </p:grpSpPr>
      <p:sp>
        <p:nvSpPr>
          <p:cNvPr id="1396" name="Google Shape;1396;gc8fd1d7aea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7" name="Google Shape;1397;gc8fd1d7aea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6" name="Shape 1406"/>
        <p:cNvGrpSpPr/>
        <p:nvPr/>
      </p:nvGrpSpPr>
      <p:grpSpPr>
        <a:xfrm>
          <a:off x="0" y="0"/>
          <a:ext cx="0" cy="0"/>
          <a:chOff x="0" y="0"/>
          <a:chExt cx="0" cy="0"/>
        </a:xfrm>
      </p:grpSpPr>
      <p:sp>
        <p:nvSpPr>
          <p:cNvPr id="1407" name="Google Shape;1407;gcca011de3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8" name="Google Shape;1408;gcca011de3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9" name="Shape 1419"/>
        <p:cNvGrpSpPr/>
        <p:nvPr/>
      </p:nvGrpSpPr>
      <p:grpSpPr>
        <a:xfrm>
          <a:off x="0" y="0"/>
          <a:ext cx="0" cy="0"/>
          <a:chOff x="0" y="0"/>
          <a:chExt cx="0" cy="0"/>
        </a:xfrm>
      </p:grpSpPr>
      <p:sp>
        <p:nvSpPr>
          <p:cNvPr id="1420" name="Google Shape;1420;gc8fd1d7aea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1" name="Google Shape;1421;gc8fd1d7aea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cca011de37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1" name="Google Shape;1431;gcca011de37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gc8fd1d7aea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2" name="Google Shape;1442;gc8fd1d7aea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c8fd1d7aea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c8fd1d7aea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gcca011de37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0" name="Google Shape;1460;gcca011de3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c8fd1d7aea_0_5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c8fd1d7aea_0_5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c845747b2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c845747b2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7" name="Shape 1477"/>
        <p:cNvGrpSpPr/>
        <p:nvPr/>
      </p:nvGrpSpPr>
      <p:grpSpPr>
        <a:xfrm>
          <a:off x="0" y="0"/>
          <a:ext cx="0" cy="0"/>
          <a:chOff x="0" y="0"/>
          <a:chExt cx="0" cy="0"/>
        </a:xfrm>
      </p:grpSpPr>
      <p:sp>
        <p:nvSpPr>
          <p:cNvPr id="1478" name="Google Shape;1478;gc8fd1d7aea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9" name="Google Shape;1479;gc8fd1d7aea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c8fd1d7aea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c8fd1d7aea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2" name="Shape 1492"/>
        <p:cNvGrpSpPr/>
        <p:nvPr/>
      </p:nvGrpSpPr>
      <p:grpSpPr>
        <a:xfrm>
          <a:off x="0" y="0"/>
          <a:ext cx="0" cy="0"/>
          <a:chOff x="0" y="0"/>
          <a:chExt cx="0" cy="0"/>
        </a:xfrm>
      </p:grpSpPr>
      <p:sp>
        <p:nvSpPr>
          <p:cNvPr id="1493" name="Google Shape;1493;gc8cfecbf68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4" name="Google Shape;1494;gc8cfecbf68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2" name="Shape 1502"/>
        <p:cNvGrpSpPr/>
        <p:nvPr/>
      </p:nvGrpSpPr>
      <p:grpSpPr>
        <a:xfrm>
          <a:off x="0" y="0"/>
          <a:ext cx="0" cy="0"/>
          <a:chOff x="0" y="0"/>
          <a:chExt cx="0" cy="0"/>
        </a:xfrm>
      </p:grpSpPr>
      <p:sp>
        <p:nvSpPr>
          <p:cNvPr id="1503" name="Google Shape;1503;gc8cfecbf68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4" name="Google Shape;1504;gc8cfecbf68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0" name="Shape 1510"/>
        <p:cNvGrpSpPr/>
        <p:nvPr/>
      </p:nvGrpSpPr>
      <p:grpSpPr>
        <a:xfrm>
          <a:off x="0" y="0"/>
          <a:ext cx="0" cy="0"/>
          <a:chOff x="0" y="0"/>
          <a:chExt cx="0" cy="0"/>
        </a:xfrm>
      </p:grpSpPr>
      <p:sp>
        <p:nvSpPr>
          <p:cNvPr id="1511" name="Google Shape;1511;gc8f09c48bc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2" name="Google Shape;1512;gc8f09c48bc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gc8cfecbf68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7" name="Google Shape;1517;gc8cfecbf68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c8cfecbf68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c8cfecbf68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gc8cfecbf68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4" name="Google Shape;1534;gc8cfecbf68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8" name="Shape 1538"/>
        <p:cNvGrpSpPr/>
        <p:nvPr/>
      </p:nvGrpSpPr>
      <p:grpSpPr>
        <a:xfrm>
          <a:off x="0" y="0"/>
          <a:ext cx="0" cy="0"/>
          <a:chOff x="0" y="0"/>
          <a:chExt cx="0" cy="0"/>
        </a:xfrm>
      </p:grpSpPr>
      <p:sp>
        <p:nvSpPr>
          <p:cNvPr id="1539" name="Google Shape;1539;gc8cfecbf68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0" name="Google Shape;1540;gc8cfecbf68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5" name="Shape 1545"/>
        <p:cNvGrpSpPr/>
        <p:nvPr/>
      </p:nvGrpSpPr>
      <p:grpSpPr>
        <a:xfrm>
          <a:off x="0" y="0"/>
          <a:ext cx="0" cy="0"/>
          <a:chOff x="0" y="0"/>
          <a:chExt cx="0" cy="0"/>
        </a:xfrm>
      </p:grpSpPr>
      <p:sp>
        <p:nvSpPr>
          <p:cNvPr id="1546" name="Google Shape;1546;gc8cfecbf68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7" name="Google Shape;1547;gc8cfecbf68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2" name="Shape 1552"/>
        <p:cNvGrpSpPr/>
        <p:nvPr/>
      </p:nvGrpSpPr>
      <p:grpSpPr>
        <a:xfrm>
          <a:off x="0" y="0"/>
          <a:ext cx="0" cy="0"/>
          <a:chOff x="0" y="0"/>
          <a:chExt cx="0" cy="0"/>
        </a:xfrm>
      </p:grpSpPr>
      <p:sp>
        <p:nvSpPr>
          <p:cNvPr id="1553" name="Google Shape;1553;gc8cfecbf68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4" name="Google Shape;1554;gc8cfecbf68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c8cfecbf68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1" name="Google Shape;1561;gc8cfecbf68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c8cfecbf68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9" name="Google Shape;1589;gc8cfecbf68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c8f09c48bc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5" name="Google Shape;1605;gc8f09c48b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c8f09c48b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c8f09c48b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7" name="Shape 1667"/>
        <p:cNvGrpSpPr/>
        <p:nvPr/>
      </p:nvGrpSpPr>
      <p:grpSpPr>
        <a:xfrm>
          <a:off x="0" y="0"/>
          <a:ext cx="0" cy="0"/>
          <a:chOff x="0" y="0"/>
          <a:chExt cx="0" cy="0"/>
        </a:xfrm>
      </p:grpSpPr>
      <p:sp>
        <p:nvSpPr>
          <p:cNvPr id="1668" name="Google Shape;1668;gc8f09c48bc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9" name="Google Shape;1669;gc8f09c48bc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9" name="Shape 1699"/>
        <p:cNvGrpSpPr/>
        <p:nvPr/>
      </p:nvGrpSpPr>
      <p:grpSpPr>
        <a:xfrm>
          <a:off x="0" y="0"/>
          <a:ext cx="0" cy="0"/>
          <a:chOff x="0" y="0"/>
          <a:chExt cx="0" cy="0"/>
        </a:xfrm>
      </p:grpSpPr>
      <p:sp>
        <p:nvSpPr>
          <p:cNvPr id="1700" name="Google Shape;1700;gc8cfecbf68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1" name="Google Shape;1701;gc8cfecbf68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0" name="Shape 1730"/>
        <p:cNvGrpSpPr/>
        <p:nvPr/>
      </p:nvGrpSpPr>
      <p:grpSpPr>
        <a:xfrm>
          <a:off x="0" y="0"/>
          <a:ext cx="0" cy="0"/>
          <a:chOff x="0" y="0"/>
          <a:chExt cx="0" cy="0"/>
        </a:xfrm>
      </p:grpSpPr>
      <p:sp>
        <p:nvSpPr>
          <p:cNvPr id="1731" name="Google Shape;1731;gc8f09c48bc_0_10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2" name="Google Shape;1732;gc8f09c48bc_0_1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7" name="Shape 1737"/>
        <p:cNvGrpSpPr/>
        <p:nvPr/>
      </p:nvGrpSpPr>
      <p:grpSpPr>
        <a:xfrm>
          <a:off x="0" y="0"/>
          <a:ext cx="0" cy="0"/>
          <a:chOff x="0" y="0"/>
          <a:chExt cx="0" cy="0"/>
        </a:xfrm>
      </p:grpSpPr>
      <p:sp>
        <p:nvSpPr>
          <p:cNvPr id="1738" name="Google Shape;1738;gc845747b22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9" name="Google Shape;1739;gc845747b22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2" name="Shape 1742"/>
        <p:cNvGrpSpPr/>
        <p:nvPr/>
      </p:nvGrpSpPr>
      <p:grpSpPr>
        <a:xfrm>
          <a:off x="0" y="0"/>
          <a:ext cx="0" cy="0"/>
          <a:chOff x="0" y="0"/>
          <a:chExt cx="0" cy="0"/>
        </a:xfrm>
      </p:grpSpPr>
      <p:sp>
        <p:nvSpPr>
          <p:cNvPr id="1743" name="Google Shape;1743;gcafc7a1beb_2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4" name="Google Shape;1744;gcafc7a1beb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9" name="Shape 1749"/>
        <p:cNvGrpSpPr/>
        <p:nvPr/>
      </p:nvGrpSpPr>
      <p:grpSpPr>
        <a:xfrm>
          <a:off x="0" y="0"/>
          <a:ext cx="0" cy="0"/>
          <a:chOff x="0" y="0"/>
          <a:chExt cx="0" cy="0"/>
        </a:xfrm>
      </p:grpSpPr>
      <p:sp>
        <p:nvSpPr>
          <p:cNvPr id="1750" name="Google Shape;1750;gcafc7a1beb_2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1" name="Google Shape;1751;gcafc7a1beb_2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cafc7a1beb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8" name="Google Shape;1758;gcafc7a1beb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gcafc7a1beb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5" name="Google Shape;1765;gcafc7a1beb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1" name="Shape 1771"/>
        <p:cNvGrpSpPr/>
        <p:nvPr/>
      </p:nvGrpSpPr>
      <p:grpSpPr>
        <a:xfrm>
          <a:off x="0" y="0"/>
          <a:ext cx="0" cy="0"/>
          <a:chOff x="0" y="0"/>
          <a:chExt cx="0" cy="0"/>
        </a:xfrm>
      </p:grpSpPr>
      <p:sp>
        <p:nvSpPr>
          <p:cNvPr id="1772" name="Google Shape;1772;gcafc7a1beb_2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3" name="Google Shape;1773;gcafc7a1beb_2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9" name="Shape 1779"/>
        <p:cNvGrpSpPr/>
        <p:nvPr/>
      </p:nvGrpSpPr>
      <p:grpSpPr>
        <a:xfrm>
          <a:off x="0" y="0"/>
          <a:ext cx="0" cy="0"/>
          <a:chOff x="0" y="0"/>
          <a:chExt cx="0" cy="0"/>
        </a:xfrm>
      </p:grpSpPr>
      <p:sp>
        <p:nvSpPr>
          <p:cNvPr id="1780" name="Google Shape;1780;gcafc7a1beb_2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1" name="Google Shape;1781;gcafc7a1beb_2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7" name="Shape 1787"/>
        <p:cNvGrpSpPr/>
        <p:nvPr/>
      </p:nvGrpSpPr>
      <p:grpSpPr>
        <a:xfrm>
          <a:off x="0" y="0"/>
          <a:ext cx="0" cy="0"/>
          <a:chOff x="0" y="0"/>
          <a:chExt cx="0" cy="0"/>
        </a:xfrm>
      </p:grpSpPr>
      <p:sp>
        <p:nvSpPr>
          <p:cNvPr id="1788" name="Google Shape;1788;gcafc7a1beb_2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9" name="Google Shape;1789;gcafc7a1beb_2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2" name="Shape 1792"/>
        <p:cNvGrpSpPr/>
        <p:nvPr/>
      </p:nvGrpSpPr>
      <p:grpSpPr>
        <a:xfrm>
          <a:off x="0" y="0"/>
          <a:ext cx="0" cy="0"/>
          <a:chOff x="0" y="0"/>
          <a:chExt cx="0" cy="0"/>
        </a:xfrm>
      </p:grpSpPr>
      <p:sp>
        <p:nvSpPr>
          <p:cNvPr id="1793" name="Google Shape;1793;gcafc7a1beb_2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4" name="Google Shape;1794;gcafc7a1beb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7" name="Shape 1797"/>
        <p:cNvGrpSpPr/>
        <p:nvPr/>
      </p:nvGrpSpPr>
      <p:grpSpPr>
        <a:xfrm>
          <a:off x="0" y="0"/>
          <a:ext cx="0" cy="0"/>
          <a:chOff x="0" y="0"/>
          <a:chExt cx="0" cy="0"/>
        </a:xfrm>
      </p:grpSpPr>
      <p:sp>
        <p:nvSpPr>
          <p:cNvPr id="1798" name="Google Shape;1798;gc8cfecbf68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9" name="Google Shape;1799;gc8cfecbf68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9" name="Shape 1809"/>
        <p:cNvGrpSpPr/>
        <p:nvPr/>
      </p:nvGrpSpPr>
      <p:grpSpPr>
        <a:xfrm>
          <a:off x="0" y="0"/>
          <a:ext cx="0" cy="0"/>
          <a:chOff x="0" y="0"/>
          <a:chExt cx="0" cy="0"/>
        </a:xfrm>
      </p:grpSpPr>
      <p:sp>
        <p:nvSpPr>
          <p:cNvPr id="1810" name="Google Shape;1810;gc8cfecbf68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1" name="Google Shape;1811;gc8cfecbf68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c8fd1d7aea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c8fd1d7aea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gc845747b2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gc845747b2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c8fd1d7aea_0_5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1" name="Google Shape;1831;gc8fd1d7aea_0_5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2" name="Shape 1842"/>
        <p:cNvGrpSpPr/>
        <p:nvPr/>
      </p:nvGrpSpPr>
      <p:grpSpPr>
        <a:xfrm>
          <a:off x="0" y="0"/>
          <a:ext cx="0" cy="0"/>
          <a:chOff x="0" y="0"/>
          <a:chExt cx="0" cy="0"/>
        </a:xfrm>
      </p:grpSpPr>
      <p:sp>
        <p:nvSpPr>
          <p:cNvPr id="1843" name="Google Shape;1843;gc8cfecbf68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4" name="Google Shape;1844;gc8cfecbf68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1" name="Shape 1851"/>
        <p:cNvGrpSpPr/>
        <p:nvPr/>
      </p:nvGrpSpPr>
      <p:grpSpPr>
        <a:xfrm>
          <a:off x="0" y="0"/>
          <a:ext cx="0" cy="0"/>
          <a:chOff x="0" y="0"/>
          <a:chExt cx="0" cy="0"/>
        </a:xfrm>
      </p:grpSpPr>
      <p:sp>
        <p:nvSpPr>
          <p:cNvPr id="1852" name="Google Shape;1852;gc8cfecbf68_0_4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3" name="Google Shape;1853;gc8cfecbf68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8" name="Shape 1858"/>
        <p:cNvGrpSpPr/>
        <p:nvPr/>
      </p:nvGrpSpPr>
      <p:grpSpPr>
        <a:xfrm>
          <a:off x="0" y="0"/>
          <a:ext cx="0" cy="0"/>
          <a:chOff x="0" y="0"/>
          <a:chExt cx="0" cy="0"/>
        </a:xfrm>
      </p:grpSpPr>
      <p:sp>
        <p:nvSpPr>
          <p:cNvPr id="1859" name="Google Shape;1859;gc8cfecbf68_0_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0" name="Google Shape;1860;gc8cfecbf68_0_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5" name="Shape 1865"/>
        <p:cNvGrpSpPr/>
        <p:nvPr/>
      </p:nvGrpSpPr>
      <p:grpSpPr>
        <a:xfrm>
          <a:off x="0" y="0"/>
          <a:ext cx="0" cy="0"/>
          <a:chOff x="0" y="0"/>
          <a:chExt cx="0" cy="0"/>
        </a:xfrm>
      </p:grpSpPr>
      <p:sp>
        <p:nvSpPr>
          <p:cNvPr id="1866" name="Google Shape;1866;gc8cfecbf68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7" name="Google Shape;1867;gc8cfecbf68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gc8cfecbf68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4" name="Google Shape;1874;gc8cfecbf68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7" name="Shape 1887"/>
        <p:cNvGrpSpPr/>
        <p:nvPr/>
      </p:nvGrpSpPr>
      <p:grpSpPr>
        <a:xfrm>
          <a:off x="0" y="0"/>
          <a:ext cx="0" cy="0"/>
          <a:chOff x="0" y="0"/>
          <a:chExt cx="0" cy="0"/>
        </a:xfrm>
      </p:grpSpPr>
      <p:sp>
        <p:nvSpPr>
          <p:cNvPr id="1888" name="Google Shape;1888;gcb8e166b3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9" name="Google Shape;1889;gcb8e166b3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gcb8e166b3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0" name="Google Shape;1900;gcb8e166b3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1" name="Shape 1911"/>
        <p:cNvGrpSpPr/>
        <p:nvPr/>
      </p:nvGrpSpPr>
      <p:grpSpPr>
        <a:xfrm>
          <a:off x="0" y="0"/>
          <a:ext cx="0" cy="0"/>
          <a:chOff x="0" y="0"/>
          <a:chExt cx="0" cy="0"/>
        </a:xfrm>
      </p:grpSpPr>
      <p:sp>
        <p:nvSpPr>
          <p:cNvPr id="1912" name="Google Shape;1912;gcb8e166b3e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3" name="Google Shape;1913;gcb8e166b3e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gcb8e166b3e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0" name="Google Shape;1920;gcb8e166b3e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8" name="Shape 1928"/>
        <p:cNvGrpSpPr/>
        <p:nvPr/>
      </p:nvGrpSpPr>
      <p:grpSpPr>
        <a:xfrm>
          <a:off x="0" y="0"/>
          <a:ext cx="0" cy="0"/>
          <a:chOff x="0" y="0"/>
          <a:chExt cx="0" cy="0"/>
        </a:xfrm>
      </p:grpSpPr>
      <p:sp>
        <p:nvSpPr>
          <p:cNvPr id="1929" name="Google Shape;1929;gc8fd1d7ae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0" name="Google Shape;1930;gc8fd1d7ae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3" name="Shape 1933"/>
        <p:cNvGrpSpPr/>
        <p:nvPr/>
      </p:nvGrpSpPr>
      <p:grpSpPr>
        <a:xfrm>
          <a:off x="0" y="0"/>
          <a:ext cx="0" cy="0"/>
          <a:chOff x="0" y="0"/>
          <a:chExt cx="0" cy="0"/>
        </a:xfrm>
      </p:grpSpPr>
      <p:sp>
        <p:nvSpPr>
          <p:cNvPr id="1934" name="Google Shape;1934;gc8fd1d7ae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5" name="Google Shape;1935;gc8fd1d7ae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c8fd1d7aea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c8fd1d7aea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gcb8e166b3e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6" name="Google Shape;1956;gcb8e166b3e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gc8fd1d7aea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1" name="Google Shape;1961;gc8fd1d7aea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side by side, we have on the left a graphical model that describes the state of the world, and on the right a graphical model that encodes a sort of target, what we would like to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our objective, all that remain is to quantify the sort of 'wrongness' in our modelling assumptions.  We need to somehow measure how close P is to Q.  How bad is the world at present?</a:t>
            </a: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gc8fd1d7aea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5" name="Google Shape;1985;gc8fd1d7aea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0" name="Shape 1990"/>
        <p:cNvGrpSpPr/>
        <p:nvPr/>
      </p:nvGrpSpPr>
      <p:grpSpPr>
        <a:xfrm>
          <a:off x="0" y="0"/>
          <a:ext cx="0" cy="0"/>
          <a:chOff x="0" y="0"/>
          <a:chExt cx="0" cy="0"/>
        </a:xfrm>
      </p:grpSpPr>
      <p:sp>
        <p:nvSpPr>
          <p:cNvPr id="1991" name="Google Shape;1991;g30139f66a56_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2" name="Google Shape;1992;g30139f66a56_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5" name="Shape 1995"/>
        <p:cNvGrpSpPr/>
        <p:nvPr/>
      </p:nvGrpSpPr>
      <p:grpSpPr>
        <a:xfrm>
          <a:off x="0" y="0"/>
          <a:ext cx="0" cy="0"/>
          <a:chOff x="0" y="0"/>
          <a:chExt cx="0" cy="0"/>
        </a:xfrm>
      </p:grpSpPr>
      <p:sp>
        <p:nvSpPr>
          <p:cNvPr id="1996" name="Google Shape;1996;gce230510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7" name="Google Shape;1997;gce230510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gce23051061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4" name="Google Shape;2004;gce23051061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cafc7a1beb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9" name="Google Shape;2009;gcafc7a1beb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4" name="Shape 2014"/>
        <p:cNvGrpSpPr/>
        <p:nvPr/>
      </p:nvGrpSpPr>
      <p:grpSpPr>
        <a:xfrm>
          <a:off x="0" y="0"/>
          <a:ext cx="0" cy="0"/>
          <a:chOff x="0" y="0"/>
          <a:chExt cx="0" cy="0"/>
        </a:xfrm>
      </p:grpSpPr>
      <p:sp>
        <p:nvSpPr>
          <p:cNvPr id="2015" name="Google Shape;2015;gcb8e166b3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6" name="Google Shape;2016;gcb8e166b3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1" name="Shape 2021"/>
        <p:cNvGrpSpPr/>
        <p:nvPr/>
      </p:nvGrpSpPr>
      <p:grpSpPr>
        <a:xfrm>
          <a:off x="0" y="0"/>
          <a:ext cx="0" cy="0"/>
          <a:chOff x="0" y="0"/>
          <a:chExt cx="0" cy="0"/>
        </a:xfrm>
      </p:grpSpPr>
      <p:sp>
        <p:nvSpPr>
          <p:cNvPr id="2022" name="Google Shape;2022;gcb8e166b3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3" name="Google Shape;2023;gcb8e166b3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gcb8e166b3e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3" name="Google Shape;2033;gcb8e166b3e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3" name="Shape 2043"/>
        <p:cNvGrpSpPr/>
        <p:nvPr/>
      </p:nvGrpSpPr>
      <p:grpSpPr>
        <a:xfrm>
          <a:off x="0" y="0"/>
          <a:ext cx="0" cy="0"/>
          <a:chOff x="0" y="0"/>
          <a:chExt cx="0" cy="0"/>
        </a:xfrm>
      </p:grpSpPr>
      <p:sp>
        <p:nvSpPr>
          <p:cNvPr id="2044" name="Google Shape;2044;gcb8e166b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5" name="Google Shape;2045;gcb8e166b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gcb8e166b3e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6" name="Google Shape;2056;gcb8e166b3e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8" name="Shape 2068"/>
        <p:cNvGrpSpPr/>
        <p:nvPr/>
      </p:nvGrpSpPr>
      <p:grpSpPr>
        <a:xfrm>
          <a:off x="0" y="0"/>
          <a:ext cx="0" cy="0"/>
          <a:chOff x="0" y="0"/>
          <a:chExt cx="0" cy="0"/>
        </a:xfrm>
      </p:grpSpPr>
      <p:sp>
        <p:nvSpPr>
          <p:cNvPr id="2069" name="Google Shape;2069;gcca011de37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0" name="Google Shape;2070;gcca011de37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6" name="Shape 2076"/>
        <p:cNvGrpSpPr/>
        <p:nvPr/>
      </p:nvGrpSpPr>
      <p:grpSpPr>
        <a:xfrm>
          <a:off x="0" y="0"/>
          <a:ext cx="0" cy="0"/>
          <a:chOff x="0" y="0"/>
          <a:chExt cx="0" cy="0"/>
        </a:xfrm>
      </p:grpSpPr>
      <p:sp>
        <p:nvSpPr>
          <p:cNvPr id="2077" name="Google Shape;2077;gcca011de3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8" name="Google Shape;2078;gcca011de3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gcca011de37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gcca011de37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2" name="Shape 2152"/>
        <p:cNvGrpSpPr/>
        <p:nvPr/>
      </p:nvGrpSpPr>
      <p:grpSpPr>
        <a:xfrm>
          <a:off x="0" y="0"/>
          <a:ext cx="0" cy="0"/>
          <a:chOff x="0" y="0"/>
          <a:chExt cx="0" cy="0"/>
        </a:xfrm>
      </p:grpSpPr>
      <p:sp>
        <p:nvSpPr>
          <p:cNvPr id="2153" name="Google Shape;2153;gcca011de37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4" name="Google Shape;2154;gcca011de37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gcca011de37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9" name="Google Shape;2209;gcca011de37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0" name="Shape 2230"/>
        <p:cNvGrpSpPr/>
        <p:nvPr/>
      </p:nvGrpSpPr>
      <p:grpSpPr>
        <a:xfrm>
          <a:off x="0" y="0"/>
          <a:ext cx="0" cy="0"/>
          <a:chOff x="0" y="0"/>
          <a:chExt cx="0" cy="0"/>
        </a:xfrm>
      </p:grpSpPr>
      <p:sp>
        <p:nvSpPr>
          <p:cNvPr id="2231" name="Google Shape;2231;gcca011de37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2" name="Google Shape;2232;gcca011de37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gc8cfecbf68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7" name="Google Shape;2237;gc8cfecbf6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cb8e166b3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5" name="Google Shape;2245;gcb8e166b3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gcb8e166b3e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1" name="Google Shape;2261;gcb8e166b3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cb8e166b3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5" name="Google Shape;2275;gcb8e166b3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cafc7a1beb_2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1" name="Google Shape;2301;gcafc7a1beb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0" name="Shape 2310"/>
        <p:cNvGrpSpPr/>
        <p:nvPr/>
      </p:nvGrpSpPr>
      <p:grpSpPr>
        <a:xfrm>
          <a:off x="0" y="0"/>
          <a:ext cx="0" cy="0"/>
          <a:chOff x="0" y="0"/>
          <a:chExt cx="0" cy="0"/>
        </a:xfrm>
      </p:grpSpPr>
      <p:sp>
        <p:nvSpPr>
          <p:cNvPr id="2311" name="Google Shape;2311;gcafc7a1beb_2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2" name="Google Shape;2312;gcafc7a1beb_2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9" name="Shape 2319"/>
        <p:cNvGrpSpPr/>
        <p:nvPr/>
      </p:nvGrpSpPr>
      <p:grpSpPr>
        <a:xfrm>
          <a:off x="0" y="0"/>
          <a:ext cx="0" cy="0"/>
          <a:chOff x="0" y="0"/>
          <a:chExt cx="0" cy="0"/>
        </a:xfrm>
      </p:grpSpPr>
      <p:sp>
        <p:nvSpPr>
          <p:cNvPr id="2320" name="Google Shape;2320;gd32d75a420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1" name="Google Shape;2321;gd32d75a420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4" name="Shape 2324"/>
        <p:cNvGrpSpPr/>
        <p:nvPr/>
      </p:nvGrpSpPr>
      <p:grpSpPr>
        <a:xfrm>
          <a:off x="0" y="0"/>
          <a:ext cx="0" cy="0"/>
          <a:chOff x="0" y="0"/>
          <a:chExt cx="0" cy="0"/>
        </a:xfrm>
      </p:grpSpPr>
      <p:sp>
        <p:nvSpPr>
          <p:cNvPr id="2325" name="Google Shape;2325;gd32d75a420_0_10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6" name="Google Shape;2326;gd32d75a420_0_10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9" name="Shape 2329"/>
        <p:cNvGrpSpPr/>
        <p:nvPr/>
      </p:nvGrpSpPr>
      <p:grpSpPr>
        <a:xfrm>
          <a:off x="0" y="0"/>
          <a:ext cx="0" cy="0"/>
          <a:chOff x="0" y="0"/>
          <a:chExt cx="0" cy="0"/>
        </a:xfrm>
      </p:grpSpPr>
      <p:sp>
        <p:nvSpPr>
          <p:cNvPr id="2330" name="Google Shape;2330;gd32d75a420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1" name="Google Shape;2331;gd32d75a420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5" name="Shape 2335"/>
        <p:cNvGrpSpPr/>
        <p:nvPr/>
      </p:nvGrpSpPr>
      <p:grpSpPr>
        <a:xfrm>
          <a:off x="0" y="0"/>
          <a:ext cx="0" cy="0"/>
          <a:chOff x="0" y="0"/>
          <a:chExt cx="0" cy="0"/>
        </a:xfrm>
      </p:grpSpPr>
      <p:sp>
        <p:nvSpPr>
          <p:cNvPr id="2336" name="Google Shape;2336;gd32d75a420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7" name="Google Shape;2337;gd32d75a420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1" name="Shape 2341"/>
        <p:cNvGrpSpPr/>
        <p:nvPr/>
      </p:nvGrpSpPr>
      <p:grpSpPr>
        <a:xfrm>
          <a:off x="0" y="0"/>
          <a:ext cx="0" cy="0"/>
          <a:chOff x="0" y="0"/>
          <a:chExt cx="0" cy="0"/>
        </a:xfrm>
      </p:grpSpPr>
      <p:sp>
        <p:nvSpPr>
          <p:cNvPr id="2342" name="Google Shape;2342;gd32d75a420_0_1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3" name="Google Shape;2343;gd32d75a420_0_1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8" name="Shape 2348"/>
        <p:cNvGrpSpPr/>
        <p:nvPr/>
      </p:nvGrpSpPr>
      <p:grpSpPr>
        <a:xfrm>
          <a:off x="0" y="0"/>
          <a:ext cx="0" cy="0"/>
          <a:chOff x="0" y="0"/>
          <a:chExt cx="0" cy="0"/>
        </a:xfrm>
      </p:grpSpPr>
      <p:sp>
        <p:nvSpPr>
          <p:cNvPr id="2349" name="Google Shape;2349;gd32d75a420_0_1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0" name="Google Shape;2350;gd32d75a420_0_1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5" name="Shape 2355"/>
        <p:cNvGrpSpPr/>
        <p:nvPr/>
      </p:nvGrpSpPr>
      <p:grpSpPr>
        <a:xfrm>
          <a:off x="0" y="0"/>
          <a:ext cx="0" cy="0"/>
          <a:chOff x="0" y="0"/>
          <a:chExt cx="0" cy="0"/>
        </a:xfrm>
      </p:grpSpPr>
      <p:sp>
        <p:nvSpPr>
          <p:cNvPr id="2356" name="Google Shape;2356;gd32d75a420_0_1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7" name="Google Shape;2357;gd32d75a420_0_1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2" name="Shape 2362"/>
        <p:cNvGrpSpPr/>
        <p:nvPr/>
      </p:nvGrpSpPr>
      <p:grpSpPr>
        <a:xfrm>
          <a:off x="0" y="0"/>
          <a:ext cx="0" cy="0"/>
          <a:chOff x="0" y="0"/>
          <a:chExt cx="0" cy="0"/>
        </a:xfrm>
      </p:grpSpPr>
      <p:sp>
        <p:nvSpPr>
          <p:cNvPr id="2363" name="Google Shape;2363;gd32d75a420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4" name="Google Shape;2364;gd32d75a420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7" name="Shape 2367"/>
        <p:cNvGrpSpPr/>
        <p:nvPr/>
      </p:nvGrpSpPr>
      <p:grpSpPr>
        <a:xfrm>
          <a:off x="0" y="0"/>
          <a:ext cx="0" cy="0"/>
          <a:chOff x="0" y="0"/>
          <a:chExt cx="0" cy="0"/>
        </a:xfrm>
      </p:grpSpPr>
      <p:sp>
        <p:nvSpPr>
          <p:cNvPr id="2368" name="Google Shape;2368;gd32d75a420_0_1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9" name="Google Shape;2369;gd32d75a420_0_1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gd32d75a420_0_1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7" name="Google Shape;2377;gd32d75a420_0_1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d32d75a420_0_1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d32d75a420_0_1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7" name="Shape 2387"/>
        <p:cNvGrpSpPr/>
        <p:nvPr/>
      </p:nvGrpSpPr>
      <p:grpSpPr>
        <a:xfrm>
          <a:off x="0" y="0"/>
          <a:ext cx="0" cy="0"/>
          <a:chOff x="0" y="0"/>
          <a:chExt cx="0" cy="0"/>
        </a:xfrm>
      </p:grpSpPr>
      <p:sp>
        <p:nvSpPr>
          <p:cNvPr id="2388" name="Google Shape;2388;gd32d75a420_0_1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9" name="Google Shape;2389;gd32d75a420_0_1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2" name="Shape 2392"/>
        <p:cNvGrpSpPr/>
        <p:nvPr/>
      </p:nvGrpSpPr>
      <p:grpSpPr>
        <a:xfrm>
          <a:off x="0" y="0"/>
          <a:ext cx="0" cy="0"/>
          <a:chOff x="0" y="0"/>
          <a:chExt cx="0" cy="0"/>
        </a:xfrm>
      </p:grpSpPr>
      <p:sp>
        <p:nvSpPr>
          <p:cNvPr id="2393" name="Google Shape;2393;gd32d75a420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4" name="Google Shape;2394;gd32d75a420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7" name="Shape 2397"/>
        <p:cNvGrpSpPr/>
        <p:nvPr/>
      </p:nvGrpSpPr>
      <p:grpSpPr>
        <a:xfrm>
          <a:off x="0" y="0"/>
          <a:ext cx="0" cy="0"/>
          <a:chOff x="0" y="0"/>
          <a:chExt cx="0" cy="0"/>
        </a:xfrm>
      </p:grpSpPr>
      <p:sp>
        <p:nvSpPr>
          <p:cNvPr id="2398" name="Google Shape;2398;gd32d75a420_0_1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9" name="Google Shape;2399;gd32d75a420_0_1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2" name="Shape 2402"/>
        <p:cNvGrpSpPr/>
        <p:nvPr/>
      </p:nvGrpSpPr>
      <p:grpSpPr>
        <a:xfrm>
          <a:off x="0" y="0"/>
          <a:ext cx="0" cy="0"/>
          <a:chOff x="0" y="0"/>
          <a:chExt cx="0" cy="0"/>
        </a:xfrm>
      </p:grpSpPr>
      <p:sp>
        <p:nvSpPr>
          <p:cNvPr id="2403" name="Google Shape;2403;gd32d75a420_0_1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4" name="Google Shape;2404;gd32d75a420_0_1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9" name="Shape 2409"/>
        <p:cNvGrpSpPr/>
        <p:nvPr/>
      </p:nvGrpSpPr>
      <p:grpSpPr>
        <a:xfrm>
          <a:off x="0" y="0"/>
          <a:ext cx="0" cy="0"/>
          <a:chOff x="0" y="0"/>
          <a:chExt cx="0" cy="0"/>
        </a:xfrm>
      </p:grpSpPr>
      <p:sp>
        <p:nvSpPr>
          <p:cNvPr id="2410" name="Google Shape;2410;gd32d75a420_0_1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1" name="Google Shape;2411;gd32d75a420_0_1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5" name="Shape 2415"/>
        <p:cNvGrpSpPr/>
        <p:nvPr/>
      </p:nvGrpSpPr>
      <p:grpSpPr>
        <a:xfrm>
          <a:off x="0" y="0"/>
          <a:ext cx="0" cy="0"/>
          <a:chOff x="0" y="0"/>
          <a:chExt cx="0" cy="0"/>
        </a:xfrm>
      </p:grpSpPr>
      <p:sp>
        <p:nvSpPr>
          <p:cNvPr id="2416" name="Google Shape;2416;gce23051061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7" name="Google Shape;2417;gce2305106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0" name="Shape 2420"/>
        <p:cNvGrpSpPr/>
        <p:nvPr/>
      </p:nvGrpSpPr>
      <p:grpSpPr>
        <a:xfrm>
          <a:off x="0" y="0"/>
          <a:ext cx="0" cy="0"/>
          <a:chOff x="0" y="0"/>
          <a:chExt cx="0" cy="0"/>
        </a:xfrm>
      </p:grpSpPr>
      <p:sp>
        <p:nvSpPr>
          <p:cNvPr id="2421" name="Google Shape;2421;gce2305106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2" name="Google Shape;2422;gce2305106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1" name="Shape 2431"/>
        <p:cNvGrpSpPr/>
        <p:nvPr/>
      </p:nvGrpSpPr>
      <p:grpSpPr>
        <a:xfrm>
          <a:off x="0" y="0"/>
          <a:ext cx="0" cy="0"/>
          <a:chOff x="0" y="0"/>
          <a:chExt cx="0" cy="0"/>
        </a:xfrm>
      </p:grpSpPr>
      <p:sp>
        <p:nvSpPr>
          <p:cNvPr id="2432" name="Google Shape;2432;gce2305106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3" name="Google Shape;2433;gce2305106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1" name="Shape 2441"/>
        <p:cNvGrpSpPr/>
        <p:nvPr/>
      </p:nvGrpSpPr>
      <p:grpSpPr>
        <a:xfrm>
          <a:off x="0" y="0"/>
          <a:ext cx="0" cy="0"/>
          <a:chOff x="0" y="0"/>
          <a:chExt cx="0" cy="0"/>
        </a:xfrm>
      </p:grpSpPr>
      <p:sp>
        <p:nvSpPr>
          <p:cNvPr id="2442" name="Google Shape;2442;gce230510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3" name="Google Shape;2443;gce230510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6" name="Shape 2446"/>
        <p:cNvGrpSpPr/>
        <p:nvPr/>
      </p:nvGrpSpPr>
      <p:grpSpPr>
        <a:xfrm>
          <a:off x="0" y="0"/>
          <a:ext cx="0" cy="0"/>
          <a:chOff x="0" y="0"/>
          <a:chExt cx="0" cy="0"/>
        </a:xfrm>
      </p:grpSpPr>
      <p:sp>
        <p:nvSpPr>
          <p:cNvPr id="2447" name="Google Shape;2447;gce23051061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8" name="Google Shape;2448;gce23051061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side by side, we have on the left a graphical model that describes the state of the world, and on the right a graphical model that encodes a sort of target, what we would like to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our objective, all that remain is to quantify the sort of 'wrongness' in our modelling assumptions.  We need to somehow measure how close P is to Q.  How bad is the world at present?</a:t>
            </a: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0" name="Shape 2470"/>
        <p:cNvGrpSpPr/>
        <p:nvPr/>
      </p:nvGrpSpPr>
      <p:grpSpPr>
        <a:xfrm>
          <a:off x="0" y="0"/>
          <a:ext cx="0" cy="0"/>
          <a:chOff x="0" y="0"/>
          <a:chExt cx="0" cy="0"/>
        </a:xfrm>
      </p:grpSpPr>
      <p:sp>
        <p:nvSpPr>
          <p:cNvPr id="2471" name="Google Shape;2471;gce23051061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2" name="Google Shape;2472;gce23051061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7" name="Shape 2477"/>
        <p:cNvGrpSpPr/>
        <p:nvPr/>
      </p:nvGrpSpPr>
      <p:grpSpPr>
        <a:xfrm>
          <a:off x="0" y="0"/>
          <a:ext cx="0" cy="0"/>
          <a:chOff x="0" y="0"/>
          <a:chExt cx="0" cy="0"/>
        </a:xfrm>
      </p:grpSpPr>
      <p:sp>
        <p:nvSpPr>
          <p:cNvPr id="2478" name="Google Shape;2478;gc8fd1d7aea_0_6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9" name="Google Shape;2479;gc8fd1d7aea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8" name="Shape 2488"/>
        <p:cNvGrpSpPr/>
        <p:nvPr/>
      </p:nvGrpSpPr>
      <p:grpSpPr>
        <a:xfrm>
          <a:off x="0" y="0"/>
          <a:ext cx="0" cy="0"/>
          <a:chOff x="0" y="0"/>
          <a:chExt cx="0" cy="0"/>
        </a:xfrm>
      </p:grpSpPr>
      <p:sp>
        <p:nvSpPr>
          <p:cNvPr id="2489" name="Google Shape;2489;gc8fd1d7aea_0_6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0" name="Google Shape;2490;gc8fd1d7aea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choose any set of four distributions: data, encoder, decoder and marginal, you can evaluate the two functionals, rate and distortion.  Any set of four distributions will pick out a single point in this two dimensional space.  Let's walk through what the space looks like.  First we know that Rate has to be positive since its a average kl.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And if our data is discrete, or we discritize it, Distortion has to be positive two, so any set wil give us a single point in the upper quadrant in the R-D plane.</a:t>
            </a: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7" name="Shape 2497"/>
        <p:cNvGrpSpPr/>
        <p:nvPr/>
      </p:nvGrpSpPr>
      <p:grpSpPr>
        <a:xfrm>
          <a:off x="0" y="0"/>
          <a:ext cx="0" cy="0"/>
          <a:chOff x="0" y="0"/>
          <a:chExt cx="0" cy="0"/>
        </a:xfrm>
      </p:grpSpPr>
      <p:sp>
        <p:nvSpPr>
          <p:cNvPr id="2498" name="Google Shape;2498;gc8fd1d7aea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9" name="Google Shape;2499;gc8fd1d7aea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9" name="Shape 2509"/>
        <p:cNvGrpSpPr/>
        <p:nvPr/>
      </p:nvGrpSpPr>
      <p:grpSpPr>
        <a:xfrm>
          <a:off x="0" y="0"/>
          <a:ext cx="0" cy="0"/>
          <a:chOff x="0" y="0"/>
          <a:chExt cx="0" cy="0"/>
        </a:xfrm>
      </p:grpSpPr>
      <p:sp>
        <p:nvSpPr>
          <p:cNvPr id="2510" name="Google Shape;2510;gc8fd1d7aea_0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1" name="Google Shape;2511;gc8fd1d7aea_0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8" name="Shape 2518"/>
        <p:cNvGrpSpPr/>
        <p:nvPr/>
      </p:nvGrpSpPr>
      <p:grpSpPr>
        <a:xfrm>
          <a:off x="0" y="0"/>
          <a:ext cx="0" cy="0"/>
          <a:chOff x="0" y="0"/>
          <a:chExt cx="0" cy="0"/>
        </a:xfrm>
      </p:grpSpPr>
      <p:sp>
        <p:nvSpPr>
          <p:cNvPr id="2519" name="Google Shape;2519;gc8fd1d7aea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0" name="Google Shape;2520;gc8fd1d7aea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We've found both a variational upper and variational lower bound.  We took what we decided was a good albeit intractable characterization and turned it into a tractable variational sandwich.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we can actually characterize the space of solutions.</a:t>
            </a: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4" name="Shape 2534"/>
        <p:cNvGrpSpPr/>
        <p:nvPr/>
      </p:nvGrpSpPr>
      <p:grpSpPr>
        <a:xfrm>
          <a:off x="0" y="0"/>
          <a:ext cx="0" cy="0"/>
          <a:chOff x="0" y="0"/>
          <a:chExt cx="0" cy="0"/>
        </a:xfrm>
      </p:grpSpPr>
      <p:sp>
        <p:nvSpPr>
          <p:cNvPr id="2535" name="Google Shape;2535;gc8fd1d7aea_0_6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6" name="Google Shape;2536;gc8fd1d7aea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than that, since rate and distortion together with the data entropy define upper and lower bounds on the same central quality, the upper quadrant is actually separated into a feasible and infeasible region.  Even if we have infinitely powerful encoders, decoders and prior, there is a region we cannot reach.  This boundary defines the limits of representation learning.  </a:t>
            </a: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gc8fd1d7aea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5" name="Google Shape;2545;gc8fd1d7aea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two corners represent two extremes.  At one end we have zero distortion, meaning perfect reconstruction while our rate is as small as possible and set at the entropy of our data.  This is perfect lossless-compression, arguably the goal of autoencoders.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By analogy we call the other corner the auto-decoder limit.  Here our rate is zero, we have no latent variables but we have the best possible fully observed generative model.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that the negative ELBO is the sum or rate and distortion, or geometrically by the offset of the corresponding diagonal.  All of the points on that diagonal line connecting the autoencoder and autodecoder point have identical ELBO.  They are all equivalent.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Depending on what you want to do, sometimes you might want an autoencoder, other times and autodecoder.  Most of the times you probably want something inbetween, but here two there are tradeoffs.  ELBO isn't about tradeoffs.</a:t>
            </a: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2" name="Shape 2552"/>
        <p:cNvGrpSpPr/>
        <p:nvPr/>
      </p:nvGrpSpPr>
      <p:grpSpPr>
        <a:xfrm>
          <a:off x="0" y="0"/>
          <a:ext cx="0" cy="0"/>
          <a:chOff x="0" y="0"/>
          <a:chExt cx="0" cy="0"/>
        </a:xfrm>
      </p:grpSpPr>
      <p:sp>
        <p:nvSpPr>
          <p:cNvPr id="2553" name="Google Shape;2553;gc8fd1d7aea_0_7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4" name="Google Shape;2554;gc8fd1d7aea_0_7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instead of the hypothetical case of an infinite model family, we have the realistic case of a finite parameteric model, like the neural networks we use in practice, our variational bounds will no longer be tight.  Our decoder won't be the exact posterior, and the marginal won't be the exact marginal, so there will be some relaxed set of "realizeable" points in the plane.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region itself must have a boundary, set of rate and distortion tradeoffs that are pareto optimal in terms of the variational approximations the model family can express.  Regardless of your downstream task, you ought to target one of the pareto optimal points no the frontier.  These are the points that are optimal under a constraint, e.g. the lowest possible distortion at fixed rate.</a:t>
            </a: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2" name="Shape 2562"/>
        <p:cNvGrpSpPr/>
        <p:nvPr/>
      </p:nvGrpSpPr>
      <p:grpSpPr>
        <a:xfrm>
          <a:off x="0" y="0"/>
          <a:ext cx="0" cy="0"/>
          <a:chOff x="0" y="0"/>
          <a:chExt cx="0" cy="0"/>
        </a:xfrm>
      </p:grpSpPr>
      <p:sp>
        <p:nvSpPr>
          <p:cNvPr id="2563" name="Google Shape;2563;gc8fd1d7aea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4" name="Google Shape;2564;gc8fd1d7aea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the boundary is continuous and smooth (as it should be in general), we can replace the hard constrained optimization with a soft</a:t>
            </a:r>
            <a:endParaRPr/>
          </a:p>
          <a:p>
            <a:pPr indent="0" lvl="0" marL="0" rtl="0" algn="l">
              <a:spcBef>
                <a:spcPts val="0"/>
              </a:spcBef>
              <a:spcAft>
                <a:spcPts val="0"/>
              </a:spcAft>
              <a:buNone/>
            </a:pPr>
            <a:r>
              <a:rPr lang="en"/>
              <a:t>lagrange multiplier formulation, minimizing D + beta R, where beta controls the tradeoff.</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Geometrically, beta is the slope of the point on the optimal frontier.  As we trace out beta, we can trace out the optimal frontier.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train with the ordinary ELBO in the finite model family, you are targetting a single point in the RD plane, the point on the boundary surface that happens to have slope=1.  However in that model family there is an entire 1 dimensional surface of solutions, that while they will have worse ELBOs, they will smoothly tradeoff rate for distortion and allow you to move around in the RD plane.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some applications or model families this is really important to be able to do.</a:t>
            </a: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5" name="Shape 2575"/>
        <p:cNvGrpSpPr/>
        <p:nvPr/>
      </p:nvGrpSpPr>
      <p:grpSpPr>
        <a:xfrm>
          <a:off x="0" y="0"/>
          <a:ext cx="0" cy="0"/>
          <a:chOff x="0" y="0"/>
          <a:chExt cx="0" cy="0"/>
        </a:xfrm>
      </p:grpSpPr>
      <p:sp>
        <p:nvSpPr>
          <p:cNvPr id="2576" name="Google Shape;2576;gc8fd1d7aea_0_7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7" name="Google Shape;2577;gc8fd1d7aea_0_7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don't move around the space, the optimal elbo, the single beta=1 point where slope=1 is a strong function of the model family, the architectural choices you made since it is the relative power of the components that govern the shape of the curve.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instance, let's say you start with some model family, the red one, but somehow cripple the marginal approximation with fewer parameters or more constraints.  This will shift the whole frontier to the right, since a worse marginal means a higher rate and doesn't affect the distortion.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mean the beta=1 point moves.</a:t>
            </a: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4" name="Shape 2584"/>
        <p:cNvGrpSpPr/>
        <p:nvPr/>
      </p:nvGrpSpPr>
      <p:grpSpPr>
        <a:xfrm>
          <a:off x="0" y="0"/>
          <a:ext cx="0" cy="0"/>
          <a:chOff x="0" y="0"/>
          <a:chExt cx="0" cy="0"/>
        </a:xfrm>
      </p:grpSpPr>
      <p:sp>
        <p:nvSpPr>
          <p:cNvPr id="2585" name="Google Shape;2585;gc8fd1d7aea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6" name="Google Shape;2586;gc8fd1d7aea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Alternatively, instead of crippling the marginal, you could cripple the decoder and get the beta=1 to move a different way.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all you are doing is targetting ELBO, since you are picking out just a single point on the frontier, if you are disatisfied with the behavior of your solution, your only respite is to modify your architecture in some fundamental way.  But this is an inelegant way to control your solutions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Instead, if you just stick with a powerful model family, and understand that there is a whole curve of optimal solutions, you can achieve solutions that are pareto optimal across the whole plane.</a:t>
            </a: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3" name="Shape 2593"/>
        <p:cNvGrpSpPr/>
        <p:nvPr/>
      </p:nvGrpSpPr>
      <p:grpSpPr>
        <a:xfrm>
          <a:off x="0" y="0"/>
          <a:ext cx="0" cy="0"/>
          <a:chOff x="0" y="0"/>
          <a:chExt cx="0" cy="0"/>
        </a:xfrm>
      </p:grpSpPr>
      <p:sp>
        <p:nvSpPr>
          <p:cNvPr id="2594" name="Google Shape;2594;gc8fd1d7aea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5" name="Google Shape;2595;gc8fd1d7aea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either case, now we can trace out curves in each model family, for instance here we trace out the baseline model.</a:t>
            </a: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3" name="Shape 2603"/>
        <p:cNvGrpSpPr/>
        <p:nvPr/>
      </p:nvGrpSpPr>
      <p:grpSpPr>
        <a:xfrm>
          <a:off x="0" y="0"/>
          <a:ext cx="0" cy="0"/>
          <a:chOff x="0" y="0"/>
          <a:chExt cx="0" cy="0"/>
        </a:xfrm>
      </p:grpSpPr>
      <p:sp>
        <p:nvSpPr>
          <p:cNvPr id="2604" name="Google Shape;2604;gc8fd1d7aea_0_7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5" name="Google Shape;2605;gc8fd1d7aea_0_7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can also trace out a powerful model family, like the +++ model.  Notice that we no longer have models that simply collapse.</a:t>
            </a: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3" name="Shape 2613"/>
        <p:cNvGrpSpPr/>
        <p:nvPr/>
      </p:nvGrpSpPr>
      <p:grpSpPr>
        <a:xfrm>
          <a:off x="0" y="0"/>
          <a:ext cx="0" cy="0"/>
          <a:chOff x="0" y="0"/>
          <a:chExt cx="0" cy="0"/>
        </a:xfrm>
      </p:grpSpPr>
      <p:sp>
        <p:nvSpPr>
          <p:cNvPr id="2614" name="Google Shape;2614;gc8fd1d7aea_0_7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5" name="Google Shape;2615;gc8fd1d7aea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traced out all 12 model families in the paper.  On the right is shown all of the points we evaluated, and on the left we've zoomed in and changed the axes to the skew axes of rate versus -ELBO instead of distortion,</a:t>
            </a:r>
            <a:endParaRPr/>
          </a:p>
          <a:p>
            <a:pPr indent="0" lvl="0" marL="0" rtl="0" algn="l">
              <a:spcBef>
                <a:spcPts val="0"/>
              </a:spcBef>
              <a:spcAft>
                <a:spcPts val="0"/>
              </a:spcAft>
              <a:buNone/>
            </a:pPr>
            <a:r>
              <a:rPr lang="en"/>
              <a:t>to emphasize that there are measureable incremental differences in the model families, and also that generally ELBO gets worse with rate.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that we've filled in the RD plane, we have a lot more solutions to choose from downstream</a:t>
            </a: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4" name="Shape 2624"/>
        <p:cNvGrpSpPr/>
        <p:nvPr/>
      </p:nvGrpSpPr>
      <p:grpSpPr>
        <a:xfrm>
          <a:off x="0" y="0"/>
          <a:ext cx="0" cy="0"/>
          <a:chOff x="0" y="0"/>
          <a:chExt cx="0" cy="0"/>
        </a:xfrm>
      </p:grpSpPr>
      <p:sp>
        <p:nvSpPr>
          <p:cNvPr id="2625" name="Google Shape;2625;gc8fd1d7aea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6" name="Google Shape;2626;gc8fd1d7aea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 only do we have the autodecoder type solutions we showed earlier, with collapsing rate,</a:t>
            </a: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9" name="Shape 2639"/>
        <p:cNvGrpSpPr/>
        <p:nvPr/>
      </p:nvGrpSpPr>
      <p:grpSpPr>
        <a:xfrm>
          <a:off x="0" y="0"/>
          <a:ext cx="0" cy="0"/>
          <a:chOff x="0" y="0"/>
          <a:chExt cx="0" cy="0"/>
        </a:xfrm>
      </p:grpSpPr>
      <p:sp>
        <p:nvSpPr>
          <p:cNvPr id="2640" name="Google Shape;2640;gc8fd1d7aea_0_7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1" name="Google Shape;2641;gc8fd1d7aea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 we have models with relatively large rates with comparable ELBOs, like this model here that has very faithful reconstructions and a good ELBO.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thing we noticed in general for the class of models we studied here was a general failure of the models to hug the diagonal at high rates, i.e. to achive points near the autoencoding limit.  To do better in that region one should consider mover powerful marginal models, and since we wrote this paper that space has started to be explored with models like the VQ-VAE which use a powerful autoregressive pixelcnn model, but as the marginal distribution.</a:t>
            </a: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4" name="Shape 2654"/>
        <p:cNvGrpSpPr/>
        <p:nvPr/>
      </p:nvGrpSpPr>
      <p:grpSpPr>
        <a:xfrm>
          <a:off x="0" y="0"/>
          <a:ext cx="0" cy="0"/>
          <a:chOff x="0" y="0"/>
          <a:chExt cx="0" cy="0"/>
        </a:xfrm>
      </p:grpSpPr>
      <p:sp>
        <p:nvSpPr>
          <p:cNvPr id="2655" name="Google Shape;2655;gc8fd1d7aea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6" name="Google Shape;2656;gc8fd1d7aea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we filled in the space, we also have solutions that are arguably what we really wanted when we starting training our generative models to begin with, like this model at a small, but non-zero rate of 8.3 nats.  If you look at the reconstructions, for instance look at the reconstructed 2s on the left in red.  The input image is a 2, and the outputs are all twos, but the model does some novel generations, including 2s with and without bottom loops.  The zeros its produces similarly show some interesting variations, but they are all thickly stroked like the original 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model has learned a latent representation that seems to capture not just the class of the digit, but also some gross stylistic variations.  It is a sort of semantic encoder, which we were able to find only because we looked for it.</a:t>
            </a: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9" name="Shape 2669"/>
        <p:cNvGrpSpPr/>
        <p:nvPr/>
      </p:nvGrpSpPr>
      <p:grpSpPr>
        <a:xfrm>
          <a:off x="0" y="0"/>
          <a:ext cx="0" cy="0"/>
          <a:chOff x="0" y="0"/>
          <a:chExt cx="0" cy="0"/>
        </a:xfrm>
      </p:grpSpPr>
      <p:sp>
        <p:nvSpPr>
          <p:cNvPr id="2670" name="Google Shape;2670;gc8fd1d7aea_0_8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1" name="Google Shape;2671;gc8fd1d7aea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4" name="Shape 2674"/>
        <p:cNvGrpSpPr/>
        <p:nvPr/>
      </p:nvGrpSpPr>
      <p:grpSpPr>
        <a:xfrm>
          <a:off x="0" y="0"/>
          <a:ext cx="0" cy="0"/>
          <a:chOff x="0" y="0"/>
          <a:chExt cx="0" cy="0"/>
        </a:xfrm>
      </p:grpSpPr>
      <p:sp>
        <p:nvSpPr>
          <p:cNvPr id="2675" name="Google Shape;2675;gc8fd1d7aea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6" name="Google Shape;2676;gc8fd1d7aea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side by side, we have on the left a graphical model that describes the state of the world, and on the right a graphical model that encodes a sort of target, what we would like to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our objective, all that remain is to quantify the sort of 'wrongness' in our modelling assumptions.  We need to somehow measure how close P is to Q.  How bad is the world at present?</a:t>
            </a: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3" name="Shape 2703"/>
        <p:cNvGrpSpPr/>
        <p:nvPr/>
      </p:nvGrpSpPr>
      <p:grpSpPr>
        <a:xfrm>
          <a:off x="0" y="0"/>
          <a:ext cx="0" cy="0"/>
          <a:chOff x="0" y="0"/>
          <a:chExt cx="0" cy="0"/>
        </a:xfrm>
      </p:grpSpPr>
      <p:sp>
        <p:nvSpPr>
          <p:cNvPr id="2704" name="Google Shape;2704;gc8fd1d7aea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5" name="Google Shape;2705;gc8fd1d7aea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3" name="Shape 2713"/>
        <p:cNvGrpSpPr/>
        <p:nvPr/>
      </p:nvGrpSpPr>
      <p:grpSpPr>
        <a:xfrm>
          <a:off x="0" y="0"/>
          <a:ext cx="0" cy="0"/>
          <a:chOff x="0" y="0"/>
          <a:chExt cx="0" cy="0"/>
        </a:xfrm>
      </p:grpSpPr>
      <p:sp>
        <p:nvSpPr>
          <p:cNvPr id="2714" name="Google Shape;2714;gc8fd1d7aea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5" name="Google Shape;2715;gc8fd1d7aea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3" name="Shape 2723"/>
        <p:cNvGrpSpPr/>
        <p:nvPr/>
      </p:nvGrpSpPr>
      <p:grpSpPr>
        <a:xfrm>
          <a:off x="0" y="0"/>
          <a:ext cx="0" cy="0"/>
          <a:chOff x="0" y="0"/>
          <a:chExt cx="0" cy="0"/>
        </a:xfrm>
      </p:grpSpPr>
      <p:sp>
        <p:nvSpPr>
          <p:cNvPr id="2724" name="Google Shape;2724;gc8fd1d7aea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5" name="Google Shape;2725;gc8fd1d7aea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1" name="Shape 2731"/>
        <p:cNvGrpSpPr/>
        <p:nvPr/>
      </p:nvGrpSpPr>
      <p:grpSpPr>
        <a:xfrm>
          <a:off x="0" y="0"/>
          <a:ext cx="0" cy="0"/>
          <a:chOff x="0" y="0"/>
          <a:chExt cx="0" cy="0"/>
        </a:xfrm>
      </p:grpSpPr>
      <p:sp>
        <p:nvSpPr>
          <p:cNvPr id="2732" name="Google Shape;2732;gc8fd1d7aea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3" name="Google Shape;2733;gc8fd1d7aea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1" name="Shape 2741"/>
        <p:cNvGrpSpPr/>
        <p:nvPr/>
      </p:nvGrpSpPr>
      <p:grpSpPr>
        <a:xfrm>
          <a:off x="0" y="0"/>
          <a:ext cx="0" cy="0"/>
          <a:chOff x="0" y="0"/>
          <a:chExt cx="0" cy="0"/>
        </a:xfrm>
      </p:grpSpPr>
      <p:sp>
        <p:nvSpPr>
          <p:cNvPr id="2742" name="Google Shape;2742;gc8fd1d7aea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3" name="Google Shape;2743;gc8fd1d7aea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6" name="Shape 2746"/>
        <p:cNvGrpSpPr/>
        <p:nvPr/>
      </p:nvGrpSpPr>
      <p:grpSpPr>
        <a:xfrm>
          <a:off x="0" y="0"/>
          <a:ext cx="0" cy="0"/>
          <a:chOff x="0" y="0"/>
          <a:chExt cx="0" cy="0"/>
        </a:xfrm>
      </p:grpSpPr>
      <p:sp>
        <p:nvSpPr>
          <p:cNvPr id="2747" name="Google Shape;2747;gc8fd1d7aea_0_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8" name="Google Shape;2748;gc8fd1d7aea_0_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4" name="Shape 2754"/>
        <p:cNvGrpSpPr/>
        <p:nvPr/>
      </p:nvGrpSpPr>
      <p:grpSpPr>
        <a:xfrm>
          <a:off x="0" y="0"/>
          <a:ext cx="0" cy="0"/>
          <a:chOff x="0" y="0"/>
          <a:chExt cx="0" cy="0"/>
        </a:xfrm>
      </p:grpSpPr>
      <p:sp>
        <p:nvSpPr>
          <p:cNvPr id="2755" name="Google Shape;2755;gc8fd1d7aea_0_8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6" name="Google Shape;2756;gc8fd1d7aea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Deterministic classifier, every image a single point.  Here is MNIST in 2D.  Each point is an individual digit.  Nearly all information retained.  Can easily identify which image you saw based on the encoding.</a:t>
            </a:r>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2" name="Shape 2762"/>
        <p:cNvGrpSpPr/>
        <p:nvPr/>
      </p:nvGrpSpPr>
      <p:grpSpPr>
        <a:xfrm>
          <a:off x="0" y="0"/>
          <a:ext cx="0" cy="0"/>
          <a:chOff x="0" y="0"/>
          <a:chExt cx="0" cy="0"/>
        </a:xfrm>
      </p:grpSpPr>
      <p:sp>
        <p:nvSpPr>
          <p:cNvPr id="2763" name="Google Shape;2763;gc8fd1d7aea_0_8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4" name="Google Shape;2764;gc8fd1d7aea_0_8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Privacy implications.  Here is a VIB classifer,  each ellipse is the 2 sigma contour for an individual image.  Notice there is nearly total overlap.  Can no longer distinguish an individual image based on a single sample.</a:t>
            </a:r>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0" name="Shape 2770"/>
        <p:cNvGrpSpPr/>
        <p:nvPr/>
      </p:nvGrpSpPr>
      <p:grpSpPr>
        <a:xfrm>
          <a:off x="0" y="0"/>
          <a:ext cx="0" cy="0"/>
          <a:chOff x="0" y="0"/>
          <a:chExt cx="0" cy="0"/>
        </a:xfrm>
      </p:grpSpPr>
      <p:sp>
        <p:nvSpPr>
          <p:cNvPr id="2771" name="Google Shape;2771;gc8fd1d7aea_0_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2" name="Google Shape;2772;gc8fd1d7aea_0_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6" name="Shape 2776"/>
        <p:cNvGrpSpPr/>
        <p:nvPr/>
      </p:nvGrpSpPr>
      <p:grpSpPr>
        <a:xfrm>
          <a:off x="0" y="0"/>
          <a:ext cx="0" cy="0"/>
          <a:chOff x="0" y="0"/>
          <a:chExt cx="0" cy="0"/>
        </a:xfrm>
      </p:grpSpPr>
      <p:sp>
        <p:nvSpPr>
          <p:cNvPr id="2777" name="Google Shape;2777;gc8fd1d7aea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8" name="Google Shape;2778;gc8fd1d7aea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5" name="Shape 2785"/>
        <p:cNvGrpSpPr/>
        <p:nvPr/>
      </p:nvGrpSpPr>
      <p:grpSpPr>
        <a:xfrm>
          <a:off x="0" y="0"/>
          <a:ext cx="0" cy="0"/>
          <a:chOff x="0" y="0"/>
          <a:chExt cx="0" cy="0"/>
        </a:xfrm>
      </p:grpSpPr>
      <p:sp>
        <p:nvSpPr>
          <p:cNvPr id="2786" name="Google Shape;2786;gc8fd1d7aea_0_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7" name="Google Shape;2787;gc8fd1d7aea_0_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6" name="Shape 2796"/>
        <p:cNvGrpSpPr/>
        <p:nvPr/>
      </p:nvGrpSpPr>
      <p:grpSpPr>
        <a:xfrm>
          <a:off x="0" y="0"/>
          <a:ext cx="0" cy="0"/>
          <a:chOff x="0" y="0"/>
          <a:chExt cx="0" cy="0"/>
        </a:xfrm>
      </p:grpSpPr>
      <p:sp>
        <p:nvSpPr>
          <p:cNvPr id="2797" name="Google Shape;2797;gc8fd1d7aea_0_9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8" name="Google Shape;2798;gc8fd1d7aea_0_9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6" name="Shape 2806"/>
        <p:cNvGrpSpPr/>
        <p:nvPr/>
      </p:nvGrpSpPr>
      <p:grpSpPr>
        <a:xfrm>
          <a:off x="0" y="0"/>
          <a:ext cx="0" cy="0"/>
          <a:chOff x="0" y="0"/>
          <a:chExt cx="0" cy="0"/>
        </a:xfrm>
      </p:grpSpPr>
      <p:sp>
        <p:nvSpPr>
          <p:cNvPr id="2807" name="Google Shape;2807;gc8fd1d7aea_0_9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8" name="Google Shape;2808;gc8fd1d7aea_0_9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5" name="Shape 2815"/>
        <p:cNvGrpSpPr/>
        <p:nvPr/>
      </p:nvGrpSpPr>
      <p:grpSpPr>
        <a:xfrm>
          <a:off x="0" y="0"/>
          <a:ext cx="0" cy="0"/>
          <a:chOff x="0" y="0"/>
          <a:chExt cx="0" cy="0"/>
        </a:xfrm>
      </p:grpSpPr>
      <p:sp>
        <p:nvSpPr>
          <p:cNvPr id="2816" name="Google Shape;2816;gc8fd1d7aea_0_9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7" name="Google Shape;2817;gc8fd1d7aea_0_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8" name="Shape 2828"/>
        <p:cNvGrpSpPr/>
        <p:nvPr/>
      </p:nvGrpSpPr>
      <p:grpSpPr>
        <a:xfrm>
          <a:off x="0" y="0"/>
          <a:ext cx="0" cy="0"/>
          <a:chOff x="0" y="0"/>
          <a:chExt cx="0" cy="0"/>
        </a:xfrm>
      </p:grpSpPr>
      <p:sp>
        <p:nvSpPr>
          <p:cNvPr id="2829" name="Google Shape;2829;gc8fd1d7aea_0_9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0" name="Google Shape;2830;gc8fd1d7aea_0_9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1" name="Shape 2841"/>
        <p:cNvGrpSpPr/>
        <p:nvPr/>
      </p:nvGrpSpPr>
      <p:grpSpPr>
        <a:xfrm>
          <a:off x="0" y="0"/>
          <a:ext cx="0" cy="0"/>
          <a:chOff x="0" y="0"/>
          <a:chExt cx="0" cy="0"/>
        </a:xfrm>
      </p:grpSpPr>
      <p:sp>
        <p:nvSpPr>
          <p:cNvPr id="2842" name="Google Shape;2842;gc8fd1d7aea_0_9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3" name="Google Shape;2843;gc8fd1d7aea_0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2" name="Shape 2852"/>
        <p:cNvGrpSpPr/>
        <p:nvPr/>
      </p:nvGrpSpPr>
      <p:grpSpPr>
        <a:xfrm>
          <a:off x="0" y="0"/>
          <a:ext cx="0" cy="0"/>
          <a:chOff x="0" y="0"/>
          <a:chExt cx="0" cy="0"/>
        </a:xfrm>
      </p:grpSpPr>
      <p:sp>
        <p:nvSpPr>
          <p:cNvPr id="2853" name="Google Shape;2853;gc8fd1d7aea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4" name="Google Shape;2854;gc8fd1d7aea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8" name="Shape 2868"/>
        <p:cNvGrpSpPr/>
        <p:nvPr/>
      </p:nvGrpSpPr>
      <p:grpSpPr>
        <a:xfrm>
          <a:off x="0" y="0"/>
          <a:ext cx="0" cy="0"/>
          <a:chOff x="0" y="0"/>
          <a:chExt cx="0" cy="0"/>
        </a:xfrm>
      </p:grpSpPr>
      <p:sp>
        <p:nvSpPr>
          <p:cNvPr id="2869" name="Google Shape;2869;gc8fd1d7aea_0_9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0" name="Google Shape;2870;gc8fd1d7aea_0_9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4" name="Shape 2884"/>
        <p:cNvGrpSpPr/>
        <p:nvPr/>
      </p:nvGrpSpPr>
      <p:grpSpPr>
        <a:xfrm>
          <a:off x="0" y="0"/>
          <a:ext cx="0" cy="0"/>
          <a:chOff x="0" y="0"/>
          <a:chExt cx="0" cy="0"/>
        </a:xfrm>
      </p:grpSpPr>
      <p:sp>
        <p:nvSpPr>
          <p:cNvPr id="2885" name="Google Shape;2885;gc8fd1d7aea_0_10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6" name="Google Shape;2886;gc8fd1d7aea_0_10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0" name="Shape 2900"/>
        <p:cNvGrpSpPr/>
        <p:nvPr/>
      </p:nvGrpSpPr>
      <p:grpSpPr>
        <a:xfrm>
          <a:off x="0" y="0"/>
          <a:ext cx="0" cy="0"/>
          <a:chOff x="0" y="0"/>
          <a:chExt cx="0" cy="0"/>
        </a:xfrm>
      </p:grpSpPr>
      <p:sp>
        <p:nvSpPr>
          <p:cNvPr id="2901" name="Google Shape;2901;gc8fd1d7aea_0_10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2" name="Google Shape;2902;gc8fd1d7aea_0_10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6" name="Shape 2916"/>
        <p:cNvGrpSpPr/>
        <p:nvPr/>
      </p:nvGrpSpPr>
      <p:grpSpPr>
        <a:xfrm>
          <a:off x="0" y="0"/>
          <a:ext cx="0" cy="0"/>
          <a:chOff x="0" y="0"/>
          <a:chExt cx="0" cy="0"/>
        </a:xfrm>
      </p:grpSpPr>
      <p:sp>
        <p:nvSpPr>
          <p:cNvPr id="2917" name="Google Shape;2917;g30139f66a56_3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8" name="Google Shape;2918;g30139f66a56_3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1" name="Shape 2921"/>
        <p:cNvGrpSpPr/>
        <p:nvPr/>
      </p:nvGrpSpPr>
      <p:grpSpPr>
        <a:xfrm>
          <a:off x="0" y="0"/>
          <a:ext cx="0" cy="0"/>
          <a:chOff x="0" y="0"/>
          <a:chExt cx="0" cy="0"/>
        </a:xfrm>
      </p:grpSpPr>
      <p:sp>
        <p:nvSpPr>
          <p:cNvPr id="2922" name="Google Shape;2922;gd32d75a420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3" name="Google Shape;2923;gd32d75a420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6" name="Shape 2926"/>
        <p:cNvGrpSpPr/>
        <p:nvPr/>
      </p:nvGrpSpPr>
      <p:grpSpPr>
        <a:xfrm>
          <a:off x="0" y="0"/>
          <a:ext cx="0" cy="0"/>
          <a:chOff x="0" y="0"/>
          <a:chExt cx="0" cy="0"/>
        </a:xfrm>
      </p:grpSpPr>
      <p:sp>
        <p:nvSpPr>
          <p:cNvPr id="2927" name="Google Shape;2927;gd32d75a420_0_5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8" name="Google Shape;2928;gd32d75a420_0_5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side by side, we have on the left a graphical model that describes the state of the world, and on the right a graphical model that encodes a sort of target, what we would like to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our objective, all that remain is to quantify the sort of 'wrongness' in our modelling assumptions.  We need to somehow measure how close P is to Q.  How bad is the world at present?</a:t>
            </a:r>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5" name="Shape 2955"/>
        <p:cNvGrpSpPr/>
        <p:nvPr/>
      </p:nvGrpSpPr>
      <p:grpSpPr>
        <a:xfrm>
          <a:off x="0" y="0"/>
          <a:ext cx="0" cy="0"/>
          <a:chOff x="0" y="0"/>
          <a:chExt cx="0" cy="0"/>
        </a:xfrm>
      </p:grpSpPr>
      <p:sp>
        <p:nvSpPr>
          <p:cNvPr id="2956" name="Google Shape;2956;gd32d75a420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7" name="Google Shape;2957;gd32d75a420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1" name="Shape 2961"/>
        <p:cNvGrpSpPr/>
        <p:nvPr/>
      </p:nvGrpSpPr>
      <p:grpSpPr>
        <a:xfrm>
          <a:off x="0" y="0"/>
          <a:ext cx="0" cy="0"/>
          <a:chOff x="0" y="0"/>
          <a:chExt cx="0" cy="0"/>
        </a:xfrm>
      </p:grpSpPr>
      <p:sp>
        <p:nvSpPr>
          <p:cNvPr id="2962" name="Google Shape;2962;gd32d75a420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3" name="Google Shape;2963;gd32d75a420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6" name="Shape 2966"/>
        <p:cNvGrpSpPr/>
        <p:nvPr/>
      </p:nvGrpSpPr>
      <p:grpSpPr>
        <a:xfrm>
          <a:off x="0" y="0"/>
          <a:ext cx="0" cy="0"/>
          <a:chOff x="0" y="0"/>
          <a:chExt cx="0" cy="0"/>
        </a:xfrm>
      </p:grpSpPr>
      <p:sp>
        <p:nvSpPr>
          <p:cNvPr id="2967" name="Google Shape;2967;gd32d75a420_0_5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8" name="Google Shape;2968;gd32d75a420_0_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3" name="Shape 3003"/>
        <p:cNvGrpSpPr/>
        <p:nvPr/>
      </p:nvGrpSpPr>
      <p:grpSpPr>
        <a:xfrm>
          <a:off x="0" y="0"/>
          <a:ext cx="0" cy="0"/>
          <a:chOff x="0" y="0"/>
          <a:chExt cx="0" cy="0"/>
        </a:xfrm>
      </p:grpSpPr>
      <p:sp>
        <p:nvSpPr>
          <p:cNvPr id="3004" name="Google Shape;3004;gd32d75a420_0_6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5" name="Google Shape;3005;gd32d75a420_0_6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0" name="Shape 3040"/>
        <p:cNvGrpSpPr/>
        <p:nvPr/>
      </p:nvGrpSpPr>
      <p:grpSpPr>
        <a:xfrm>
          <a:off x="0" y="0"/>
          <a:ext cx="0" cy="0"/>
          <a:chOff x="0" y="0"/>
          <a:chExt cx="0" cy="0"/>
        </a:xfrm>
      </p:grpSpPr>
      <p:sp>
        <p:nvSpPr>
          <p:cNvPr id="3041" name="Google Shape;3041;gd32d75a420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2" name="Google Shape;3042;gd32d75a420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1" name="Shape 3051"/>
        <p:cNvGrpSpPr/>
        <p:nvPr/>
      </p:nvGrpSpPr>
      <p:grpSpPr>
        <a:xfrm>
          <a:off x="0" y="0"/>
          <a:ext cx="0" cy="0"/>
          <a:chOff x="0" y="0"/>
          <a:chExt cx="0" cy="0"/>
        </a:xfrm>
      </p:grpSpPr>
      <p:sp>
        <p:nvSpPr>
          <p:cNvPr id="3052" name="Google Shape;3052;gd32d75a420_0_6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3" name="Google Shape;3053;gd32d75a420_0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stuff with Ravid</a:t>
            </a:r>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6" name="Shape 3056"/>
        <p:cNvGrpSpPr/>
        <p:nvPr/>
      </p:nvGrpSpPr>
      <p:grpSpPr>
        <a:xfrm>
          <a:off x="0" y="0"/>
          <a:ext cx="0" cy="0"/>
          <a:chOff x="0" y="0"/>
          <a:chExt cx="0" cy="0"/>
        </a:xfrm>
      </p:grpSpPr>
      <p:sp>
        <p:nvSpPr>
          <p:cNvPr id="3057" name="Google Shape;3057;gd32d75a420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8" name="Google Shape;3058;gd32d75a420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2" name="Shape 3062"/>
        <p:cNvGrpSpPr/>
        <p:nvPr/>
      </p:nvGrpSpPr>
      <p:grpSpPr>
        <a:xfrm>
          <a:off x="0" y="0"/>
          <a:ext cx="0" cy="0"/>
          <a:chOff x="0" y="0"/>
          <a:chExt cx="0" cy="0"/>
        </a:xfrm>
      </p:grpSpPr>
      <p:sp>
        <p:nvSpPr>
          <p:cNvPr id="3063" name="Google Shape;3063;gd32d75a420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4" name="Google Shape;3064;gd32d75a420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1" name="Shape 3091"/>
        <p:cNvGrpSpPr/>
        <p:nvPr/>
      </p:nvGrpSpPr>
      <p:grpSpPr>
        <a:xfrm>
          <a:off x="0" y="0"/>
          <a:ext cx="0" cy="0"/>
          <a:chOff x="0" y="0"/>
          <a:chExt cx="0" cy="0"/>
        </a:xfrm>
      </p:grpSpPr>
      <p:sp>
        <p:nvSpPr>
          <p:cNvPr id="3092" name="Google Shape;3092;gd32d75a420_0_7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3" name="Google Shape;3093;gd32d75a420_0_7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4" name="Shape 3124"/>
        <p:cNvGrpSpPr/>
        <p:nvPr/>
      </p:nvGrpSpPr>
      <p:grpSpPr>
        <a:xfrm>
          <a:off x="0" y="0"/>
          <a:ext cx="0" cy="0"/>
          <a:chOff x="0" y="0"/>
          <a:chExt cx="0" cy="0"/>
        </a:xfrm>
      </p:grpSpPr>
      <p:sp>
        <p:nvSpPr>
          <p:cNvPr id="3125" name="Google Shape;3125;gd32d75a420_0_7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6" name="Google Shape;3126;gd32d75a420_0_7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1" name="Shape 3161"/>
        <p:cNvGrpSpPr/>
        <p:nvPr/>
      </p:nvGrpSpPr>
      <p:grpSpPr>
        <a:xfrm>
          <a:off x="0" y="0"/>
          <a:ext cx="0" cy="0"/>
          <a:chOff x="0" y="0"/>
          <a:chExt cx="0" cy="0"/>
        </a:xfrm>
      </p:grpSpPr>
      <p:sp>
        <p:nvSpPr>
          <p:cNvPr id="3162" name="Google Shape;3162;gd32d75a420_0_7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3" name="Google Shape;3163;gd32d75a420_0_7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2" name="Shape 3202"/>
        <p:cNvGrpSpPr/>
        <p:nvPr/>
      </p:nvGrpSpPr>
      <p:grpSpPr>
        <a:xfrm>
          <a:off x="0" y="0"/>
          <a:ext cx="0" cy="0"/>
          <a:chOff x="0" y="0"/>
          <a:chExt cx="0" cy="0"/>
        </a:xfrm>
      </p:grpSpPr>
      <p:sp>
        <p:nvSpPr>
          <p:cNvPr id="3203" name="Google Shape;3203;gd32d75a420_0_8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4" name="Google Shape;3204;gd32d75a420_0_8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8" name="Shape 3208"/>
        <p:cNvGrpSpPr/>
        <p:nvPr/>
      </p:nvGrpSpPr>
      <p:grpSpPr>
        <a:xfrm>
          <a:off x="0" y="0"/>
          <a:ext cx="0" cy="0"/>
          <a:chOff x="0" y="0"/>
          <a:chExt cx="0" cy="0"/>
        </a:xfrm>
      </p:grpSpPr>
      <p:sp>
        <p:nvSpPr>
          <p:cNvPr id="3209" name="Google Shape;3209;gd32d75a420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0" name="Google Shape;3210;gd32d75a420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3" name="Shape 3213"/>
        <p:cNvGrpSpPr/>
        <p:nvPr/>
      </p:nvGrpSpPr>
      <p:grpSpPr>
        <a:xfrm>
          <a:off x="0" y="0"/>
          <a:ext cx="0" cy="0"/>
          <a:chOff x="0" y="0"/>
          <a:chExt cx="0" cy="0"/>
        </a:xfrm>
      </p:grpSpPr>
      <p:sp>
        <p:nvSpPr>
          <p:cNvPr id="3214" name="Google Shape;3214;gd32d75a420_0_1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5" name="Google Shape;3215;gd32d75a420_0_1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depiction of the real world, there is some data set, outside our control.  You as a practitioner get to design two things.  One a local parametric representation of each datum, and second a learning process that assigns the parameters of your map from data.  Once you choose those two components, in principle there is a well defined distribution over these 5 random variables.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You've designed a representation, but how do we score it? How good is it?  We need some sort of target or objective.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0" name="Shape 3240"/>
        <p:cNvGrpSpPr/>
        <p:nvPr/>
      </p:nvGrpSpPr>
      <p:grpSpPr>
        <a:xfrm>
          <a:off x="0" y="0"/>
          <a:ext cx="0" cy="0"/>
          <a:chOff x="0" y="0"/>
          <a:chExt cx="0" cy="0"/>
        </a:xfrm>
      </p:grpSpPr>
      <p:sp>
        <p:nvSpPr>
          <p:cNvPr id="3241" name="Google Shape;3241;gd32d75a420_0_1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2" name="Google Shape;3242;gd32d75a420_0_1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 side by side, we have on the left a graphical model that describes the state of the world, and on the right a graphical model that encodes a sort of target, what we would like to happen.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create our objective, all that remain is to quantify the sort of 'wrongness' in our modelling assumptions.  We need to somehow measure how close P is to Q.  How bad is the world at present?</a:t>
            </a:r>
            <a:endParaRPr/>
          </a:p>
        </p:txBody>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8" name="Shape 3278"/>
        <p:cNvGrpSpPr/>
        <p:nvPr/>
      </p:nvGrpSpPr>
      <p:grpSpPr>
        <a:xfrm>
          <a:off x="0" y="0"/>
          <a:ext cx="0" cy="0"/>
          <a:chOff x="0" y="0"/>
          <a:chExt cx="0" cy="0"/>
        </a:xfrm>
      </p:grpSpPr>
      <p:sp>
        <p:nvSpPr>
          <p:cNvPr id="3279" name="Google Shape;3279;gd32d75a420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0" name="Google Shape;3280;gd32d75a420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take the natural variational bounds, which are just the terms that show up when we take the KL between distribution p and 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four </a:t>
            </a:r>
            <a:r>
              <a:rPr i="1" lang="en"/>
              <a:t>functionals</a:t>
            </a:r>
            <a:r>
              <a:rPr lang="en"/>
              <a:t> require four variational approximations.  Let's name everything.</a:t>
            </a:r>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6" name="Shape 3296"/>
        <p:cNvGrpSpPr/>
        <p:nvPr/>
      </p:nvGrpSpPr>
      <p:grpSpPr>
        <a:xfrm>
          <a:off x="0" y="0"/>
          <a:ext cx="0" cy="0"/>
          <a:chOff x="0" y="0"/>
          <a:chExt cx="0" cy="0"/>
        </a:xfrm>
      </p:grpSpPr>
      <p:sp>
        <p:nvSpPr>
          <p:cNvPr id="3297" name="Google Shape;3297;gd32d75a420_0_13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8" name="Google Shape;3298;gd32d75a420_0_1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the classification error, which is up to a constant entropy in Y a variational lower bound on the mutual information between Z and Y, and requires a variational classifier that directly predicts y from 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measures our supervised learning performance.</a:t>
            </a:r>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1" name="Shape 3321"/>
        <p:cNvGrpSpPr/>
        <p:nvPr/>
      </p:nvGrpSpPr>
      <p:grpSpPr>
        <a:xfrm>
          <a:off x="0" y="0"/>
          <a:ext cx="0" cy="0"/>
          <a:chOff x="0" y="0"/>
          <a:chExt cx="0" cy="0"/>
        </a:xfrm>
      </p:grpSpPr>
      <p:sp>
        <p:nvSpPr>
          <p:cNvPr id="3322" name="Google Shape;3322;gd32d75a420_0_13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3" name="Google Shape;3323;gd32d75a420_0_1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the classification error, which is up to a constant entropy in Y a variational lower bound on the mutual information between Z and Y, and requires a variational classifier that directly predicts y from 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measures our supervised learning performance.</a:t>
            </a:r>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6" name="Shape 3346"/>
        <p:cNvGrpSpPr/>
        <p:nvPr/>
      </p:nvGrpSpPr>
      <p:grpSpPr>
        <a:xfrm>
          <a:off x="0" y="0"/>
          <a:ext cx="0" cy="0"/>
          <a:chOff x="0" y="0"/>
          <a:chExt cx="0" cy="0"/>
        </a:xfrm>
      </p:grpSpPr>
      <p:sp>
        <p:nvSpPr>
          <p:cNvPr id="3347" name="Google Shape;3347;gd32d75a420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8" name="Google Shape;3348;gd32d75a420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Next is the classification error, which is up to a constant entropy in Y a variational lower bound on the mutual information between Z and Y, and requires a variational classifier that directly predicts y from z.</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measures our supervised learning performance.</a:t>
            </a:r>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1" name="Shape 3371"/>
        <p:cNvGrpSpPr/>
        <p:nvPr/>
      </p:nvGrpSpPr>
      <p:grpSpPr>
        <a:xfrm>
          <a:off x="0" y="0"/>
          <a:ext cx="0" cy="0"/>
          <a:chOff x="0" y="0"/>
          <a:chExt cx="0" cy="0"/>
        </a:xfrm>
      </p:grpSpPr>
      <p:sp>
        <p:nvSpPr>
          <p:cNvPr id="3372" name="Google Shape;3372;gd32d75a420_0_14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3" name="Google Shape;3373;gd32d75a420_0_14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First is the rate, which is a variational upper bound on the Mutual information between Z and the joint X and theta.  It requires a variational approximation to the marginal of our encoding distribution.</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measures our degree of compression.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6" name="Shape 3396"/>
        <p:cNvGrpSpPr/>
        <p:nvPr/>
      </p:nvGrpSpPr>
      <p:grpSpPr>
        <a:xfrm>
          <a:off x="0" y="0"/>
          <a:ext cx="0" cy="0"/>
          <a:chOff x="0" y="0"/>
          <a:chExt cx="0" cy="0"/>
        </a:xfrm>
      </p:grpSpPr>
      <p:sp>
        <p:nvSpPr>
          <p:cNvPr id="3397" name="Google Shape;3397;gd32d75a420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8" name="Google Shape;3398;gd32d75a420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take the natural variational bounds, which are just the terms that show up when we take the KL between distribution p and q.</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four </a:t>
            </a:r>
            <a:r>
              <a:rPr i="1" lang="en"/>
              <a:t>functionals</a:t>
            </a:r>
            <a:r>
              <a:rPr lang="en"/>
              <a:t> require four variational approximations.  Let's name everything.</a:t>
            </a:r>
            <a:endParaRPr/>
          </a:p>
        </p:txBody>
      </p:sp>
    </p:spTree>
  </p:cSld>
  <p:clrMapOvr>
    <a:masterClrMapping/>
  </p:clrMapOvr>
</p:notes>
</file>

<file path=ppt/notesSlides/notesSlide2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4" name="Shape 3414"/>
        <p:cNvGrpSpPr/>
        <p:nvPr/>
      </p:nvGrpSpPr>
      <p:grpSpPr>
        <a:xfrm>
          <a:off x="0" y="0"/>
          <a:ext cx="0" cy="0"/>
          <a:chOff x="0" y="0"/>
          <a:chExt cx="0" cy="0"/>
        </a:xfrm>
      </p:grpSpPr>
      <p:sp>
        <p:nvSpPr>
          <p:cNvPr id="3415" name="Google Shape;3415;gd32d75a420_0_1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6" name="Google Shape;3416;gd32d75a420_0_1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 can trace out  this whole 3d surface in 4D if we imagine doing constrained optimization.  Minimize Rate subject to a fixed Distoriton, classification error or entropy.  We can turn the hard constrained optimization problem into a soft lagrangian with some lagrange multipliers and consider a general objective.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single objective contains a wide class of things you're familiar with.</a:t>
            </a:r>
            <a:endParaRPr/>
          </a:p>
        </p:txBody>
      </p:sp>
    </p:spTree>
  </p:cSld>
  <p:clrMapOvr>
    <a:masterClrMapping/>
  </p:clrMapOvr>
</p:notes>
</file>

<file path=ppt/notesSlides/notesSlide2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6" name="Shape 3426"/>
        <p:cNvGrpSpPr/>
        <p:nvPr/>
      </p:nvGrpSpPr>
      <p:grpSpPr>
        <a:xfrm>
          <a:off x="0" y="0"/>
          <a:ext cx="0" cy="0"/>
          <a:chOff x="0" y="0"/>
          <a:chExt cx="0" cy="0"/>
        </a:xfrm>
      </p:grpSpPr>
      <p:sp>
        <p:nvSpPr>
          <p:cNvPr id="3427" name="Google Shape;3427;gd32d75a420_0_1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8" name="Google Shape;3428;gd32d75a420_0_1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only keep C, we are building a classifier, and doing supervised learning.</a:t>
            </a:r>
            <a:endParaRPr/>
          </a:p>
        </p:txBody>
      </p:sp>
    </p:spTree>
  </p:cSld>
  <p:clrMapOvr>
    <a:masterClrMapping/>
  </p:clrMapOvr>
</p:notes>
</file>

<file path=ppt/notesSlides/notesSlide2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9" name="Shape 3439"/>
        <p:cNvGrpSpPr/>
        <p:nvPr/>
      </p:nvGrpSpPr>
      <p:grpSpPr>
        <a:xfrm>
          <a:off x="0" y="0"/>
          <a:ext cx="0" cy="0"/>
          <a:chOff x="0" y="0"/>
          <a:chExt cx="0" cy="0"/>
        </a:xfrm>
      </p:grpSpPr>
      <p:sp>
        <p:nvSpPr>
          <p:cNvPr id="3440" name="Google Shape;3440;gd32d75a420_0_14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1" name="Google Shape;3441;gd32d75a420_0_14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add in Rate with some coefficient, we recreate the VIB objective.</a:t>
            </a:r>
            <a:endParaRPr/>
          </a:p>
        </p:txBody>
      </p:sp>
    </p:spTree>
  </p:cSld>
  <p:clrMapOvr>
    <a:masterClrMapping/>
  </p:clrMapOvr>
</p:notes>
</file>

<file path=ppt/notesSlides/notesSlide2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4" name="Shape 3454"/>
        <p:cNvGrpSpPr/>
        <p:nvPr/>
      </p:nvGrpSpPr>
      <p:grpSpPr>
        <a:xfrm>
          <a:off x="0" y="0"/>
          <a:ext cx="0" cy="0"/>
          <a:chOff x="0" y="0"/>
          <a:chExt cx="0" cy="0"/>
        </a:xfrm>
      </p:grpSpPr>
      <p:sp>
        <p:nvSpPr>
          <p:cNvPr id="3455" name="Google Shape;3455;gd32d75a420_0_1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6" name="Google Shape;3456;gd32d75a420_0_1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only keep D we are training an autoencoder.</a:t>
            </a:r>
            <a:endParaRPr/>
          </a:p>
        </p:txBody>
      </p:sp>
    </p:spTree>
  </p:cSld>
  <p:clrMapOvr>
    <a:masterClrMapping/>
  </p:clrMapOvr>
</p:notes>
</file>

<file path=ppt/notesSlides/notesSlide2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8" name="Shape 3468"/>
        <p:cNvGrpSpPr/>
        <p:nvPr/>
      </p:nvGrpSpPr>
      <p:grpSpPr>
        <a:xfrm>
          <a:off x="0" y="0"/>
          <a:ext cx="0" cy="0"/>
          <a:chOff x="0" y="0"/>
          <a:chExt cx="0" cy="0"/>
        </a:xfrm>
      </p:grpSpPr>
      <p:sp>
        <p:nvSpPr>
          <p:cNvPr id="3469" name="Google Shape;3469;gd32d75a420_0_1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0" name="Google Shape;3470;gd32d75a420_0_1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keep D and R both with equal weight, we recover the ELBO, the objective for a VAE.</a:t>
            </a:r>
            <a:endParaRPr/>
          </a:p>
        </p:txBody>
      </p:sp>
    </p:spTree>
  </p:cSld>
  <p:clrMapOvr>
    <a:masterClrMapping/>
  </p:clrMapOvr>
</p:notes>
</file>

<file path=ppt/notesSlides/notesSlide2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4" name="Shape 3484"/>
        <p:cNvGrpSpPr/>
        <p:nvPr/>
      </p:nvGrpSpPr>
      <p:grpSpPr>
        <a:xfrm>
          <a:off x="0" y="0"/>
          <a:ext cx="0" cy="0"/>
          <a:chOff x="0" y="0"/>
          <a:chExt cx="0" cy="0"/>
        </a:xfrm>
      </p:grpSpPr>
      <p:sp>
        <p:nvSpPr>
          <p:cNvPr id="3485" name="Google Shape;3485;gd32d75a420_0_1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6" name="Google Shape;3486;gd32d75a420_0_1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allow a coefficient between them we get the beta-VAE, and the story in our conference paper. Fixing a Broken ELBO.</a:t>
            </a:r>
            <a:endParaRPr/>
          </a:p>
        </p:txBody>
      </p:sp>
    </p:spTree>
  </p:cSld>
  <p:clrMapOvr>
    <a:masterClrMapping/>
  </p:clrMapOvr>
</p:notes>
</file>

<file path=ppt/notesSlides/notesSlide2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0" name="Shape 3500"/>
        <p:cNvGrpSpPr/>
        <p:nvPr/>
      </p:nvGrpSpPr>
      <p:grpSpPr>
        <a:xfrm>
          <a:off x="0" y="0"/>
          <a:ext cx="0" cy="0"/>
          <a:chOff x="0" y="0"/>
          <a:chExt cx="0" cy="0"/>
        </a:xfrm>
      </p:grpSpPr>
      <p:sp>
        <p:nvSpPr>
          <p:cNvPr id="3501" name="Google Shape;3501;gd32d75a420_0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2" name="Google Shape;3502;gd32d75a420_0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we take the ELBO and mix in some classification error, we have a Semi Supervised VAE.</a:t>
            </a:r>
            <a:endParaRPr/>
          </a:p>
        </p:txBody>
      </p:sp>
    </p:spTree>
  </p:cSld>
  <p:clrMapOvr>
    <a:masterClrMapping/>
  </p:clrMapOvr>
</p:notes>
</file>

<file path=ppt/notesSlides/notesSlide2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8" name="Shape 3518"/>
        <p:cNvGrpSpPr/>
        <p:nvPr/>
      </p:nvGrpSpPr>
      <p:grpSpPr>
        <a:xfrm>
          <a:off x="0" y="0"/>
          <a:ext cx="0" cy="0"/>
          <a:chOff x="0" y="0"/>
          <a:chExt cx="0" cy="0"/>
        </a:xfrm>
      </p:grpSpPr>
      <p:sp>
        <p:nvSpPr>
          <p:cNvPr id="3519" name="Google Shape;3519;gd32d75a420_0_1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0" name="Google Shape;3520;gd32d75a420_0_1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Going the other end, if we are willing to specify an explicit distribution over our parameters and keep C and S with equal weight, we are doing Bayes by Backprop.</a:t>
            </a:r>
            <a:endParaRPr/>
          </a:p>
        </p:txBody>
      </p:sp>
    </p:spTree>
  </p:cSld>
  <p:clrMapOvr>
    <a:masterClrMapping/>
  </p:clrMapOvr>
</p:notes>
</file>

<file path=ppt/notesSlides/notesSlide2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4" name="Shape 3534"/>
        <p:cNvGrpSpPr/>
        <p:nvPr/>
      </p:nvGrpSpPr>
      <p:grpSpPr>
        <a:xfrm>
          <a:off x="0" y="0"/>
          <a:ext cx="0" cy="0"/>
          <a:chOff x="0" y="0"/>
          <a:chExt cx="0" cy="0"/>
        </a:xfrm>
      </p:grpSpPr>
      <p:sp>
        <p:nvSpPr>
          <p:cNvPr id="3535" name="Google Shape;3535;gd32d75a420_0_1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6" name="Google Shape;3536;gd32d75a420_0_1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make the variational parameter posterior a feed forward neural network.</a:t>
            </a:r>
            <a:endParaRPr/>
          </a:p>
        </p:txBody>
      </p:sp>
    </p:spTree>
  </p:cSld>
  <p:clrMapOvr>
    <a:masterClrMapping/>
  </p:clrMapOvr>
</p:notes>
</file>

<file path=ppt/notesSlides/notesSlide2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8" name="Shape 3548"/>
        <p:cNvGrpSpPr/>
        <p:nvPr/>
      </p:nvGrpSpPr>
      <p:grpSpPr>
        <a:xfrm>
          <a:off x="0" y="0"/>
          <a:ext cx="0" cy="0"/>
          <a:chOff x="0" y="0"/>
          <a:chExt cx="0" cy="0"/>
        </a:xfrm>
      </p:grpSpPr>
      <p:sp>
        <p:nvSpPr>
          <p:cNvPr id="3549" name="Google Shape;3549;gd32d75a420_0_1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0" name="Google Shape;3550;gd32d75a420_0_1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we've seen that this four dimensional plane has certain corners or edges associated with well known objectives.  We're excited to see what the full space looks like, and whether there are regions on the 3D surface that are qualitatively different and practically useful for some problems.</a:t>
            </a:r>
            <a:endParaRPr/>
          </a:p>
        </p:txBody>
      </p:sp>
    </p:spTree>
  </p:cSld>
  <p:clrMapOvr>
    <a:masterClrMapping/>
  </p:clrMapOvr>
</p:notes>
</file>

<file path=ppt/notesSlides/notesSlide2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6" name="Shape 3566"/>
        <p:cNvGrpSpPr/>
        <p:nvPr/>
      </p:nvGrpSpPr>
      <p:grpSpPr>
        <a:xfrm>
          <a:off x="0" y="0"/>
          <a:ext cx="0" cy="0"/>
          <a:chOff x="0" y="0"/>
          <a:chExt cx="0" cy="0"/>
        </a:xfrm>
      </p:grpSpPr>
      <p:sp>
        <p:nvSpPr>
          <p:cNvPr id="3567" name="Google Shape;3567;gc8f09c48bc_0_10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8" name="Google Shape;3568;gc8f09c48bc_0_10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7" name="Shape 3577"/>
        <p:cNvGrpSpPr/>
        <p:nvPr/>
      </p:nvGrpSpPr>
      <p:grpSpPr>
        <a:xfrm>
          <a:off x="0" y="0"/>
          <a:ext cx="0" cy="0"/>
          <a:chOff x="0" y="0"/>
          <a:chExt cx="0" cy="0"/>
        </a:xfrm>
      </p:grpSpPr>
      <p:sp>
        <p:nvSpPr>
          <p:cNvPr id="3578" name="Google Shape;3578;gc8f09c48bc_0_1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9" name="Google Shape;3579;gc8f09c48bc_0_1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6" name="Shape 3586"/>
        <p:cNvGrpSpPr/>
        <p:nvPr/>
      </p:nvGrpSpPr>
      <p:grpSpPr>
        <a:xfrm>
          <a:off x="0" y="0"/>
          <a:ext cx="0" cy="0"/>
          <a:chOff x="0" y="0"/>
          <a:chExt cx="0" cy="0"/>
        </a:xfrm>
      </p:grpSpPr>
      <p:sp>
        <p:nvSpPr>
          <p:cNvPr id="3587" name="Google Shape;3587;gc845747b22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8" name="Google Shape;3588;gc845747b22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4" name="Shape 3594"/>
        <p:cNvGrpSpPr/>
        <p:nvPr/>
      </p:nvGrpSpPr>
      <p:grpSpPr>
        <a:xfrm>
          <a:off x="0" y="0"/>
          <a:ext cx="0" cy="0"/>
          <a:chOff x="0" y="0"/>
          <a:chExt cx="0" cy="0"/>
        </a:xfrm>
      </p:grpSpPr>
      <p:sp>
        <p:nvSpPr>
          <p:cNvPr id="3595" name="Google Shape;3595;gc845747b22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6" name="Google Shape;3596;gc845747b22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1" name="Shape 3601"/>
        <p:cNvGrpSpPr/>
        <p:nvPr/>
      </p:nvGrpSpPr>
      <p:grpSpPr>
        <a:xfrm>
          <a:off x="0" y="0"/>
          <a:ext cx="0" cy="0"/>
          <a:chOff x="0" y="0"/>
          <a:chExt cx="0" cy="0"/>
        </a:xfrm>
      </p:grpSpPr>
      <p:sp>
        <p:nvSpPr>
          <p:cNvPr id="3602" name="Google Shape;3602;gc845747b22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3" name="Google Shape;3603;gc845747b22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8" name="Shape 3608"/>
        <p:cNvGrpSpPr/>
        <p:nvPr/>
      </p:nvGrpSpPr>
      <p:grpSpPr>
        <a:xfrm>
          <a:off x="0" y="0"/>
          <a:ext cx="0" cy="0"/>
          <a:chOff x="0" y="0"/>
          <a:chExt cx="0" cy="0"/>
        </a:xfrm>
      </p:grpSpPr>
      <p:sp>
        <p:nvSpPr>
          <p:cNvPr id="3609" name="Google Shape;3609;gc8cfecbf68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0" name="Google Shape;3610;gc8cfecbf68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8" name="Shape 3618"/>
        <p:cNvGrpSpPr/>
        <p:nvPr/>
      </p:nvGrpSpPr>
      <p:grpSpPr>
        <a:xfrm>
          <a:off x="0" y="0"/>
          <a:ext cx="0" cy="0"/>
          <a:chOff x="0" y="0"/>
          <a:chExt cx="0" cy="0"/>
        </a:xfrm>
      </p:grpSpPr>
      <p:sp>
        <p:nvSpPr>
          <p:cNvPr id="3619" name="Google Shape;3619;gc845747b2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0" name="Google Shape;3620;gc845747b2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5" name="Shape 3625"/>
        <p:cNvGrpSpPr/>
        <p:nvPr/>
      </p:nvGrpSpPr>
      <p:grpSpPr>
        <a:xfrm>
          <a:off x="0" y="0"/>
          <a:ext cx="0" cy="0"/>
          <a:chOff x="0" y="0"/>
          <a:chExt cx="0" cy="0"/>
        </a:xfrm>
      </p:grpSpPr>
      <p:sp>
        <p:nvSpPr>
          <p:cNvPr id="3626" name="Google Shape;3626;gc845747b22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7" name="Google Shape;3627;gc845747b22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2" name="Shape 3632"/>
        <p:cNvGrpSpPr/>
        <p:nvPr/>
      </p:nvGrpSpPr>
      <p:grpSpPr>
        <a:xfrm>
          <a:off x="0" y="0"/>
          <a:ext cx="0" cy="0"/>
          <a:chOff x="0" y="0"/>
          <a:chExt cx="0" cy="0"/>
        </a:xfrm>
      </p:grpSpPr>
      <p:sp>
        <p:nvSpPr>
          <p:cNvPr id="3633" name="Google Shape;3633;gc845747b22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4" name="Google Shape;3634;gc845747b22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9" name="Shape 3639"/>
        <p:cNvGrpSpPr/>
        <p:nvPr/>
      </p:nvGrpSpPr>
      <p:grpSpPr>
        <a:xfrm>
          <a:off x="0" y="0"/>
          <a:ext cx="0" cy="0"/>
          <a:chOff x="0" y="0"/>
          <a:chExt cx="0" cy="0"/>
        </a:xfrm>
      </p:grpSpPr>
      <p:sp>
        <p:nvSpPr>
          <p:cNvPr id="3640" name="Google Shape;3640;gc845747b2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1" name="Google Shape;3641;gc845747b2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6" name="Shape 3646"/>
        <p:cNvGrpSpPr/>
        <p:nvPr/>
      </p:nvGrpSpPr>
      <p:grpSpPr>
        <a:xfrm>
          <a:off x="0" y="0"/>
          <a:ext cx="0" cy="0"/>
          <a:chOff x="0" y="0"/>
          <a:chExt cx="0" cy="0"/>
        </a:xfrm>
      </p:grpSpPr>
      <p:sp>
        <p:nvSpPr>
          <p:cNvPr id="3647" name="Google Shape;3647;gc845747b22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8" name="Google Shape;3648;gc845747b22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4" name="Shape 3654"/>
        <p:cNvGrpSpPr/>
        <p:nvPr/>
      </p:nvGrpSpPr>
      <p:grpSpPr>
        <a:xfrm>
          <a:off x="0" y="0"/>
          <a:ext cx="0" cy="0"/>
          <a:chOff x="0" y="0"/>
          <a:chExt cx="0" cy="0"/>
        </a:xfrm>
      </p:grpSpPr>
      <p:sp>
        <p:nvSpPr>
          <p:cNvPr id="3655" name="Google Shape;3655;gc845747b22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6" name="Google Shape;3656;gc845747b22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3.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3" name="Google Shape;23;p4"/>
          <p:cNvSpPr txBox="1"/>
          <p:nvPr>
            <p:ph type="title"/>
          </p:nvPr>
        </p:nvSpPr>
        <p:spPr>
          <a:xfrm>
            <a:off x="311725" y="500925"/>
            <a:ext cx="3706500" cy="2508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4" name="Google Shape;24;p4"/>
          <p:cNvSpPr txBox="1"/>
          <p:nvPr>
            <p:ph idx="1" type="body"/>
          </p:nvPr>
        </p:nvSpPr>
        <p:spPr>
          <a:xfrm>
            <a:off x="4644675" y="500925"/>
            <a:ext cx="4166400" cy="4098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9" name="Google Shape;29;p5"/>
          <p:cNvSpPr txBox="1"/>
          <p:nvPr>
            <p:ph idx="1" type="body"/>
          </p:nvPr>
        </p:nvSpPr>
        <p:spPr>
          <a:xfrm>
            <a:off x="3117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5"/>
          <p:cNvSpPr txBox="1"/>
          <p:nvPr>
            <p:ph idx="2" type="body"/>
          </p:nvPr>
        </p:nvSpPr>
        <p:spPr>
          <a:xfrm>
            <a:off x="4832400" y="1505700"/>
            <a:ext cx="3999900" cy="3076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9" name="Google Shape;39;p7"/>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1" name="Shape 41"/>
        <p:cNvGrpSpPr/>
        <p:nvPr/>
      </p:nvGrpSpPr>
      <p:grpSpPr>
        <a:xfrm>
          <a:off x="0" y="0"/>
          <a:ext cx="0" cy="0"/>
          <a:chOff x="0" y="0"/>
          <a:chExt cx="0" cy="0"/>
        </a:xfrm>
      </p:grpSpPr>
      <p:sp>
        <p:nvSpPr>
          <p:cNvPr id="42" name="Google Shape;42;p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3" name="Google Shape;4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4"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txBox="1"/>
          <p:nvPr>
            <p:ph type="title"/>
          </p:nvPr>
        </p:nvSpPr>
        <p:spPr>
          <a:xfrm>
            <a:off x="311300" y="500925"/>
            <a:ext cx="3704400" cy="204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subTitle"/>
          </p:nvPr>
        </p:nvSpPr>
        <p:spPr>
          <a:xfrm>
            <a:off x="304800" y="2626725"/>
            <a:ext cx="3704400" cy="9267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48" name="Google Shape;48;p9"/>
          <p:cNvSpPr txBox="1"/>
          <p:nvPr>
            <p:ph idx="2" type="body"/>
          </p:nvPr>
        </p:nvSpPr>
        <p:spPr>
          <a:xfrm>
            <a:off x="4879025" y="500925"/>
            <a:ext cx="3954000" cy="4111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9" name="Google Shape;4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0"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0"/>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4" name="Shape 54"/>
        <p:cNvGrpSpPr/>
        <p:nvPr/>
      </p:nvGrpSpPr>
      <p:grpSpPr>
        <a:xfrm>
          <a:off x="0" y="0"/>
          <a:ext cx="0" cy="0"/>
          <a:chOff x="0" y="0"/>
          <a:chExt cx="0" cy="0"/>
        </a:xfrm>
      </p:grpSpPr>
      <p:sp>
        <p:nvSpPr>
          <p:cNvPr id="55" name="Google Shape;55;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p:nvPr>
            <p:ph idx="1" type="body"/>
          </p:nvPr>
        </p:nvSpPr>
        <p:spPr>
          <a:xfrm>
            <a:off x="311700" y="2121425"/>
            <a:ext cx="5334900" cy="942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0"/>
              </a:spcBef>
              <a:spcAft>
                <a:spcPts val="0"/>
              </a:spcAft>
              <a:buClr>
                <a:schemeClr val="accent2"/>
              </a:buClr>
              <a:buSzPts val="1100"/>
              <a:buChar char="○"/>
              <a:defRPr>
                <a:solidFill>
                  <a:schemeClr val="accent2"/>
                </a:solidFill>
              </a:defRPr>
            </a:lvl2pPr>
            <a:lvl3pPr indent="-298450" lvl="2" marL="1371600">
              <a:spcBef>
                <a:spcPts val="0"/>
              </a:spcBef>
              <a:spcAft>
                <a:spcPts val="0"/>
              </a:spcAft>
              <a:buClr>
                <a:schemeClr val="accent2"/>
              </a:buClr>
              <a:buSzPts val="1100"/>
              <a:buChar char="■"/>
              <a:defRPr>
                <a:solidFill>
                  <a:schemeClr val="accent2"/>
                </a:solidFill>
              </a:defRPr>
            </a:lvl3pPr>
            <a:lvl4pPr indent="-298450" lvl="3" marL="1828800">
              <a:spcBef>
                <a:spcPts val="0"/>
              </a:spcBef>
              <a:spcAft>
                <a:spcPts val="0"/>
              </a:spcAft>
              <a:buClr>
                <a:schemeClr val="accent2"/>
              </a:buClr>
              <a:buSzPts val="1100"/>
              <a:buChar char="●"/>
              <a:defRPr>
                <a:solidFill>
                  <a:schemeClr val="accent2"/>
                </a:solidFill>
              </a:defRPr>
            </a:lvl4pPr>
            <a:lvl5pPr indent="-298450" lvl="4" marL="2286000">
              <a:spcBef>
                <a:spcPts val="0"/>
              </a:spcBef>
              <a:spcAft>
                <a:spcPts val="0"/>
              </a:spcAft>
              <a:buClr>
                <a:schemeClr val="accent2"/>
              </a:buClr>
              <a:buSzPts val="1100"/>
              <a:buChar char="○"/>
              <a:defRPr>
                <a:solidFill>
                  <a:schemeClr val="accent2"/>
                </a:solidFill>
              </a:defRPr>
            </a:lvl5pPr>
            <a:lvl6pPr indent="-298450" lvl="5" marL="2743200">
              <a:spcBef>
                <a:spcPts val="0"/>
              </a:spcBef>
              <a:spcAft>
                <a:spcPts val="0"/>
              </a:spcAft>
              <a:buClr>
                <a:schemeClr val="accent2"/>
              </a:buClr>
              <a:buSzPts val="1100"/>
              <a:buChar char="■"/>
              <a:defRPr>
                <a:solidFill>
                  <a:schemeClr val="accent2"/>
                </a:solidFill>
              </a:defRPr>
            </a:lvl6pPr>
            <a:lvl7pPr indent="-298450" lvl="6" marL="3200400">
              <a:spcBef>
                <a:spcPts val="0"/>
              </a:spcBef>
              <a:spcAft>
                <a:spcPts val="0"/>
              </a:spcAft>
              <a:buClr>
                <a:schemeClr val="accent2"/>
              </a:buClr>
              <a:buSzPts val="1100"/>
              <a:buChar char="●"/>
              <a:defRPr>
                <a:solidFill>
                  <a:schemeClr val="accent2"/>
                </a:solidFill>
              </a:defRPr>
            </a:lvl7pPr>
            <a:lvl8pPr indent="-298450" lvl="7" marL="3657600">
              <a:spcBef>
                <a:spcPts val="0"/>
              </a:spcBef>
              <a:spcAft>
                <a:spcPts val="0"/>
              </a:spcAft>
              <a:buClr>
                <a:schemeClr val="accent2"/>
              </a:buClr>
              <a:buSzPts val="1100"/>
              <a:buChar char="○"/>
              <a:defRPr>
                <a:solidFill>
                  <a:schemeClr val="accent2"/>
                </a:solidFill>
              </a:defRPr>
            </a:lvl8pPr>
            <a:lvl9pPr indent="-298450" lvl="8" marL="4114800">
              <a:spcBef>
                <a:spcPts val="0"/>
              </a:spcBef>
              <a:spcAft>
                <a:spcPts val="0"/>
              </a:spcAft>
              <a:buClr>
                <a:schemeClr val="accent2"/>
              </a:buClr>
              <a:buSzPts val="1100"/>
              <a:buChar char="■"/>
              <a:defRPr>
                <a:solidFill>
                  <a:schemeClr val="accent2"/>
                </a:solidFill>
              </a:defRPr>
            </a:lvl9pPr>
          </a:lstStyle>
          <a:p/>
        </p:txBody>
      </p:sp>
      <p:sp>
        <p:nvSpPr>
          <p:cNvPr id="57" name="Google Shape;5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Opt 1">
  <p:cSld name="TITLE_AND_BODY_1">
    <p:bg>
      <p:bgPr>
        <a:solidFill>
          <a:srgbClr val="FFFFFF"/>
        </a:solidFill>
      </p:bgPr>
    </p:bg>
    <p:spTree>
      <p:nvGrpSpPr>
        <p:cNvPr id="60" name="Shape 60"/>
        <p:cNvGrpSpPr/>
        <p:nvPr/>
      </p:nvGrpSpPr>
      <p:grpSpPr>
        <a:xfrm>
          <a:off x="0" y="0"/>
          <a:ext cx="0" cy="0"/>
          <a:chOff x="0" y="0"/>
          <a:chExt cx="0" cy="0"/>
        </a:xfrm>
      </p:grpSpPr>
      <p:sp>
        <p:nvSpPr>
          <p:cNvPr id="61" name="Google Shape;61;p13"/>
          <p:cNvSpPr txBox="1"/>
          <p:nvPr>
            <p:ph type="title"/>
          </p:nvPr>
        </p:nvSpPr>
        <p:spPr>
          <a:xfrm>
            <a:off x="130951" y="4760105"/>
            <a:ext cx="2805600" cy="230100"/>
          </a:xfrm>
          <a:prstGeom prst="rect">
            <a:avLst/>
          </a:prstGeom>
        </p:spPr>
        <p:txBody>
          <a:bodyPr anchorCtr="0" anchor="ctr" bIns="91425" lIns="91425" spcFirstLastPara="1" rIns="91425" wrap="square" tIns="91425">
            <a:norm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3"/>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lvl1pPr lvl="0" rtl="0">
              <a:spcBef>
                <a:spcPts val="0"/>
              </a:spcBef>
              <a:spcAft>
                <a:spcPts val="0"/>
              </a:spcAft>
              <a:buNone/>
              <a:defRPr b="1" sz="2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3" name="Google Shape;63;p13"/>
          <p:cNvSpPr txBox="1"/>
          <p:nvPr>
            <p:ph idx="1" type="subTitle"/>
          </p:nvPr>
        </p:nvSpPr>
        <p:spPr>
          <a:xfrm>
            <a:off x="417671" y="835791"/>
            <a:ext cx="7918200" cy="3563100"/>
          </a:xfrm>
          <a:prstGeom prst="rect">
            <a:avLst/>
          </a:prstGeom>
        </p:spPr>
        <p:txBody>
          <a:bodyPr anchorCtr="0" anchor="t" bIns="91425" lIns="91425" spcFirstLastPara="1" rIns="91425" wrap="square" tIns="91425">
            <a:normAutofit/>
          </a:bodyPr>
          <a:lstStyle>
            <a:lvl1pPr lvl="0" rtl="0">
              <a:lnSpc>
                <a:spcPct val="115000"/>
              </a:lnSpc>
              <a:spcBef>
                <a:spcPts val="0"/>
              </a:spcBef>
              <a:spcAft>
                <a:spcPts val="0"/>
              </a:spcAft>
              <a:buNone/>
              <a:defRPr sz="900">
                <a:solidFill>
                  <a:srgbClr val="606366"/>
                </a:solidFill>
                <a:latin typeface="Roboto Light"/>
                <a:ea typeface="Roboto Light"/>
                <a:cs typeface="Roboto Light"/>
                <a:sym typeface="Roboto Light"/>
              </a:defRPr>
            </a:lvl1pPr>
            <a:lvl2pPr lvl="1" rtl="0">
              <a:spcBef>
                <a:spcPts val="1200"/>
              </a:spcBef>
              <a:spcAft>
                <a:spcPts val="0"/>
              </a:spcAft>
              <a:buNone/>
              <a:defRPr>
                <a:latin typeface="Google Sans"/>
                <a:ea typeface="Google Sans"/>
                <a:cs typeface="Google Sans"/>
                <a:sym typeface="Google Sans"/>
              </a:defRPr>
            </a:lvl2pPr>
            <a:lvl3pPr lvl="2" rtl="0">
              <a:spcBef>
                <a:spcPts val="1200"/>
              </a:spcBef>
              <a:spcAft>
                <a:spcPts val="0"/>
              </a:spcAft>
              <a:buNone/>
              <a:defRPr>
                <a:latin typeface="Google Sans"/>
                <a:ea typeface="Google Sans"/>
                <a:cs typeface="Google Sans"/>
                <a:sym typeface="Google Sans"/>
              </a:defRPr>
            </a:lvl3pPr>
            <a:lvl4pPr lvl="3" rtl="0">
              <a:spcBef>
                <a:spcPts val="1200"/>
              </a:spcBef>
              <a:spcAft>
                <a:spcPts val="0"/>
              </a:spcAft>
              <a:buNone/>
              <a:defRPr>
                <a:latin typeface="Google Sans"/>
                <a:ea typeface="Google Sans"/>
                <a:cs typeface="Google Sans"/>
                <a:sym typeface="Google Sans"/>
              </a:defRPr>
            </a:lvl4pPr>
            <a:lvl5pPr lvl="4" rtl="0">
              <a:spcBef>
                <a:spcPts val="1200"/>
              </a:spcBef>
              <a:spcAft>
                <a:spcPts val="0"/>
              </a:spcAft>
              <a:buNone/>
              <a:defRPr>
                <a:latin typeface="Google Sans"/>
                <a:ea typeface="Google Sans"/>
                <a:cs typeface="Google Sans"/>
                <a:sym typeface="Google Sans"/>
              </a:defRPr>
            </a:lvl5pPr>
            <a:lvl6pPr lvl="5" rtl="0">
              <a:spcBef>
                <a:spcPts val="1200"/>
              </a:spcBef>
              <a:spcAft>
                <a:spcPts val="0"/>
              </a:spcAft>
              <a:buNone/>
              <a:defRPr>
                <a:latin typeface="Google Sans"/>
                <a:ea typeface="Google Sans"/>
                <a:cs typeface="Google Sans"/>
                <a:sym typeface="Google Sans"/>
              </a:defRPr>
            </a:lvl6pPr>
            <a:lvl7pPr lvl="6" rtl="0">
              <a:spcBef>
                <a:spcPts val="1200"/>
              </a:spcBef>
              <a:spcAft>
                <a:spcPts val="0"/>
              </a:spcAft>
              <a:buNone/>
              <a:defRPr>
                <a:latin typeface="Google Sans"/>
                <a:ea typeface="Google Sans"/>
                <a:cs typeface="Google Sans"/>
                <a:sym typeface="Google Sans"/>
              </a:defRPr>
            </a:lvl7pPr>
            <a:lvl8pPr lvl="7" rtl="0">
              <a:spcBef>
                <a:spcPts val="1200"/>
              </a:spcBef>
              <a:spcAft>
                <a:spcPts val="0"/>
              </a:spcAft>
              <a:buNone/>
              <a:defRPr>
                <a:latin typeface="Google Sans"/>
                <a:ea typeface="Google Sans"/>
                <a:cs typeface="Google Sans"/>
                <a:sym typeface="Google Sans"/>
              </a:defRPr>
            </a:lvl8pPr>
            <a:lvl9pPr lvl="8" rtl="0">
              <a:spcBef>
                <a:spcPts val="1200"/>
              </a:spcBef>
              <a:spcAft>
                <a:spcPts val="1200"/>
              </a:spcAft>
              <a:buNone/>
              <a:defRPr>
                <a:latin typeface="Google Sans"/>
                <a:ea typeface="Google Sans"/>
                <a:cs typeface="Google Sans"/>
                <a:sym typeface="Google Sans"/>
              </a:defRPr>
            </a:lvl9pPr>
          </a:lstStyle>
          <a:p/>
        </p:txBody>
      </p:sp>
      <p:sp>
        <p:nvSpPr>
          <p:cNvPr id="64" name="Google Shape;64;p13"/>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Opt 2">
  <p:cSld name="BLANK_1">
    <p:spTree>
      <p:nvGrpSpPr>
        <p:cNvPr id="65" name="Shape 65"/>
        <p:cNvGrpSpPr/>
        <p:nvPr/>
      </p:nvGrpSpPr>
      <p:grpSpPr>
        <a:xfrm>
          <a:off x="0" y="0"/>
          <a:ext cx="0" cy="0"/>
          <a:chOff x="0" y="0"/>
          <a:chExt cx="0" cy="0"/>
        </a:xfrm>
      </p:grpSpPr>
      <p:sp>
        <p:nvSpPr>
          <p:cNvPr id="66" name="Google Shape;66;p14"/>
          <p:cNvSpPr/>
          <p:nvPr/>
        </p:nvSpPr>
        <p:spPr>
          <a:xfrm>
            <a:off x="4572000" y="0"/>
            <a:ext cx="4572000" cy="51435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txBox="1"/>
          <p:nvPr>
            <p:ph type="title"/>
          </p:nvPr>
        </p:nvSpPr>
        <p:spPr>
          <a:xfrm>
            <a:off x="130951" y="4760105"/>
            <a:ext cx="2805600" cy="230100"/>
          </a:xfrm>
          <a:prstGeom prst="rect">
            <a:avLst/>
          </a:prstGeom>
        </p:spPr>
        <p:txBody>
          <a:bodyPr anchorCtr="0" anchor="ctr" bIns="91425" lIns="91425" spcFirstLastPara="1" rIns="91425" wrap="square" tIns="91425">
            <a:norm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8" name="Google Shape;68;p14"/>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69" name="Google Shape;69;p14"/>
          <p:cNvSpPr txBox="1"/>
          <p:nvPr>
            <p:ph idx="2" type="title"/>
          </p:nvPr>
        </p:nvSpPr>
        <p:spPr>
          <a:xfrm>
            <a:off x="417677" y="341875"/>
            <a:ext cx="3807900" cy="493800"/>
          </a:xfrm>
          <a:prstGeom prst="rect">
            <a:avLst/>
          </a:prstGeom>
        </p:spPr>
        <p:txBody>
          <a:bodyPr anchorCtr="0" anchor="t" bIns="91425" lIns="91425" spcFirstLastPara="1" rIns="91425" wrap="square" tIns="91425">
            <a:norm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0" name="Google Shape;70;p14"/>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lvl1pPr lvl="0" rtl="0">
              <a:lnSpc>
                <a:spcPct val="115000"/>
              </a:lnSpc>
              <a:spcBef>
                <a:spcPts val="0"/>
              </a:spcBef>
              <a:spcAft>
                <a:spcPts val="0"/>
              </a:spcAft>
              <a:buNone/>
              <a:defRPr sz="1800">
                <a:solidFill>
                  <a:srgbClr val="606366"/>
                </a:solidFill>
                <a:latin typeface="Roboto Light"/>
                <a:ea typeface="Roboto Light"/>
                <a:cs typeface="Roboto Light"/>
                <a:sym typeface="Roboto Light"/>
              </a:defRPr>
            </a:lvl1pPr>
            <a:lvl2pPr lvl="1" rtl="0">
              <a:spcBef>
                <a:spcPts val="1200"/>
              </a:spcBef>
              <a:spcAft>
                <a:spcPts val="0"/>
              </a:spcAft>
              <a:buNone/>
              <a:defRPr sz="1800">
                <a:latin typeface="Google Sans"/>
                <a:ea typeface="Google Sans"/>
                <a:cs typeface="Google Sans"/>
                <a:sym typeface="Google Sans"/>
              </a:defRPr>
            </a:lvl2pPr>
            <a:lvl3pPr lvl="2" rtl="0">
              <a:spcBef>
                <a:spcPts val="1200"/>
              </a:spcBef>
              <a:spcAft>
                <a:spcPts val="0"/>
              </a:spcAft>
              <a:buNone/>
              <a:defRPr sz="1800">
                <a:latin typeface="Google Sans"/>
                <a:ea typeface="Google Sans"/>
                <a:cs typeface="Google Sans"/>
                <a:sym typeface="Google Sans"/>
              </a:defRPr>
            </a:lvl3pPr>
            <a:lvl4pPr lvl="3" rtl="0">
              <a:spcBef>
                <a:spcPts val="1200"/>
              </a:spcBef>
              <a:spcAft>
                <a:spcPts val="0"/>
              </a:spcAft>
              <a:buNone/>
              <a:defRPr sz="1800">
                <a:latin typeface="Google Sans"/>
                <a:ea typeface="Google Sans"/>
                <a:cs typeface="Google Sans"/>
                <a:sym typeface="Google Sans"/>
              </a:defRPr>
            </a:lvl4pPr>
            <a:lvl5pPr lvl="4" rtl="0">
              <a:spcBef>
                <a:spcPts val="1200"/>
              </a:spcBef>
              <a:spcAft>
                <a:spcPts val="0"/>
              </a:spcAft>
              <a:buNone/>
              <a:defRPr sz="1800">
                <a:latin typeface="Google Sans"/>
                <a:ea typeface="Google Sans"/>
                <a:cs typeface="Google Sans"/>
                <a:sym typeface="Google Sans"/>
              </a:defRPr>
            </a:lvl5pPr>
            <a:lvl6pPr lvl="5" rtl="0">
              <a:spcBef>
                <a:spcPts val="1200"/>
              </a:spcBef>
              <a:spcAft>
                <a:spcPts val="0"/>
              </a:spcAft>
              <a:buNone/>
              <a:defRPr sz="1800">
                <a:latin typeface="Google Sans"/>
                <a:ea typeface="Google Sans"/>
                <a:cs typeface="Google Sans"/>
                <a:sym typeface="Google Sans"/>
              </a:defRPr>
            </a:lvl6pPr>
            <a:lvl7pPr lvl="6" rtl="0">
              <a:spcBef>
                <a:spcPts val="1200"/>
              </a:spcBef>
              <a:spcAft>
                <a:spcPts val="0"/>
              </a:spcAft>
              <a:buNone/>
              <a:defRPr sz="1800">
                <a:latin typeface="Google Sans"/>
                <a:ea typeface="Google Sans"/>
                <a:cs typeface="Google Sans"/>
                <a:sym typeface="Google Sans"/>
              </a:defRPr>
            </a:lvl7pPr>
            <a:lvl8pPr lvl="7" rtl="0">
              <a:spcBef>
                <a:spcPts val="1200"/>
              </a:spcBef>
              <a:spcAft>
                <a:spcPts val="0"/>
              </a:spcAft>
              <a:buNone/>
              <a:defRPr sz="1800">
                <a:latin typeface="Google Sans"/>
                <a:ea typeface="Google Sans"/>
                <a:cs typeface="Google Sans"/>
                <a:sym typeface="Google Sans"/>
              </a:defRPr>
            </a:lvl8pPr>
            <a:lvl9pPr lvl="8" rtl="0">
              <a:spcBef>
                <a:spcPts val="1200"/>
              </a:spcBef>
              <a:spcAft>
                <a:spcPts val="1200"/>
              </a:spcAft>
              <a:buNone/>
              <a:defRPr sz="1800">
                <a:latin typeface="Google Sans"/>
                <a:ea typeface="Google Sans"/>
                <a:cs typeface="Google Sans"/>
                <a:sym typeface="Google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AUTOLAYOUT">
    <p:bg>
      <p:bgPr>
        <a:solidFill>
          <a:srgbClr val="FFFFFF"/>
        </a:solidFill>
      </p:bgPr>
    </p:bg>
    <p:spTree>
      <p:nvGrpSpPr>
        <p:cNvPr id="71" name="Shape 71"/>
        <p:cNvGrpSpPr/>
        <p:nvPr/>
      </p:nvGrpSpPr>
      <p:grpSpPr>
        <a:xfrm>
          <a:off x="0" y="0"/>
          <a:ext cx="0" cy="0"/>
          <a:chOff x="0" y="0"/>
          <a:chExt cx="0" cy="0"/>
        </a:xfrm>
      </p:grpSpPr>
      <p:sp>
        <p:nvSpPr>
          <p:cNvPr id="72" name="Google Shape;72;p15"/>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txBox="1"/>
          <p:nvPr>
            <p:ph type="ctrTitle"/>
          </p:nvPr>
        </p:nvSpPr>
        <p:spPr>
          <a:xfrm>
            <a:off x="1837575" y="1251525"/>
            <a:ext cx="5445900" cy="2640600"/>
          </a:xfrm>
          <a:prstGeom prst="rect">
            <a:avLst/>
          </a:prstGeom>
          <a:noFill/>
        </p:spPr>
        <p:txBody>
          <a:bodyPr anchorCtr="0" anchor="ctr" bIns="91425" lIns="91425" spcFirstLastPara="1" rIns="91425" wrap="square" tIns="91425">
            <a:normAutofit/>
          </a:bodyPr>
          <a:lstStyle>
            <a:lvl1pPr lvl="0" rtl="0" algn="ctr">
              <a:lnSpc>
                <a:spcPct val="100000"/>
              </a:lnSpc>
              <a:spcBef>
                <a:spcPts val="0"/>
              </a:spcBef>
              <a:spcAft>
                <a:spcPts val="0"/>
              </a:spcAft>
              <a:buClr>
                <a:srgbClr val="FFFFFF"/>
              </a:buClr>
              <a:buSzPts val="4000"/>
              <a:buNone/>
              <a:defRPr b="1" sz="4000">
                <a:solidFill>
                  <a:srgbClr val="FFFFFF"/>
                </a:solidFill>
              </a:defRPr>
            </a:lvl1pPr>
            <a:lvl2pPr lvl="1" rtl="0" algn="ctr">
              <a:lnSpc>
                <a:spcPct val="100000"/>
              </a:lnSpc>
              <a:spcBef>
                <a:spcPts val="0"/>
              </a:spcBef>
              <a:spcAft>
                <a:spcPts val="0"/>
              </a:spcAft>
              <a:buClr>
                <a:srgbClr val="FFFFFF"/>
              </a:buClr>
              <a:buSzPts val="4000"/>
              <a:buNone/>
              <a:defRPr b="1" sz="4000">
                <a:solidFill>
                  <a:srgbClr val="FFFFFF"/>
                </a:solidFill>
              </a:defRPr>
            </a:lvl2pPr>
            <a:lvl3pPr lvl="2" rtl="0" algn="ctr">
              <a:lnSpc>
                <a:spcPct val="100000"/>
              </a:lnSpc>
              <a:spcBef>
                <a:spcPts val="0"/>
              </a:spcBef>
              <a:spcAft>
                <a:spcPts val="0"/>
              </a:spcAft>
              <a:buClr>
                <a:srgbClr val="FFFFFF"/>
              </a:buClr>
              <a:buSzPts val="4000"/>
              <a:buNone/>
              <a:defRPr b="1" sz="4000">
                <a:solidFill>
                  <a:srgbClr val="FFFFFF"/>
                </a:solidFill>
              </a:defRPr>
            </a:lvl3pPr>
            <a:lvl4pPr lvl="3" rtl="0" algn="ctr">
              <a:lnSpc>
                <a:spcPct val="100000"/>
              </a:lnSpc>
              <a:spcBef>
                <a:spcPts val="0"/>
              </a:spcBef>
              <a:spcAft>
                <a:spcPts val="0"/>
              </a:spcAft>
              <a:buClr>
                <a:srgbClr val="FFFFFF"/>
              </a:buClr>
              <a:buSzPts val="4000"/>
              <a:buNone/>
              <a:defRPr b="1" sz="4000">
                <a:solidFill>
                  <a:srgbClr val="FFFFFF"/>
                </a:solidFill>
              </a:defRPr>
            </a:lvl4pPr>
            <a:lvl5pPr lvl="4" rtl="0" algn="ctr">
              <a:lnSpc>
                <a:spcPct val="100000"/>
              </a:lnSpc>
              <a:spcBef>
                <a:spcPts val="0"/>
              </a:spcBef>
              <a:spcAft>
                <a:spcPts val="0"/>
              </a:spcAft>
              <a:buClr>
                <a:srgbClr val="FFFFFF"/>
              </a:buClr>
              <a:buSzPts val="4000"/>
              <a:buNone/>
              <a:defRPr b="1" sz="4000">
                <a:solidFill>
                  <a:srgbClr val="FFFFFF"/>
                </a:solidFill>
              </a:defRPr>
            </a:lvl5pPr>
            <a:lvl6pPr lvl="5" rtl="0" algn="ctr">
              <a:lnSpc>
                <a:spcPct val="100000"/>
              </a:lnSpc>
              <a:spcBef>
                <a:spcPts val="0"/>
              </a:spcBef>
              <a:spcAft>
                <a:spcPts val="0"/>
              </a:spcAft>
              <a:buClr>
                <a:srgbClr val="FFFFFF"/>
              </a:buClr>
              <a:buSzPts val="4000"/>
              <a:buNone/>
              <a:defRPr b="1" sz="4000">
                <a:solidFill>
                  <a:srgbClr val="FFFFFF"/>
                </a:solidFill>
              </a:defRPr>
            </a:lvl6pPr>
            <a:lvl7pPr lvl="6" rtl="0" algn="ctr">
              <a:lnSpc>
                <a:spcPct val="100000"/>
              </a:lnSpc>
              <a:spcBef>
                <a:spcPts val="0"/>
              </a:spcBef>
              <a:spcAft>
                <a:spcPts val="0"/>
              </a:spcAft>
              <a:buClr>
                <a:srgbClr val="FFFFFF"/>
              </a:buClr>
              <a:buSzPts val="4000"/>
              <a:buNone/>
              <a:defRPr b="1" sz="4000">
                <a:solidFill>
                  <a:srgbClr val="FFFFFF"/>
                </a:solidFill>
              </a:defRPr>
            </a:lvl7pPr>
            <a:lvl8pPr lvl="7" rtl="0" algn="ctr">
              <a:lnSpc>
                <a:spcPct val="100000"/>
              </a:lnSpc>
              <a:spcBef>
                <a:spcPts val="0"/>
              </a:spcBef>
              <a:spcAft>
                <a:spcPts val="0"/>
              </a:spcAft>
              <a:buClr>
                <a:srgbClr val="FFFFFF"/>
              </a:buClr>
              <a:buSzPts val="4000"/>
              <a:buNone/>
              <a:defRPr b="1" sz="4000">
                <a:solidFill>
                  <a:srgbClr val="FFFFFF"/>
                </a:solidFill>
              </a:defRPr>
            </a:lvl8pPr>
            <a:lvl9pPr lvl="8" rtl="0" algn="ctr">
              <a:lnSpc>
                <a:spcPct val="100000"/>
              </a:lnSpc>
              <a:spcBef>
                <a:spcPts val="0"/>
              </a:spcBef>
              <a:spcAft>
                <a:spcPts val="0"/>
              </a:spcAft>
              <a:buClr>
                <a:srgbClr val="FFFFFF"/>
              </a:buClr>
              <a:buSzPts val="4000"/>
              <a:buNone/>
              <a:defRPr b="1" sz="4000">
                <a:solidFill>
                  <a:srgbClr val="FFFFFF"/>
                </a:solidFill>
              </a:defRPr>
            </a:lvl9pPr>
          </a:lstStyle>
          <a:p/>
        </p:txBody>
      </p:sp>
      <p:sp>
        <p:nvSpPr>
          <p:cNvPr id="74" name="Google Shape;74;p1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rmAutofit/>
          </a:bodyPr>
          <a:lstStyle>
            <a:lvl1pPr lvl="0" rtl="0" algn="r">
              <a:lnSpc>
                <a:spcPct val="100000"/>
              </a:lnSpc>
              <a:spcAft>
                <a:spcPts val="0"/>
              </a:spcAft>
              <a:buNone/>
              <a:defRPr sz="1000">
                <a:solidFill>
                  <a:srgbClr val="FFFFFF"/>
                </a:solidFill>
              </a:defRPr>
            </a:lvl1pPr>
            <a:lvl2pPr lvl="1" rtl="0" algn="r">
              <a:lnSpc>
                <a:spcPct val="100000"/>
              </a:lnSpc>
              <a:spcAft>
                <a:spcPts val="0"/>
              </a:spcAft>
              <a:buNone/>
              <a:defRPr sz="1000">
                <a:solidFill>
                  <a:srgbClr val="FFFFFF"/>
                </a:solidFill>
              </a:defRPr>
            </a:lvl2pPr>
            <a:lvl3pPr lvl="2" rtl="0" algn="r">
              <a:lnSpc>
                <a:spcPct val="100000"/>
              </a:lnSpc>
              <a:spcAft>
                <a:spcPts val="0"/>
              </a:spcAft>
              <a:buNone/>
              <a:defRPr sz="1000">
                <a:solidFill>
                  <a:srgbClr val="FFFFFF"/>
                </a:solidFill>
              </a:defRPr>
            </a:lvl3pPr>
            <a:lvl4pPr lvl="3" rtl="0" algn="r">
              <a:lnSpc>
                <a:spcPct val="100000"/>
              </a:lnSpc>
              <a:spcAft>
                <a:spcPts val="0"/>
              </a:spcAft>
              <a:buNone/>
              <a:defRPr sz="1000">
                <a:solidFill>
                  <a:srgbClr val="FFFFFF"/>
                </a:solidFill>
              </a:defRPr>
            </a:lvl4pPr>
            <a:lvl5pPr lvl="4" rtl="0" algn="r">
              <a:lnSpc>
                <a:spcPct val="100000"/>
              </a:lnSpc>
              <a:spcAft>
                <a:spcPts val="0"/>
              </a:spcAft>
              <a:buNone/>
              <a:defRPr sz="1000">
                <a:solidFill>
                  <a:srgbClr val="FFFFFF"/>
                </a:solidFill>
              </a:defRPr>
            </a:lvl5pPr>
            <a:lvl6pPr lvl="5" rtl="0" algn="r">
              <a:lnSpc>
                <a:spcPct val="100000"/>
              </a:lnSpc>
              <a:spcAft>
                <a:spcPts val="0"/>
              </a:spcAft>
              <a:buNone/>
              <a:defRPr sz="1000">
                <a:solidFill>
                  <a:srgbClr val="FFFFFF"/>
                </a:solidFill>
              </a:defRPr>
            </a:lvl6pPr>
            <a:lvl7pPr lvl="6" rtl="0" algn="r">
              <a:lnSpc>
                <a:spcPct val="100000"/>
              </a:lnSpc>
              <a:spcAft>
                <a:spcPts val="0"/>
              </a:spcAft>
              <a:buNone/>
              <a:defRPr sz="1000">
                <a:solidFill>
                  <a:srgbClr val="FFFFFF"/>
                </a:solidFill>
              </a:defRPr>
            </a:lvl7pPr>
            <a:lvl8pPr lvl="7" rtl="0" algn="r">
              <a:lnSpc>
                <a:spcPct val="100000"/>
              </a:lnSpc>
              <a:spcAft>
                <a:spcPts val="0"/>
              </a:spcAft>
              <a:buNone/>
              <a:defRPr sz="1000">
                <a:solidFill>
                  <a:srgbClr val="FFFFFF"/>
                </a:solidFill>
              </a:defRPr>
            </a:lvl8pPr>
            <a:lvl9pPr lvl="8" rtl="0" algn="r">
              <a:lnSpc>
                <a:spcPct val="100000"/>
              </a:lnSpc>
              <a:spcAft>
                <a:spcPts val="0"/>
              </a:spcAft>
              <a:buNone/>
              <a:defRPr sz="1000">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t 2">
  <p:cSld name="TITLE_AND_BODY_2">
    <p:bg>
      <p:bgPr>
        <a:solidFill>
          <a:srgbClr val="F8F9FA"/>
        </a:solidFill>
      </p:bgPr>
    </p:bg>
    <p:spTree>
      <p:nvGrpSpPr>
        <p:cNvPr id="75" name="Shape 75"/>
        <p:cNvGrpSpPr/>
        <p:nvPr/>
      </p:nvGrpSpPr>
      <p:grpSpPr>
        <a:xfrm>
          <a:off x="0" y="0"/>
          <a:ext cx="0" cy="0"/>
          <a:chOff x="0" y="0"/>
          <a:chExt cx="0" cy="0"/>
        </a:xfrm>
      </p:grpSpPr>
      <p:sp>
        <p:nvSpPr>
          <p:cNvPr id="76" name="Google Shape;76;p16"/>
          <p:cNvSpPr txBox="1"/>
          <p:nvPr>
            <p:ph type="title"/>
          </p:nvPr>
        </p:nvSpPr>
        <p:spPr>
          <a:xfrm>
            <a:off x="130951" y="4760105"/>
            <a:ext cx="2805600" cy="230100"/>
          </a:xfrm>
          <a:prstGeom prst="rect">
            <a:avLst/>
          </a:prstGeom>
        </p:spPr>
        <p:txBody>
          <a:bodyPr anchorCtr="0" anchor="ctr" bIns="91425" lIns="91425" spcFirstLastPara="1" rIns="91425" wrap="square" tIns="91425">
            <a:norm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7" name="Google Shape;77;p1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78" name="Google Shape;78;p16"/>
          <p:cNvSpPr txBox="1"/>
          <p:nvPr>
            <p:ph idx="2" type="title"/>
          </p:nvPr>
        </p:nvSpPr>
        <p:spPr>
          <a:xfrm>
            <a:off x="1049225" y="1909300"/>
            <a:ext cx="7007700" cy="988800"/>
          </a:xfrm>
          <a:prstGeom prst="rect">
            <a:avLst/>
          </a:prstGeom>
        </p:spPr>
        <p:txBody>
          <a:bodyPr anchorCtr="0" anchor="t" bIns="91425" lIns="91425" spcFirstLastPara="1" rIns="91425" wrap="square" tIns="91425">
            <a:norm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79" name="Google Shape;79;p16"/>
          <p:cNvSpPr txBox="1"/>
          <p:nvPr>
            <p:ph idx="1" type="subTitle"/>
          </p:nvPr>
        </p:nvSpPr>
        <p:spPr>
          <a:xfrm>
            <a:off x="1049226" y="2898150"/>
            <a:ext cx="3500400" cy="305100"/>
          </a:xfrm>
          <a:prstGeom prst="rect">
            <a:avLst/>
          </a:prstGeom>
        </p:spPr>
        <p:txBody>
          <a:bodyPr anchorCtr="0" anchor="t" bIns="91425" lIns="91425" spcFirstLastPara="1" rIns="91425" wrap="square" tIns="91425">
            <a:norm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200"/>
              </a:spcBef>
              <a:spcAft>
                <a:spcPts val="0"/>
              </a:spcAft>
              <a:buNone/>
              <a:defRPr>
                <a:latin typeface="Google Sans"/>
                <a:ea typeface="Google Sans"/>
                <a:cs typeface="Google Sans"/>
                <a:sym typeface="Google Sans"/>
              </a:defRPr>
            </a:lvl2pPr>
            <a:lvl3pPr lvl="2" rtl="0">
              <a:spcBef>
                <a:spcPts val="1200"/>
              </a:spcBef>
              <a:spcAft>
                <a:spcPts val="0"/>
              </a:spcAft>
              <a:buNone/>
              <a:defRPr>
                <a:latin typeface="Google Sans"/>
                <a:ea typeface="Google Sans"/>
                <a:cs typeface="Google Sans"/>
                <a:sym typeface="Google Sans"/>
              </a:defRPr>
            </a:lvl3pPr>
            <a:lvl4pPr lvl="3" rtl="0">
              <a:spcBef>
                <a:spcPts val="1200"/>
              </a:spcBef>
              <a:spcAft>
                <a:spcPts val="0"/>
              </a:spcAft>
              <a:buNone/>
              <a:defRPr>
                <a:latin typeface="Google Sans"/>
                <a:ea typeface="Google Sans"/>
                <a:cs typeface="Google Sans"/>
                <a:sym typeface="Google Sans"/>
              </a:defRPr>
            </a:lvl4pPr>
            <a:lvl5pPr lvl="4" rtl="0">
              <a:spcBef>
                <a:spcPts val="1200"/>
              </a:spcBef>
              <a:spcAft>
                <a:spcPts val="0"/>
              </a:spcAft>
              <a:buNone/>
              <a:defRPr>
                <a:latin typeface="Google Sans"/>
                <a:ea typeface="Google Sans"/>
                <a:cs typeface="Google Sans"/>
                <a:sym typeface="Google Sans"/>
              </a:defRPr>
            </a:lvl5pPr>
            <a:lvl6pPr lvl="5" rtl="0">
              <a:spcBef>
                <a:spcPts val="1200"/>
              </a:spcBef>
              <a:spcAft>
                <a:spcPts val="0"/>
              </a:spcAft>
              <a:buNone/>
              <a:defRPr>
                <a:latin typeface="Google Sans"/>
                <a:ea typeface="Google Sans"/>
                <a:cs typeface="Google Sans"/>
                <a:sym typeface="Google Sans"/>
              </a:defRPr>
            </a:lvl6pPr>
            <a:lvl7pPr lvl="6" rtl="0">
              <a:spcBef>
                <a:spcPts val="1200"/>
              </a:spcBef>
              <a:spcAft>
                <a:spcPts val="0"/>
              </a:spcAft>
              <a:buNone/>
              <a:defRPr>
                <a:latin typeface="Google Sans"/>
                <a:ea typeface="Google Sans"/>
                <a:cs typeface="Google Sans"/>
                <a:sym typeface="Google Sans"/>
              </a:defRPr>
            </a:lvl7pPr>
            <a:lvl8pPr lvl="7" rtl="0">
              <a:spcBef>
                <a:spcPts val="1200"/>
              </a:spcBef>
              <a:spcAft>
                <a:spcPts val="0"/>
              </a:spcAft>
              <a:buNone/>
              <a:defRPr>
                <a:latin typeface="Google Sans"/>
                <a:ea typeface="Google Sans"/>
                <a:cs typeface="Google Sans"/>
                <a:sym typeface="Google Sans"/>
              </a:defRPr>
            </a:lvl8pPr>
            <a:lvl9pPr lvl="8" rtl="0">
              <a:spcBef>
                <a:spcPts val="1200"/>
              </a:spcBef>
              <a:spcAft>
                <a:spcPts val="1200"/>
              </a:spcAft>
              <a:buNone/>
              <a:defRPr>
                <a:latin typeface="Google Sans"/>
                <a:ea typeface="Google Sans"/>
                <a:cs typeface="Google Sans"/>
                <a:sym typeface="Google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SECTION_HEADER_3_3">
    <p:spTree>
      <p:nvGrpSpPr>
        <p:cNvPr id="80" name="Shape 8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5" name="Shape 85"/>
        <p:cNvGrpSpPr/>
        <p:nvPr/>
      </p:nvGrpSpPr>
      <p:grpSpPr>
        <a:xfrm>
          <a:off x="0" y="0"/>
          <a:ext cx="0" cy="0"/>
          <a:chOff x="0" y="0"/>
          <a:chExt cx="0" cy="0"/>
        </a:xfrm>
      </p:grpSpPr>
      <p:sp>
        <p:nvSpPr>
          <p:cNvPr id="86" name="Google Shape;86;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Font typeface="Google Sans"/>
              <a:buNone/>
              <a:defRPr sz="5200">
                <a:latin typeface="Google Sans"/>
                <a:ea typeface="Google Sans"/>
                <a:cs typeface="Google Sans"/>
                <a:sym typeface="Google Sans"/>
              </a:defRPr>
            </a:lvl1pPr>
            <a:lvl2pPr lvl="1" rtl="0" algn="ctr">
              <a:spcBef>
                <a:spcPts val="0"/>
              </a:spcBef>
              <a:spcAft>
                <a:spcPts val="0"/>
              </a:spcAft>
              <a:buSzPts val="5200"/>
              <a:buFont typeface="Google Sans"/>
              <a:buNone/>
              <a:defRPr sz="5200">
                <a:latin typeface="Google Sans"/>
                <a:ea typeface="Google Sans"/>
                <a:cs typeface="Google Sans"/>
                <a:sym typeface="Google Sans"/>
              </a:defRPr>
            </a:lvl2pPr>
            <a:lvl3pPr lvl="2" rtl="0" algn="ctr">
              <a:spcBef>
                <a:spcPts val="0"/>
              </a:spcBef>
              <a:spcAft>
                <a:spcPts val="0"/>
              </a:spcAft>
              <a:buSzPts val="5200"/>
              <a:buFont typeface="Google Sans"/>
              <a:buNone/>
              <a:defRPr sz="5200">
                <a:latin typeface="Google Sans"/>
                <a:ea typeface="Google Sans"/>
                <a:cs typeface="Google Sans"/>
                <a:sym typeface="Google Sans"/>
              </a:defRPr>
            </a:lvl3pPr>
            <a:lvl4pPr lvl="3" rtl="0" algn="ctr">
              <a:spcBef>
                <a:spcPts val="0"/>
              </a:spcBef>
              <a:spcAft>
                <a:spcPts val="0"/>
              </a:spcAft>
              <a:buSzPts val="5200"/>
              <a:buFont typeface="Google Sans"/>
              <a:buNone/>
              <a:defRPr sz="5200">
                <a:latin typeface="Google Sans"/>
                <a:ea typeface="Google Sans"/>
                <a:cs typeface="Google Sans"/>
                <a:sym typeface="Google Sans"/>
              </a:defRPr>
            </a:lvl4pPr>
            <a:lvl5pPr lvl="4" rtl="0" algn="ctr">
              <a:spcBef>
                <a:spcPts val="0"/>
              </a:spcBef>
              <a:spcAft>
                <a:spcPts val="0"/>
              </a:spcAft>
              <a:buSzPts val="5200"/>
              <a:buFont typeface="Google Sans"/>
              <a:buNone/>
              <a:defRPr sz="5200">
                <a:latin typeface="Google Sans"/>
                <a:ea typeface="Google Sans"/>
                <a:cs typeface="Google Sans"/>
                <a:sym typeface="Google Sans"/>
              </a:defRPr>
            </a:lvl5pPr>
            <a:lvl6pPr lvl="5" rtl="0" algn="ctr">
              <a:spcBef>
                <a:spcPts val="0"/>
              </a:spcBef>
              <a:spcAft>
                <a:spcPts val="0"/>
              </a:spcAft>
              <a:buSzPts val="5200"/>
              <a:buFont typeface="Google Sans"/>
              <a:buNone/>
              <a:defRPr sz="5200">
                <a:latin typeface="Google Sans"/>
                <a:ea typeface="Google Sans"/>
                <a:cs typeface="Google Sans"/>
                <a:sym typeface="Google Sans"/>
              </a:defRPr>
            </a:lvl6pPr>
            <a:lvl7pPr lvl="6" rtl="0" algn="ctr">
              <a:spcBef>
                <a:spcPts val="0"/>
              </a:spcBef>
              <a:spcAft>
                <a:spcPts val="0"/>
              </a:spcAft>
              <a:buSzPts val="5200"/>
              <a:buFont typeface="Google Sans"/>
              <a:buNone/>
              <a:defRPr sz="5200">
                <a:latin typeface="Google Sans"/>
                <a:ea typeface="Google Sans"/>
                <a:cs typeface="Google Sans"/>
                <a:sym typeface="Google Sans"/>
              </a:defRPr>
            </a:lvl7pPr>
            <a:lvl8pPr lvl="7" rtl="0" algn="ctr">
              <a:spcBef>
                <a:spcPts val="0"/>
              </a:spcBef>
              <a:spcAft>
                <a:spcPts val="0"/>
              </a:spcAft>
              <a:buSzPts val="5200"/>
              <a:buFont typeface="Google Sans"/>
              <a:buNone/>
              <a:defRPr sz="5200">
                <a:latin typeface="Google Sans"/>
                <a:ea typeface="Google Sans"/>
                <a:cs typeface="Google Sans"/>
                <a:sym typeface="Google Sans"/>
              </a:defRPr>
            </a:lvl8pPr>
            <a:lvl9pPr lvl="8" rtl="0" algn="ctr">
              <a:spcBef>
                <a:spcPts val="0"/>
              </a:spcBef>
              <a:spcAft>
                <a:spcPts val="0"/>
              </a:spcAft>
              <a:buSzPts val="5200"/>
              <a:buFont typeface="Google Sans"/>
              <a:buNone/>
              <a:defRPr sz="5200">
                <a:latin typeface="Google Sans"/>
                <a:ea typeface="Google Sans"/>
                <a:cs typeface="Google Sans"/>
                <a:sym typeface="Google Sans"/>
              </a:defRPr>
            </a:lvl9pPr>
          </a:lstStyle>
          <a:p/>
        </p:txBody>
      </p:sp>
      <p:sp>
        <p:nvSpPr>
          <p:cNvPr id="87" name="Google Shape;87;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1pPr>
            <a:lvl2pPr lvl="1"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2pPr>
            <a:lvl3pPr lvl="2"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3pPr>
            <a:lvl4pPr lvl="3"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4pPr>
            <a:lvl5pPr lvl="4"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5pPr>
            <a:lvl6pPr lvl="5"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6pPr>
            <a:lvl7pPr lvl="6"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7pPr>
            <a:lvl8pPr lvl="7"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8pPr>
            <a:lvl9pPr lvl="8" rtl="0" algn="ctr">
              <a:lnSpc>
                <a:spcPct val="100000"/>
              </a:lnSpc>
              <a:spcBef>
                <a:spcPts val="0"/>
              </a:spcBef>
              <a:spcAft>
                <a:spcPts val="0"/>
              </a:spcAft>
              <a:buSzPts val="2800"/>
              <a:buFont typeface="Google Sans"/>
              <a:buNone/>
              <a:defRPr sz="2800">
                <a:latin typeface="Google Sans"/>
                <a:ea typeface="Google Sans"/>
                <a:cs typeface="Google Sans"/>
                <a:sym typeface="Google Sans"/>
              </a:defRPr>
            </a:lvl9pPr>
          </a:lstStyle>
          <a:p/>
        </p:txBody>
      </p:sp>
      <p:sp>
        <p:nvSpPr>
          <p:cNvPr id="88" name="Google Shape;88;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9" name="Shape 89"/>
        <p:cNvGrpSpPr/>
        <p:nvPr/>
      </p:nvGrpSpPr>
      <p:grpSpPr>
        <a:xfrm>
          <a:off x="0" y="0"/>
          <a:ext cx="0" cy="0"/>
          <a:chOff x="0" y="0"/>
          <a:chExt cx="0" cy="0"/>
        </a:xfrm>
      </p:grpSpPr>
      <p:sp>
        <p:nvSpPr>
          <p:cNvPr id="90" name="Google Shape;90;p2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Google Sans"/>
              <a:buNone/>
              <a:defRPr sz="3600">
                <a:latin typeface="Google Sans"/>
                <a:ea typeface="Google Sans"/>
                <a:cs typeface="Google Sans"/>
                <a:sym typeface="Google Sans"/>
              </a:defRPr>
            </a:lvl1pPr>
            <a:lvl2pPr lvl="1" rtl="0" algn="ctr">
              <a:spcBef>
                <a:spcPts val="0"/>
              </a:spcBef>
              <a:spcAft>
                <a:spcPts val="0"/>
              </a:spcAft>
              <a:buSzPts val="3600"/>
              <a:buFont typeface="Google Sans"/>
              <a:buNone/>
              <a:defRPr sz="3600">
                <a:latin typeface="Google Sans"/>
                <a:ea typeface="Google Sans"/>
                <a:cs typeface="Google Sans"/>
                <a:sym typeface="Google Sans"/>
              </a:defRPr>
            </a:lvl2pPr>
            <a:lvl3pPr lvl="2" rtl="0" algn="ctr">
              <a:spcBef>
                <a:spcPts val="0"/>
              </a:spcBef>
              <a:spcAft>
                <a:spcPts val="0"/>
              </a:spcAft>
              <a:buSzPts val="3600"/>
              <a:buFont typeface="Google Sans"/>
              <a:buNone/>
              <a:defRPr sz="3600">
                <a:latin typeface="Google Sans"/>
                <a:ea typeface="Google Sans"/>
                <a:cs typeface="Google Sans"/>
                <a:sym typeface="Google Sans"/>
              </a:defRPr>
            </a:lvl3pPr>
            <a:lvl4pPr lvl="3" rtl="0" algn="ctr">
              <a:spcBef>
                <a:spcPts val="0"/>
              </a:spcBef>
              <a:spcAft>
                <a:spcPts val="0"/>
              </a:spcAft>
              <a:buSzPts val="3600"/>
              <a:buFont typeface="Google Sans"/>
              <a:buNone/>
              <a:defRPr sz="3600">
                <a:latin typeface="Google Sans"/>
                <a:ea typeface="Google Sans"/>
                <a:cs typeface="Google Sans"/>
                <a:sym typeface="Google Sans"/>
              </a:defRPr>
            </a:lvl4pPr>
            <a:lvl5pPr lvl="4" rtl="0" algn="ctr">
              <a:spcBef>
                <a:spcPts val="0"/>
              </a:spcBef>
              <a:spcAft>
                <a:spcPts val="0"/>
              </a:spcAft>
              <a:buSzPts val="3600"/>
              <a:buFont typeface="Google Sans"/>
              <a:buNone/>
              <a:defRPr sz="3600">
                <a:latin typeface="Google Sans"/>
                <a:ea typeface="Google Sans"/>
                <a:cs typeface="Google Sans"/>
                <a:sym typeface="Google Sans"/>
              </a:defRPr>
            </a:lvl5pPr>
            <a:lvl6pPr lvl="5" rtl="0" algn="ctr">
              <a:spcBef>
                <a:spcPts val="0"/>
              </a:spcBef>
              <a:spcAft>
                <a:spcPts val="0"/>
              </a:spcAft>
              <a:buSzPts val="3600"/>
              <a:buFont typeface="Google Sans"/>
              <a:buNone/>
              <a:defRPr sz="3600">
                <a:latin typeface="Google Sans"/>
                <a:ea typeface="Google Sans"/>
                <a:cs typeface="Google Sans"/>
                <a:sym typeface="Google Sans"/>
              </a:defRPr>
            </a:lvl6pPr>
            <a:lvl7pPr lvl="6" rtl="0" algn="ctr">
              <a:spcBef>
                <a:spcPts val="0"/>
              </a:spcBef>
              <a:spcAft>
                <a:spcPts val="0"/>
              </a:spcAft>
              <a:buSzPts val="3600"/>
              <a:buFont typeface="Google Sans"/>
              <a:buNone/>
              <a:defRPr sz="3600">
                <a:latin typeface="Google Sans"/>
                <a:ea typeface="Google Sans"/>
                <a:cs typeface="Google Sans"/>
                <a:sym typeface="Google Sans"/>
              </a:defRPr>
            </a:lvl7pPr>
            <a:lvl8pPr lvl="7" rtl="0" algn="ctr">
              <a:spcBef>
                <a:spcPts val="0"/>
              </a:spcBef>
              <a:spcAft>
                <a:spcPts val="0"/>
              </a:spcAft>
              <a:buSzPts val="3600"/>
              <a:buFont typeface="Google Sans"/>
              <a:buNone/>
              <a:defRPr sz="3600">
                <a:latin typeface="Google Sans"/>
                <a:ea typeface="Google Sans"/>
                <a:cs typeface="Google Sans"/>
                <a:sym typeface="Google Sans"/>
              </a:defRPr>
            </a:lvl8pPr>
            <a:lvl9pPr lvl="8" rtl="0" algn="ctr">
              <a:spcBef>
                <a:spcPts val="0"/>
              </a:spcBef>
              <a:spcAft>
                <a:spcPts val="0"/>
              </a:spcAft>
              <a:buSzPts val="3600"/>
              <a:buFont typeface="Google Sans"/>
              <a:buNone/>
              <a:defRPr sz="3600">
                <a:latin typeface="Google Sans"/>
                <a:ea typeface="Google Sans"/>
                <a:cs typeface="Google Sans"/>
                <a:sym typeface="Google Sans"/>
              </a:defRPr>
            </a:lvl9pPr>
          </a:lstStyle>
          <a:p/>
        </p:txBody>
      </p:sp>
      <p:sp>
        <p:nvSpPr>
          <p:cNvPr id="91" name="Google Shape;91;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2" name="Shape 92"/>
        <p:cNvGrpSpPr/>
        <p:nvPr/>
      </p:nvGrpSpPr>
      <p:grpSpPr>
        <a:xfrm>
          <a:off x="0" y="0"/>
          <a:ext cx="0" cy="0"/>
          <a:chOff x="0" y="0"/>
          <a:chExt cx="0" cy="0"/>
        </a:xfrm>
      </p:grpSpPr>
      <p:sp>
        <p:nvSpPr>
          <p:cNvPr id="93" name="Google Shape;93;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Google Sans"/>
              <a:buNone/>
              <a:defRPr>
                <a:latin typeface="Google Sans"/>
                <a:ea typeface="Google Sans"/>
                <a:cs typeface="Google Sans"/>
                <a:sym typeface="Google Sans"/>
              </a:defRPr>
            </a:lvl1pPr>
            <a:lvl2pPr lvl="1" rtl="0">
              <a:spcBef>
                <a:spcPts val="0"/>
              </a:spcBef>
              <a:spcAft>
                <a:spcPts val="0"/>
              </a:spcAft>
              <a:buSzPts val="2800"/>
              <a:buFont typeface="Google Sans"/>
              <a:buNone/>
              <a:defRPr>
                <a:latin typeface="Google Sans"/>
                <a:ea typeface="Google Sans"/>
                <a:cs typeface="Google Sans"/>
                <a:sym typeface="Google Sans"/>
              </a:defRPr>
            </a:lvl2pPr>
            <a:lvl3pPr lvl="2" rtl="0">
              <a:spcBef>
                <a:spcPts val="0"/>
              </a:spcBef>
              <a:spcAft>
                <a:spcPts val="0"/>
              </a:spcAft>
              <a:buSzPts val="2800"/>
              <a:buFont typeface="Google Sans"/>
              <a:buNone/>
              <a:defRPr>
                <a:latin typeface="Google Sans"/>
                <a:ea typeface="Google Sans"/>
                <a:cs typeface="Google Sans"/>
                <a:sym typeface="Google Sans"/>
              </a:defRPr>
            </a:lvl3pPr>
            <a:lvl4pPr lvl="3" rtl="0">
              <a:spcBef>
                <a:spcPts val="0"/>
              </a:spcBef>
              <a:spcAft>
                <a:spcPts val="0"/>
              </a:spcAft>
              <a:buSzPts val="2800"/>
              <a:buFont typeface="Google Sans"/>
              <a:buNone/>
              <a:defRPr>
                <a:latin typeface="Google Sans"/>
                <a:ea typeface="Google Sans"/>
                <a:cs typeface="Google Sans"/>
                <a:sym typeface="Google Sans"/>
              </a:defRPr>
            </a:lvl4pPr>
            <a:lvl5pPr lvl="4" rtl="0">
              <a:spcBef>
                <a:spcPts val="0"/>
              </a:spcBef>
              <a:spcAft>
                <a:spcPts val="0"/>
              </a:spcAft>
              <a:buSzPts val="2800"/>
              <a:buFont typeface="Google Sans"/>
              <a:buNone/>
              <a:defRPr>
                <a:latin typeface="Google Sans"/>
                <a:ea typeface="Google Sans"/>
                <a:cs typeface="Google Sans"/>
                <a:sym typeface="Google Sans"/>
              </a:defRPr>
            </a:lvl5pPr>
            <a:lvl6pPr lvl="5" rtl="0">
              <a:spcBef>
                <a:spcPts val="0"/>
              </a:spcBef>
              <a:spcAft>
                <a:spcPts val="0"/>
              </a:spcAft>
              <a:buSzPts val="2800"/>
              <a:buFont typeface="Google Sans"/>
              <a:buNone/>
              <a:defRPr>
                <a:latin typeface="Google Sans"/>
                <a:ea typeface="Google Sans"/>
                <a:cs typeface="Google Sans"/>
                <a:sym typeface="Google Sans"/>
              </a:defRPr>
            </a:lvl6pPr>
            <a:lvl7pPr lvl="6" rtl="0">
              <a:spcBef>
                <a:spcPts val="0"/>
              </a:spcBef>
              <a:spcAft>
                <a:spcPts val="0"/>
              </a:spcAft>
              <a:buSzPts val="2800"/>
              <a:buFont typeface="Google Sans"/>
              <a:buNone/>
              <a:defRPr>
                <a:latin typeface="Google Sans"/>
                <a:ea typeface="Google Sans"/>
                <a:cs typeface="Google Sans"/>
                <a:sym typeface="Google Sans"/>
              </a:defRPr>
            </a:lvl7pPr>
            <a:lvl8pPr lvl="7" rtl="0">
              <a:spcBef>
                <a:spcPts val="0"/>
              </a:spcBef>
              <a:spcAft>
                <a:spcPts val="0"/>
              </a:spcAft>
              <a:buSzPts val="2800"/>
              <a:buFont typeface="Google Sans"/>
              <a:buNone/>
              <a:defRPr>
                <a:latin typeface="Google Sans"/>
                <a:ea typeface="Google Sans"/>
                <a:cs typeface="Google Sans"/>
                <a:sym typeface="Google Sans"/>
              </a:defRPr>
            </a:lvl8pPr>
            <a:lvl9pPr lvl="8" rtl="0">
              <a:spcBef>
                <a:spcPts val="0"/>
              </a:spcBef>
              <a:spcAft>
                <a:spcPts val="0"/>
              </a:spcAft>
              <a:buSzPts val="2800"/>
              <a:buFont typeface="Google Sans"/>
              <a:buNone/>
              <a:defRPr>
                <a:latin typeface="Google Sans"/>
                <a:ea typeface="Google Sans"/>
                <a:cs typeface="Google Sans"/>
                <a:sym typeface="Google Sans"/>
              </a:defRPr>
            </a:lvl9pPr>
          </a:lstStyle>
          <a:p/>
        </p:txBody>
      </p:sp>
      <p:sp>
        <p:nvSpPr>
          <p:cNvPr id="94" name="Google Shape;94;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Font typeface="Google Sans"/>
              <a:buChar char="●"/>
              <a:defRPr>
                <a:latin typeface="Google Sans"/>
                <a:ea typeface="Google Sans"/>
                <a:cs typeface="Google Sans"/>
                <a:sym typeface="Google Sans"/>
              </a:defRPr>
            </a:lvl1pPr>
            <a:lvl2pPr indent="-317500" lvl="1" marL="914400" rtl="0">
              <a:spcBef>
                <a:spcPts val="1600"/>
              </a:spcBef>
              <a:spcAft>
                <a:spcPts val="0"/>
              </a:spcAft>
              <a:buSzPts val="1400"/>
              <a:buFont typeface="Google Sans"/>
              <a:buChar char="○"/>
              <a:defRPr>
                <a:latin typeface="Google Sans"/>
                <a:ea typeface="Google Sans"/>
                <a:cs typeface="Google Sans"/>
                <a:sym typeface="Google Sans"/>
              </a:defRPr>
            </a:lvl2pPr>
            <a:lvl3pPr indent="-317500" lvl="2" marL="1371600" rtl="0">
              <a:spcBef>
                <a:spcPts val="1600"/>
              </a:spcBef>
              <a:spcAft>
                <a:spcPts val="0"/>
              </a:spcAft>
              <a:buSzPts val="1400"/>
              <a:buFont typeface="Google Sans"/>
              <a:buChar char="■"/>
              <a:defRPr>
                <a:latin typeface="Google Sans"/>
                <a:ea typeface="Google Sans"/>
                <a:cs typeface="Google Sans"/>
                <a:sym typeface="Google Sans"/>
              </a:defRPr>
            </a:lvl3pPr>
            <a:lvl4pPr indent="-317500" lvl="3" marL="1828800" rtl="0">
              <a:spcBef>
                <a:spcPts val="1600"/>
              </a:spcBef>
              <a:spcAft>
                <a:spcPts val="0"/>
              </a:spcAft>
              <a:buSzPts val="1400"/>
              <a:buFont typeface="Google Sans"/>
              <a:buChar char="●"/>
              <a:defRPr>
                <a:latin typeface="Google Sans"/>
                <a:ea typeface="Google Sans"/>
                <a:cs typeface="Google Sans"/>
                <a:sym typeface="Google Sans"/>
              </a:defRPr>
            </a:lvl4pPr>
            <a:lvl5pPr indent="-317500" lvl="4" marL="2286000" rtl="0">
              <a:spcBef>
                <a:spcPts val="1600"/>
              </a:spcBef>
              <a:spcAft>
                <a:spcPts val="0"/>
              </a:spcAft>
              <a:buSzPts val="1400"/>
              <a:buFont typeface="Google Sans"/>
              <a:buChar char="○"/>
              <a:defRPr>
                <a:latin typeface="Google Sans"/>
                <a:ea typeface="Google Sans"/>
                <a:cs typeface="Google Sans"/>
                <a:sym typeface="Google Sans"/>
              </a:defRPr>
            </a:lvl5pPr>
            <a:lvl6pPr indent="-317500" lvl="5" marL="2743200" rtl="0">
              <a:spcBef>
                <a:spcPts val="1600"/>
              </a:spcBef>
              <a:spcAft>
                <a:spcPts val="0"/>
              </a:spcAft>
              <a:buSzPts val="1400"/>
              <a:buFont typeface="Google Sans"/>
              <a:buChar char="■"/>
              <a:defRPr>
                <a:latin typeface="Google Sans"/>
                <a:ea typeface="Google Sans"/>
                <a:cs typeface="Google Sans"/>
                <a:sym typeface="Google Sans"/>
              </a:defRPr>
            </a:lvl6pPr>
            <a:lvl7pPr indent="-317500" lvl="6" marL="3200400" rtl="0">
              <a:spcBef>
                <a:spcPts val="1600"/>
              </a:spcBef>
              <a:spcAft>
                <a:spcPts val="0"/>
              </a:spcAft>
              <a:buSzPts val="1400"/>
              <a:buFont typeface="Google Sans"/>
              <a:buChar char="●"/>
              <a:defRPr>
                <a:latin typeface="Google Sans"/>
                <a:ea typeface="Google Sans"/>
                <a:cs typeface="Google Sans"/>
                <a:sym typeface="Google Sans"/>
              </a:defRPr>
            </a:lvl7pPr>
            <a:lvl8pPr indent="-317500" lvl="7" marL="3657600" rtl="0">
              <a:spcBef>
                <a:spcPts val="1600"/>
              </a:spcBef>
              <a:spcAft>
                <a:spcPts val="0"/>
              </a:spcAft>
              <a:buSzPts val="1400"/>
              <a:buFont typeface="Google Sans"/>
              <a:buChar char="○"/>
              <a:defRPr>
                <a:latin typeface="Google Sans"/>
                <a:ea typeface="Google Sans"/>
                <a:cs typeface="Google Sans"/>
                <a:sym typeface="Google Sans"/>
              </a:defRPr>
            </a:lvl8pPr>
            <a:lvl9pPr indent="-317500" lvl="8" marL="4114800" rtl="0">
              <a:spcBef>
                <a:spcPts val="1600"/>
              </a:spcBef>
              <a:spcAft>
                <a:spcPts val="1600"/>
              </a:spcAft>
              <a:buSzPts val="1400"/>
              <a:buFont typeface="Google Sans"/>
              <a:buChar char="■"/>
              <a:defRPr>
                <a:latin typeface="Google Sans"/>
                <a:ea typeface="Google Sans"/>
                <a:cs typeface="Google Sans"/>
                <a:sym typeface="Google Sans"/>
              </a:defRPr>
            </a:lvl9pPr>
          </a:lstStyle>
          <a:p/>
        </p:txBody>
      </p:sp>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sp>
        <p:nvSpPr>
          <p:cNvPr id="97" name="Google Shape;9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Google Sans"/>
              <a:buNone/>
              <a:defRPr>
                <a:latin typeface="Google Sans"/>
                <a:ea typeface="Google Sans"/>
                <a:cs typeface="Google Sans"/>
                <a:sym typeface="Google Sans"/>
              </a:defRPr>
            </a:lvl1pPr>
            <a:lvl2pPr lvl="1" rtl="0">
              <a:spcBef>
                <a:spcPts val="0"/>
              </a:spcBef>
              <a:spcAft>
                <a:spcPts val="0"/>
              </a:spcAft>
              <a:buSzPts val="2800"/>
              <a:buFont typeface="Google Sans"/>
              <a:buNone/>
              <a:defRPr>
                <a:latin typeface="Google Sans"/>
                <a:ea typeface="Google Sans"/>
                <a:cs typeface="Google Sans"/>
                <a:sym typeface="Google Sans"/>
              </a:defRPr>
            </a:lvl2pPr>
            <a:lvl3pPr lvl="2" rtl="0">
              <a:spcBef>
                <a:spcPts val="0"/>
              </a:spcBef>
              <a:spcAft>
                <a:spcPts val="0"/>
              </a:spcAft>
              <a:buSzPts val="2800"/>
              <a:buFont typeface="Google Sans"/>
              <a:buNone/>
              <a:defRPr>
                <a:latin typeface="Google Sans"/>
                <a:ea typeface="Google Sans"/>
                <a:cs typeface="Google Sans"/>
                <a:sym typeface="Google Sans"/>
              </a:defRPr>
            </a:lvl3pPr>
            <a:lvl4pPr lvl="3" rtl="0">
              <a:spcBef>
                <a:spcPts val="0"/>
              </a:spcBef>
              <a:spcAft>
                <a:spcPts val="0"/>
              </a:spcAft>
              <a:buSzPts val="2800"/>
              <a:buFont typeface="Google Sans"/>
              <a:buNone/>
              <a:defRPr>
                <a:latin typeface="Google Sans"/>
                <a:ea typeface="Google Sans"/>
                <a:cs typeface="Google Sans"/>
                <a:sym typeface="Google Sans"/>
              </a:defRPr>
            </a:lvl4pPr>
            <a:lvl5pPr lvl="4" rtl="0">
              <a:spcBef>
                <a:spcPts val="0"/>
              </a:spcBef>
              <a:spcAft>
                <a:spcPts val="0"/>
              </a:spcAft>
              <a:buSzPts val="2800"/>
              <a:buFont typeface="Google Sans"/>
              <a:buNone/>
              <a:defRPr>
                <a:latin typeface="Google Sans"/>
                <a:ea typeface="Google Sans"/>
                <a:cs typeface="Google Sans"/>
                <a:sym typeface="Google Sans"/>
              </a:defRPr>
            </a:lvl5pPr>
            <a:lvl6pPr lvl="5" rtl="0">
              <a:spcBef>
                <a:spcPts val="0"/>
              </a:spcBef>
              <a:spcAft>
                <a:spcPts val="0"/>
              </a:spcAft>
              <a:buSzPts val="2800"/>
              <a:buFont typeface="Google Sans"/>
              <a:buNone/>
              <a:defRPr>
                <a:latin typeface="Google Sans"/>
                <a:ea typeface="Google Sans"/>
                <a:cs typeface="Google Sans"/>
                <a:sym typeface="Google Sans"/>
              </a:defRPr>
            </a:lvl6pPr>
            <a:lvl7pPr lvl="6" rtl="0">
              <a:spcBef>
                <a:spcPts val="0"/>
              </a:spcBef>
              <a:spcAft>
                <a:spcPts val="0"/>
              </a:spcAft>
              <a:buSzPts val="2800"/>
              <a:buFont typeface="Google Sans"/>
              <a:buNone/>
              <a:defRPr>
                <a:latin typeface="Google Sans"/>
                <a:ea typeface="Google Sans"/>
                <a:cs typeface="Google Sans"/>
                <a:sym typeface="Google Sans"/>
              </a:defRPr>
            </a:lvl7pPr>
            <a:lvl8pPr lvl="7" rtl="0">
              <a:spcBef>
                <a:spcPts val="0"/>
              </a:spcBef>
              <a:spcAft>
                <a:spcPts val="0"/>
              </a:spcAft>
              <a:buSzPts val="2800"/>
              <a:buFont typeface="Google Sans"/>
              <a:buNone/>
              <a:defRPr>
                <a:latin typeface="Google Sans"/>
                <a:ea typeface="Google Sans"/>
                <a:cs typeface="Google Sans"/>
                <a:sym typeface="Google Sans"/>
              </a:defRPr>
            </a:lvl8pPr>
            <a:lvl9pPr lvl="8" rtl="0">
              <a:spcBef>
                <a:spcPts val="0"/>
              </a:spcBef>
              <a:spcAft>
                <a:spcPts val="0"/>
              </a:spcAft>
              <a:buSzPts val="2800"/>
              <a:buFont typeface="Google Sans"/>
              <a:buNone/>
              <a:defRPr>
                <a:latin typeface="Google Sans"/>
                <a:ea typeface="Google Sans"/>
                <a:cs typeface="Google Sans"/>
                <a:sym typeface="Google Sans"/>
              </a:defRPr>
            </a:lvl9pPr>
          </a:lstStyle>
          <a:p/>
        </p:txBody>
      </p:sp>
      <p:sp>
        <p:nvSpPr>
          <p:cNvPr id="98" name="Google Shape;98;p22"/>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Google Sans"/>
              <a:buChar char="●"/>
              <a:defRPr sz="1400">
                <a:latin typeface="Google Sans"/>
                <a:ea typeface="Google Sans"/>
                <a:cs typeface="Google Sans"/>
                <a:sym typeface="Google Sans"/>
              </a:defRPr>
            </a:lvl1pPr>
            <a:lvl2pPr indent="-304800" lvl="1" marL="914400" rtl="0">
              <a:spcBef>
                <a:spcPts val="1600"/>
              </a:spcBef>
              <a:spcAft>
                <a:spcPts val="0"/>
              </a:spcAft>
              <a:buSzPts val="1200"/>
              <a:buFont typeface="Google Sans"/>
              <a:buChar char="○"/>
              <a:defRPr sz="1200">
                <a:latin typeface="Google Sans"/>
                <a:ea typeface="Google Sans"/>
                <a:cs typeface="Google Sans"/>
                <a:sym typeface="Google Sans"/>
              </a:defRPr>
            </a:lvl2pPr>
            <a:lvl3pPr indent="-304800" lvl="2" marL="1371600" rtl="0">
              <a:spcBef>
                <a:spcPts val="1600"/>
              </a:spcBef>
              <a:spcAft>
                <a:spcPts val="0"/>
              </a:spcAft>
              <a:buSzPts val="1200"/>
              <a:buFont typeface="Google Sans"/>
              <a:buChar char="■"/>
              <a:defRPr sz="1200">
                <a:latin typeface="Google Sans"/>
                <a:ea typeface="Google Sans"/>
                <a:cs typeface="Google Sans"/>
                <a:sym typeface="Google Sans"/>
              </a:defRPr>
            </a:lvl3pPr>
            <a:lvl4pPr indent="-304800" lvl="3" marL="1828800" rtl="0">
              <a:spcBef>
                <a:spcPts val="1600"/>
              </a:spcBef>
              <a:spcAft>
                <a:spcPts val="0"/>
              </a:spcAft>
              <a:buSzPts val="1200"/>
              <a:buFont typeface="Google Sans"/>
              <a:buChar char="●"/>
              <a:defRPr sz="1200">
                <a:latin typeface="Google Sans"/>
                <a:ea typeface="Google Sans"/>
                <a:cs typeface="Google Sans"/>
                <a:sym typeface="Google Sans"/>
              </a:defRPr>
            </a:lvl4pPr>
            <a:lvl5pPr indent="-304800" lvl="4" marL="2286000" rtl="0">
              <a:spcBef>
                <a:spcPts val="1600"/>
              </a:spcBef>
              <a:spcAft>
                <a:spcPts val="0"/>
              </a:spcAft>
              <a:buSzPts val="1200"/>
              <a:buFont typeface="Google Sans"/>
              <a:buChar char="○"/>
              <a:defRPr sz="1200">
                <a:latin typeface="Google Sans"/>
                <a:ea typeface="Google Sans"/>
                <a:cs typeface="Google Sans"/>
                <a:sym typeface="Google Sans"/>
              </a:defRPr>
            </a:lvl5pPr>
            <a:lvl6pPr indent="-304800" lvl="5" marL="2743200" rtl="0">
              <a:spcBef>
                <a:spcPts val="1600"/>
              </a:spcBef>
              <a:spcAft>
                <a:spcPts val="0"/>
              </a:spcAft>
              <a:buSzPts val="1200"/>
              <a:buFont typeface="Google Sans"/>
              <a:buChar char="■"/>
              <a:defRPr sz="1200">
                <a:latin typeface="Google Sans"/>
                <a:ea typeface="Google Sans"/>
                <a:cs typeface="Google Sans"/>
                <a:sym typeface="Google Sans"/>
              </a:defRPr>
            </a:lvl6pPr>
            <a:lvl7pPr indent="-304800" lvl="6" marL="3200400" rtl="0">
              <a:spcBef>
                <a:spcPts val="1600"/>
              </a:spcBef>
              <a:spcAft>
                <a:spcPts val="0"/>
              </a:spcAft>
              <a:buSzPts val="1200"/>
              <a:buFont typeface="Google Sans"/>
              <a:buChar char="●"/>
              <a:defRPr sz="1200">
                <a:latin typeface="Google Sans"/>
                <a:ea typeface="Google Sans"/>
                <a:cs typeface="Google Sans"/>
                <a:sym typeface="Google Sans"/>
              </a:defRPr>
            </a:lvl7pPr>
            <a:lvl8pPr indent="-304800" lvl="7" marL="3657600" rtl="0">
              <a:spcBef>
                <a:spcPts val="1600"/>
              </a:spcBef>
              <a:spcAft>
                <a:spcPts val="0"/>
              </a:spcAft>
              <a:buSzPts val="1200"/>
              <a:buFont typeface="Google Sans"/>
              <a:buChar char="○"/>
              <a:defRPr sz="1200">
                <a:latin typeface="Google Sans"/>
                <a:ea typeface="Google Sans"/>
                <a:cs typeface="Google Sans"/>
                <a:sym typeface="Google Sans"/>
              </a:defRPr>
            </a:lvl8pPr>
            <a:lvl9pPr indent="-304800" lvl="8" marL="4114800" rtl="0">
              <a:spcBef>
                <a:spcPts val="1600"/>
              </a:spcBef>
              <a:spcAft>
                <a:spcPts val="1600"/>
              </a:spcAft>
              <a:buSzPts val="1200"/>
              <a:buFont typeface="Google Sans"/>
              <a:buChar char="■"/>
              <a:defRPr sz="1200">
                <a:latin typeface="Google Sans"/>
                <a:ea typeface="Google Sans"/>
                <a:cs typeface="Google Sans"/>
                <a:sym typeface="Google Sans"/>
              </a:defRPr>
            </a:lvl9pPr>
          </a:lstStyle>
          <a:p/>
        </p:txBody>
      </p:sp>
      <p:sp>
        <p:nvSpPr>
          <p:cNvPr id="99" name="Google Shape;99;p22"/>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Google Sans"/>
              <a:buChar char="●"/>
              <a:defRPr sz="1400">
                <a:latin typeface="Google Sans"/>
                <a:ea typeface="Google Sans"/>
                <a:cs typeface="Google Sans"/>
                <a:sym typeface="Google Sans"/>
              </a:defRPr>
            </a:lvl1pPr>
            <a:lvl2pPr indent="-304800" lvl="1" marL="914400" rtl="0">
              <a:spcBef>
                <a:spcPts val="1600"/>
              </a:spcBef>
              <a:spcAft>
                <a:spcPts val="0"/>
              </a:spcAft>
              <a:buSzPts val="1200"/>
              <a:buFont typeface="Google Sans"/>
              <a:buChar char="○"/>
              <a:defRPr sz="1200">
                <a:latin typeface="Google Sans"/>
                <a:ea typeface="Google Sans"/>
                <a:cs typeface="Google Sans"/>
                <a:sym typeface="Google Sans"/>
              </a:defRPr>
            </a:lvl2pPr>
            <a:lvl3pPr indent="-304800" lvl="2" marL="1371600" rtl="0">
              <a:spcBef>
                <a:spcPts val="1600"/>
              </a:spcBef>
              <a:spcAft>
                <a:spcPts val="0"/>
              </a:spcAft>
              <a:buSzPts val="1200"/>
              <a:buFont typeface="Google Sans"/>
              <a:buChar char="■"/>
              <a:defRPr sz="1200">
                <a:latin typeface="Google Sans"/>
                <a:ea typeface="Google Sans"/>
                <a:cs typeface="Google Sans"/>
                <a:sym typeface="Google Sans"/>
              </a:defRPr>
            </a:lvl3pPr>
            <a:lvl4pPr indent="-304800" lvl="3" marL="1828800" rtl="0">
              <a:spcBef>
                <a:spcPts val="1600"/>
              </a:spcBef>
              <a:spcAft>
                <a:spcPts val="0"/>
              </a:spcAft>
              <a:buSzPts val="1200"/>
              <a:buFont typeface="Google Sans"/>
              <a:buChar char="●"/>
              <a:defRPr sz="1200">
                <a:latin typeface="Google Sans"/>
                <a:ea typeface="Google Sans"/>
                <a:cs typeface="Google Sans"/>
                <a:sym typeface="Google Sans"/>
              </a:defRPr>
            </a:lvl4pPr>
            <a:lvl5pPr indent="-304800" lvl="4" marL="2286000" rtl="0">
              <a:spcBef>
                <a:spcPts val="1600"/>
              </a:spcBef>
              <a:spcAft>
                <a:spcPts val="0"/>
              </a:spcAft>
              <a:buSzPts val="1200"/>
              <a:buFont typeface="Google Sans"/>
              <a:buChar char="○"/>
              <a:defRPr sz="1200">
                <a:latin typeface="Google Sans"/>
                <a:ea typeface="Google Sans"/>
                <a:cs typeface="Google Sans"/>
                <a:sym typeface="Google Sans"/>
              </a:defRPr>
            </a:lvl5pPr>
            <a:lvl6pPr indent="-304800" lvl="5" marL="2743200" rtl="0">
              <a:spcBef>
                <a:spcPts val="1600"/>
              </a:spcBef>
              <a:spcAft>
                <a:spcPts val="0"/>
              </a:spcAft>
              <a:buSzPts val="1200"/>
              <a:buFont typeface="Google Sans"/>
              <a:buChar char="■"/>
              <a:defRPr sz="1200">
                <a:latin typeface="Google Sans"/>
                <a:ea typeface="Google Sans"/>
                <a:cs typeface="Google Sans"/>
                <a:sym typeface="Google Sans"/>
              </a:defRPr>
            </a:lvl6pPr>
            <a:lvl7pPr indent="-304800" lvl="6" marL="3200400" rtl="0">
              <a:spcBef>
                <a:spcPts val="1600"/>
              </a:spcBef>
              <a:spcAft>
                <a:spcPts val="0"/>
              </a:spcAft>
              <a:buSzPts val="1200"/>
              <a:buFont typeface="Google Sans"/>
              <a:buChar char="●"/>
              <a:defRPr sz="1200">
                <a:latin typeface="Google Sans"/>
                <a:ea typeface="Google Sans"/>
                <a:cs typeface="Google Sans"/>
                <a:sym typeface="Google Sans"/>
              </a:defRPr>
            </a:lvl7pPr>
            <a:lvl8pPr indent="-304800" lvl="7" marL="3657600" rtl="0">
              <a:spcBef>
                <a:spcPts val="1600"/>
              </a:spcBef>
              <a:spcAft>
                <a:spcPts val="0"/>
              </a:spcAft>
              <a:buSzPts val="1200"/>
              <a:buFont typeface="Google Sans"/>
              <a:buChar char="○"/>
              <a:defRPr sz="1200">
                <a:latin typeface="Google Sans"/>
                <a:ea typeface="Google Sans"/>
                <a:cs typeface="Google Sans"/>
                <a:sym typeface="Google Sans"/>
              </a:defRPr>
            </a:lvl8pPr>
            <a:lvl9pPr indent="-304800" lvl="8" marL="4114800" rtl="0">
              <a:spcBef>
                <a:spcPts val="1600"/>
              </a:spcBef>
              <a:spcAft>
                <a:spcPts val="1600"/>
              </a:spcAft>
              <a:buSzPts val="1200"/>
              <a:buFont typeface="Google Sans"/>
              <a:buChar char="■"/>
              <a:defRPr sz="1200">
                <a:latin typeface="Google Sans"/>
                <a:ea typeface="Google Sans"/>
                <a:cs typeface="Google Sans"/>
                <a:sym typeface="Google Sans"/>
              </a:defRPr>
            </a:lvl9pPr>
          </a:lstStyle>
          <a:p/>
        </p:txBody>
      </p:sp>
      <p:sp>
        <p:nvSpPr>
          <p:cNvPr id="100" name="Google Shape;100;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sp>
        <p:nvSpPr>
          <p:cNvPr id="102" name="Google Shape;10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Google Sans"/>
              <a:buNone/>
              <a:defRPr>
                <a:latin typeface="Google Sans"/>
                <a:ea typeface="Google Sans"/>
                <a:cs typeface="Google Sans"/>
                <a:sym typeface="Google Sans"/>
              </a:defRPr>
            </a:lvl1pPr>
            <a:lvl2pPr lvl="1" rtl="0">
              <a:spcBef>
                <a:spcPts val="0"/>
              </a:spcBef>
              <a:spcAft>
                <a:spcPts val="0"/>
              </a:spcAft>
              <a:buSzPts val="2800"/>
              <a:buFont typeface="Google Sans"/>
              <a:buNone/>
              <a:defRPr>
                <a:latin typeface="Google Sans"/>
                <a:ea typeface="Google Sans"/>
                <a:cs typeface="Google Sans"/>
                <a:sym typeface="Google Sans"/>
              </a:defRPr>
            </a:lvl2pPr>
            <a:lvl3pPr lvl="2" rtl="0">
              <a:spcBef>
                <a:spcPts val="0"/>
              </a:spcBef>
              <a:spcAft>
                <a:spcPts val="0"/>
              </a:spcAft>
              <a:buSzPts val="2800"/>
              <a:buFont typeface="Google Sans"/>
              <a:buNone/>
              <a:defRPr>
                <a:latin typeface="Google Sans"/>
                <a:ea typeface="Google Sans"/>
                <a:cs typeface="Google Sans"/>
                <a:sym typeface="Google Sans"/>
              </a:defRPr>
            </a:lvl3pPr>
            <a:lvl4pPr lvl="3" rtl="0">
              <a:spcBef>
                <a:spcPts val="0"/>
              </a:spcBef>
              <a:spcAft>
                <a:spcPts val="0"/>
              </a:spcAft>
              <a:buSzPts val="2800"/>
              <a:buFont typeface="Google Sans"/>
              <a:buNone/>
              <a:defRPr>
                <a:latin typeface="Google Sans"/>
                <a:ea typeface="Google Sans"/>
                <a:cs typeface="Google Sans"/>
                <a:sym typeface="Google Sans"/>
              </a:defRPr>
            </a:lvl4pPr>
            <a:lvl5pPr lvl="4" rtl="0">
              <a:spcBef>
                <a:spcPts val="0"/>
              </a:spcBef>
              <a:spcAft>
                <a:spcPts val="0"/>
              </a:spcAft>
              <a:buSzPts val="2800"/>
              <a:buFont typeface="Google Sans"/>
              <a:buNone/>
              <a:defRPr>
                <a:latin typeface="Google Sans"/>
                <a:ea typeface="Google Sans"/>
                <a:cs typeface="Google Sans"/>
                <a:sym typeface="Google Sans"/>
              </a:defRPr>
            </a:lvl5pPr>
            <a:lvl6pPr lvl="5" rtl="0">
              <a:spcBef>
                <a:spcPts val="0"/>
              </a:spcBef>
              <a:spcAft>
                <a:spcPts val="0"/>
              </a:spcAft>
              <a:buSzPts val="2800"/>
              <a:buFont typeface="Google Sans"/>
              <a:buNone/>
              <a:defRPr>
                <a:latin typeface="Google Sans"/>
                <a:ea typeface="Google Sans"/>
                <a:cs typeface="Google Sans"/>
                <a:sym typeface="Google Sans"/>
              </a:defRPr>
            </a:lvl6pPr>
            <a:lvl7pPr lvl="6" rtl="0">
              <a:spcBef>
                <a:spcPts val="0"/>
              </a:spcBef>
              <a:spcAft>
                <a:spcPts val="0"/>
              </a:spcAft>
              <a:buSzPts val="2800"/>
              <a:buFont typeface="Google Sans"/>
              <a:buNone/>
              <a:defRPr>
                <a:latin typeface="Google Sans"/>
                <a:ea typeface="Google Sans"/>
                <a:cs typeface="Google Sans"/>
                <a:sym typeface="Google Sans"/>
              </a:defRPr>
            </a:lvl7pPr>
            <a:lvl8pPr lvl="7" rtl="0">
              <a:spcBef>
                <a:spcPts val="0"/>
              </a:spcBef>
              <a:spcAft>
                <a:spcPts val="0"/>
              </a:spcAft>
              <a:buSzPts val="2800"/>
              <a:buFont typeface="Google Sans"/>
              <a:buNone/>
              <a:defRPr>
                <a:latin typeface="Google Sans"/>
                <a:ea typeface="Google Sans"/>
                <a:cs typeface="Google Sans"/>
                <a:sym typeface="Google Sans"/>
              </a:defRPr>
            </a:lvl8pPr>
            <a:lvl9pPr lvl="8" rtl="0">
              <a:spcBef>
                <a:spcPts val="0"/>
              </a:spcBef>
              <a:spcAft>
                <a:spcPts val="0"/>
              </a:spcAft>
              <a:buSzPts val="2800"/>
              <a:buFont typeface="Google Sans"/>
              <a:buNone/>
              <a:defRPr>
                <a:latin typeface="Google Sans"/>
                <a:ea typeface="Google Sans"/>
                <a:cs typeface="Google Sans"/>
                <a:sym typeface="Google Sans"/>
              </a:defRPr>
            </a:lvl9pPr>
          </a:lstStyle>
          <a:p/>
        </p:txBody>
      </p:sp>
      <p:sp>
        <p:nvSpPr>
          <p:cNvPr id="103" name="Google Shape;103;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4" name="Shape 104"/>
        <p:cNvGrpSpPr/>
        <p:nvPr/>
      </p:nvGrpSpPr>
      <p:grpSpPr>
        <a:xfrm>
          <a:off x="0" y="0"/>
          <a:ext cx="0" cy="0"/>
          <a:chOff x="0" y="0"/>
          <a:chExt cx="0" cy="0"/>
        </a:xfrm>
      </p:grpSpPr>
      <p:sp>
        <p:nvSpPr>
          <p:cNvPr id="105" name="Google Shape;105;p24"/>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Google Sans"/>
              <a:buNone/>
              <a:defRPr sz="2400">
                <a:latin typeface="Google Sans"/>
                <a:ea typeface="Google Sans"/>
                <a:cs typeface="Google Sans"/>
                <a:sym typeface="Google Sans"/>
              </a:defRPr>
            </a:lvl1pPr>
            <a:lvl2pPr lvl="1" rtl="0">
              <a:spcBef>
                <a:spcPts val="0"/>
              </a:spcBef>
              <a:spcAft>
                <a:spcPts val="0"/>
              </a:spcAft>
              <a:buSzPts val="2400"/>
              <a:buFont typeface="Google Sans"/>
              <a:buNone/>
              <a:defRPr sz="2400">
                <a:latin typeface="Google Sans"/>
                <a:ea typeface="Google Sans"/>
                <a:cs typeface="Google Sans"/>
                <a:sym typeface="Google Sans"/>
              </a:defRPr>
            </a:lvl2pPr>
            <a:lvl3pPr lvl="2" rtl="0">
              <a:spcBef>
                <a:spcPts val="0"/>
              </a:spcBef>
              <a:spcAft>
                <a:spcPts val="0"/>
              </a:spcAft>
              <a:buSzPts val="2400"/>
              <a:buFont typeface="Google Sans"/>
              <a:buNone/>
              <a:defRPr sz="2400">
                <a:latin typeface="Google Sans"/>
                <a:ea typeface="Google Sans"/>
                <a:cs typeface="Google Sans"/>
                <a:sym typeface="Google Sans"/>
              </a:defRPr>
            </a:lvl3pPr>
            <a:lvl4pPr lvl="3" rtl="0">
              <a:spcBef>
                <a:spcPts val="0"/>
              </a:spcBef>
              <a:spcAft>
                <a:spcPts val="0"/>
              </a:spcAft>
              <a:buSzPts val="2400"/>
              <a:buFont typeface="Google Sans"/>
              <a:buNone/>
              <a:defRPr sz="2400">
                <a:latin typeface="Google Sans"/>
                <a:ea typeface="Google Sans"/>
                <a:cs typeface="Google Sans"/>
                <a:sym typeface="Google Sans"/>
              </a:defRPr>
            </a:lvl4pPr>
            <a:lvl5pPr lvl="4" rtl="0">
              <a:spcBef>
                <a:spcPts val="0"/>
              </a:spcBef>
              <a:spcAft>
                <a:spcPts val="0"/>
              </a:spcAft>
              <a:buSzPts val="2400"/>
              <a:buFont typeface="Google Sans"/>
              <a:buNone/>
              <a:defRPr sz="2400">
                <a:latin typeface="Google Sans"/>
                <a:ea typeface="Google Sans"/>
                <a:cs typeface="Google Sans"/>
                <a:sym typeface="Google Sans"/>
              </a:defRPr>
            </a:lvl5pPr>
            <a:lvl6pPr lvl="5" rtl="0">
              <a:spcBef>
                <a:spcPts val="0"/>
              </a:spcBef>
              <a:spcAft>
                <a:spcPts val="0"/>
              </a:spcAft>
              <a:buSzPts val="2400"/>
              <a:buFont typeface="Google Sans"/>
              <a:buNone/>
              <a:defRPr sz="2400">
                <a:latin typeface="Google Sans"/>
                <a:ea typeface="Google Sans"/>
                <a:cs typeface="Google Sans"/>
                <a:sym typeface="Google Sans"/>
              </a:defRPr>
            </a:lvl6pPr>
            <a:lvl7pPr lvl="6" rtl="0">
              <a:spcBef>
                <a:spcPts val="0"/>
              </a:spcBef>
              <a:spcAft>
                <a:spcPts val="0"/>
              </a:spcAft>
              <a:buSzPts val="2400"/>
              <a:buFont typeface="Google Sans"/>
              <a:buNone/>
              <a:defRPr sz="2400">
                <a:latin typeface="Google Sans"/>
                <a:ea typeface="Google Sans"/>
                <a:cs typeface="Google Sans"/>
                <a:sym typeface="Google Sans"/>
              </a:defRPr>
            </a:lvl7pPr>
            <a:lvl8pPr lvl="7" rtl="0">
              <a:spcBef>
                <a:spcPts val="0"/>
              </a:spcBef>
              <a:spcAft>
                <a:spcPts val="0"/>
              </a:spcAft>
              <a:buSzPts val="2400"/>
              <a:buFont typeface="Google Sans"/>
              <a:buNone/>
              <a:defRPr sz="2400">
                <a:latin typeface="Google Sans"/>
                <a:ea typeface="Google Sans"/>
                <a:cs typeface="Google Sans"/>
                <a:sym typeface="Google Sans"/>
              </a:defRPr>
            </a:lvl8pPr>
            <a:lvl9pPr lvl="8" rtl="0">
              <a:spcBef>
                <a:spcPts val="0"/>
              </a:spcBef>
              <a:spcAft>
                <a:spcPts val="0"/>
              </a:spcAft>
              <a:buSzPts val="2400"/>
              <a:buFont typeface="Google Sans"/>
              <a:buNone/>
              <a:defRPr sz="2400">
                <a:latin typeface="Google Sans"/>
                <a:ea typeface="Google Sans"/>
                <a:cs typeface="Google Sans"/>
                <a:sym typeface="Google Sans"/>
              </a:defRPr>
            </a:lvl9pPr>
          </a:lstStyle>
          <a:p/>
        </p:txBody>
      </p:sp>
      <p:sp>
        <p:nvSpPr>
          <p:cNvPr id="106" name="Google Shape;106;p24"/>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Font typeface="Google Sans"/>
              <a:buChar char="●"/>
              <a:defRPr sz="1200">
                <a:latin typeface="Google Sans"/>
                <a:ea typeface="Google Sans"/>
                <a:cs typeface="Google Sans"/>
                <a:sym typeface="Google Sans"/>
              </a:defRPr>
            </a:lvl1pPr>
            <a:lvl2pPr indent="-304800" lvl="1" marL="914400" rtl="0">
              <a:spcBef>
                <a:spcPts val="1600"/>
              </a:spcBef>
              <a:spcAft>
                <a:spcPts val="0"/>
              </a:spcAft>
              <a:buSzPts val="1200"/>
              <a:buFont typeface="Google Sans"/>
              <a:buChar char="○"/>
              <a:defRPr sz="1200">
                <a:latin typeface="Google Sans"/>
                <a:ea typeface="Google Sans"/>
                <a:cs typeface="Google Sans"/>
                <a:sym typeface="Google Sans"/>
              </a:defRPr>
            </a:lvl2pPr>
            <a:lvl3pPr indent="-304800" lvl="2" marL="1371600" rtl="0">
              <a:spcBef>
                <a:spcPts val="1600"/>
              </a:spcBef>
              <a:spcAft>
                <a:spcPts val="0"/>
              </a:spcAft>
              <a:buSzPts val="1200"/>
              <a:buFont typeface="Google Sans"/>
              <a:buChar char="■"/>
              <a:defRPr sz="1200">
                <a:latin typeface="Google Sans"/>
                <a:ea typeface="Google Sans"/>
                <a:cs typeface="Google Sans"/>
                <a:sym typeface="Google Sans"/>
              </a:defRPr>
            </a:lvl3pPr>
            <a:lvl4pPr indent="-304800" lvl="3" marL="1828800" rtl="0">
              <a:spcBef>
                <a:spcPts val="1600"/>
              </a:spcBef>
              <a:spcAft>
                <a:spcPts val="0"/>
              </a:spcAft>
              <a:buSzPts val="1200"/>
              <a:buFont typeface="Google Sans"/>
              <a:buChar char="●"/>
              <a:defRPr sz="1200">
                <a:latin typeface="Google Sans"/>
                <a:ea typeface="Google Sans"/>
                <a:cs typeface="Google Sans"/>
                <a:sym typeface="Google Sans"/>
              </a:defRPr>
            </a:lvl4pPr>
            <a:lvl5pPr indent="-304800" lvl="4" marL="2286000" rtl="0">
              <a:spcBef>
                <a:spcPts val="1600"/>
              </a:spcBef>
              <a:spcAft>
                <a:spcPts val="0"/>
              </a:spcAft>
              <a:buSzPts val="1200"/>
              <a:buFont typeface="Google Sans"/>
              <a:buChar char="○"/>
              <a:defRPr sz="1200">
                <a:latin typeface="Google Sans"/>
                <a:ea typeface="Google Sans"/>
                <a:cs typeface="Google Sans"/>
                <a:sym typeface="Google Sans"/>
              </a:defRPr>
            </a:lvl5pPr>
            <a:lvl6pPr indent="-304800" lvl="5" marL="2743200" rtl="0">
              <a:spcBef>
                <a:spcPts val="1600"/>
              </a:spcBef>
              <a:spcAft>
                <a:spcPts val="0"/>
              </a:spcAft>
              <a:buSzPts val="1200"/>
              <a:buFont typeface="Google Sans"/>
              <a:buChar char="■"/>
              <a:defRPr sz="1200">
                <a:latin typeface="Google Sans"/>
                <a:ea typeface="Google Sans"/>
                <a:cs typeface="Google Sans"/>
                <a:sym typeface="Google Sans"/>
              </a:defRPr>
            </a:lvl6pPr>
            <a:lvl7pPr indent="-304800" lvl="6" marL="3200400" rtl="0">
              <a:spcBef>
                <a:spcPts val="1600"/>
              </a:spcBef>
              <a:spcAft>
                <a:spcPts val="0"/>
              </a:spcAft>
              <a:buSzPts val="1200"/>
              <a:buFont typeface="Google Sans"/>
              <a:buChar char="●"/>
              <a:defRPr sz="1200">
                <a:latin typeface="Google Sans"/>
                <a:ea typeface="Google Sans"/>
                <a:cs typeface="Google Sans"/>
                <a:sym typeface="Google Sans"/>
              </a:defRPr>
            </a:lvl7pPr>
            <a:lvl8pPr indent="-304800" lvl="7" marL="3657600" rtl="0">
              <a:spcBef>
                <a:spcPts val="1600"/>
              </a:spcBef>
              <a:spcAft>
                <a:spcPts val="0"/>
              </a:spcAft>
              <a:buSzPts val="1200"/>
              <a:buFont typeface="Google Sans"/>
              <a:buChar char="○"/>
              <a:defRPr sz="1200">
                <a:latin typeface="Google Sans"/>
                <a:ea typeface="Google Sans"/>
                <a:cs typeface="Google Sans"/>
                <a:sym typeface="Google Sans"/>
              </a:defRPr>
            </a:lvl8pPr>
            <a:lvl9pPr indent="-304800" lvl="8" marL="4114800" rtl="0">
              <a:spcBef>
                <a:spcPts val="1600"/>
              </a:spcBef>
              <a:spcAft>
                <a:spcPts val="1600"/>
              </a:spcAft>
              <a:buSzPts val="1200"/>
              <a:buFont typeface="Google Sans"/>
              <a:buChar char="■"/>
              <a:defRPr sz="1200">
                <a:latin typeface="Google Sans"/>
                <a:ea typeface="Google Sans"/>
                <a:cs typeface="Google Sans"/>
                <a:sym typeface="Google Sans"/>
              </a:defRPr>
            </a:lvl9pPr>
          </a:lstStyle>
          <a:p/>
        </p:txBody>
      </p:sp>
      <p:sp>
        <p:nvSpPr>
          <p:cNvPr id="107" name="Google Shape;107;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8" name="Shape 108"/>
        <p:cNvGrpSpPr/>
        <p:nvPr/>
      </p:nvGrpSpPr>
      <p:grpSpPr>
        <a:xfrm>
          <a:off x="0" y="0"/>
          <a:ext cx="0" cy="0"/>
          <a:chOff x="0" y="0"/>
          <a:chExt cx="0" cy="0"/>
        </a:xfrm>
      </p:grpSpPr>
      <p:sp>
        <p:nvSpPr>
          <p:cNvPr id="109" name="Google Shape;109;p2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Font typeface="Google Sans"/>
              <a:buNone/>
              <a:defRPr sz="4800">
                <a:latin typeface="Google Sans"/>
                <a:ea typeface="Google Sans"/>
                <a:cs typeface="Google Sans"/>
                <a:sym typeface="Google Sans"/>
              </a:defRPr>
            </a:lvl1pPr>
            <a:lvl2pPr lvl="1" rtl="0">
              <a:spcBef>
                <a:spcPts val="0"/>
              </a:spcBef>
              <a:spcAft>
                <a:spcPts val="0"/>
              </a:spcAft>
              <a:buSzPts val="4800"/>
              <a:buFont typeface="Google Sans"/>
              <a:buNone/>
              <a:defRPr sz="4800">
                <a:latin typeface="Google Sans"/>
                <a:ea typeface="Google Sans"/>
                <a:cs typeface="Google Sans"/>
                <a:sym typeface="Google Sans"/>
              </a:defRPr>
            </a:lvl2pPr>
            <a:lvl3pPr lvl="2" rtl="0">
              <a:spcBef>
                <a:spcPts val="0"/>
              </a:spcBef>
              <a:spcAft>
                <a:spcPts val="0"/>
              </a:spcAft>
              <a:buSzPts val="4800"/>
              <a:buFont typeface="Google Sans"/>
              <a:buNone/>
              <a:defRPr sz="4800">
                <a:latin typeface="Google Sans"/>
                <a:ea typeface="Google Sans"/>
                <a:cs typeface="Google Sans"/>
                <a:sym typeface="Google Sans"/>
              </a:defRPr>
            </a:lvl3pPr>
            <a:lvl4pPr lvl="3" rtl="0">
              <a:spcBef>
                <a:spcPts val="0"/>
              </a:spcBef>
              <a:spcAft>
                <a:spcPts val="0"/>
              </a:spcAft>
              <a:buSzPts val="4800"/>
              <a:buFont typeface="Google Sans"/>
              <a:buNone/>
              <a:defRPr sz="4800">
                <a:latin typeface="Google Sans"/>
                <a:ea typeface="Google Sans"/>
                <a:cs typeface="Google Sans"/>
                <a:sym typeface="Google Sans"/>
              </a:defRPr>
            </a:lvl4pPr>
            <a:lvl5pPr lvl="4" rtl="0">
              <a:spcBef>
                <a:spcPts val="0"/>
              </a:spcBef>
              <a:spcAft>
                <a:spcPts val="0"/>
              </a:spcAft>
              <a:buSzPts val="4800"/>
              <a:buFont typeface="Google Sans"/>
              <a:buNone/>
              <a:defRPr sz="4800">
                <a:latin typeface="Google Sans"/>
                <a:ea typeface="Google Sans"/>
                <a:cs typeface="Google Sans"/>
                <a:sym typeface="Google Sans"/>
              </a:defRPr>
            </a:lvl5pPr>
            <a:lvl6pPr lvl="5" rtl="0">
              <a:spcBef>
                <a:spcPts val="0"/>
              </a:spcBef>
              <a:spcAft>
                <a:spcPts val="0"/>
              </a:spcAft>
              <a:buSzPts val="4800"/>
              <a:buFont typeface="Google Sans"/>
              <a:buNone/>
              <a:defRPr sz="4800">
                <a:latin typeface="Google Sans"/>
                <a:ea typeface="Google Sans"/>
                <a:cs typeface="Google Sans"/>
                <a:sym typeface="Google Sans"/>
              </a:defRPr>
            </a:lvl6pPr>
            <a:lvl7pPr lvl="6" rtl="0">
              <a:spcBef>
                <a:spcPts val="0"/>
              </a:spcBef>
              <a:spcAft>
                <a:spcPts val="0"/>
              </a:spcAft>
              <a:buSzPts val="4800"/>
              <a:buFont typeface="Google Sans"/>
              <a:buNone/>
              <a:defRPr sz="4800">
                <a:latin typeface="Google Sans"/>
                <a:ea typeface="Google Sans"/>
                <a:cs typeface="Google Sans"/>
                <a:sym typeface="Google Sans"/>
              </a:defRPr>
            </a:lvl7pPr>
            <a:lvl8pPr lvl="7" rtl="0">
              <a:spcBef>
                <a:spcPts val="0"/>
              </a:spcBef>
              <a:spcAft>
                <a:spcPts val="0"/>
              </a:spcAft>
              <a:buSzPts val="4800"/>
              <a:buFont typeface="Google Sans"/>
              <a:buNone/>
              <a:defRPr sz="4800">
                <a:latin typeface="Google Sans"/>
                <a:ea typeface="Google Sans"/>
                <a:cs typeface="Google Sans"/>
                <a:sym typeface="Google Sans"/>
              </a:defRPr>
            </a:lvl8pPr>
            <a:lvl9pPr lvl="8" rtl="0">
              <a:spcBef>
                <a:spcPts val="0"/>
              </a:spcBef>
              <a:spcAft>
                <a:spcPts val="0"/>
              </a:spcAft>
              <a:buSzPts val="4800"/>
              <a:buFont typeface="Google Sans"/>
              <a:buNone/>
              <a:defRPr sz="4800">
                <a:latin typeface="Google Sans"/>
                <a:ea typeface="Google Sans"/>
                <a:cs typeface="Google Sans"/>
                <a:sym typeface="Google Sans"/>
              </a:defRPr>
            </a:lvl9pPr>
          </a:lstStyle>
          <a:p/>
        </p:txBody>
      </p:sp>
      <p:sp>
        <p:nvSpPr>
          <p:cNvPr id="110" name="Google Shape;110;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1" name="Shape 111"/>
        <p:cNvGrpSpPr/>
        <p:nvPr/>
      </p:nvGrpSpPr>
      <p:grpSpPr>
        <a:xfrm>
          <a:off x="0" y="0"/>
          <a:ext cx="0" cy="0"/>
          <a:chOff x="0" y="0"/>
          <a:chExt cx="0" cy="0"/>
        </a:xfrm>
      </p:grpSpPr>
      <p:sp>
        <p:nvSpPr>
          <p:cNvPr id="112" name="Google Shape;112;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Google Sans"/>
              <a:ea typeface="Google Sans"/>
              <a:cs typeface="Google Sans"/>
              <a:sym typeface="Google Sans"/>
            </a:endParaRPr>
          </a:p>
        </p:txBody>
      </p:sp>
      <p:sp>
        <p:nvSpPr>
          <p:cNvPr id="113" name="Google Shape;113;p26"/>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Font typeface="Google Sans"/>
              <a:buNone/>
              <a:defRPr sz="4200">
                <a:latin typeface="Google Sans"/>
                <a:ea typeface="Google Sans"/>
                <a:cs typeface="Google Sans"/>
                <a:sym typeface="Google Sans"/>
              </a:defRPr>
            </a:lvl1pPr>
            <a:lvl2pPr lvl="1" rtl="0" algn="ctr">
              <a:spcBef>
                <a:spcPts val="0"/>
              </a:spcBef>
              <a:spcAft>
                <a:spcPts val="0"/>
              </a:spcAft>
              <a:buSzPts val="4200"/>
              <a:buFont typeface="Google Sans"/>
              <a:buNone/>
              <a:defRPr sz="4200">
                <a:latin typeface="Google Sans"/>
                <a:ea typeface="Google Sans"/>
                <a:cs typeface="Google Sans"/>
                <a:sym typeface="Google Sans"/>
              </a:defRPr>
            </a:lvl2pPr>
            <a:lvl3pPr lvl="2" rtl="0" algn="ctr">
              <a:spcBef>
                <a:spcPts val="0"/>
              </a:spcBef>
              <a:spcAft>
                <a:spcPts val="0"/>
              </a:spcAft>
              <a:buSzPts val="4200"/>
              <a:buFont typeface="Google Sans"/>
              <a:buNone/>
              <a:defRPr sz="4200">
                <a:latin typeface="Google Sans"/>
                <a:ea typeface="Google Sans"/>
                <a:cs typeface="Google Sans"/>
                <a:sym typeface="Google Sans"/>
              </a:defRPr>
            </a:lvl3pPr>
            <a:lvl4pPr lvl="3" rtl="0" algn="ctr">
              <a:spcBef>
                <a:spcPts val="0"/>
              </a:spcBef>
              <a:spcAft>
                <a:spcPts val="0"/>
              </a:spcAft>
              <a:buSzPts val="4200"/>
              <a:buFont typeface="Google Sans"/>
              <a:buNone/>
              <a:defRPr sz="4200">
                <a:latin typeface="Google Sans"/>
                <a:ea typeface="Google Sans"/>
                <a:cs typeface="Google Sans"/>
                <a:sym typeface="Google Sans"/>
              </a:defRPr>
            </a:lvl4pPr>
            <a:lvl5pPr lvl="4" rtl="0" algn="ctr">
              <a:spcBef>
                <a:spcPts val="0"/>
              </a:spcBef>
              <a:spcAft>
                <a:spcPts val="0"/>
              </a:spcAft>
              <a:buSzPts val="4200"/>
              <a:buFont typeface="Google Sans"/>
              <a:buNone/>
              <a:defRPr sz="4200">
                <a:latin typeface="Google Sans"/>
                <a:ea typeface="Google Sans"/>
                <a:cs typeface="Google Sans"/>
                <a:sym typeface="Google Sans"/>
              </a:defRPr>
            </a:lvl5pPr>
            <a:lvl6pPr lvl="5" rtl="0" algn="ctr">
              <a:spcBef>
                <a:spcPts val="0"/>
              </a:spcBef>
              <a:spcAft>
                <a:spcPts val="0"/>
              </a:spcAft>
              <a:buSzPts val="4200"/>
              <a:buFont typeface="Google Sans"/>
              <a:buNone/>
              <a:defRPr sz="4200">
                <a:latin typeface="Google Sans"/>
                <a:ea typeface="Google Sans"/>
                <a:cs typeface="Google Sans"/>
                <a:sym typeface="Google Sans"/>
              </a:defRPr>
            </a:lvl6pPr>
            <a:lvl7pPr lvl="6" rtl="0" algn="ctr">
              <a:spcBef>
                <a:spcPts val="0"/>
              </a:spcBef>
              <a:spcAft>
                <a:spcPts val="0"/>
              </a:spcAft>
              <a:buSzPts val="4200"/>
              <a:buFont typeface="Google Sans"/>
              <a:buNone/>
              <a:defRPr sz="4200">
                <a:latin typeface="Google Sans"/>
                <a:ea typeface="Google Sans"/>
                <a:cs typeface="Google Sans"/>
                <a:sym typeface="Google Sans"/>
              </a:defRPr>
            </a:lvl7pPr>
            <a:lvl8pPr lvl="7" rtl="0" algn="ctr">
              <a:spcBef>
                <a:spcPts val="0"/>
              </a:spcBef>
              <a:spcAft>
                <a:spcPts val="0"/>
              </a:spcAft>
              <a:buSzPts val="4200"/>
              <a:buFont typeface="Google Sans"/>
              <a:buNone/>
              <a:defRPr sz="4200">
                <a:latin typeface="Google Sans"/>
                <a:ea typeface="Google Sans"/>
                <a:cs typeface="Google Sans"/>
                <a:sym typeface="Google Sans"/>
              </a:defRPr>
            </a:lvl8pPr>
            <a:lvl9pPr lvl="8" rtl="0" algn="ctr">
              <a:spcBef>
                <a:spcPts val="0"/>
              </a:spcBef>
              <a:spcAft>
                <a:spcPts val="0"/>
              </a:spcAft>
              <a:buSzPts val="4200"/>
              <a:buFont typeface="Google Sans"/>
              <a:buNone/>
              <a:defRPr sz="4200">
                <a:latin typeface="Google Sans"/>
                <a:ea typeface="Google Sans"/>
                <a:cs typeface="Google Sans"/>
                <a:sym typeface="Google Sans"/>
              </a:defRPr>
            </a:lvl9pPr>
          </a:lstStyle>
          <a:p/>
        </p:txBody>
      </p:sp>
      <p:sp>
        <p:nvSpPr>
          <p:cNvPr id="114" name="Google Shape;114;p26"/>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1pPr>
            <a:lvl2pPr lvl="1"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2pPr>
            <a:lvl3pPr lvl="2"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3pPr>
            <a:lvl4pPr lvl="3"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4pPr>
            <a:lvl5pPr lvl="4"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5pPr>
            <a:lvl6pPr lvl="5"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6pPr>
            <a:lvl7pPr lvl="6"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7pPr>
            <a:lvl8pPr lvl="7"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8pPr>
            <a:lvl9pPr lvl="8" rtl="0" algn="ctr">
              <a:lnSpc>
                <a:spcPct val="100000"/>
              </a:lnSpc>
              <a:spcBef>
                <a:spcPts val="0"/>
              </a:spcBef>
              <a:spcAft>
                <a:spcPts val="0"/>
              </a:spcAft>
              <a:buSzPts val="2100"/>
              <a:buFont typeface="Google Sans"/>
              <a:buNone/>
              <a:defRPr sz="2100">
                <a:latin typeface="Google Sans"/>
                <a:ea typeface="Google Sans"/>
                <a:cs typeface="Google Sans"/>
                <a:sym typeface="Google Sans"/>
              </a:defRPr>
            </a:lvl9pPr>
          </a:lstStyle>
          <a:p/>
        </p:txBody>
      </p:sp>
      <p:sp>
        <p:nvSpPr>
          <p:cNvPr id="115" name="Google Shape;115;p26"/>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Font typeface="Google Sans"/>
              <a:buChar char="●"/>
              <a:defRPr>
                <a:latin typeface="Google Sans"/>
                <a:ea typeface="Google Sans"/>
                <a:cs typeface="Google Sans"/>
                <a:sym typeface="Google Sans"/>
              </a:defRPr>
            </a:lvl1pPr>
            <a:lvl2pPr indent="-317500" lvl="1" marL="914400" rtl="0">
              <a:spcBef>
                <a:spcPts val="1600"/>
              </a:spcBef>
              <a:spcAft>
                <a:spcPts val="0"/>
              </a:spcAft>
              <a:buSzPts val="1400"/>
              <a:buFont typeface="Google Sans"/>
              <a:buChar char="○"/>
              <a:defRPr>
                <a:latin typeface="Google Sans"/>
                <a:ea typeface="Google Sans"/>
                <a:cs typeface="Google Sans"/>
                <a:sym typeface="Google Sans"/>
              </a:defRPr>
            </a:lvl2pPr>
            <a:lvl3pPr indent="-317500" lvl="2" marL="1371600" rtl="0">
              <a:spcBef>
                <a:spcPts val="1600"/>
              </a:spcBef>
              <a:spcAft>
                <a:spcPts val="0"/>
              </a:spcAft>
              <a:buSzPts val="1400"/>
              <a:buFont typeface="Google Sans"/>
              <a:buChar char="■"/>
              <a:defRPr>
                <a:latin typeface="Google Sans"/>
                <a:ea typeface="Google Sans"/>
                <a:cs typeface="Google Sans"/>
                <a:sym typeface="Google Sans"/>
              </a:defRPr>
            </a:lvl3pPr>
            <a:lvl4pPr indent="-317500" lvl="3" marL="1828800" rtl="0">
              <a:spcBef>
                <a:spcPts val="1600"/>
              </a:spcBef>
              <a:spcAft>
                <a:spcPts val="0"/>
              </a:spcAft>
              <a:buSzPts val="1400"/>
              <a:buFont typeface="Google Sans"/>
              <a:buChar char="●"/>
              <a:defRPr>
                <a:latin typeface="Google Sans"/>
                <a:ea typeface="Google Sans"/>
                <a:cs typeface="Google Sans"/>
                <a:sym typeface="Google Sans"/>
              </a:defRPr>
            </a:lvl4pPr>
            <a:lvl5pPr indent="-317500" lvl="4" marL="2286000" rtl="0">
              <a:spcBef>
                <a:spcPts val="1600"/>
              </a:spcBef>
              <a:spcAft>
                <a:spcPts val="0"/>
              </a:spcAft>
              <a:buSzPts val="1400"/>
              <a:buFont typeface="Google Sans"/>
              <a:buChar char="○"/>
              <a:defRPr>
                <a:latin typeface="Google Sans"/>
                <a:ea typeface="Google Sans"/>
                <a:cs typeface="Google Sans"/>
                <a:sym typeface="Google Sans"/>
              </a:defRPr>
            </a:lvl5pPr>
            <a:lvl6pPr indent="-317500" lvl="5" marL="2743200" rtl="0">
              <a:spcBef>
                <a:spcPts val="1600"/>
              </a:spcBef>
              <a:spcAft>
                <a:spcPts val="0"/>
              </a:spcAft>
              <a:buSzPts val="1400"/>
              <a:buFont typeface="Google Sans"/>
              <a:buChar char="■"/>
              <a:defRPr>
                <a:latin typeface="Google Sans"/>
                <a:ea typeface="Google Sans"/>
                <a:cs typeface="Google Sans"/>
                <a:sym typeface="Google Sans"/>
              </a:defRPr>
            </a:lvl6pPr>
            <a:lvl7pPr indent="-317500" lvl="6" marL="3200400" rtl="0">
              <a:spcBef>
                <a:spcPts val="1600"/>
              </a:spcBef>
              <a:spcAft>
                <a:spcPts val="0"/>
              </a:spcAft>
              <a:buSzPts val="1400"/>
              <a:buFont typeface="Google Sans"/>
              <a:buChar char="●"/>
              <a:defRPr>
                <a:latin typeface="Google Sans"/>
                <a:ea typeface="Google Sans"/>
                <a:cs typeface="Google Sans"/>
                <a:sym typeface="Google Sans"/>
              </a:defRPr>
            </a:lvl7pPr>
            <a:lvl8pPr indent="-317500" lvl="7" marL="3657600" rtl="0">
              <a:spcBef>
                <a:spcPts val="1600"/>
              </a:spcBef>
              <a:spcAft>
                <a:spcPts val="0"/>
              </a:spcAft>
              <a:buSzPts val="1400"/>
              <a:buFont typeface="Google Sans"/>
              <a:buChar char="○"/>
              <a:defRPr>
                <a:latin typeface="Google Sans"/>
                <a:ea typeface="Google Sans"/>
                <a:cs typeface="Google Sans"/>
                <a:sym typeface="Google Sans"/>
              </a:defRPr>
            </a:lvl8pPr>
            <a:lvl9pPr indent="-317500" lvl="8" marL="4114800" rtl="0">
              <a:spcBef>
                <a:spcPts val="1600"/>
              </a:spcBef>
              <a:spcAft>
                <a:spcPts val="1600"/>
              </a:spcAft>
              <a:buSzPts val="1400"/>
              <a:buFont typeface="Google Sans"/>
              <a:buChar char="■"/>
              <a:defRPr>
                <a:latin typeface="Google Sans"/>
                <a:ea typeface="Google Sans"/>
                <a:cs typeface="Google Sans"/>
                <a:sym typeface="Google Sans"/>
              </a:defRPr>
            </a:lvl9pPr>
          </a:lstStyle>
          <a:p/>
        </p:txBody>
      </p:sp>
      <p:sp>
        <p:nvSpPr>
          <p:cNvPr id="116" name="Google Shape;116;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atin typeface="Google Sans"/>
                <a:ea typeface="Google Sans"/>
                <a:cs typeface="Google Sans"/>
                <a:sym typeface="Google Sans"/>
              </a:defRPr>
            </a:lvl1pPr>
            <a:lvl2pPr lvl="1" rtl="0">
              <a:buNone/>
              <a:defRPr>
                <a:latin typeface="Google Sans"/>
                <a:ea typeface="Google Sans"/>
                <a:cs typeface="Google Sans"/>
                <a:sym typeface="Google Sans"/>
              </a:defRPr>
            </a:lvl2pPr>
            <a:lvl3pPr lvl="2" rtl="0">
              <a:buNone/>
              <a:defRPr>
                <a:latin typeface="Google Sans"/>
                <a:ea typeface="Google Sans"/>
                <a:cs typeface="Google Sans"/>
                <a:sym typeface="Google Sans"/>
              </a:defRPr>
            </a:lvl3pPr>
            <a:lvl4pPr lvl="3" rtl="0">
              <a:buNone/>
              <a:defRPr>
                <a:latin typeface="Google Sans"/>
                <a:ea typeface="Google Sans"/>
                <a:cs typeface="Google Sans"/>
                <a:sym typeface="Google Sans"/>
              </a:defRPr>
            </a:lvl4pPr>
            <a:lvl5pPr lvl="4" rtl="0">
              <a:buNone/>
              <a:defRPr>
                <a:latin typeface="Google Sans"/>
                <a:ea typeface="Google Sans"/>
                <a:cs typeface="Google Sans"/>
                <a:sym typeface="Google Sans"/>
              </a:defRPr>
            </a:lvl5pPr>
            <a:lvl6pPr lvl="5" rtl="0">
              <a:buNone/>
              <a:defRPr>
                <a:latin typeface="Google Sans"/>
                <a:ea typeface="Google Sans"/>
                <a:cs typeface="Google Sans"/>
                <a:sym typeface="Google Sans"/>
              </a:defRPr>
            </a:lvl6pPr>
            <a:lvl7pPr lvl="6" rtl="0">
              <a:buNone/>
              <a:defRPr>
                <a:latin typeface="Google Sans"/>
                <a:ea typeface="Google Sans"/>
                <a:cs typeface="Google Sans"/>
                <a:sym typeface="Google Sans"/>
              </a:defRPr>
            </a:lvl7pPr>
            <a:lvl8pPr lvl="7" rtl="0">
              <a:buNone/>
              <a:defRPr>
                <a:latin typeface="Google Sans"/>
                <a:ea typeface="Google Sans"/>
                <a:cs typeface="Google Sans"/>
                <a:sym typeface="Google Sans"/>
              </a:defRPr>
            </a:lvl8pPr>
            <a:lvl9pPr lvl="8" rtl="0">
              <a:buNone/>
              <a:defRPr>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7" name="Shape 117"/>
        <p:cNvGrpSpPr/>
        <p:nvPr/>
      </p:nvGrpSpPr>
      <p:grpSpPr>
        <a:xfrm>
          <a:off x="0" y="0"/>
          <a:ext cx="0" cy="0"/>
          <a:chOff x="0" y="0"/>
          <a:chExt cx="0" cy="0"/>
        </a:xfrm>
      </p:grpSpPr>
      <p:sp>
        <p:nvSpPr>
          <p:cNvPr id="118" name="Google Shape;118;p27"/>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119" name="Google Shape;119;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0" name="Shape 120"/>
        <p:cNvGrpSpPr/>
        <p:nvPr/>
      </p:nvGrpSpPr>
      <p:grpSpPr>
        <a:xfrm>
          <a:off x="0" y="0"/>
          <a:ext cx="0" cy="0"/>
          <a:chOff x="0" y="0"/>
          <a:chExt cx="0" cy="0"/>
        </a:xfrm>
      </p:grpSpPr>
      <p:sp>
        <p:nvSpPr>
          <p:cNvPr id="121" name="Google Shape;121;p2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22" name="Google Shape;122;p28"/>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123" name="Google Shape;123;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4" name="Shape 124"/>
        <p:cNvGrpSpPr/>
        <p:nvPr/>
      </p:nvGrpSpPr>
      <p:grpSpPr>
        <a:xfrm>
          <a:off x="0" y="0"/>
          <a:ext cx="0" cy="0"/>
          <a:chOff x="0" y="0"/>
          <a:chExt cx="0" cy="0"/>
        </a:xfrm>
      </p:grpSpPr>
      <p:sp>
        <p:nvSpPr>
          <p:cNvPr id="125" name="Google Shape;125;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pt 1">
  <p:cSld name="SECTION_HEADER_3">
    <p:spTree>
      <p:nvGrpSpPr>
        <p:cNvPr id="126" name="Shape 126"/>
        <p:cNvGrpSpPr/>
        <p:nvPr/>
      </p:nvGrpSpPr>
      <p:grpSpPr>
        <a:xfrm>
          <a:off x="0" y="0"/>
          <a:ext cx="0" cy="0"/>
          <a:chOff x="0" y="0"/>
          <a:chExt cx="0" cy="0"/>
        </a:xfrm>
      </p:grpSpPr>
      <p:sp>
        <p:nvSpPr>
          <p:cNvPr id="127" name="Google Shape;127;p30"/>
          <p:cNvSpPr txBox="1"/>
          <p:nvPr>
            <p:ph type="title"/>
          </p:nvPr>
        </p:nvSpPr>
        <p:spPr>
          <a:xfrm>
            <a:off x="1084193" y="4760091"/>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9AA0A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8" name="Google Shape;128;p30"/>
          <p:cNvSpPr txBox="1"/>
          <p:nvPr>
            <p:ph idx="2" type="title"/>
          </p:nvPr>
        </p:nvSpPr>
        <p:spPr>
          <a:xfrm>
            <a:off x="1049225" y="1909300"/>
            <a:ext cx="3500400" cy="988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29" name="Google Shape;129;p30"/>
          <p:cNvSpPr txBox="1"/>
          <p:nvPr>
            <p:ph idx="1" type="subTitle"/>
          </p:nvPr>
        </p:nvSpPr>
        <p:spPr>
          <a:xfrm>
            <a:off x="1049226" y="2898150"/>
            <a:ext cx="3500400" cy="305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SECTION_HEADER_3_3">
    <p:spTree>
      <p:nvGrpSpPr>
        <p:cNvPr id="130" name="Shape 13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Opt 1">
  <p:cSld name="TITLE_AND_BODY_1">
    <p:bg>
      <p:bgPr>
        <a:solidFill>
          <a:srgbClr val="FFFFFF"/>
        </a:solidFill>
      </p:bgPr>
    </p:bg>
    <p:spTree>
      <p:nvGrpSpPr>
        <p:cNvPr id="131" name="Shape 131"/>
        <p:cNvGrpSpPr/>
        <p:nvPr/>
      </p:nvGrpSpPr>
      <p:grpSpPr>
        <a:xfrm>
          <a:off x="0" y="0"/>
          <a:ext cx="0" cy="0"/>
          <a:chOff x="0" y="0"/>
          <a:chExt cx="0" cy="0"/>
        </a:xfrm>
      </p:grpSpPr>
      <p:sp>
        <p:nvSpPr>
          <p:cNvPr id="132" name="Google Shape;132;p32"/>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33" name="Google Shape;133;p32"/>
          <p:cNvSpPr txBox="1"/>
          <p:nvPr>
            <p:ph idx="2" type="title"/>
          </p:nvPr>
        </p:nvSpPr>
        <p:spPr>
          <a:xfrm>
            <a:off x="417675" y="341875"/>
            <a:ext cx="7918200" cy="493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34" name="Google Shape;134;p32"/>
          <p:cNvSpPr txBox="1"/>
          <p:nvPr>
            <p:ph idx="1" type="subTitle"/>
          </p:nvPr>
        </p:nvSpPr>
        <p:spPr>
          <a:xfrm>
            <a:off x="417671" y="835791"/>
            <a:ext cx="7918200" cy="3563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None/>
              <a:defRPr sz="900">
                <a:solidFill>
                  <a:srgbClr val="606366"/>
                </a:solidFill>
                <a:latin typeface="Roboto Light"/>
                <a:ea typeface="Roboto Light"/>
                <a:cs typeface="Roboto Light"/>
                <a:sym typeface="Roboto Light"/>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sp>
        <p:nvSpPr>
          <p:cNvPr id="135" name="Google Shape;135;p32"/>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t 2">
  <p:cSld name="TITLE_AND_BODY_2">
    <p:bg>
      <p:bgPr>
        <a:solidFill>
          <a:srgbClr val="F8F9FA"/>
        </a:solidFill>
      </p:bgPr>
    </p:bg>
    <p:spTree>
      <p:nvGrpSpPr>
        <p:cNvPr id="136" name="Shape 136"/>
        <p:cNvGrpSpPr/>
        <p:nvPr/>
      </p:nvGrpSpPr>
      <p:grpSpPr>
        <a:xfrm>
          <a:off x="0" y="0"/>
          <a:ext cx="0" cy="0"/>
          <a:chOff x="0" y="0"/>
          <a:chExt cx="0" cy="0"/>
        </a:xfrm>
      </p:grpSpPr>
      <p:sp>
        <p:nvSpPr>
          <p:cNvPr id="137" name="Google Shape;137;p33"/>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38" name="Google Shape;138;p33"/>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139" name="Google Shape;139;p33"/>
          <p:cNvSpPr txBox="1"/>
          <p:nvPr>
            <p:ph idx="2" type="title"/>
          </p:nvPr>
        </p:nvSpPr>
        <p:spPr>
          <a:xfrm>
            <a:off x="1049225" y="1909300"/>
            <a:ext cx="7007700" cy="988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0" name="Google Shape;140;p33"/>
          <p:cNvSpPr txBox="1"/>
          <p:nvPr>
            <p:ph idx="1" type="subTitle"/>
          </p:nvPr>
        </p:nvSpPr>
        <p:spPr>
          <a:xfrm>
            <a:off x="1049226" y="2898150"/>
            <a:ext cx="3500400" cy="305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Opt 2">
  <p:cSld name="BLANK_1">
    <p:spTree>
      <p:nvGrpSpPr>
        <p:cNvPr id="141" name="Shape 141"/>
        <p:cNvGrpSpPr/>
        <p:nvPr/>
      </p:nvGrpSpPr>
      <p:grpSpPr>
        <a:xfrm>
          <a:off x="0" y="0"/>
          <a:ext cx="0" cy="0"/>
          <a:chOff x="0" y="0"/>
          <a:chExt cx="0" cy="0"/>
        </a:xfrm>
      </p:grpSpPr>
      <p:sp>
        <p:nvSpPr>
          <p:cNvPr id="142" name="Google Shape;142;p34"/>
          <p:cNvSpPr/>
          <p:nvPr/>
        </p:nvSpPr>
        <p:spPr>
          <a:xfrm>
            <a:off x="4572000" y="0"/>
            <a:ext cx="4572000" cy="51435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4"/>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4" name="Google Shape;144;p34"/>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145" name="Google Shape;145;p34"/>
          <p:cNvSpPr txBox="1"/>
          <p:nvPr>
            <p:ph idx="2" type="title"/>
          </p:nvPr>
        </p:nvSpPr>
        <p:spPr>
          <a:xfrm>
            <a:off x="417677" y="341875"/>
            <a:ext cx="3807900" cy="493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6" name="Google Shape;146;p34"/>
          <p:cNvSpPr txBox="1"/>
          <p:nvPr>
            <p:ph idx="1" type="subTitle"/>
          </p:nvPr>
        </p:nvSpPr>
        <p:spPr>
          <a:xfrm>
            <a:off x="417675" y="1076325"/>
            <a:ext cx="3807900" cy="3322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None/>
              <a:defRPr sz="1800">
                <a:solidFill>
                  <a:srgbClr val="606366"/>
                </a:solidFill>
                <a:latin typeface="Roboto Light"/>
                <a:ea typeface="Roboto Light"/>
                <a:cs typeface="Roboto Light"/>
                <a:sym typeface="Roboto Light"/>
              </a:defRPr>
            </a:lvl1pPr>
            <a:lvl2pPr lvl="1" rtl="0">
              <a:spcBef>
                <a:spcPts val="1600"/>
              </a:spcBef>
              <a:spcAft>
                <a:spcPts val="0"/>
              </a:spcAft>
              <a:buNone/>
              <a:defRPr sz="1800">
                <a:latin typeface="Google Sans"/>
                <a:ea typeface="Google Sans"/>
                <a:cs typeface="Google Sans"/>
                <a:sym typeface="Google Sans"/>
              </a:defRPr>
            </a:lvl2pPr>
            <a:lvl3pPr lvl="2" rtl="0">
              <a:spcBef>
                <a:spcPts val="1600"/>
              </a:spcBef>
              <a:spcAft>
                <a:spcPts val="0"/>
              </a:spcAft>
              <a:buNone/>
              <a:defRPr sz="1800">
                <a:latin typeface="Google Sans"/>
                <a:ea typeface="Google Sans"/>
                <a:cs typeface="Google Sans"/>
                <a:sym typeface="Google Sans"/>
              </a:defRPr>
            </a:lvl3pPr>
            <a:lvl4pPr lvl="3" rtl="0">
              <a:spcBef>
                <a:spcPts val="1600"/>
              </a:spcBef>
              <a:spcAft>
                <a:spcPts val="0"/>
              </a:spcAft>
              <a:buNone/>
              <a:defRPr sz="1800">
                <a:latin typeface="Google Sans"/>
                <a:ea typeface="Google Sans"/>
                <a:cs typeface="Google Sans"/>
                <a:sym typeface="Google Sans"/>
              </a:defRPr>
            </a:lvl4pPr>
            <a:lvl5pPr lvl="4" rtl="0">
              <a:spcBef>
                <a:spcPts val="1600"/>
              </a:spcBef>
              <a:spcAft>
                <a:spcPts val="0"/>
              </a:spcAft>
              <a:buNone/>
              <a:defRPr sz="1800">
                <a:latin typeface="Google Sans"/>
                <a:ea typeface="Google Sans"/>
                <a:cs typeface="Google Sans"/>
                <a:sym typeface="Google Sans"/>
              </a:defRPr>
            </a:lvl5pPr>
            <a:lvl6pPr lvl="5" rtl="0">
              <a:spcBef>
                <a:spcPts val="1600"/>
              </a:spcBef>
              <a:spcAft>
                <a:spcPts val="0"/>
              </a:spcAft>
              <a:buNone/>
              <a:defRPr sz="1800">
                <a:latin typeface="Google Sans"/>
                <a:ea typeface="Google Sans"/>
                <a:cs typeface="Google Sans"/>
                <a:sym typeface="Google Sans"/>
              </a:defRPr>
            </a:lvl6pPr>
            <a:lvl7pPr lvl="6" rtl="0">
              <a:spcBef>
                <a:spcPts val="1600"/>
              </a:spcBef>
              <a:spcAft>
                <a:spcPts val="0"/>
              </a:spcAft>
              <a:buNone/>
              <a:defRPr sz="1800">
                <a:latin typeface="Google Sans"/>
                <a:ea typeface="Google Sans"/>
                <a:cs typeface="Google Sans"/>
                <a:sym typeface="Google Sans"/>
              </a:defRPr>
            </a:lvl7pPr>
            <a:lvl8pPr lvl="7" rtl="0">
              <a:spcBef>
                <a:spcPts val="1600"/>
              </a:spcBef>
              <a:spcAft>
                <a:spcPts val="0"/>
              </a:spcAft>
              <a:buNone/>
              <a:defRPr sz="1800">
                <a:latin typeface="Google Sans"/>
                <a:ea typeface="Google Sans"/>
                <a:cs typeface="Google Sans"/>
                <a:sym typeface="Google Sans"/>
              </a:defRPr>
            </a:lvl8pPr>
            <a:lvl9pPr lvl="8" rtl="0">
              <a:spcBef>
                <a:spcPts val="1600"/>
              </a:spcBef>
              <a:spcAft>
                <a:spcPts val="1600"/>
              </a:spcAft>
              <a:buNone/>
              <a:defRPr sz="1800">
                <a:latin typeface="Google Sans"/>
                <a:ea typeface="Google Sans"/>
                <a:cs typeface="Google Sans"/>
                <a:sym typeface="Google Sans"/>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t 1">
  <p:cSld name="TITLE_AND_BODY_4">
    <p:bg>
      <p:bgPr>
        <a:solidFill>
          <a:srgbClr val="F8F9FA"/>
        </a:solidFill>
      </p:bgPr>
    </p:bg>
    <p:spTree>
      <p:nvGrpSpPr>
        <p:cNvPr id="147" name="Shape 147"/>
        <p:cNvGrpSpPr/>
        <p:nvPr/>
      </p:nvGrpSpPr>
      <p:grpSpPr>
        <a:xfrm>
          <a:off x="0" y="0"/>
          <a:ext cx="0" cy="0"/>
          <a:chOff x="0" y="0"/>
          <a:chExt cx="0" cy="0"/>
        </a:xfrm>
      </p:grpSpPr>
      <p:sp>
        <p:nvSpPr>
          <p:cNvPr id="148" name="Google Shape;148;p35"/>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49" name="Google Shape;149;p35"/>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150" name="Google Shape;150;p35"/>
          <p:cNvPicPr preferRelativeResize="0"/>
          <p:nvPr/>
        </p:nvPicPr>
        <p:blipFill rotWithShape="1">
          <a:blip r:embed="rId2">
            <a:alphaModFix/>
          </a:blip>
          <a:srcRect b="0" l="6332" r="0" t="44586"/>
          <a:stretch/>
        </p:blipFill>
        <p:spPr>
          <a:xfrm>
            <a:off x="0" y="0"/>
            <a:ext cx="2431776" cy="1220349"/>
          </a:xfrm>
          <a:prstGeom prst="rect">
            <a:avLst/>
          </a:prstGeom>
          <a:noFill/>
          <a:ln>
            <a:noFill/>
          </a:ln>
        </p:spPr>
      </p:pic>
      <p:sp>
        <p:nvSpPr>
          <p:cNvPr id="151" name="Google Shape;151;p35"/>
          <p:cNvSpPr txBox="1"/>
          <p:nvPr>
            <p:ph idx="2" type="title"/>
          </p:nvPr>
        </p:nvSpPr>
        <p:spPr>
          <a:xfrm>
            <a:off x="1049225" y="1909300"/>
            <a:ext cx="7007700" cy="988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2" name="Google Shape;152;p35"/>
          <p:cNvSpPr txBox="1"/>
          <p:nvPr>
            <p:ph idx="1" type="subTitle"/>
          </p:nvPr>
        </p:nvSpPr>
        <p:spPr>
          <a:xfrm>
            <a:off x="1049226" y="2898150"/>
            <a:ext cx="3500400" cy="305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600"/>
              </a:spcBef>
              <a:spcAft>
                <a:spcPts val="0"/>
              </a:spcAft>
              <a:buNone/>
              <a:defRPr>
                <a:solidFill>
                  <a:srgbClr val="606366"/>
                </a:solidFill>
                <a:latin typeface="Google Sans"/>
                <a:ea typeface="Google Sans"/>
                <a:cs typeface="Google Sans"/>
                <a:sym typeface="Google Sans"/>
              </a:defRPr>
            </a:lvl2pPr>
            <a:lvl3pPr lvl="2" rtl="0">
              <a:spcBef>
                <a:spcPts val="1600"/>
              </a:spcBef>
              <a:spcAft>
                <a:spcPts val="0"/>
              </a:spcAft>
              <a:buNone/>
              <a:defRPr>
                <a:solidFill>
                  <a:srgbClr val="606366"/>
                </a:solidFill>
                <a:latin typeface="Google Sans"/>
                <a:ea typeface="Google Sans"/>
                <a:cs typeface="Google Sans"/>
                <a:sym typeface="Google Sans"/>
              </a:defRPr>
            </a:lvl3pPr>
            <a:lvl4pPr lvl="3" rtl="0">
              <a:spcBef>
                <a:spcPts val="1600"/>
              </a:spcBef>
              <a:spcAft>
                <a:spcPts val="0"/>
              </a:spcAft>
              <a:buNone/>
              <a:defRPr>
                <a:solidFill>
                  <a:srgbClr val="606366"/>
                </a:solidFill>
                <a:latin typeface="Google Sans"/>
                <a:ea typeface="Google Sans"/>
                <a:cs typeface="Google Sans"/>
                <a:sym typeface="Google Sans"/>
              </a:defRPr>
            </a:lvl4pPr>
            <a:lvl5pPr lvl="4" rtl="0">
              <a:spcBef>
                <a:spcPts val="1600"/>
              </a:spcBef>
              <a:spcAft>
                <a:spcPts val="0"/>
              </a:spcAft>
              <a:buNone/>
              <a:defRPr>
                <a:solidFill>
                  <a:srgbClr val="606366"/>
                </a:solidFill>
                <a:latin typeface="Google Sans"/>
                <a:ea typeface="Google Sans"/>
                <a:cs typeface="Google Sans"/>
                <a:sym typeface="Google Sans"/>
              </a:defRPr>
            </a:lvl5pPr>
            <a:lvl6pPr lvl="5" rtl="0">
              <a:spcBef>
                <a:spcPts val="1600"/>
              </a:spcBef>
              <a:spcAft>
                <a:spcPts val="0"/>
              </a:spcAft>
              <a:buNone/>
              <a:defRPr>
                <a:solidFill>
                  <a:srgbClr val="606366"/>
                </a:solidFill>
                <a:latin typeface="Google Sans"/>
                <a:ea typeface="Google Sans"/>
                <a:cs typeface="Google Sans"/>
                <a:sym typeface="Google Sans"/>
              </a:defRPr>
            </a:lvl6pPr>
            <a:lvl7pPr lvl="6" rtl="0">
              <a:spcBef>
                <a:spcPts val="1600"/>
              </a:spcBef>
              <a:spcAft>
                <a:spcPts val="0"/>
              </a:spcAft>
              <a:buNone/>
              <a:defRPr>
                <a:solidFill>
                  <a:srgbClr val="606366"/>
                </a:solidFill>
                <a:latin typeface="Google Sans"/>
                <a:ea typeface="Google Sans"/>
                <a:cs typeface="Google Sans"/>
                <a:sym typeface="Google Sans"/>
              </a:defRPr>
            </a:lvl7pPr>
            <a:lvl8pPr lvl="7" rtl="0">
              <a:spcBef>
                <a:spcPts val="1600"/>
              </a:spcBef>
              <a:spcAft>
                <a:spcPts val="0"/>
              </a:spcAft>
              <a:buNone/>
              <a:defRPr>
                <a:solidFill>
                  <a:srgbClr val="606366"/>
                </a:solidFill>
                <a:latin typeface="Google Sans"/>
                <a:ea typeface="Google Sans"/>
                <a:cs typeface="Google Sans"/>
                <a:sym typeface="Google Sans"/>
              </a:defRPr>
            </a:lvl8pPr>
            <a:lvl9pPr lvl="8" rtl="0">
              <a:spcBef>
                <a:spcPts val="1600"/>
              </a:spcBef>
              <a:spcAft>
                <a:spcPts val="1600"/>
              </a:spcAft>
              <a:buNone/>
              <a:defRPr>
                <a:solidFill>
                  <a:srgbClr val="606366"/>
                </a:solidFill>
                <a:latin typeface="Google Sans"/>
                <a:ea typeface="Google Sans"/>
                <a:cs typeface="Google Sans"/>
                <a:sym typeface="Google Sans"/>
              </a:defRPr>
            </a:lvl9pPr>
          </a:lstStyle>
          <a:p/>
        </p:txBody>
      </p:sp>
      <p:pic>
        <p:nvPicPr>
          <p:cNvPr id="153" name="Google Shape;153;p35"/>
          <p:cNvPicPr preferRelativeResize="0"/>
          <p:nvPr/>
        </p:nvPicPr>
        <p:blipFill rotWithShape="1">
          <a:blip r:embed="rId3">
            <a:alphaModFix/>
          </a:blip>
          <a:srcRect b="0" l="8223" r="0" t="0"/>
          <a:stretch/>
        </p:blipFill>
        <p:spPr>
          <a:xfrm>
            <a:off x="8189763" y="191216"/>
            <a:ext cx="806025" cy="2301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t 3">
  <p:cSld name="TITLE_AND_BODY_3">
    <p:bg>
      <p:bgPr>
        <a:solidFill>
          <a:srgbClr val="F8F9FA"/>
        </a:solidFill>
      </p:bgPr>
    </p:bg>
    <p:spTree>
      <p:nvGrpSpPr>
        <p:cNvPr id="154" name="Shape 154"/>
        <p:cNvGrpSpPr/>
        <p:nvPr/>
      </p:nvGrpSpPr>
      <p:grpSpPr>
        <a:xfrm>
          <a:off x="0" y="0"/>
          <a:ext cx="0" cy="0"/>
          <a:chOff x="0" y="0"/>
          <a:chExt cx="0" cy="0"/>
        </a:xfrm>
      </p:grpSpPr>
      <p:sp>
        <p:nvSpPr>
          <p:cNvPr id="155" name="Google Shape;155;p36"/>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6" name="Google Shape;156;p36"/>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157" name="Google Shape;157;p36"/>
          <p:cNvPicPr preferRelativeResize="0"/>
          <p:nvPr/>
        </p:nvPicPr>
        <p:blipFill>
          <a:blip r:embed="rId2">
            <a:alphaModFix/>
          </a:blip>
          <a:stretch>
            <a:fillRect/>
          </a:stretch>
        </p:blipFill>
        <p:spPr>
          <a:xfrm>
            <a:off x="39775" y="66250"/>
            <a:ext cx="2008061" cy="1247951"/>
          </a:xfrm>
          <a:prstGeom prst="rect">
            <a:avLst/>
          </a:prstGeom>
          <a:noFill/>
          <a:ln>
            <a:noFill/>
          </a:ln>
        </p:spPr>
      </p:pic>
      <p:sp>
        <p:nvSpPr>
          <p:cNvPr id="158" name="Google Shape;158;p36"/>
          <p:cNvSpPr txBox="1"/>
          <p:nvPr>
            <p:ph idx="2" type="title"/>
          </p:nvPr>
        </p:nvSpPr>
        <p:spPr>
          <a:xfrm>
            <a:off x="1049225" y="1909300"/>
            <a:ext cx="7007700" cy="988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59" name="Google Shape;159;p36"/>
          <p:cNvSpPr txBox="1"/>
          <p:nvPr>
            <p:ph idx="1" type="subTitle"/>
          </p:nvPr>
        </p:nvSpPr>
        <p:spPr>
          <a:xfrm>
            <a:off x="1049226" y="2898150"/>
            <a:ext cx="3500400" cy="305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Opt 3">
  <p:cSld name="BLANK_2">
    <p:spTree>
      <p:nvGrpSpPr>
        <p:cNvPr id="160" name="Shape 160"/>
        <p:cNvGrpSpPr/>
        <p:nvPr/>
      </p:nvGrpSpPr>
      <p:grpSpPr>
        <a:xfrm>
          <a:off x="0" y="0"/>
          <a:ext cx="0" cy="0"/>
          <a:chOff x="0" y="0"/>
          <a:chExt cx="0" cy="0"/>
        </a:xfrm>
      </p:grpSpPr>
      <p:sp>
        <p:nvSpPr>
          <p:cNvPr id="161" name="Google Shape;161;p37"/>
          <p:cNvSpPr/>
          <p:nvPr/>
        </p:nvSpPr>
        <p:spPr>
          <a:xfrm>
            <a:off x="2905275" y="0"/>
            <a:ext cx="6238800" cy="5143500"/>
          </a:xfrm>
          <a:prstGeom prst="rect">
            <a:avLst/>
          </a:prstGeom>
          <a:solidFill>
            <a:srgbClr val="F8F9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7"/>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3" name="Google Shape;163;p37"/>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164" name="Google Shape;164;p37"/>
          <p:cNvSpPr txBox="1"/>
          <p:nvPr>
            <p:ph idx="2" type="title"/>
          </p:nvPr>
        </p:nvSpPr>
        <p:spPr>
          <a:xfrm>
            <a:off x="417673" y="341875"/>
            <a:ext cx="2235000" cy="493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2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5" name="Google Shape;165;p37"/>
          <p:cNvSpPr txBox="1"/>
          <p:nvPr>
            <p:ph idx="1" type="subTitle"/>
          </p:nvPr>
        </p:nvSpPr>
        <p:spPr>
          <a:xfrm>
            <a:off x="417672" y="835792"/>
            <a:ext cx="2235000" cy="3563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None/>
              <a:defRPr sz="900">
                <a:solidFill>
                  <a:srgbClr val="606366"/>
                </a:solidFill>
                <a:latin typeface="Roboto Light"/>
                <a:ea typeface="Roboto Light"/>
                <a:cs typeface="Roboto Light"/>
                <a:sym typeface="Roboto Light"/>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t 2 1">
  <p:cSld name="TITLE_AND_BODY_5">
    <p:bg>
      <p:bgPr>
        <a:solidFill>
          <a:srgbClr val="F8F9FA"/>
        </a:solidFill>
      </p:bgPr>
    </p:bg>
    <p:spTree>
      <p:nvGrpSpPr>
        <p:cNvPr id="166" name="Shape 166"/>
        <p:cNvGrpSpPr/>
        <p:nvPr/>
      </p:nvGrpSpPr>
      <p:grpSpPr>
        <a:xfrm>
          <a:off x="0" y="0"/>
          <a:ext cx="0" cy="0"/>
          <a:chOff x="0" y="0"/>
          <a:chExt cx="0" cy="0"/>
        </a:xfrm>
      </p:grpSpPr>
      <p:sp>
        <p:nvSpPr>
          <p:cNvPr id="167" name="Google Shape;167;p38"/>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Clr>
                <a:srgbClr val="000000"/>
              </a:buClr>
              <a:buSzPts val="1200"/>
              <a:buFont typeface="Arial"/>
              <a:buNone/>
              <a:defRPr sz="700">
                <a:solidFill>
                  <a:srgbClr val="606366"/>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68" name="Google Shape;168;p38"/>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lvl1pPr indent="0" lvl="0"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1pPr>
            <a:lvl2pPr indent="0" lvl="1"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2pPr>
            <a:lvl3pPr indent="0" lvl="2"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3pPr>
            <a:lvl4pPr indent="0" lvl="3"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4pPr>
            <a:lvl5pPr indent="0" lvl="4"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5pPr>
            <a:lvl6pPr indent="0" lvl="5"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6pPr>
            <a:lvl7pPr indent="0" lvl="6"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7pPr>
            <a:lvl8pPr indent="0" lvl="7"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8pPr>
            <a:lvl9pPr indent="0" lvl="8" marL="0" marR="0" rtl="0">
              <a:lnSpc>
                <a:spcPct val="100000"/>
              </a:lnSpc>
              <a:spcBef>
                <a:spcPts val="0"/>
              </a:spcBef>
              <a:spcAft>
                <a:spcPts val="0"/>
              </a:spcAft>
              <a:buNone/>
              <a:defRPr sz="700">
                <a:solidFill>
                  <a:srgbClr val="606366"/>
                </a:solidFill>
                <a:latin typeface="Google Sans"/>
                <a:ea typeface="Google Sans"/>
                <a:cs typeface="Google Sans"/>
                <a:sym typeface="Google Sans"/>
              </a:defRPr>
            </a:lvl9p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169" name="Google Shape;169;p38"/>
          <p:cNvPicPr preferRelativeResize="0"/>
          <p:nvPr/>
        </p:nvPicPr>
        <p:blipFill rotWithShape="1">
          <a:blip r:embed="rId2">
            <a:alphaModFix/>
          </a:blip>
          <a:srcRect b="64407" l="-1041" r="3746" t="-3192"/>
          <a:stretch/>
        </p:blipFill>
        <p:spPr>
          <a:xfrm rot="10800000">
            <a:off x="615195" y="0"/>
            <a:ext cx="2321350" cy="925400"/>
          </a:xfrm>
          <a:prstGeom prst="rect">
            <a:avLst/>
          </a:prstGeom>
          <a:noFill/>
          <a:ln>
            <a:noFill/>
          </a:ln>
        </p:spPr>
      </p:pic>
      <p:sp>
        <p:nvSpPr>
          <p:cNvPr id="170" name="Google Shape;170;p38"/>
          <p:cNvSpPr txBox="1"/>
          <p:nvPr>
            <p:ph idx="2" type="title"/>
          </p:nvPr>
        </p:nvSpPr>
        <p:spPr>
          <a:xfrm>
            <a:off x="1049225" y="1909300"/>
            <a:ext cx="7007700" cy="988800"/>
          </a:xfrm>
          <a:prstGeom prst="rect">
            <a:avLst/>
          </a:prstGeom>
        </p:spPr>
        <p:txBody>
          <a:bodyPr anchorCtr="0" anchor="t" bIns="91425" lIns="91425" spcFirstLastPara="1" rIns="91425" wrap="square" tIns="91425">
            <a:noAutofit/>
          </a:bodyPr>
          <a:lstStyle>
            <a:lvl1pPr lvl="0" rtl="0">
              <a:spcBef>
                <a:spcPts val="0"/>
              </a:spcBef>
              <a:spcAft>
                <a:spcPts val="0"/>
              </a:spcAft>
              <a:buNone/>
              <a:defRPr b="1" sz="3000">
                <a:solidFill>
                  <a:srgbClr val="202124"/>
                </a:solidFill>
                <a:latin typeface="Google Sans"/>
                <a:ea typeface="Google Sans"/>
                <a:cs typeface="Google Sans"/>
                <a:sym typeface="Google Sans"/>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171" name="Google Shape;171;p38"/>
          <p:cNvSpPr txBox="1"/>
          <p:nvPr>
            <p:ph idx="1" type="subTitle"/>
          </p:nvPr>
        </p:nvSpPr>
        <p:spPr>
          <a:xfrm>
            <a:off x="1049226" y="2898150"/>
            <a:ext cx="3500400" cy="305100"/>
          </a:xfrm>
          <a:prstGeom prst="rect">
            <a:avLst/>
          </a:prstGeom>
        </p:spPr>
        <p:txBody>
          <a:bodyPr anchorCtr="0" anchor="t" bIns="91425" lIns="91425" spcFirstLastPara="1" rIns="91425" wrap="square" tIns="91425">
            <a:noAutofit/>
          </a:bodyPr>
          <a:lstStyle>
            <a:lvl1pPr lvl="0" rtl="0">
              <a:spcBef>
                <a:spcPts val="0"/>
              </a:spcBef>
              <a:spcAft>
                <a:spcPts val="0"/>
              </a:spcAft>
              <a:buNone/>
              <a:defRPr sz="900">
                <a:solidFill>
                  <a:srgbClr val="606366"/>
                </a:solidFill>
                <a:latin typeface="Google Sans"/>
                <a:ea typeface="Google Sans"/>
                <a:cs typeface="Google Sans"/>
                <a:sym typeface="Google Sans"/>
              </a:defRPr>
            </a:lvl1pPr>
            <a:lvl2pPr lvl="1" rtl="0">
              <a:spcBef>
                <a:spcPts val="1600"/>
              </a:spcBef>
              <a:spcAft>
                <a:spcPts val="0"/>
              </a:spcAft>
              <a:buNone/>
              <a:defRPr>
                <a:latin typeface="Google Sans"/>
                <a:ea typeface="Google Sans"/>
                <a:cs typeface="Google Sans"/>
                <a:sym typeface="Google Sans"/>
              </a:defRPr>
            </a:lvl2pPr>
            <a:lvl3pPr lvl="2" rtl="0">
              <a:spcBef>
                <a:spcPts val="1600"/>
              </a:spcBef>
              <a:spcAft>
                <a:spcPts val="0"/>
              </a:spcAft>
              <a:buNone/>
              <a:defRPr>
                <a:latin typeface="Google Sans"/>
                <a:ea typeface="Google Sans"/>
                <a:cs typeface="Google Sans"/>
                <a:sym typeface="Google Sans"/>
              </a:defRPr>
            </a:lvl3pPr>
            <a:lvl4pPr lvl="3" rtl="0">
              <a:spcBef>
                <a:spcPts val="1600"/>
              </a:spcBef>
              <a:spcAft>
                <a:spcPts val="0"/>
              </a:spcAft>
              <a:buNone/>
              <a:defRPr>
                <a:latin typeface="Google Sans"/>
                <a:ea typeface="Google Sans"/>
                <a:cs typeface="Google Sans"/>
                <a:sym typeface="Google Sans"/>
              </a:defRPr>
            </a:lvl4pPr>
            <a:lvl5pPr lvl="4" rtl="0">
              <a:spcBef>
                <a:spcPts val="1600"/>
              </a:spcBef>
              <a:spcAft>
                <a:spcPts val="0"/>
              </a:spcAft>
              <a:buNone/>
              <a:defRPr>
                <a:latin typeface="Google Sans"/>
                <a:ea typeface="Google Sans"/>
                <a:cs typeface="Google Sans"/>
                <a:sym typeface="Google Sans"/>
              </a:defRPr>
            </a:lvl5pPr>
            <a:lvl6pPr lvl="5" rtl="0">
              <a:spcBef>
                <a:spcPts val="1600"/>
              </a:spcBef>
              <a:spcAft>
                <a:spcPts val="0"/>
              </a:spcAft>
              <a:buNone/>
              <a:defRPr>
                <a:latin typeface="Google Sans"/>
                <a:ea typeface="Google Sans"/>
                <a:cs typeface="Google Sans"/>
                <a:sym typeface="Google Sans"/>
              </a:defRPr>
            </a:lvl6pPr>
            <a:lvl7pPr lvl="6" rtl="0">
              <a:spcBef>
                <a:spcPts val="1600"/>
              </a:spcBef>
              <a:spcAft>
                <a:spcPts val="0"/>
              </a:spcAft>
              <a:buNone/>
              <a:defRPr>
                <a:latin typeface="Google Sans"/>
                <a:ea typeface="Google Sans"/>
                <a:cs typeface="Google Sans"/>
                <a:sym typeface="Google Sans"/>
              </a:defRPr>
            </a:lvl7pPr>
            <a:lvl8pPr lvl="7" rtl="0">
              <a:spcBef>
                <a:spcPts val="1600"/>
              </a:spcBef>
              <a:spcAft>
                <a:spcPts val="0"/>
              </a:spcAft>
              <a:buNone/>
              <a:defRPr>
                <a:latin typeface="Google Sans"/>
                <a:ea typeface="Google Sans"/>
                <a:cs typeface="Google Sans"/>
                <a:sym typeface="Google Sans"/>
              </a:defRPr>
            </a:lvl8pPr>
            <a:lvl9pPr lvl="8" rtl="0">
              <a:spcBef>
                <a:spcPts val="1600"/>
              </a:spcBef>
              <a:spcAft>
                <a:spcPts val="1600"/>
              </a:spcAft>
              <a:buNone/>
              <a:defRPr>
                <a:latin typeface="Google Sans"/>
                <a:ea typeface="Google Sans"/>
                <a:cs typeface="Google Sans"/>
                <a:sym typeface="Google Sans"/>
              </a:defRPr>
            </a:lvl9pPr>
          </a:lstStyle>
          <a:p/>
        </p:txBody>
      </p:sp>
      <p:pic>
        <p:nvPicPr>
          <p:cNvPr id="172" name="Google Shape;172;p38"/>
          <p:cNvPicPr preferRelativeResize="0"/>
          <p:nvPr/>
        </p:nvPicPr>
        <p:blipFill rotWithShape="1">
          <a:blip r:embed="rId3">
            <a:alphaModFix/>
          </a:blip>
          <a:srcRect b="0" l="8223" r="0" t="0"/>
          <a:stretch/>
        </p:blipFill>
        <p:spPr>
          <a:xfrm>
            <a:off x="8189763" y="191216"/>
            <a:ext cx="806025" cy="2301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6.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21" Type="http://schemas.openxmlformats.org/officeDocument/2006/relationships/theme" Target="../theme/theme2.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5" Type="http://schemas.openxmlformats.org/officeDocument/2006/relationships/slideLayout" Target="../slideLayouts/slideLayout21.xml"/><Relationship Id="rId19" Type="http://schemas.openxmlformats.org/officeDocument/2006/relationships/slideLayout" Target="../slideLayouts/slideLayout35.xml"/><Relationship Id="rId6" Type="http://schemas.openxmlformats.org/officeDocument/2006/relationships/slideLayout" Target="../slideLayouts/slideLayout22.xml"/><Relationship Id="rId18" Type="http://schemas.openxmlformats.org/officeDocument/2006/relationships/slideLayout" Target="../slideLayouts/slideLayout34.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1pPr>
            <a:lvl2pPr lvl="1"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2pPr>
            <a:lvl3pPr lvl="2"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3pPr>
            <a:lvl4pPr lvl="3"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4pPr>
            <a:lvl5pPr lvl="4"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5pPr>
            <a:lvl6pPr lvl="5"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6pPr>
            <a:lvl7pPr lvl="6"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7pPr>
            <a:lvl8pPr lvl="7"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8pPr>
            <a:lvl9pPr lvl="8" rtl="0">
              <a:spcBef>
                <a:spcPts val="0"/>
              </a:spcBef>
              <a:spcAft>
                <a:spcPts val="0"/>
              </a:spcAft>
              <a:buClr>
                <a:schemeClr val="dk1"/>
              </a:buClr>
              <a:buSzPts val="2800"/>
              <a:buFont typeface="Google Sans"/>
              <a:buNone/>
              <a:defRPr sz="2800">
                <a:solidFill>
                  <a:schemeClr val="dk1"/>
                </a:solidFill>
                <a:latin typeface="Google Sans"/>
                <a:ea typeface="Google Sans"/>
                <a:cs typeface="Google Sans"/>
                <a:sym typeface="Google Sans"/>
              </a:defRPr>
            </a:lvl9pPr>
          </a:lstStyle>
          <a:p/>
        </p:txBody>
      </p:sp>
      <p:sp>
        <p:nvSpPr>
          <p:cNvPr id="83" name="Google Shape;83;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indent="-317500" lvl="1" marL="9144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indent="-317500" lvl="2" marL="13716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indent="-317500" lvl="3" marL="18288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indent="-317500" lvl="4" marL="22860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indent="-317500" lvl="5" marL="27432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indent="-317500" lvl="6" marL="32004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indent="-317500" lvl="7" marL="3657600" rtl="0">
              <a:lnSpc>
                <a:spcPct val="115000"/>
              </a:lnSpc>
              <a:spcBef>
                <a:spcPts val="160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indent="-317500" lvl="8" marL="4114800" rtl="0">
              <a:lnSpc>
                <a:spcPct val="115000"/>
              </a:lnSpc>
              <a:spcBef>
                <a:spcPts val="1600"/>
              </a:spcBef>
              <a:spcAft>
                <a:spcPts val="1600"/>
              </a:spcAft>
              <a:buClr>
                <a:schemeClr val="dk2"/>
              </a:buClr>
              <a:buSzPts val="1400"/>
              <a:buFont typeface="Google Sans"/>
              <a:buChar char="■"/>
              <a:defRPr>
                <a:solidFill>
                  <a:schemeClr val="dk2"/>
                </a:solidFill>
                <a:latin typeface="Google Sans"/>
                <a:ea typeface="Google Sans"/>
                <a:cs typeface="Google Sans"/>
                <a:sym typeface="Google Sans"/>
              </a:defRPr>
            </a:lvl9pPr>
          </a:lstStyle>
          <a:p/>
        </p:txBody>
      </p:sp>
      <p:sp>
        <p:nvSpPr>
          <p:cNvPr id="84" name="Google Shape;84;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Google Sans"/>
                <a:ea typeface="Google Sans"/>
                <a:cs typeface="Google Sans"/>
                <a:sym typeface="Google Sans"/>
              </a:defRPr>
            </a:lvl1pPr>
            <a:lvl2pPr lvl="1" rtl="0" algn="r">
              <a:buNone/>
              <a:defRPr sz="1000">
                <a:solidFill>
                  <a:schemeClr val="dk2"/>
                </a:solidFill>
                <a:latin typeface="Google Sans"/>
                <a:ea typeface="Google Sans"/>
                <a:cs typeface="Google Sans"/>
                <a:sym typeface="Google Sans"/>
              </a:defRPr>
            </a:lvl2pPr>
            <a:lvl3pPr lvl="2" rtl="0" algn="r">
              <a:buNone/>
              <a:defRPr sz="1000">
                <a:solidFill>
                  <a:schemeClr val="dk2"/>
                </a:solidFill>
                <a:latin typeface="Google Sans"/>
                <a:ea typeface="Google Sans"/>
                <a:cs typeface="Google Sans"/>
                <a:sym typeface="Google Sans"/>
              </a:defRPr>
            </a:lvl3pPr>
            <a:lvl4pPr lvl="3" rtl="0" algn="r">
              <a:buNone/>
              <a:defRPr sz="1000">
                <a:solidFill>
                  <a:schemeClr val="dk2"/>
                </a:solidFill>
                <a:latin typeface="Google Sans"/>
                <a:ea typeface="Google Sans"/>
                <a:cs typeface="Google Sans"/>
                <a:sym typeface="Google Sans"/>
              </a:defRPr>
            </a:lvl4pPr>
            <a:lvl5pPr lvl="4" rtl="0" algn="r">
              <a:buNone/>
              <a:defRPr sz="1000">
                <a:solidFill>
                  <a:schemeClr val="dk2"/>
                </a:solidFill>
                <a:latin typeface="Google Sans"/>
                <a:ea typeface="Google Sans"/>
                <a:cs typeface="Google Sans"/>
                <a:sym typeface="Google Sans"/>
              </a:defRPr>
            </a:lvl5pPr>
            <a:lvl6pPr lvl="5" rtl="0" algn="r">
              <a:buNone/>
              <a:defRPr sz="1000">
                <a:solidFill>
                  <a:schemeClr val="dk2"/>
                </a:solidFill>
                <a:latin typeface="Google Sans"/>
                <a:ea typeface="Google Sans"/>
                <a:cs typeface="Google Sans"/>
                <a:sym typeface="Google Sans"/>
              </a:defRPr>
            </a:lvl6pPr>
            <a:lvl7pPr lvl="6" rtl="0" algn="r">
              <a:buNone/>
              <a:defRPr sz="1000">
                <a:solidFill>
                  <a:schemeClr val="dk2"/>
                </a:solidFill>
                <a:latin typeface="Google Sans"/>
                <a:ea typeface="Google Sans"/>
                <a:cs typeface="Google Sans"/>
                <a:sym typeface="Google Sans"/>
              </a:defRPr>
            </a:lvl7pPr>
            <a:lvl8pPr lvl="7" rtl="0" algn="r">
              <a:buNone/>
              <a:defRPr sz="1000">
                <a:solidFill>
                  <a:schemeClr val="dk2"/>
                </a:solidFill>
                <a:latin typeface="Google Sans"/>
                <a:ea typeface="Google Sans"/>
                <a:cs typeface="Google Sans"/>
                <a:sym typeface="Google Sans"/>
              </a:defRPr>
            </a:lvl8pPr>
            <a:lvl9pPr lvl="8" rtl="0" algn="r">
              <a:buNone/>
              <a:defRPr sz="1000">
                <a:solidFill>
                  <a:schemeClr val="dk2"/>
                </a:solidFill>
                <a:latin typeface="Google Sans"/>
                <a:ea typeface="Google Sans"/>
                <a:cs typeface="Google Sans"/>
                <a:sym typeface="Google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exalemi.com" TargetMode="External"/><Relationship Id="rId4" Type="http://schemas.openxmlformats.org/officeDocument/2006/relationships/hyperlink" Target="https://youtu.be/WsLsEc-p3ww" TargetMode="External"/><Relationship Id="rId5" Type="http://schemas.openxmlformats.org/officeDocument/2006/relationships/hyperlink" Target="https://youtu.be/hwZU-O0_12g" TargetMode="External"/><Relationship Id="rId6" Type="http://schemas.openxmlformats.org/officeDocument/2006/relationships/hyperlink" Target="https://youtu.be/NYcJwXhVhuI" TargetMode="External"/><Relationship Id="rId7" Type="http://schemas.openxmlformats.org/officeDocument/2006/relationships/hyperlink" Target="https://drive.google.com/file/d/1VdFc41xtayn6YY-ZsHlbOBSCEabmNRXs/view?usp=sharing" TargetMode="External"/><Relationship Id="rId8" Type="http://schemas.openxmlformats.org/officeDocument/2006/relationships/hyperlink" Target="https://drive.google.com/file/d/1jPUhUS5T2rgyx5Dlt74g4_MwX8vrBi2I/view?usp=sharin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hyperlink" Target="https://twitter.com/FrnkNlsn/status/1373544650695352320" TargetMode="External"/><Relationship Id="rId6"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4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4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59.png"/><Relationship Id="rId4" Type="http://schemas.openxmlformats.org/officeDocument/2006/relationships/image" Target="../media/image41.png"/><Relationship Id="rId5" Type="http://schemas.openxmlformats.org/officeDocument/2006/relationships/image" Target="../media/image22.png"/><Relationship Id="rId6"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5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4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42.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4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3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37.png"/><Relationship Id="rId4" Type="http://schemas.openxmlformats.org/officeDocument/2006/relationships/image" Target="../media/image54.png"/><Relationship Id="rId5" Type="http://schemas.openxmlformats.org/officeDocument/2006/relationships/image" Target="../media/image35.png"/><Relationship Id="rId6"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40.png"/><Relationship Id="rId4" Type="http://schemas.openxmlformats.org/officeDocument/2006/relationships/image" Target="../media/image37.png"/><Relationship Id="rId5" Type="http://schemas.openxmlformats.org/officeDocument/2006/relationships/image" Target="../media/image54.png"/><Relationship Id="rId6" Type="http://schemas.openxmlformats.org/officeDocument/2006/relationships/image" Target="../media/image35.png"/><Relationship Id="rId7" Type="http://schemas.openxmlformats.org/officeDocument/2006/relationships/image" Target="../media/image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61.png"/><Relationship Id="rId4" Type="http://schemas.openxmlformats.org/officeDocument/2006/relationships/image" Target="../media/image37.png"/><Relationship Id="rId5" Type="http://schemas.openxmlformats.org/officeDocument/2006/relationships/image" Target="../media/image54.png"/><Relationship Id="rId6" Type="http://schemas.openxmlformats.org/officeDocument/2006/relationships/image" Target="../media/image35.png"/><Relationship Id="rId7"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62.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8.png"/><Relationship Id="rId7"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52.png"/><Relationship Id="rId4" Type="http://schemas.openxmlformats.org/officeDocument/2006/relationships/image" Target="../media/image47.png"/><Relationship Id="rId5"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62.png"/><Relationship Id="rId4" Type="http://schemas.openxmlformats.org/officeDocument/2006/relationships/image" Target="../media/image7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62.png"/><Relationship Id="rId4" Type="http://schemas.openxmlformats.org/officeDocument/2006/relationships/image" Target="../media/image65.png"/><Relationship Id="rId5"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5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104.png"/><Relationship Id="rId4" Type="http://schemas.openxmlformats.org/officeDocument/2006/relationships/image" Target="../media/image55.png"/><Relationship Id="rId5" Type="http://schemas.openxmlformats.org/officeDocument/2006/relationships/image" Target="../media/image70.png"/><Relationship Id="rId6" Type="http://schemas.openxmlformats.org/officeDocument/2006/relationships/image" Target="../media/image8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78.png"/><Relationship Id="rId4" Type="http://schemas.openxmlformats.org/officeDocument/2006/relationships/image" Target="../media/image62.png"/><Relationship Id="rId5" Type="http://schemas.openxmlformats.org/officeDocument/2006/relationships/image" Target="../media/image6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8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64.png"/><Relationship Id="rId4" Type="http://schemas.openxmlformats.org/officeDocument/2006/relationships/image" Target="../media/image80.png"/><Relationship Id="rId5" Type="http://schemas.openxmlformats.org/officeDocument/2006/relationships/image" Target="../media/image84.png"/><Relationship Id="rId6" Type="http://schemas.openxmlformats.org/officeDocument/2006/relationships/image" Target="../media/image69.png"/><Relationship Id="rId7" Type="http://schemas.openxmlformats.org/officeDocument/2006/relationships/image" Target="../media/image92.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63.png"/><Relationship Id="rId4" Type="http://schemas.openxmlformats.org/officeDocument/2006/relationships/image" Target="../media/image69.png"/><Relationship Id="rId5" Type="http://schemas.openxmlformats.org/officeDocument/2006/relationships/image" Target="../media/image7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7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9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67.png"/><Relationship Id="rId4" Type="http://schemas.openxmlformats.org/officeDocument/2006/relationships/image" Target="../media/image88.png"/><Relationship Id="rId5" Type="http://schemas.openxmlformats.org/officeDocument/2006/relationships/image" Target="../media/image9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1.xml"/><Relationship Id="rId3" Type="http://schemas.openxmlformats.org/officeDocument/2006/relationships/hyperlink" Target="http://drive.google.com/file/d/1ebPYBWafmmNTRhgyLI1pKMpO0AhLqElc/view" TargetMode="External"/><Relationship Id="rId4" Type="http://schemas.openxmlformats.org/officeDocument/2006/relationships/image" Target="../media/image66.png"/><Relationship Id="rId5" Type="http://schemas.openxmlformats.org/officeDocument/2006/relationships/hyperlink" Target="https://twitter.com/ari_seff/status/1303741288911638530"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91.png"/><Relationship Id="rId4" Type="http://schemas.openxmlformats.org/officeDocument/2006/relationships/image" Target="../media/image75.png"/><Relationship Id="rId5" Type="http://schemas.openxmlformats.org/officeDocument/2006/relationships/image" Target="../media/image9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106.png"/><Relationship Id="rId4" Type="http://schemas.openxmlformats.org/officeDocument/2006/relationships/image" Target="../media/image109.png"/><Relationship Id="rId5" Type="http://schemas.openxmlformats.org/officeDocument/2006/relationships/image" Target="../media/image7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8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 Id="rId3" Type="http://schemas.openxmlformats.org/officeDocument/2006/relationships/hyperlink" Target="https://drive.google.com/file/d/1VdFc41xtayn6YY-ZsHlbOBSCEabmNRXs/view?usp=sharing" TargetMode="External"/><Relationship Id="rId4" Type="http://schemas.openxmlformats.org/officeDocument/2006/relationships/hyperlink" Target="https://drive.google.com/file/d/1jPUhUS5T2rgyx5Dlt74g4_MwX8vrBi2I/view?usp=sharing"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hyperlink" Target="https://alexalemi.com" TargetMode="External"/><Relationship Id="rId4" Type="http://schemas.openxmlformats.org/officeDocument/2006/relationships/hyperlink" Target="https://youtu.be/WsLsEc-p3ww" TargetMode="External"/><Relationship Id="rId5" Type="http://schemas.openxmlformats.org/officeDocument/2006/relationships/hyperlink" Target="https://youtu.be/hwZU-O0_12g" TargetMode="External"/><Relationship Id="rId6" Type="http://schemas.openxmlformats.org/officeDocument/2006/relationships/hyperlink" Target="https://youtu.be/NYcJwXhVhuI" TargetMode="External"/><Relationship Id="rId7" Type="http://schemas.openxmlformats.org/officeDocument/2006/relationships/hyperlink" Target="https://drive.google.com/file/d/1VdFc41xtayn6YY-ZsHlbOBSCEabmNRXs/view?usp=sharing" TargetMode="External"/><Relationship Id="rId8" Type="http://schemas.openxmlformats.org/officeDocument/2006/relationships/hyperlink" Target="https://drive.google.com/file/d/1jPUhUS5T2rgyx5Dlt74g4_MwX8vrBi2I/view?usp=sharing"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hyperlink" Target="https://qz.com/918008/the-color-distribution-of-mms-as-determined-by-a-phd-in-statistics/" TargetMode="External"/><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hyperlink" Target="https://blogs.sas.com/content/iml/2017/02/20/proportion-of-colors-mandms.html?utm_source=Twitter&amp;utm_medium=social-voicestorm&amp;utm_content=1f687eef-9380-4f8e-a23d-469c2cab502d"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145.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1.xml"/><Relationship Id="rId3" Type="http://schemas.openxmlformats.org/officeDocument/2006/relationships/image" Target="../media/image8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 Id="rId3" Type="http://schemas.openxmlformats.org/officeDocument/2006/relationships/image" Target="../media/image8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3.xml"/><Relationship Id="rId3" Type="http://schemas.openxmlformats.org/officeDocument/2006/relationships/image" Target="../media/image10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4.xml"/><Relationship Id="rId3" Type="http://schemas.openxmlformats.org/officeDocument/2006/relationships/image" Target="../media/image9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5.xml"/><Relationship Id="rId3" Type="http://schemas.openxmlformats.org/officeDocument/2006/relationships/image" Target="../media/image10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6.xml"/><Relationship Id="rId3" Type="http://schemas.openxmlformats.org/officeDocument/2006/relationships/image" Target="../media/image39.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7.xml"/><Relationship Id="rId3" Type="http://schemas.openxmlformats.org/officeDocument/2006/relationships/image" Target="../media/image3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8.xml"/><Relationship Id="rId3" Type="http://schemas.openxmlformats.org/officeDocument/2006/relationships/image" Target="../media/image93.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9.xml"/><Relationship Id="rId3" Type="http://schemas.openxmlformats.org/officeDocument/2006/relationships/image" Target="../media/image39.png"/><Relationship Id="rId4" Type="http://schemas.openxmlformats.org/officeDocument/2006/relationships/image" Target="../media/image3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 Id="rId3" Type="http://schemas.openxmlformats.org/officeDocument/2006/relationships/image" Target="../media/image7.png"/><Relationship Id="rId4" Type="http://schemas.openxmlformats.org/officeDocument/2006/relationships/image" Target="../media/image11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 Id="rId3" Type="http://schemas.openxmlformats.org/officeDocument/2006/relationships/image" Target="../media/image7.png"/><Relationship Id="rId4" Type="http://schemas.openxmlformats.org/officeDocument/2006/relationships/image" Target="../media/image11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 Id="rId3" Type="http://schemas.openxmlformats.org/officeDocument/2006/relationships/image" Target="../media/image111.png"/><Relationship Id="rId4" Type="http://schemas.openxmlformats.org/officeDocument/2006/relationships/image" Target="../media/image97.png"/><Relationship Id="rId5" Type="http://schemas.openxmlformats.org/officeDocument/2006/relationships/image" Target="../media/image9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 Id="rId3" Type="http://schemas.openxmlformats.org/officeDocument/2006/relationships/image" Target="../media/image111.png"/><Relationship Id="rId4" Type="http://schemas.openxmlformats.org/officeDocument/2006/relationships/image" Target="../media/image97.png"/><Relationship Id="rId5" Type="http://schemas.openxmlformats.org/officeDocument/2006/relationships/image" Target="../media/image99.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 Id="rId3" Type="http://schemas.openxmlformats.org/officeDocument/2006/relationships/image" Target="../media/image10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 Id="rId3" Type="http://schemas.openxmlformats.org/officeDocument/2006/relationships/image" Target="../media/image100.png"/><Relationship Id="rId4" Type="http://schemas.openxmlformats.org/officeDocument/2006/relationships/image" Target="../media/image121.png"/><Relationship Id="rId5" Type="http://schemas.openxmlformats.org/officeDocument/2006/relationships/image" Target="../media/image10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 Id="rId3" Type="http://schemas.openxmlformats.org/officeDocument/2006/relationships/image" Target="../media/image112.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 Id="rId3" Type="http://schemas.openxmlformats.org/officeDocument/2006/relationships/image" Target="../media/image10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0.xml"/><Relationship Id="rId3" Type="http://schemas.openxmlformats.org/officeDocument/2006/relationships/image" Target="../media/image107.png"/><Relationship Id="rId4" Type="http://schemas.openxmlformats.org/officeDocument/2006/relationships/image" Target="../media/image10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2.xml"/><Relationship Id="rId3" Type="http://schemas.openxmlformats.org/officeDocument/2006/relationships/image" Target="../media/image106.png"/><Relationship Id="rId4" Type="http://schemas.openxmlformats.org/officeDocument/2006/relationships/image" Target="../media/image109.png"/><Relationship Id="rId5" Type="http://schemas.openxmlformats.org/officeDocument/2006/relationships/image" Target="../media/image7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3.xml"/><Relationship Id="rId3" Type="http://schemas.openxmlformats.org/officeDocument/2006/relationships/image" Target="../media/image110.png"/><Relationship Id="rId4" Type="http://schemas.openxmlformats.org/officeDocument/2006/relationships/image" Target="../media/image12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5.xml"/><Relationship Id="rId3" Type="http://schemas.openxmlformats.org/officeDocument/2006/relationships/image" Target="../media/image11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 Id="rId3" Type="http://schemas.openxmlformats.org/officeDocument/2006/relationships/image" Target="../media/image115.png"/><Relationship Id="rId4" Type="http://schemas.openxmlformats.org/officeDocument/2006/relationships/image" Target="../media/image135.png"/><Relationship Id="rId5" Type="http://schemas.openxmlformats.org/officeDocument/2006/relationships/image" Target="../media/image122.png"/><Relationship Id="rId6" Type="http://schemas.openxmlformats.org/officeDocument/2006/relationships/image" Target="../media/image118.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 Id="rId3" Type="http://schemas.openxmlformats.org/officeDocument/2006/relationships/image" Target="../media/image155.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 Id="rId3" Type="http://schemas.openxmlformats.org/officeDocument/2006/relationships/image" Target="../media/image11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0.xml"/><Relationship Id="rId3" Type="http://schemas.openxmlformats.org/officeDocument/2006/relationships/image" Target="../media/image113.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 Id="rId3" Type="http://schemas.openxmlformats.org/officeDocument/2006/relationships/image" Target="../media/image120.png"/><Relationship Id="rId4" Type="http://schemas.openxmlformats.org/officeDocument/2006/relationships/image" Target="../media/image11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 Id="rId3" Type="http://schemas.openxmlformats.org/officeDocument/2006/relationships/image" Target="../media/image126.png"/><Relationship Id="rId4" Type="http://schemas.openxmlformats.org/officeDocument/2006/relationships/image" Target="../media/image14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 Id="rId3" Type="http://schemas.openxmlformats.org/officeDocument/2006/relationships/image" Target="../media/image141.png"/><Relationship Id="rId4" Type="http://schemas.openxmlformats.org/officeDocument/2006/relationships/image" Target="../media/image11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4.xml"/><Relationship Id="rId3" Type="http://schemas.openxmlformats.org/officeDocument/2006/relationships/image" Target="../media/image141.png"/><Relationship Id="rId4" Type="http://schemas.openxmlformats.org/officeDocument/2006/relationships/image" Target="../media/image119.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5.xml"/><Relationship Id="rId3" Type="http://schemas.openxmlformats.org/officeDocument/2006/relationships/image" Target="../media/image141.png"/><Relationship Id="rId4" Type="http://schemas.openxmlformats.org/officeDocument/2006/relationships/image" Target="../media/image119.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 Id="rId3" Type="http://schemas.openxmlformats.org/officeDocument/2006/relationships/image" Target="../media/image141.png"/><Relationship Id="rId4" Type="http://schemas.openxmlformats.org/officeDocument/2006/relationships/image" Target="../media/image119.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 Id="rId3" Type="http://schemas.openxmlformats.org/officeDocument/2006/relationships/image" Target="../media/image12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9.xml"/><Relationship Id="rId3" Type="http://schemas.openxmlformats.org/officeDocument/2006/relationships/image" Target="../media/image123.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0.xml"/><Relationship Id="rId3" Type="http://schemas.openxmlformats.org/officeDocument/2006/relationships/image" Target="../media/image124.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1.xml"/><Relationship Id="rId3" Type="http://schemas.openxmlformats.org/officeDocument/2006/relationships/image" Target="../media/image132.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2.xml"/><Relationship Id="rId3" Type="http://schemas.openxmlformats.org/officeDocument/2006/relationships/image" Target="../media/image138.png"/><Relationship Id="rId4" Type="http://schemas.openxmlformats.org/officeDocument/2006/relationships/image" Target="../media/image12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3.xml"/><Relationship Id="rId3" Type="http://schemas.openxmlformats.org/officeDocument/2006/relationships/image" Target="../media/image125.png"/><Relationship Id="rId4" Type="http://schemas.openxmlformats.org/officeDocument/2006/relationships/image" Target="../media/image143.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4.xml"/><Relationship Id="rId3" Type="http://schemas.openxmlformats.org/officeDocument/2006/relationships/image" Target="../media/image131.png"/><Relationship Id="rId4" Type="http://schemas.openxmlformats.org/officeDocument/2006/relationships/image" Target="../media/image13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7.xml"/><Relationship Id="rId3" Type="http://schemas.openxmlformats.org/officeDocument/2006/relationships/image" Target="../media/image158.png"/><Relationship Id="rId4" Type="http://schemas.openxmlformats.org/officeDocument/2006/relationships/image" Target="../media/image140.png"/><Relationship Id="rId5" Type="http://schemas.openxmlformats.org/officeDocument/2006/relationships/image" Target="../media/image133.png"/><Relationship Id="rId6" Type="http://schemas.openxmlformats.org/officeDocument/2006/relationships/image" Target="../media/image134.png"/><Relationship Id="rId7" Type="http://schemas.openxmlformats.org/officeDocument/2006/relationships/image" Target="../media/image151.png"/><Relationship Id="rId8" Type="http://schemas.openxmlformats.org/officeDocument/2006/relationships/image" Target="../media/image15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8.xml"/><Relationship Id="rId3" Type="http://schemas.openxmlformats.org/officeDocument/2006/relationships/image" Target="../media/image156.png"/><Relationship Id="rId4" Type="http://schemas.openxmlformats.org/officeDocument/2006/relationships/image" Target="../media/image13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9.xml"/><Relationship Id="rId3" Type="http://schemas.openxmlformats.org/officeDocument/2006/relationships/image" Target="../media/image137.png"/><Relationship Id="rId4" Type="http://schemas.openxmlformats.org/officeDocument/2006/relationships/image" Target="../media/image142.png"/><Relationship Id="rId5" Type="http://schemas.openxmlformats.org/officeDocument/2006/relationships/image" Target="../media/image159.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1.xml"/><Relationship Id="rId3" Type="http://schemas.openxmlformats.org/officeDocument/2006/relationships/image" Target="../media/image139.png"/><Relationship Id="rId4" Type="http://schemas.openxmlformats.org/officeDocument/2006/relationships/image" Target="../media/image160.png"/><Relationship Id="rId5" Type="http://schemas.openxmlformats.org/officeDocument/2006/relationships/image" Target="../media/image144.png"/><Relationship Id="rId6" Type="http://schemas.openxmlformats.org/officeDocument/2006/relationships/image" Target="../media/image14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2.xml"/><Relationship Id="rId3" Type="http://schemas.openxmlformats.org/officeDocument/2006/relationships/image" Target="../media/image154.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3.xml"/><Relationship Id="rId3" Type="http://schemas.openxmlformats.org/officeDocument/2006/relationships/image" Target="../media/image8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4.xml"/><Relationship Id="rId3" Type="http://schemas.openxmlformats.org/officeDocument/2006/relationships/image" Target="../media/image14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5.xml"/><Relationship Id="rId3" Type="http://schemas.openxmlformats.org/officeDocument/2006/relationships/image" Target="../media/image15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6.xml"/><Relationship Id="rId3" Type="http://schemas.openxmlformats.org/officeDocument/2006/relationships/image" Target="../media/image17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8.xml"/><Relationship Id="rId3" Type="http://schemas.openxmlformats.org/officeDocument/2006/relationships/image" Target="../media/image160.png"/><Relationship Id="rId4" Type="http://schemas.openxmlformats.org/officeDocument/2006/relationships/image" Target="../media/image144.png"/><Relationship Id="rId5" Type="http://schemas.openxmlformats.org/officeDocument/2006/relationships/image" Target="../media/image146.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0.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16.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2.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7.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3.xml"/><Relationship Id="rId3" Type="http://schemas.openxmlformats.org/officeDocument/2006/relationships/image" Target="../media/image91.png"/><Relationship Id="rId4" Type="http://schemas.openxmlformats.org/officeDocument/2006/relationships/image" Target="../media/image75.png"/><Relationship Id="rId5" Type="http://schemas.openxmlformats.org/officeDocument/2006/relationships/image" Target="../media/image95.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5.xml"/><Relationship Id="rId3" Type="http://schemas.openxmlformats.org/officeDocument/2006/relationships/image" Target="../media/image147.png"/><Relationship Id="rId4" Type="http://schemas.openxmlformats.org/officeDocument/2006/relationships/image" Target="../media/image185.png"/><Relationship Id="rId5" Type="http://schemas.openxmlformats.org/officeDocument/2006/relationships/image" Target="../media/image167.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6.xml"/><Relationship Id="rId3" Type="http://schemas.openxmlformats.org/officeDocument/2006/relationships/image" Target="../media/image152.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7.xml"/><Relationship Id="rId3" Type="http://schemas.openxmlformats.org/officeDocument/2006/relationships/hyperlink" Target="https://drive.google.com/file/d/1VdFc41xtayn6YY-ZsHlbOBSCEabmNRXs/view?usp=sharing" TargetMode="External"/><Relationship Id="rId4" Type="http://schemas.openxmlformats.org/officeDocument/2006/relationships/hyperlink" Target="https://drive.google.com/file/d/1jPUhUS5T2rgyx5Dlt74g4_MwX8vrBi2I/view?usp=sharing"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hyperlink" Target="https://alexalemi.com" TargetMode="External"/><Relationship Id="rId4" Type="http://schemas.openxmlformats.org/officeDocument/2006/relationships/hyperlink" Target="https://youtu.be/WsLsEc-p3ww" TargetMode="External"/><Relationship Id="rId5" Type="http://schemas.openxmlformats.org/officeDocument/2006/relationships/hyperlink" Target="https://youtu.be/hwZU-O0_12g" TargetMode="External"/><Relationship Id="rId6" Type="http://schemas.openxmlformats.org/officeDocument/2006/relationships/hyperlink" Target="https://youtu.be/NYcJwXhVhuI" TargetMode="External"/><Relationship Id="rId7" Type="http://schemas.openxmlformats.org/officeDocument/2006/relationships/hyperlink" Target="https://drive.google.com/file/d/1VdFc41xtayn6YY-ZsHlbOBSCEabmNRXs/view?usp=sharing" TargetMode="External"/><Relationship Id="rId8" Type="http://schemas.openxmlformats.org/officeDocument/2006/relationships/hyperlink" Target="https://drive.google.com/file/d/1jPUhUS5T2rgyx5Dlt74g4_MwX8vrBi2I/view?usp=sharing" TargetMode="Externa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0.xml"/><Relationship Id="rId3" Type="http://schemas.openxmlformats.org/officeDocument/2006/relationships/image" Target="../media/image163.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1.xml"/><Relationship Id="rId3" Type="http://schemas.openxmlformats.org/officeDocument/2006/relationships/image" Target="../media/image157.png"/><Relationship Id="rId4" Type="http://schemas.openxmlformats.org/officeDocument/2006/relationships/image" Target="../media/image162.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2.xml"/><Relationship Id="rId3" Type="http://schemas.openxmlformats.org/officeDocument/2006/relationships/image" Target="../media/image172.png"/><Relationship Id="rId4" Type="http://schemas.openxmlformats.org/officeDocument/2006/relationships/image" Target="../media/image168.png"/><Relationship Id="rId5" Type="http://schemas.openxmlformats.org/officeDocument/2006/relationships/image" Target="../media/image157.png"/><Relationship Id="rId6" Type="http://schemas.openxmlformats.org/officeDocument/2006/relationships/image" Target="../media/image162.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3.xml"/><Relationship Id="rId3" Type="http://schemas.openxmlformats.org/officeDocument/2006/relationships/image" Target="../media/image157.png"/><Relationship Id="rId4" Type="http://schemas.openxmlformats.org/officeDocument/2006/relationships/image" Target="../media/image168.png"/><Relationship Id="rId5" Type="http://schemas.openxmlformats.org/officeDocument/2006/relationships/image" Target="../media/image180.png"/><Relationship Id="rId6" Type="http://schemas.openxmlformats.org/officeDocument/2006/relationships/image" Target="../media/image161.png"/><Relationship Id="rId7" Type="http://schemas.openxmlformats.org/officeDocument/2006/relationships/image" Target="../media/image179.png"/><Relationship Id="rId8" Type="http://schemas.openxmlformats.org/officeDocument/2006/relationships/image" Target="../media/image16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4.xml"/><Relationship Id="rId3" Type="http://schemas.openxmlformats.org/officeDocument/2006/relationships/image" Target="../media/image157.png"/><Relationship Id="rId4" Type="http://schemas.openxmlformats.org/officeDocument/2006/relationships/image" Target="../media/image168.png"/><Relationship Id="rId5" Type="http://schemas.openxmlformats.org/officeDocument/2006/relationships/image" Target="../media/image169.png"/><Relationship Id="rId6" Type="http://schemas.openxmlformats.org/officeDocument/2006/relationships/image" Target="../media/image179.png"/><Relationship Id="rId7" Type="http://schemas.openxmlformats.org/officeDocument/2006/relationships/image" Target="../media/image16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5.xml"/><Relationship Id="rId3" Type="http://schemas.openxmlformats.org/officeDocument/2006/relationships/image" Target="../media/image186.png"/><Relationship Id="rId4" Type="http://schemas.openxmlformats.org/officeDocument/2006/relationships/image" Target="../media/image157.png"/><Relationship Id="rId5" Type="http://schemas.openxmlformats.org/officeDocument/2006/relationships/image" Target="../media/image168.png"/><Relationship Id="rId6" Type="http://schemas.openxmlformats.org/officeDocument/2006/relationships/image" Target="../media/image179.png"/><Relationship Id="rId7" Type="http://schemas.openxmlformats.org/officeDocument/2006/relationships/image" Target="../media/image169.png"/><Relationship Id="rId8" Type="http://schemas.openxmlformats.org/officeDocument/2006/relationships/image" Target="../media/image196.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6.xml"/><Relationship Id="rId3" Type="http://schemas.openxmlformats.org/officeDocument/2006/relationships/image" Target="../media/image171.png"/><Relationship Id="rId4" Type="http://schemas.openxmlformats.org/officeDocument/2006/relationships/image" Target="../media/image17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8.xml"/><Relationship Id="rId3" Type="http://schemas.openxmlformats.org/officeDocument/2006/relationships/image" Target="../media/image17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9.xml"/><Relationship Id="rId3" Type="http://schemas.openxmlformats.org/officeDocument/2006/relationships/image" Target="../media/image175.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0.xml"/><Relationship Id="rId3" Type="http://schemas.openxmlformats.org/officeDocument/2006/relationships/image" Target="../media/image193.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2.xml"/><Relationship Id="rId3" Type="http://schemas.openxmlformats.org/officeDocument/2006/relationships/image" Target="../media/image177.png"/><Relationship Id="rId4" Type="http://schemas.openxmlformats.org/officeDocument/2006/relationships/image" Target="../media/image19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3.xml"/><Relationship Id="rId3" Type="http://schemas.openxmlformats.org/officeDocument/2006/relationships/image" Target="../media/image177.png"/><Relationship Id="rId4" Type="http://schemas.openxmlformats.org/officeDocument/2006/relationships/image" Target="../media/image191.png"/><Relationship Id="rId5" Type="http://schemas.openxmlformats.org/officeDocument/2006/relationships/image" Target="../media/image184.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4.xml"/><Relationship Id="rId3" Type="http://schemas.openxmlformats.org/officeDocument/2006/relationships/image" Target="../media/image177.png"/><Relationship Id="rId4" Type="http://schemas.openxmlformats.org/officeDocument/2006/relationships/image" Target="../media/image19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5.xml"/><Relationship Id="rId3" Type="http://schemas.openxmlformats.org/officeDocument/2006/relationships/image" Target="../media/image177.png"/><Relationship Id="rId4" Type="http://schemas.openxmlformats.org/officeDocument/2006/relationships/image" Target="../media/image19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6.xml"/><Relationship Id="rId3" Type="http://schemas.openxmlformats.org/officeDocument/2006/relationships/image" Target="../media/image181.png"/><Relationship Id="rId4" Type="http://schemas.openxmlformats.org/officeDocument/2006/relationships/image" Target="../media/image178.png"/><Relationship Id="rId5" Type="http://schemas.openxmlformats.org/officeDocument/2006/relationships/image" Target="../media/image182.png"/><Relationship Id="rId6" Type="http://schemas.openxmlformats.org/officeDocument/2006/relationships/image" Target="../media/image18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7.xml"/><Relationship Id="rId3" Type="http://schemas.openxmlformats.org/officeDocument/2006/relationships/image" Target="../media/image183.png"/><Relationship Id="rId4" Type="http://schemas.openxmlformats.org/officeDocument/2006/relationships/image" Target="../media/image187.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9.xml"/><Relationship Id="rId3" Type="http://schemas.openxmlformats.org/officeDocument/2006/relationships/image" Target="../media/image198.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0.xml"/><Relationship Id="rId3" Type="http://schemas.openxmlformats.org/officeDocument/2006/relationships/image" Target="../media/image210.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6.xml"/><Relationship Id="rId3" Type="http://schemas.openxmlformats.org/officeDocument/2006/relationships/image" Target="../media/image188.png"/><Relationship Id="rId4" Type="http://schemas.openxmlformats.org/officeDocument/2006/relationships/image" Target="../media/image195.png"/><Relationship Id="rId5" Type="http://schemas.openxmlformats.org/officeDocument/2006/relationships/image" Target="../media/image204.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79.xml"/><Relationship Id="rId3" Type="http://schemas.openxmlformats.org/officeDocument/2006/relationships/image" Target="../media/image214.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0.xml"/><Relationship Id="rId3" Type="http://schemas.openxmlformats.org/officeDocument/2006/relationships/image" Target="../media/image192.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5.xml"/><Relationship Id="rId3" Type="http://schemas.openxmlformats.org/officeDocument/2006/relationships/image" Target="../media/image71.png"/><Relationship Id="rId4" Type="http://schemas.openxmlformats.org/officeDocument/2006/relationships/image" Target="../media/image74.png"/><Relationship Id="rId5" Type="http://schemas.openxmlformats.org/officeDocument/2006/relationships/image" Target="../media/image77.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6.xml"/><Relationship Id="rId3" Type="http://schemas.openxmlformats.org/officeDocument/2006/relationships/image" Target="../media/image91.png"/><Relationship Id="rId4" Type="http://schemas.openxmlformats.org/officeDocument/2006/relationships/image" Target="../media/image75.png"/><Relationship Id="rId5" Type="http://schemas.openxmlformats.org/officeDocument/2006/relationships/image" Target="../media/image95.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8.xml"/><Relationship Id="rId3" Type="http://schemas.openxmlformats.org/officeDocument/2006/relationships/image" Target="../media/image147.png"/><Relationship Id="rId4" Type="http://schemas.openxmlformats.org/officeDocument/2006/relationships/image" Target="../media/image185.png"/><Relationship Id="rId5" Type="http://schemas.openxmlformats.org/officeDocument/2006/relationships/image" Target="../media/image167.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9.xml"/><Relationship Id="rId3" Type="http://schemas.openxmlformats.org/officeDocument/2006/relationships/image" Target="../media/image152.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0.xml"/><Relationship Id="rId3" Type="http://schemas.openxmlformats.org/officeDocument/2006/relationships/image" Target="../media/image190.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1.xml"/><Relationship Id="rId3" Type="http://schemas.openxmlformats.org/officeDocument/2006/relationships/image" Target="../media/image246.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2.xml"/><Relationship Id="rId3" Type="http://schemas.openxmlformats.org/officeDocument/2006/relationships/image" Target="../media/image208.png"/><Relationship Id="rId4" Type="http://schemas.openxmlformats.org/officeDocument/2006/relationships/image" Target="../media/image194.png"/><Relationship Id="rId5" Type="http://schemas.openxmlformats.org/officeDocument/2006/relationships/image" Target="../media/image221.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3.xml"/><Relationship Id="rId3" Type="http://schemas.openxmlformats.org/officeDocument/2006/relationships/image" Target="../media/image212.png"/><Relationship Id="rId4" Type="http://schemas.openxmlformats.org/officeDocument/2006/relationships/image" Target="../media/image197.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4.xml"/><Relationship Id="rId3" Type="http://schemas.openxmlformats.org/officeDocument/2006/relationships/image" Target="../media/image209.png"/><Relationship Id="rId4" Type="http://schemas.openxmlformats.org/officeDocument/2006/relationships/image" Target="../media/image202.png"/><Relationship Id="rId5" Type="http://schemas.openxmlformats.org/officeDocument/2006/relationships/image" Target="../media/image211.png"/><Relationship Id="rId6" Type="http://schemas.openxmlformats.org/officeDocument/2006/relationships/image" Target="../media/image200.png"/><Relationship Id="rId7" Type="http://schemas.openxmlformats.org/officeDocument/2006/relationships/image" Target="../media/image199.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5.xml"/><Relationship Id="rId3" Type="http://schemas.openxmlformats.org/officeDocument/2006/relationships/image" Target="../media/image265.png"/><Relationship Id="rId4" Type="http://schemas.openxmlformats.org/officeDocument/2006/relationships/image" Target="../media/image209.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6.xml"/><Relationship Id="rId3" Type="http://schemas.openxmlformats.org/officeDocument/2006/relationships/image" Target="../media/image27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7.xml"/><Relationship Id="rId3" Type="http://schemas.openxmlformats.org/officeDocument/2006/relationships/image" Target="../media/image272.png"/><Relationship Id="rId4" Type="http://schemas.openxmlformats.org/officeDocument/2006/relationships/image" Target="../media/image206.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8.xml"/><Relationship Id="rId3" Type="http://schemas.openxmlformats.org/officeDocument/2006/relationships/image" Target="../media/image254.png"/><Relationship Id="rId4" Type="http://schemas.openxmlformats.org/officeDocument/2006/relationships/image" Target="../media/image207.png"/><Relationship Id="rId5" Type="http://schemas.openxmlformats.org/officeDocument/2006/relationships/image" Target="../media/image203.png"/><Relationship Id="rId6" Type="http://schemas.openxmlformats.org/officeDocument/2006/relationships/image" Target="../media/image205.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9.xml"/><Relationship Id="rId3" Type="http://schemas.openxmlformats.org/officeDocument/2006/relationships/image" Target="../media/image258.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0.xml"/><Relationship Id="rId3" Type="http://schemas.openxmlformats.org/officeDocument/2006/relationships/image" Target="../media/image288.png"/></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1.xml"/><Relationship Id="rId3" Type="http://schemas.openxmlformats.org/officeDocument/2006/relationships/image" Target="../media/image276.pn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2.xml"/><Relationship Id="rId3" Type="http://schemas.openxmlformats.org/officeDocument/2006/relationships/image" Target="../media/image268.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3.xml"/><Relationship Id="rId3" Type="http://schemas.openxmlformats.org/officeDocument/2006/relationships/image" Target="../media/image248.png"/><Relationship Id="rId4" Type="http://schemas.openxmlformats.org/officeDocument/2006/relationships/image" Target="../media/image249.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4.xml"/><Relationship Id="rId3" Type="http://schemas.openxmlformats.org/officeDocument/2006/relationships/image" Target="../media/image280.png"/><Relationship Id="rId4" Type="http://schemas.openxmlformats.org/officeDocument/2006/relationships/image" Target="../media/image215.gif"/><Relationship Id="rId5" Type="http://schemas.openxmlformats.org/officeDocument/2006/relationships/image" Target="../media/image217.gif"/></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5.xml"/><Relationship Id="rId3" Type="http://schemas.openxmlformats.org/officeDocument/2006/relationships/image" Target="../media/image278.png"/><Relationship Id="rId4" Type="http://schemas.openxmlformats.org/officeDocument/2006/relationships/image" Target="../media/image216.gif"/><Relationship Id="rId5" Type="http://schemas.openxmlformats.org/officeDocument/2006/relationships/image" Target="../media/image219.gif"/></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6.xml"/><Relationship Id="rId3" Type="http://schemas.openxmlformats.org/officeDocument/2006/relationships/image" Target="../media/image279.png"/><Relationship Id="rId4" Type="http://schemas.openxmlformats.org/officeDocument/2006/relationships/image" Target="../media/image230.gif"/><Relationship Id="rId5" Type="http://schemas.openxmlformats.org/officeDocument/2006/relationships/image" Target="../media/image218.gif"/></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8.xml"/><Relationship Id="rId3" Type="http://schemas.openxmlformats.org/officeDocument/2006/relationships/image" Target="../media/image147.png"/><Relationship Id="rId4" Type="http://schemas.openxmlformats.org/officeDocument/2006/relationships/image" Target="../media/image223.png"/><Relationship Id="rId5" Type="http://schemas.openxmlformats.org/officeDocument/2006/relationships/image" Target="../media/image220.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9.xml"/><Relationship Id="rId3" Type="http://schemas.openxmlformats.org/officeDocument/2006/relationships/image" Target="../media/image224.png"/><Relationship Id="rId4" Type="http://schemas.openxmlformats.org/officeDocument/2006/relationships/image" Target="../media/image22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0.xml"/><Relationship Id="rId3" Type="http://schemas.openxmlformats.org/officeDocument/2006/relationships/image" Target="../media/image222.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1.xml"/><Relationship Id="rId3" Type="http://schemas.openxmlformats.org/officeDocument/2006/relationships/image" Target="../media/image231.png"/><Relationship Id="rId4" Type="http://schemas.openxmlformats.org/officeDocument/2006/relationships/image" Target="../media/image229.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2.xml"/><Relationship Id="rId3" Type="http://schemas.openxmlformats.org/officeDocument/2006/relationships/image" Target="../media/image226.png"/><Relationship Id="rId4" Type="http://schemas.openxmlformats.org/officeDocument/2006/relationships/image" Target="../media/image227.png"/><Relationship Id="rId5" Type="http://schemas.openxmlformats.org/officeDocument/2006/relationships/image" Target="../media/image228.png"/><Relationship Id="rId6" Type="http://schemas.openxmlformats.org/officeDocument/2006/relationships/image" Target="../media/image235.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3.xml"/><Relationship Id="rId3" Type="http://schemas.openxmlformats.org/officeDocument/2006/relationships/image" Target="../media/image233.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4.xml"/><Relationship Id="rId3" Type="http://schemas.openxmlformats.org/officeDocument/2006/relationships/image" Target="../media/image234.png"/><Relationship Id="rId4" Type="http://schemas.openxmlformats.org/officeDocument/2006/relationships/image" Target="../media/image236.png"/><Relationship Id="rId5" Type="http://schemas.openxmlformats.org/officeDocument/2006/relationships/image" Target="../media/image238.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5.xml"/><Relationship Id="rId3" Type="http://schemas.openxmlformats.org/officeDocument/2006/relationships/image" Target="../media/image232.png"/><Relationship Id="rId4" Type="http://schemas.openxmlformats.org/officeDocument/2006/relationships/image" Target="../media/image237.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6.xml"/><Relationship Id="rId3" Type="http://schemas.openxmlformats.org/officeDocument/2006/relationships/image" Target="../media/image239.png"/><Relationship Id="rId4" Type="http://schemas.openxmlformats.org/officeDocument/2006/relationships/image" Target="../media/image237.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7.xml"/><Relationship Id="rId3" Type="http://schemas.openxmlformats.org/officeDocument/2006/relationships/image" Target="../media/image245.png"/><Relationship Id="rId4" Type="http://schemas.openxmlformats.org/officeDocument/2006/relationships/image" Target="../media/image241.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8.xml"/><Relationship Id="rId3" Type="http://schemas.openxmlformats.org/officeDocument/2006/relationships/image" Target="../media/image242.pn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9.xml"/><Relationship Id="rId3" Type="http://schemas.openxmlformats.org/officeDocument/2006/relationships/image" Target="../media/image213.png"/><Relationship Id="rId4" Type="http://schemas.openxmlformats.org/officeDocument/2006/relationships/image" Target="../media/image240.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0.xml"/><Relationship Id="rId3" Type="http://schemas.openxmlformats.org/officeDocument/2006/relationships/image" Target="../media/image244.png"/><Relationship Id="rId4" Type="http://schemas.openxmlformats.org/officeDocument/2006/relationships/image" Target="../media/image243.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1.xml"/><Relationship Id="rId3" Type="http://schemas.openxmlformats.org/officeDocument/2006/relationships/image" Target="../media/image252.png"/><Relationship Id="rId4" Type="http://schemas.openxmlformats.org/officeDocument/2006/relationships/image" Target="../media/image243.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2.xml"/><Relationship Id="rId3" Type="http://schemas.openxmlformats.org/officeDocument/2006/relationships/image" Target="../media/image252.png"/><Relationship Id="rId4" Type="http://schemas.openxmlformats.org/officeDocument/2006/relationships/image" Target="../media/image243.png"/></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3.xml"/><Relationship Id="rId3" Type="http://schemas.openxmlformats.org/officeDocument/2006/relationships/image" Target="../media/image252.png"/><Relationship Id="rId4" Type="http://schemas.openxmlformats.org/officeDocument/2006/relationships/image" Target="../media/image243.png"/></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4.xml"/><Relationship Id="rId3" Type="http://schemas.openxmlformats.org/officeDocument/2006/relationships/image" Target="../media/image250.png"/><Relationship Id="rId4" Type="http://schemas.openxmlformats.org/officeDocument/2006/relationships/image" Target="../media/image247.png"/><Relationship Id="rId5" Type="http://schemas.openxmlformats.org/officeDocument/2006/relationships/image" Target="../media/image243.png"/></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5.xml"/><Relationship Id="rId3" Type="http://schemas.openxmlformats.org/officeDocument/2006/relationships/image" Target="../media/image250.png"/><Relationship Id="rId4" Type="http://schemas.openxmlformats.org/officeDocument/2006/relationships/image" Target="../media/image247.png"/><Relationship Id="rId5" Type="http://schemas.openxmlformats.org/officeDocument/2006/relationships/image" Target="../media/image243.png"/></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6.xml"/><Relationship Id="rId3" Type="http://schemas.openxmlformats.org/officeDocument/2006/relationships/image" Target="../media/image250.png"/><Relationship Id="rId4" Type="http://schemas.openxmlformats.org/officeDocument/2006/relationships/image" Target="../media/image247.png"/><Relationship Id="rId5" Type="http://schemas.openxmlformats.org/officeDocument/2006/relationships/image" Target="../media/image243.png"/></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7.xml"/><Relationship Id="rId3" Type="http://schemas.openxmlformats.org/officeDocument/2006/relationships/image" Target="../media/image250.png"/><Relationship Id="rId4" Type="http://schemas.openxmlformats.org/officeDocument/2006/relationships/image" Target="../media/image247.png"/><Relationship Id="rId5" Type="http://schemas.openxmlformats.org/officeDocument/2006/relationships/image" Target="../media/image243.png"/></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8.xml"/><Relationship Id="rId3" Type="http://schemas.openxmlformats.org/officeDocument/2006/relationships/image" Target="../media/image250.png"/><Relationship Id="rId4" Type="http://schemas.openxmlformats.org/officeDocument/2006/relationships/image" Target="../media/image247.png"/><Relationship Id="rId5" Type="http://schemas.openxmlformats.org/officeDocument/2006/relationships/image" Target="../media/image243.png"/></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9.xml"/><Relationship Id="rId3" Type="http://schemas.openxmlformats.org/officeDocument/2006/relationships/hyperlink" Target="https://drive.google.com/file/d/1VdFc41xtayn6YY-ZsHlbOBSCEabmNRXs/view?usp=sharing" TargetMode="External"/><Relationship Id="rId4" Type="http://schemas.openxmlformats.org/officeDocument/2006/relationships/hyperlink" Target="https://drive.google.com/file/d/1jPUhUS5T2rgyx5Dlt74g4_MwX8vrBi2I/view?usp=sharing" TargetMode="Externa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1.xml"/><Relationship Id="rId3" Type="http://schemas.openxmlformats.org/officeDocument/2006/relationships/image" Target="../media/image259.png"/><Relationship Id="rId4" Type="http://schemas.openxmlformats.org/officeDocument/2006/relationships/image" Target="../media/image256.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32.xml"/><Relationship Id="rId3" Type="http://schemas.openxmlformats.org/officeDocument/2006/relationships/image" Target="../media/image253.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4.xml"/><Relationship Id="rId3" Type="http://schemas.openxmlformats.org/officeDocument/2006/relationships/image" Target="../media/image25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5.xml"/><Relationship Id="rId3" Type="http://schemas.openxmlformats.org/officeDocument/2006/relationships/image" Target="../media/image262.png"/></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6.xml"/><Relationship Id="rId3" Type="http://schemas.openxmlformats.org/officeDocument/2006/relationships/image" Target="../media/image257.png"/><Relationship Id="rId4" Type="http://schemas.openxmlformats.org/officeDocument/2006/relationships/image" Target="../media/image255.png"/><Relationship Id="rId5" Type="http://schemas.openxmlformats.org/officeDocument/2006/relationships/image" Target="../media/image261.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9.xml"/><Relationship Id="rId3" Type="http://schemas.openxmlformats.org/officeDocument/2006/relationships/image" Target="../media/image260.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6.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0.xml"/><Relationship Id="rId3" Type="http://schemas.openxmlformats.org/officeDocument/2006/relationships/image" Target="../media/image260.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6.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1.xml"/><Relationship Id="rId3" Type="http://schemas.openxmlformats.org/officeDocument/2006/relationships/image" Target="../media/image260.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6.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2.xml"/><Relationship Id="rId3" Type="http://schemas.openxmlformats.org/officeDocument/2006/relationships/image" Target="../media/image260.png"/><Relationship Id="rId4" Type="http://schemas.openxmlformats.org/officeDocument/2006/relationships/image" Target="../media/image263.png"/><Relationship Id="rId5" Type="http://schemas.openxmlformats.org/officeDocument/2006/relationships/image" Target="../media/image264.png"/><Relationship Id="rId6" Type="http://schemas.openxmlformats.org/officeDocument/2006/relationships/image" Target="../media/image266.png"/><Relationship Id="rId7" Type="http://schemas.openxmlformats.org/officeDocument/2006/relationships/image" Target="../media/image277.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3.xml"/><Relationship Id="rId3" Type="http://schemas.openxmlformats.org/officeDocument/2006/relationships/image" Target="../media/image289.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5.xml"/><Relationship Id="rId3" Type="http://schemas.openxmlformats.org/officeDocument/2006/relationships/image" Target="../media/image267.png"/><Relationship Id="rId4" Type="http://schemas.openxmlformats.org/officeDocument/2006/relationships/image" Target="../media/image269.png"/><Relationship Id="rId5" Type="http://schemas.openxmlformats.org/officeDocument/2006/relationships/image" Target="../media/image147.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6.xml"/><Relationship Id="rId3" Type="http://schemas.openxmlformats.org/officeDocument/2006/relationships/image" Target="../media/image267.png"/><Relationship Id="rId4" Type="http://schemas.openxmlformats.org/officeDocument/2006/relationships/image" Target="../media/image269.png"/><Relationship Id="rId5" Type="http://schemas.openxmlformats.org/officeDocument/2006/relationships/image" Target="../media/image147.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7.xml"/><Relationship Id="rId3" Type="http://schemas.openxmlformats.org/officeDocument/2006/relationships/image" Target="../media/image273.png"/><Relationship Id="rId4" Type="http://schemas.openxmlformats.org/officeDocument/2006/relationships/image" Target="../media/image285.png"/><Relationship Id="rId5" Type="http://schemas.openxmlformats.org/officeDocument/2006/relationships/image" Target="../media/image275.png"/><Relationship Id="rId6" Type="http://schemas.openxmlformats.org/officeDocument/2006/relationships/image" Target="../media/image274.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8.xml"/><Relationship Id="rId3" Type="http://schemas.openxmlformats.org/officeDocument/2006/relationships/image" Target="../media/image147.png"/><Relationship Id="rId4" Type="http://schemas.openxmlformats.org/officeDocument/2006/relationships/image" Target="../media/image274.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49.xml"/><Relationship Id="rId3" Type="http://schemas.openxmlformats.org/officeDocument/2006/relationships/image" Target="../media/image147.png"/><Relationship Id="rId4" Type="http://schemas.openxmlformats.org/officeDocument/2006/relationships/image" Target="../media/image285.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0.xml"/><Relationship Id="rId3" Type="http://schemas.openxmlformats.org/officeDocument/2006/relationships/image" Target="../media/image147.png"/><Relationship Id="rId4" Type="http://schemas.openxmlformats.org/officeDocument/2006/relationships/image" Target="../media/image275.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1.xml"/><Relationship Id="rId3" Type="http://schemas.openxmlformats.org/officeDocument/2006/relationships/image" Target="../media/image147.png"/><Relationship Id="rId4" Type="http://schemas.openxmlformats.org/officeDocument/2006/relationships/image" Target="../media/image273.png"/></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2.xml"/><Relationship Id="rId3" Type="http://schemas.openxmlformats.org/officeDocument/2006/relationships/image" Target="../media/image273.png"/><Relationship Id="rId4" Type="http://schemas.openxmlformats.org/officeDocument/2006/relationships/image" Target="../media/image285.png"/><Relationship Id="rId5" Type="http://schemas.openxmlformats.org/officeDocument/2006/relationships/image" Target="../media/image275.png"/><Relationship Id="rId6" Type="http://schemas.openxmlformats.org/officeDocument/2006/relationships/image" Target="../media/image274.png"/></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3.xml"/><Relationship Id="rId3" Type="http://schemas.openxmlformats.org/officeDocument/2006/relationships/image" Target="../media/image287.png"/></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4.xml"/><Relationship Id="rId3" Type="http://schemas.openxmlformats.org/officeDocument/2006/relationships/image" Target="../media/image287.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5.xml"/><Relationship Id="rId3" Type="http://schemas.openxmlformats.org/officeDocument/2006/relationships/image" Target="../media/image287.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6.xml"/><Relationship Id="rId3" Type="http://schemas.openxmlformats.org/officeDocument/2006/relationships/image" Target="../media/image287.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7.xml"/><Relationship Id="rId3" Type="http://schemas.openxmlformats.org/officeDocument/2006/relationships/image" Target="../media/image287.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8.xml"/><Relationship Id="rId3" Type="http://schemas.openxmlformats.org/officeDocument/2006/relationships/image" Target="../media/image287.png"/></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59.xml"/><Relationship Id="rId3" Type="http://schemas.openxmlformats.org/officeDocument/2006/relationships/image" Target="../media/image287.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0.xml"/><Relationship Id="rId3" Type="http://schemas.openxmlformats.org/officeDocument/2006/relationships/image" Target="../media/image287.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1.xml"/><Relationship Id="rId3" Type="http://schemas.openxmlformats.org/officeDocument/2006/relationships/image" Target="../media/image287.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62.xml"/><Relationship Id="rId3" Type="http://schemas.openxmlformats.org/officeDocument/2006/relationships/image" Target="../media/image287.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3.xml"/><Relationship Id="rId3" Type="http://schemas.openxmlformats.org/officeDocument/2006/relationships/image" Target="../media/image181.png"/><Relationship Id="rId4" Type="http://schemas.openxmlformats.org/officeDocument/2006/relationships/image" Target="../media/image178.png"/><Relationship Id="rId5" Type="http://schemas.openxmlformats.org/officeDocument/2006/relationships/image" Target="../media/image182.png"/><Relationship Id="rId6" Type="http://schemas.openxmlformats.org/officeDocument/2006/relationships/image" Target="../media/image189.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4.xml"/><Relationship Id="rId3" Type="http://schemas.openxmlformats.org/officeDocument/2006/relationships/image" Target="../media/image183.png"/><Relationship Id="rId4" Type="http://schemas.openxmlformats.org/officeDocument/2006/relationships/image" Target="../media/image187.png"/></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5.xml"/><Relationship Id="rId3" Type="http://schemas.openxmlformats.org/officeDocument/2006/relationships/image" Target="../media/image15.png"/><Relationship Id="rId4" Type="http://schemas.openxmlformats.org/officeDocument/2006/relationships/image" Target="../media/image19.png"/></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6.xml"/><Relationship Id="rId3" Type="http://schemas.openxmlformats.org/officeDocument/2006/relationships/image" Target="../media/image49.png"/></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7.xml"/><Relationship Id="rId3" Type="http://schemas.openxmlformats.org/officeDocument/2006/relationships/image" Target="../media/image286.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8.xml"/><Relationship Id="rId3" Type="http://schemas.openxmlformats.org/officeDocument/2006/relationships/image" Target="../media/image91.png"/><Relationship Id="rId4" Type="http://schemas.openxmlformats.org/officeDocument/2006/relationships/image" Target="../media/image75.png"/><Relationship Id="rId5" Type="http://schemas.openxmlformats.org/officeDocument/2006/relationships/image" Target="../media/image95.png"/></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9.xml"/><Relationship Id="rId3" Type="http://schemas.openxmlformats.org/officeDocument/2006/relationships/image" Target="../media/image281.png"/></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0.xml"/><Relationship Id="rId3" Type="http://schemas.openxmlformats.org/officeDocument/2006/relationships/image" Target="../media/image283.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1.xml"/><Relationship Id="rId3" Type="http://schemas.openxmlformats.org/officeDocument/2006/relationships/image" Target="../media/image29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2.xml"/><Relationship Id="rId3" Type="http://schemas.openxmlformats.org/officeDocument/2006/relationships/image" Target="../media/image282.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3.xml"/><Relationship Id="rId3" Type="http://schemas.openxmlformats.org/officeDocument/2006/relationships/image" Target="../media/image284.png"/><Relationship Id="rId4" Type="http://schemas.openxmlformats.org/officeDocument/2006/relationships/image" Target="../media/image290.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4.xml"/><Relationship Id="rId3" Type="http://schemas.openxmlformats.org/officeDocument/2006/relationships/image" Target="../media/image11.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9"/>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Theory Part I</a:t>
            </a:r>
            <a:endParaRPr/>
          </a:p>
        </p:txBody>
      </p:sp>
      <p:sp>
        <p:nvSpPr>
          <p:cNvPr id="178" name="Google Shape;178;p39"/>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3"/>
              </a:rPr>
              <a:t>Alex Alemi</a:t>
            </a:r>
            <a:endParaRPr>
              <a:latin typeface="Source Code Pro"/>
              <a:ea typeface="Source Code Pro"/>
              <a:cs typeface="Source Code Pro"/>
              <a:sym typeface="Source Code Pro"/>
            </a:endParaRPr>
          </a:p>
          <a:p>
            <a:pPr indent="0" lvl="0" marL="0" rtl="0" algn="l">
              <a:spcBef>
                <a:spcPts val="0"/>
              </a:spcBef>
              <a:spcAft>
                <a:spcPts val="0"/>
              </a:spcAft>
              <a:buNone/>
            </a:pPr>
            <a:r>
              <a:rPr lang="en"/>
              <a:t>2021-03-23</a:t>
            </a:r>
            <a:endParaRPr/>
          </a:p>
        </p:txBody>
      </p:sp>
      <p:sp>
        <p:nvSpPr>
          <p:cNvPr id="179" name="Google Shape;179;p39"/>
          <p:cNvSpPr txBox="1"/>
          <p:nvPr/>
        </p:nvSpPr>
        <p:spPr>
          <a:xfrm>
            <a:off x="2303250" y="1999150"/>
            <a:ext cx="3610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4"/>
              </a:rPr>
              <a:t>Part 1</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5"/>
              </a:rPr>
              <a:t>Part 2</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6"/>
              </a:rPr>
              <a:t>Part 3</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7"/>
              </a:rPr>
              <a:t>Problem Set</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8"/>
              </a:rPr>
              <a:t>Solutions</a:t>
            </a:r>
            <a:endParaRPr>
              <a:latin typeface="Source Code Pro"/>
              <a:ea typeface="Source Code Pro"/>
              <a:cs typeface="Source Code Pro"/>
              <a:sym typeface="Source Code Pr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40"/>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Information Theory is about communication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41"/>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Claude Shannon</a:t>
            </a:r>
            <a:endParaRPr/>
          </a:p>
        </p:txBody>
      </p:sp>
      <p:sp>
        <p:nvSpPr>
          <p:cNvPr id="190" name="Google Shape;190;p41"/>
          <p:cNvSpPr txBox="1"/>
          <p:nvPr>
            <p:ph idx="1" type="body"/>
          </p:nvPr>
        </p:nvSpPr>
        <p:spPr>
          <a:xfrm>
            <a:off x="311700" y="2390650"/>
            <a:ext cx="3127500" cy="229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trike="sngStrike"/>
              <a:t>A</a:t>
            </a:r>
            <a:r>
              <a:rPr lang="en"/>
              <a:t> The Mathematical Theory of Communication - 1948</a:t>
            </a:r>
            <a:endParaRPr/>
          </a:p>
          <a:p>
            <a:pPr indent="0" lvl="0" marL="0" rtl="0" algn="l">
              <a:spcBef>
                <a:spcPts val="1200"/>
              </a:spcBef>
              <a:spcAft>
                <a:spcPts val="0"/>
              </a:spcAft>
              <a:buNone/>
            </a:pPr>
            <a:r>
              <a:rPr lang="en"/>
              <a:t>Information theory primarily concerned with communication.</a:t>
            </a:r>
            <a:endParaRPr/>
          </a:p>
          <a:p>
            <a:pPr indent="0" lvl="0" marL="0" rtl="0" algn="l">
              <a:spcBef>
                <a:spcPts val="1200"/>
              </a:spcBef>
              <a:spcAft>
                <a:spcPts val="1200"/>
              </a:spcAft>
              <a:buNone/>
            </a:pPr>
            <a:r>
              <a:rPr lang="en"/>
              <a:t>Have it to thank for basically all things digital.</a:t>
            </a:r>
            <a:endParaRPr/>
          </a:p>
        </p:txBody>
      </p:sp>
      <p:pic>
        <p:nvPicPr>
          <p:cNvPr id="191" name="Google Shape;191;p41"/>
          <p:cNvPicPr preferRelativeResize="0"/>
          <p:nvPr/>
        </p:nvPicPr>
        <p:blipFill>
          <a:blip r:embed="rId3">
            <a:alphaModFix/>
          </a:blip>
          <a:stretch>
            <a:fillRect/>
          </a:stretch>
        </p:blipFill>
        <p:spPr>
          <a:xfrm>
            <a:off x="5224475" y="764725"/>
            <a:ext cx="2857500" cy="3762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2"/>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Timeline of Information Theory</a:t>
            </a:r>
            <a:endParaRPr/>
          </a:p>
        </p:txBody>
      </p:sp>
      <p:cxnSp>
        <p:nvCxnSpPr>
          <p:cNvPr id="197" name="Google Shape;197;p42"/>
          <p:cNvCxnSpPr/>
          <p:nvPr/>
        </p:nvCxnSpPr>
        <p:spPr>
          <a:xfrm>
            <a:off x="459350" y="2206200"/>
            <a:ext cx="8067900" cy="0"/>
          </a:xfrm>
          <a:prstGeom prst="straightConnector1">
            <a:avLst/>
          </a:prstGeom>
          <a:noFill/>
          <a:ln cap="flat" cmpd="sng" w="38100">
            <a:solidFill>
              <a:schemeClr val="dk2"/>
            </a:solidFill>
            <a:prstDash val="solid"/>
            <a:round/>
            <a:headEnd len="med" w="med" type="stealth"/>
            <a:tailEnd len="med" w="med" type="triangle"/>
          </a:ln>
        </p:spPr>
      </p:cxnSp>
      <p:cxnSp>
        <p:nvCxnSpPr>
          <p:cNvPr id="198" name="Google Shape;198;p42"/>
          <p:cNvCxnSpPr/>
          <p:nvPr/>
        </p:nvCxnSpPr>
        <p:spPr>
          <a:xfrm>
            <a:off x="1979750" y="2089800"/>
            <a:ext cx="0" cy="232800"/>
          </a:xfrm>
          <a:prstGeom prst="straightConnector1">
            <a:avLst/>
          </a:prstGeom>
          <a:noFill/>
          <a:ln cap="flat" cmpd="sng" w="38100">
            <a:solidFill>
              <a:schemeClr val="dk2"/>
            </a:solidFill>
            <a:prstDash val="solid"/>
            <a:round/>
            <a:headEnd len="med" w="med" type="none"/>
            <a:tailEnd len="med" w="med" type="none"/>
          </a:ln>
        </p:spPr>
      </p:cxnSp>
      <p:cxnSp>
        <p:nvCxnSpPr>
          <p:cNvPr id="199" name="Google Shape;199;p42"/>
          <p:cNvCxnSpPr/>
          <p:nvPr/>
        </p:nvCxnSpPr>
        <p:spPr>
          <a:xfrm>
            <a:off x="7780300" y="2089800"/>
            <a:ext cx="0" cy="232800"/>
          </a:xfrm>
          <a:prstGeom prst="straightConnector1">
            <a:avLst/>
          </a:prstGeom>
          <a:noFill/>
          <a:ln cap="flat" cmpd="sng" w="38100">
            <a:solidFill>
              <a:schemeClr val="dk2"/>
            </a:solidFill>
            <a:prstDash val="solid"/>
            <a:round/>
            <a:headEnd len="med" w="med" type="none"/>
            <a:tailEnd len="med" w="med" type="none"/>
          </a:ln>
        </p:spPr>
      </p:cxnSp>
      <p:cxnSp>
        <p:nvCxnSpPr>
          <p:cNvPr id="200" name="Google Shape;200;p42"/>
          <p:cNvCxnSpPr/>
          <p:nvPr/>
        </p:nvCxnSpPr>
        <p:spPr>
          <a:xfrm>
            <a:off x="2109850" y="2089800"/>
            <a:ext cx="0" cy="232800"/>
          </a:xfrm>
          <a:prstGeom prst="straightConnector1">
            <a:avLst/>
          </a:prstGeom>
          <a:noFill/>
          <a:ln cap="flat" cmpd="sng" w="38100">
            <a:solidFill>
              <a:schemeClr val="dk2"/>
            </a:solidFill>
            <a:prstDash val="solid"/>
            <a:round/>
            <a:headEnd len="med" w="med" type="none"/>
            <a:tailEnd len="med" w="med" type="none"/>
          </a:ln>
        </p:spPr>
      </p:cxnSp>
      <p:sp>
        <p:nvSpPr>
          <p:cNvPr id="201" name="Google Shape;201;p42"/>
          <p:cNvSpPr txBox="1"/>
          <p:nvPr/>
        </p:nvSpPr>
        <p:spPr>
          <a:xfrm>
            <a:off x="1203350" y="148800"/>
            <a:ext cx="17082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Roboto"/>
                <a:ea typeface="Roboto"/>
                <a:cs typeface="Roboto"/>
                <a:sym typeface="Roboto"/>
              </a:rPr>
              <a:t>'48 Shannon publishes </a:t>
            </a:r>
            <a:r>
              <a:rPr b="1" i="1" lang="en" sz="1000">
                <a:latin typeface="Roboto"/>
                <a:ea typeface="Roboto"/>
                <a:cs typeface="Roboto"/>
                <a:sym typeface="Roboto"/>
              </a:rPr>
              <a:t>A Mathematical Theory of Communication</a:t>
            </a:r>
            <a:endParaRPr b="1" i="1" sz="1000">
              <a:latin typeface="Roboto"/>
              <a:ea typeface="Roboto"/>
              <a:cs typeface="Roboto"/>
              <a:sym typeface="Roboto"/>
            </a:endParaRPr>
          </a:p>
        </p:txBody>
      </p:sp>
      <p:sp>
        <p:nvSpPr>
          <p:cNvPr id="202" name="Google Shape;202;p42"/>
          <p:cNvSpPr txBox="1"/>
          <p:nvPr/>
        </p:nvSpPr>
        <p:spPr>
          <a:xfrm>
            <a:off x="1045350" y="2871650"/>
            <a:ext cx="1559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'47 Hamming Codes</a:t>
            </a:r>
            <a:endParaRPr sz="1000">
              <a:latin typeface="Roboto"/>
              <a:ea typeface="Roboto"/>
              <a:cs typeface="Roboto"/>
              <a:sym typeface="Roboto"/>
            </a:endParaRPr>
          </a:p>
        </p:txBody>
      </p:sp>
      <p:cxnSp>
        <p:nvCxnSpPr>
          <p:cNvPr id="203" name="Google Shape;203;p42"/>
          <p:cNvCxnSpPr/>
          <p:nvPr/>
        </p:nvCxnSpPr>
        <p:spPr>
          <a:xfrm>
            <a:off x="2378700" y="2089800"/>
            <a:ext cx="0" cy="232800"/>
          </a:xfrm>
          <a:prstGeom prst="straightConnector1">
            <a:avLst/>
          </a:prstGeom>
          <a:noFill/>
          <a:ln cap="flat" cmpd="sng" w="38100">
            <a:solidFill>
              <a:schemeClr val="dk2"/>
            </a:solidFill>
            <a:prstDash val="solid"/>
            <a:round/>
            <a:headEnd len="med" w="med" type="none"/>
            <a:tailEnd len="med" w="med" type="none"/>
          </a:ln>
        </p:spPr>
      </p:cxnSp>
      <p:sp>
        <p:nvSpPr>
          <p:cNvPr id="204" name="Google Shape;204;p42"/>
          <p:cNvSpPr txBox="1"/>
          <p:nvPr/>
        </p:nvSpPr>
        <p:spPr>
          <a:xfrm>
            <a:off x="1979750" y="847550"/>
            <a:ext cx="1824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'51 Kullback-Leibler Divergence</a:t>
            </a:r>
            <a:endParaRPr i="1" sz="1000">
              <a:latin typeface="Roboto"/>
              <a:ea typeface="Roboto"/>
              <a:cs typeface="Roboto"/>
              <a:sym typeface="Roboto"/>
            </a:endParaRPr>
          </a:p>
        </p:txBody>
      </p:sp>
      <p:sp>
        <p:nvSpPr>
          <p:cNvPr id="205" name="Google Shape;205;p42"/>
          <p:cNvSpPr txBox="1"/>
          <p:nvPr/>
        </p:nvSpPr>
        <p:spPr>
          <a:xfrm>
            <a:off x="1391350" y="3407425"/>
            <a:ext cx="1672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'51 Huffman encoding</a:t>
            </a:r>
            <a:endParaRPr i="1" sz="1000">
              <a:latin typeface="Roboto"/>
              <a:ea typeface="Roboto"/>
              <a:cs typeface="Roboto"/>
              <a:sym typeface="Roboto"/>
            </a:endParaRPr>
          </a:p>
        </p:txBody>
      </p:sp>
      <p:cxnSp>
        <p:nvCxnSpPr>
          <p:cNvPr id="206" name="Google Shape;206;p42"/>
          <p:cNvCxnSpPr/>
          <p:nvPr/>
        </p:nvCxnSpPr>
        <p:spPr>
          <a:xfrm>
            <a:off x="3221350" y="2089800"/>
            <a:ext cx="0" cy="232800"/>
          </a:xfrm>
          <a:prstGeom prst="straightConnector1">
            <a:avLst/>
          </a:prstGeom>
          <a:noFill/>
          <a:ln cap="flat" cmpd="sng" w="38100">
            <a:solidFill>
              <a:schemeClr val="dk2"/>
            </a:solidFill>
            <a:prstDash val="solid"/>
            <a:round/>
            <a:headEnd len="med" w="med" type="none"/>
            <a:tailEnd len="med" w="med" type="none"/>
          </a:ln>
        </p:spPr>
      </p:cxnSp>
      <p:sp>
        <p:nvSpPr>
          <p:cNvPr id="207" name="Google Shape;207;p42"/>
          <p:cNvSpPr txBox="1"/>
          <p:nvPr/>
        </p:nvSpPr>
        <p:spPr>
          <a:xfrm>
            <a:off x="2385250" y="2607700"/>
            <a:ext cx="1672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'60 Reed-Solomon codes</a:t>
            </a:r>
            <a:endParaRPr i="1" sz="1000">
              <a:latin typeface="Roboto"/>
              <a:ea typeface="Roboto"/>
              <a:cs typeface="Roboto"/>
              <a:sym typeface="Roboto"/>
            </a:endParaRPr>
          </a:p>
        </p:txBody>
      </p:sp>
      <p:cxnSp>
        <p:nvCxnSpPr>
          <p:cNvPr id="208" name="Google Shape;208;p42"/>
          <p:cNvCxnSpPr/>
          <p:nvPr/>
        </p:nvCxnSpPr>
        <p:spPr>
          <a:xfrm>
            <a:off x="3425500" y="2089788"/>
            <a:ext cx="0" cy="232800"/>
          </a:xfrm>
          <a:prstGeom prst="straightConnector1">
            <a:avLst/>
          </a:prstGeom>
          <a:noFill/>
          <a:ln cap="flat" cmpd="sng" w="38100">
            <a:solidFill>
              <a:schemeClr val="dk2"/>
            </a:solidFill>
            <a:prstDash val="solid"/>
            <a:round/>
            <a:headEnd len="med" w="med" type="none"/>
            <a:tailEnd len="med" w="med" type="none"/>
          </a:ln>
        </p:spPr>
      </p:cxnSp>
      <p:sp>
        <p:nvSpPr>
          <p:cNvPr id="209" name="Google Shape;209;p42"/>
          <p:cNvSpPr txBox="1"/>
          <p:nvPr/>
        </p:nvSpPr>
        <p:spPr>
          <a:xfrm>
            <a:off x="2824725" y="1368350"/>
            <a:ext cx="13905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'62 Low density parity codes developed</a:t>
            </a:r>
            <a:endParaRPr i="1" sz="1000">
              <a:latin typeface="Roboto"/>
              <a:ea typeface="Roboto"/>
              <a:cs typeface="Roboto"/>
              <a:sym typeface="Roboto"/>
            </a:endParaRPr>
          </a:p>
        </p:txBody>
      </p:sp>
      <p:cxnSp>
        <p:nvCxnSpPr>
          <p:cNvPr id="210" name="Google Shape;210;p42"/>
          <p:cNvCxnSpPr/>
          <p:nvPr/>
        </p:nvCxnSpPr>
        <p:spPr>
          <a:xfrm>
            <a:off x="3994950" y="2089788"/>
            <a:ext cx="0" cy="232800"/>
          </a:xfrm>
          <a:prstGeom prst="straightConnector1">
            <a:avLst/>
          </a:prstGeom>
          <a:noFill/>
          <a:ln cap="flat" cmpd="sng" w="38100">
            <a:solidFill>
              <a:schemeClr val="dk2"/>
            </a:solidFill>
            <a:prstDash val="solid"/>
            <a:round/>
            <a:headEnd len="med" w="med" type="none"/>
            <a:tailEnd len="med" w="med" type="none"/>
          </a:ln>
        </p:spPr>
      </p:cxnSp>
      <p:sp>
        <p:nvSpPr>
          <p:cNvPr id="211" name="Google Shape;211;p42"/>
          <p:cNvSpPr txBox="1"/>
          <p:nvPr/>
        </p:nvSpPr>
        <p:spPr>
          <a:xfrm>
            <a:off x="3425500" y="3035425"/>
            <a:ext cx="1390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'67 Viterbi algorithm</a:t>
            </a:r>
            <a:endParaRPr i="1" sz="1000">
              <a:latin typeface="Roboto"/>
              <a:ea typeface="Roboto"/>
              <a:cs typeface="Roboto"/>
              <a:sym typeface="Roboto"/>
            </a:endParaRPr>
          </a:p>
        </p:txBody>
      </p:sp>
      <p:cxnSp>
        <p:nvCxnSpPr>
          <p:cNvPr id="212" name="Google Shape;212;p42"/>
          <p:cNvCxnSpPr/>
          <p:nvPr/>
        </p:nvCxnSpPr>
        <p:spPr>
          <a:xfrm>
            <a:off x="4354375" y="2106288"/>
            <a:ext cx="0" cy="232800"/>
          </a:xfrm>
          <a:prstGeom prst="straightConnector1">
            <a:avLst/>
          </a:prstGeom>
          <a:noFill/>
          <a:ln cap="flat" cmpd="sng" w="38100">
            <a:solidFill>
              <a:schemeClr val="dk2"/>
            </a:solidFill>
            <a:prstDash val="solid"/>
            <a:round/>
            <a:headEnd len="med" w="med" type="none"/>
            <a:tailEnd len="med" w="med" type="none"/>
          </a:ln>
        </p:spPr>
      </p:cxnSp>
      <p:sp>
        <p:nvSpPr>
          <p:cNvPr id="213" name="Google Shape;213;p42"/>
          <p:cNvSpPr txBox="1"/>
          <p:nvPr/>
        </p:nvSpPr>
        <p:spPr>
          <a:xfrm>
            <a:off x="3756175" y="503375"/>
            <a:ext cx="1390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'72 Discrete Cosine Transform developed</a:t>
            </a:r>
            <a:endParaRPr i="1" sz="1000">
              <a:latin typeface="Roboto"/>
              <a:ea typeface="Roboto"/>
              <a:cs typeface="Roboto"/>
              <a:sym typeface="Roboto"/>
            </a:endParaRPr>
          </a:p>
        </p:txBody>
      </p:sp>
      <p:cxnSp>
        <p:nvCxnSpPr>
          <p:cNvPr id="214" name="Google Shape;214;p42"/>
          <p:cNvCxnSpPr/>
          <p:nvPr/>
        </p:nvCxnSpPr>
        <p:spPr>
          <a:xfrm>
            <a:off x="4816000" y="2089788"/>
            <a:ext cx="0" cy="232800"/>
          </a:xfrm>
          <a:prstGeom prst="straightConnector1">
            <a:avLst/>
          </a:prstGeom>
          <a:noFill/>
          <a:ln cap="flat" cmpd="sng" w="38100">
            <a:solidFill>
              <a:schemeClr val="dk2"/>
            </a:solidFill>
            <a:prstDash val="solid"/>
            <a:round/>
            <a:headEnd len="med" w="med" type="none"/>
            <a:tailEnd len="med" w="med" type="none"/>
          </a:ln>
        </p:spPr>
      </p:cxnSp>
      <p:sp>
        <p:nvSpPr>
          <p:cNvPr id="215" name="Google Shape;215;p42"/>
          <p:cNvSpPr txBox="1"/>
          <p:nvPr/>
        </p:nvSpPr>
        <p:spPr>
          <a:xfrm>
            <a:off x="4354375" y="2517650"/>
            <a:ext cx="13905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'76 Arithmetic coding</a:t>
            </a:r>
            <a:endParaRPr i="1" sz="1000">
              <a:latin typeface="Roboto"/>
              <a:ea typeface="Roboto"/>
              <a:cs typeface="Roboto"/>
              <a:sym typeface="Roboto"/>
            </a:endParaRPr>
          </a:p>
        </p:txBody>
      </p:sp>
      <p:cxnSp>
        <p:nvCxnSpPr>
          <p:cNvPr id="216" name="Google Shape;216;p42"/>
          <p:cNvCxnSpPr/>
          <p:nvPr/>
        </p:nvCxnSpPr>
        <p:spPr>
          <a:xfrm>
            <a:off x="4910150" y="2089800"/>
            <a:ext cx="0" cy="232800"/>
          </a:xfrm>
          <a:prstGeom prst="straightConnector1">
            <a:avLst/>
          </a:prstGeom>
          <a:noFill/>
          <a:ln cap="flat" cmpd="sng" w="38100">
            <a:solidFill>
              <a:schemeClr val="dk2"/>
            </a:solidFill>
            <a:prstDash val="solid"/>
            <a:round/>
            <a:headEnd len="med" w="med" type="none"/>
            <a:tailEnd len="med" w="med" type="none"/>
          </a:ln>
        </p:spPr>
      </p:cxnSp>
      <p:sp>
        <p:nvSpPr>
          <p:cNvPr id="217" name="Google Shape;217;p42"/>
          <p:cNvSpPr txBox="1"/>
          <p:nvPr/>
        </p:nvSpPr>
        <p:spPr>
          <a:xfrm>
            <a:off x="4354375" y="1522250"/>
            <a:ext cx="126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'77 Lempel-Ziv</a:t>
            </a:r>
            <a:endParaRPr i="1" sz="1000">
              <a:latin typeface="Roboto"/>
              <a:ea typeface="Roboto"/>
              <a:cs typeface="Roboto"/>
              <a:sym typeface="Roboto"/>
            </a:endParaRPr>
          </a:p>
        </p:txBody>
      </p:sp>
      <p:cxnSp>
        <p:nvCxnSpPr>
          <p:cNvPr id="218" name="Google Shape;218;p42"/>
          <p:cNvCxnSpPr/>
          <p:nvPr/>
        </p:nvCxnSpPr>
        <p:spPr>
          <a:xfrm>
            <a:off x="6088400" y="2106300"/>
            <a:ext cx="0" cy="232800"/>
          </a:xfrm>
          <a:prstGeom prst="straightConnector1">
            <a:avLst/>
          </a:prstGeom>
          <a:noFill/>
          <a:ln cap="flat" cmpd="sng" w="38100">
            <a:solidFill>
              <a:schemeClr val="dk2"/>
            </a:solidFill>
            <a:prstDash val="solid"/>
            <a:round/>
            <a:headEnd len="med" w="med" type="none"/>
            <a:tailEnd len="med" w="med" type="none"/>
          </a:ln>
        </p:spPr>
      </p:cxnSp>
      <p:sp>
        <p:nvSpPr>
          <p:cNvPr id="219" name="Google Shape;219;p42"/>
          <p:cNvSpPr txBox="1"/>
          <p:nvPr/>
        </p:nvSpPr>
        <p:spPr>
          <a:xfrm>
            <a:off x="5425475" y="1215300"/>
            <a:ext cx="126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'89 </a:t>
            </a:r>
            <a:r>
              <a:rPr lang="en" sz="1000">
                <a:latin typeface="Source Code Pro"/>
                <a:ea typeface="Source Code Pro"/>
                <a:cs typeface="Source Code Pro"/>
                <a:sym typeface="Source Code Pro"/>
              </a:rPr>
              <a:t>zip</a:t>
            </a:r>
            <a:endParaRPr i="1" sz="1000">
              <a:latin typeface="Source Code Pro"/>
              <a:ea typeface="Source Code Pro"/>
              <a:cs typeface="Source Code Pro"/>
              <a:sym typeface="Source Code Pro"/>
            </a:endParaRPr>
          </a:p>
        </p:txBody>
      </p:sp>
      <p:cxnSp>
        <p:nvCxnSpPr>
          <p:cNvPr id="220" name="Google Shape;220;p42"/>
          <p:cNvCxnSpPr/>
          <p:nvPr/>
        </p:nvCxnSpPr>
        <p:spPr>
          <a:xfrm>
            <a:off x="6441350" y="2106300"/>
            <a:ext cx="0" cy="232800"/>
          </a:xfrm>
          <a:prstGeom prst="straightConnector1">
            <a:avLst/>
          </a:prstGeom>
          <a:noFill/>
          <a:ln cap="flat" cmpd="sng" w="38100">
            <a:solidFill>
              <a:schemeClr val="dk2"/>
            </a:solidFill>
            <a:prstDash val="solid"/>
            <a:round/>
            <a:headEnd len="med" w="med" type="none"/>
            <a:tailEnd len="med" w="med" type="none"/>
          </a:ln>
        </p:spPr>
      </p:cxnSp>
      <p:sp>
        <p:nvSpPr>
          <p:cNvPr id="221" name="Google Shape;221;p42"/>
          <p:cNvSpPr txBox="1"/>
          <p:nvPr/>
        </p:nvSpPr>
        <p:spPr>
          <a:xfrm>
            <a:off x="5849600" y="2856350"/>
            <a:ext cx="126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'93 Turbo codes</a:t>
            </a:r>
            <a:endParaRPr i="1" sz="1000">
              <a:latin typeface="Roboto"/>
              <a:ea typeface="Roboto"/>
              <a:cs typeface="Roboto"/>
              <a:sym typeface="Roboto"/>
            </a:endParaRPr>
          </a:p>
        </p:txBody>
      </p:sp>
      <p:cxnSp>
        <p:nvCxnSpPr>
          <p:cNvPr id="222" name="Google Shape;222;p42"/>
          <p:cNvCxnSpPr/>
          <p:nvPr/>
        </p:nvCxnSpPr>
        <p:spPr>
          <a:xfrm>
            <a:off x="6542000" y="2106300"/>
            <a:ext cx="0" cy="232800"/>
          </a:xfrm>
          <a:prstGeom prst="straightConnector1">
            <a:avLst/>
          </a:prstGeom>
          <a:noFill/>
          <a:ln cap="flat" cmpd="sng" w="38100">
            <a:solidFill>
              <a:schemeClr val="dk2"/>
            </a:solidFill>
            <a:prstDash val="solid"/>
            <a:round/>
            <a:headEnd len="med" w="med" type="none"/>
            <a:tailEnd len="med" w="med" type="none"/>
          </a:ln>
        </p:spPr>
      </p:cxnSp>
      <p:sp>
        <p:nvSpPr>
          <p:cNvPr id="223" name="Google Shape;223;p42"/>
          <p:cNvSpPr txBox="1"/>
          <p:nvPr/>
        </p:nvSpPr>
        <p:spPr>
          <a:xfrm>
            <a:off x="5908100" y="1492450"/>
            <a:ext cx="1267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'94 Burrows-Wheeler </a:t>
            </a:r>
            <a:r>
              <a:rPr lang="en" sz="1000">
                <a:latin typeface="Source Code Pro"/>
                <a:ea typeface="Source Code Pro"/>
                <a:cs typeface="Source Code Pro"/>
                <a:sym typeface="Source Code Pro"/>
              </a:rPr>
              <a:t>bzip2</a:t>
            </a:r>
            <a:endParaRPr i="1" sz="1000">
              <a:latin typeface="Source Code Pro"/>
              <a:ea typeface="Source Code Pro"/>
              <a:cs typeface="Source Code Pro"/>
              <a:sym typeface="Source Code Pro"/>
            </a:endParaRPr>
          </a:p>
        </p:txBody>
      </p:sp>
      <p:cxnSp>
        <p:nvCxnSpPr>
          <p:cNvPr id="224" name="Google Shape;224;p42"/>
          <p:cNvCxnSpPr/>
          <p:nvPr/>
        </p:nvCxnSpPr>
        <p:spPr>
          <a:xfrm>
            <a:off x="7626050" y="2089800"/>
            <a:ext cx="0" cy="232800"/>
          </a:xfrm>
          <a:prstGeom prst="straightConnector1">
            <a:avLst/>
          </a:prstGeom>
          <a:noFill/>
          <a:ln cap="flat" cmpd="sng" w="38100">
            <a:solidFill>
              <a:schemeClr val="dk2"/>
            </a:solidFill>
            <a:prstDash val="solid"/>
            <a:round/>
            <a:headEnd len="med" w="med" type="none"/>
            <a:tailEnd len="med" w="med" type="none"/>
          </a:ln>
        </p:spPr>
      </p:cxnSp>
      <p:sp>
        <p:nvSpPr>
          <p:cNvPr id="225" name="Google Shape;225;p42"/>
          <p:cNvSpPr txBox="1"/>
          <p:nvPr/>
        </p:nvSpPr>
        <p:spPr>
          <a:xfrm>
            <a:off x="6966000" y="1086500"/>
            <a:ext cx="12678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'06 Asymmetric numeral systems </a:t>
            </a:r>
            <a:r>
              <a:rPr lang="en" sz="1000">
                <a:latin typeface="Source Code Pro"/>
                <a:ea typeface="Source Code Pro"/>
                <a:cs typeface="Source Code Pro"/>
                <a:sym typeface="Source Code Pro"/>
              </a:rPr>
              <a:t>zstandard</a:t>
            </a:r>
            <a:endParaRPr i="1" sz="1000">
              <a:latin typeface="Source Code Pro"/>
              <a:ea typeface="Source Code Pro"/>
              <a:cs typeface="Source Code Pro"/>
              <a:sym typeface="Source Code Pro"/>
            </a:endParaRPr>
          </a:p>
        </p:txBody>
      </p:sp>
      <p:sp>
        <p:nvSpPr>
          <p:cNvPr id="226" name="Google Shape;226;p42"/>
          <p:cNvSpPr txBox="1"/>
          <p:nvPr/>
        </p:nvSpPr>
        <p:spPr>
          <a:xfrm>
            <a:off x="7196900" y="2659550"/>
            <a:ext cx="126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'08 polar codes</a:t>
            </a:r>
            <a:endParaRPr i="1" sz="1000">
              <a:latin typeface="Source Code Pro"/>
              <a:ea typeface="Source Code Pro"/>
              <a:cs typeface="Source Code Pro"/>
              <a:sym typeface="Source Code Pro"/>
            </a:endParaRPr>
          </a:p>
        </p:txBody>
      </p:sp>
      <p:sp>
        <p:nvSpPr>
          <p:cNvPr id="227" name="Google Shape;227;p42"/>
          <p:cNvSpPr txBox="1"/>
          <p:nvPr/>
        </p:nvSpPr>
        <p:spPr>
          <a:xfrm>
            <a:off x="-84250" y="2248500"/>
            <a:ext cx="1620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Roboto"/>
                <a:ea typeface="Roboto"/>
                <a:cs typeface="Roboto"/>
                <a:sym typeface="Roboto"/>
              </a:rPr>
              <a:t>1870s Boltzmann's H-theorem and Gibbs entropy</a:t>
            </a:r>
            <a:endParaRPr i="1" sz="10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3"/>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Noisy Channels</a:t>
            </a:r>
            <a:endParaRPr/>
          </a:p>
        </p:txBody>
      </p:sp>
      <p:sp>
        <p:nvSpPr>
          <p:cNvPr id="233" name="Google Shape;233;p43"/>
          <p:cNvSpPr txBox="1"/>
          <p:nvPr/>
        </p:nvSpPr>
        <p:spPr>
          <a:xfrm>
            <a:off x="2536200" y="4011275"/>
            <a:ext cx="66078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666666"/>
                </a:solidFill>
                <a:latin typeface="Source Code Pro"/>
                <a:ea typeface="Source Code Pro"/>
                <a:cs typeface="Source Code Pro"/>
                <a:sym typeface="Source Code Pro"/>
              </a:rPr>
              <a:t>From MacKay's Information Theory, Inference and Learning Algorithms</a:t>
            </a:r>
            <a:endParaRPr sz="1000">
              <a:solidFill>
                <a:srgbClr val="666666"/>
              </a:solidFill>
              <a:latin typeface="Source Code Pro"/>
              <a:ea typeface="Source Code Pro"/>
              <a:cs typeface="Source Code Pro"/>
              <a:sym typeface="Source Code Pro"/>
            </a:endParaRPr>
          </a:p>
        </p:txBody>
      </p:sp>
      <p:pic>
        <p:nvPicPr>
          <p:cNvPr id="234" name="Google Shape;234;p43"/>
          <p:cNvPicPr preferRelativeResize="0"/>
          <p:nvPr/>
        </p:nvPicPr>
        <p:blipFill>
          <a:blip r:embed="rId3">
            <a:alphaModFix/>
          </a:blip>
          <a:stretch>
            <a:fillRect/>
          </a:stretch>
        </p:blipFill>
        <p:spPr>
          <a:xfrm>
            <a:off x="152400" y="1012900"/>
            <a:ext cx="8839199" cy="20504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4"/>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Repetition Codes</a:t>
            </a:r>
            <a:endParaRPr/>
          </a:p>
        </p:txBody>
      </p:sp>
      <p:sp>
        <p:nvSpPr>
          <p:cNvPr id="240" name="Google Shape;240;p44"/>
          <p:cNvSpPr txBox="1"/>
          <p:nvPr/>
        </p:nvSpPr>
        <p:spPr>
          <a:xfrm>
            <a:off x="2536200" y="4011275"/>
            <a:ext cx="66078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666666"/>
                </a:solidFill>
                <a:latin typeface="Source Code Pro"/>
                <a:ea typeface="Source Code Pro"/>
                <a:cs typeface="Source Code Pro"/>
                <a:sym typeface="Source Code Pro"/>
              </a:rPr>
              <a:t>From MacKay's Information Theory, Inference and Learning Algorithms</a:t>
            </a:r>
            <a:endParaRPr sz="1000">
              <a:solidFill>
                <a:srgbClr val="666666"/>
              </a:solidFill>
              <a:latin typeface="Source Code Pro"/>
              <a:ea typeface="Source Code Pro"/>
              <a:cs typeface="Source Code Pro"/>
              <a:sym typeface="Source Code Pro"/>
            </a:endParaRPr>
          </a:p>
        </p:txBody>
      </p:sp>
      <p:pic>
        <p:nvPicPr>
          <p:cNvPr id="241" name="Google Shape;241;p44"/>
          <p:cNvPicPr preferRelativeResize="0"/>
          <p:nvPr/>
        </p:nvPicPr>
        <p:blipFill>
          <a:blip r:embed="rId3">
            <a:alphaModFix/>
          </a:blip>
          <a:stretch>
            <a:fillRect/>
          </a:stretch>
        </p:blipFill>
        <p:spPr>
          <a:xfrm>
            <a:off x="822275" y="133375"/>
            <a:ext cx="7499455" cy="37064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idx="1" type="body"/>
          </p:nvPr>
        </p:nvSpPr>
        <p:spPr>
          <a:xfrm>
            <a:off x="311700" y="4521400"/>
            <a:ext cx="7979400" cy="460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Repetition Codes</a:t>
            </a:r>
            <a:endParaRPr/>
          </a:p>
        </p:txBody>
      </p:sp>
      <p:sp>
        <p:nvSpPr>
          <p:cNvPr id="247" name="Google Shape;247;p45"/>
          <p:cNvSpPr txBox="1"/>
          <p:nvPr/>
        </p:nvSpPr>
        <p:spPr>
          <a:xfrm>
            <a:off x="2536200" y="4011275"/>
            <a:ext cx="66078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666666"/>
                </a:solidFill>
                <a:latin typeface="Source Code Pro"/>
                <a:ea typeface="Source Code Pro"/>
                <a:cs typeface="Source Code Pro"/>
                <a:sym typeface="Source Code Pro"/>
              </a:rPr>
              <a:t>From MacKay's Information Theory, Inference and Learning Algorithms</a:t>
            </a:r>
            <a:endParaRPr sz="1000">
              <a:solidFill>
                <a:srgbClr val="666666"/>
              </a:solidFill>
              <a:latin typeface="Source Code Pro"/>
              <a:ea typeface="Source Code Pro"/>
              <a:cs typeface="Source Code Pro"/>
              <a:sym typeface="Source Code Pro"/>
            </a:endParaRPr>
          </a:p>
        </p:txBody>
      </p:sp>
      <p:pic>
        <p:nvPicPr>
          <p:cNvPr id="248" name="Google Shape;248;p45"/>
          <p:cNvPicPr preferRelativeResize="0"/>
          <p:nvPr/>
        </p:nvPicPr>
        <p:blipFill>
          <a:blip r:embed="rId3">
            <a:alphaModFix/>
          </a:blip>
          <a:stretch>
            <a:fillRect/>
          </a:stretch>
        </p:blipFill>
        <p:spPr>
          <a:xfrm>
            <a:off x="152400" y="598825"/>
            <a:ext cx="8839201" cy="32132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Noisy Channel Coding Theorem</a:t>
            </a:r>
            <a:endParaRPr/>
          </a:p>
        </p:txBody>
      </p:sp>
      <p:pic>
        <p:nvPicPr>
          <p:cNvPr id="254" name="Google Shape;254;p46"/>
          <p:cNvPicPr preferRelativeResize="0"/>
          <p:nvPr/>
        </p:nvPicPr>
        <p:blipFill>
          <a:blip r:embed="rId3">
            <a:alphaModFix/>
          </a:blip>
          <a:stretch>
            <a:fillRect/>
          </a:stretch>
        </p:blipFill>
        <p:spPr>
          <a:xfrm>
            <a:off x="152400" y="1458200"/>
            <a:ext cx="8839201" cy="3224329"/>
          </a:xfrm>
          <a:prstGeom prst="rect">
            <a:avLst/>
          </a:prstGeom>
          <a:noFill/>
          <a:ln>
            <a:noFill/>
          </a:ln>
        </p:spPr>
      </p:pic>
      <p:sp>
        <p:nvSpPr>
          <p:cNvPr id="255" name="Google Shape;255;p46"/>
          <p:cNvSpPr txBox="1"/>
          <p:nvPr/>
        </p:nvSpPr>
        <p:spPr>
          <a:xfrm>
            <a:off x="2536200" y="4773275"/>
            <a:ext cx="66078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1000">
                <a:solidFill>
                  <a:srgbClr val="666666"/>
                </a:solidFill>
                <a:latin typeface="Source Code Pro"/>
                <a:ea typeface="Source Code Pro"/>
                <a:cs typeface="Source Code Pro"/>
                <a:sym typeface="Source Code Pro"/>
              </a:rPr>
              <a:t>From MacKay's Information Theory, Inference and Learning Algorithms</a:t>
            </a:r>
            <a:endParaRPr sz="1000">
              <a:solidFill>
                <a:srgbClr val="666666"/>
              </a:solidFill>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Where to get Help</a:t>
            </a:r>
            <a:endParaRPr/>
          </a:p>
        </p:txBody>
      </p:sp>
      <p:pic>
        <p:nvPicPr>
          <p:cNvPr id="261" name="Google Shape;261;p47"/>
          <p:cNvPicPr preferRelativeResize="0"/>
          <p:nvPr/>
        </p:nvPicPr>
        <p:blipFill>
          <a:blip r:embed="rId3">
            <a:alphaModFix/>
          </a:blip>
          <a:stretch>
            <a:fillRect/>
          </a:stretch>
        </p:blipFill>
        <p:spPr>
          <a:xfrm>
            <a:off x="2577763" y="1366425"/>
            <a:ext cx="2830125" cy="3714075"/>
          </a:xfrm>
          <a:prstGeom prst="rect">
            <a:avLst/>
          </a:prstGeom>
          <a:noFill/>
          <a:ln>
            <a:noFill/>
          </a:ln>
        </p:spPr>
      </p:pic>
      <p:pic>
        <p:nvPicPr>
          <p:cNvPr id="262" name="Google Shape;262;p47"/>
          <p:cNvPicPr preferRelativeResize="0"/>
          <p:nvPr/>
        </p:nvPicPr>
        <p:blipFill>
          <a:blip r:embed="rId4">
            <a:alphaModFix/>
          </a:blip>
          <a:stretch>
            <a:fillRect/>
          </a:stretch>
        </p:blipFill>
        <p:spPr>
          <a:xfrm>
            <a:off x="154750" y="1366425"/>
            <a:ext cx="2275360" cy="3714075"/>
          </a:xfrm>
          <a:prstGeom prst="rect">
            <a:avLst/>
          </a:prstGeom>
          <a:noFill/>
          <a:ln>
            <a:noFill/>
          </a:ln>
        </p:spPr>
      </p:pic>
      <p:pic>
        <p:nvPicPr>
          <p:cNvPr id="263" name="Google Shape;263;p47">
            <a:hlinkClick r:id="rId5"/>
          </p:cNvPr>
          <p:cNvPicPr preferRelativeResize="0"/>
          <p:nvPr/>
        </p:nvPicPr>
        <p:blipFill>
          <a:blip r:embed="rId6">
            <a:alphaModFix/>
          </a:blip>
          <a:stretch>
            <a:fillRect/>
          </a:stretch>
        </p:blipFill>
        <p:spPr>
          <a:xfrm>
            <a:off x="5555563" y="1852800"/>
            <a:ext cx="3431312" cy="28016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Information Theory is about measurements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Cast of Characters</a:t>
            </a:r>
            <a:endParaRPr/>
          </a:p>
        </p:txBody>
      </p:sp>
      <p:sp>
        <p:nvSpPr>
          <p:cNvPr id="274" name="Google Shape;274;p49"/>
          <p:cNvSpPr txBox="1"/>
          <p:nvPr/>
        </p:nvSpPr>
        <p:spPr>
          <a:xfrm>
            <a:off x="259225" y="1483775"/>
            <a:ext cx="2466900" cy="3417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Google Sans"/>
                <a:ea typeface="Google Sans"/>
                <a:cs typeface="Google Sans"/>
                <a:sym typeface="Google Sans"/>
              </a:rPr>
              <a:t>weight of evidence</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relative 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mutual information</a:t>
            </a:r>
            <a:endParaRPr>
              <a:latin typeface="Google Sans"/>
              <a:ea typeface="Google Sans"/>
              <a:cs typeface="Google Sans"/>
              <a:sym typeface="Google Sans"/>
            </a:endParaRPr>
          </a:p>
        </p:txBody>
      </p:sp>
      <p:sp>
        <p:nvSpPr>
          <p:cNvPr id="275" name="Google Shape;275;p49"/>
          <p:cNvSpPr txBox="1"/>
          <p:nvPr/>
        </p:nvSpPr>
        <p:spPr>
          <a:xfrm>
            <a:off x="2915625" y="1452975"/>
            <a:ext cx="60735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measures the importance of data for distinguishing hypotheses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a "distance" between two distributions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a "complexity" of a distribution</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the "complexity" of the interaction between two random variables.</a:t>
            </a:r>
            <a:endParaRPr>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Cast of Characters</a:t>
            </a:r>
            <a:endParaRPr/>
          </a:p>
        </p:txBody>
      </p:sp>
      <p:pic>
        <p:nvPicPr>
          <p:cNvPr id="281" name="Google Shape;281;p50"/>
          <p:cNvPicPr preferRelativeResize="0"/>
          <p:nvPr/>
        </p:nvPicPr>
        <p:blipFill>
          <a:blip r:embed="rId3">
            <a:alphaModFix/>
          </a:blip>
          <a:stretch>
            <a:fillRect/>
          </a:stretch>
        </p:blipFill>
        <p:spPr>
          <a:xfrm>
            <a:off x="3092711" y="2311071"/>
            <a:ext cx="4266985" cy="856859"/>
          </a:xfrm>
          <a:prstGeom prst="rect">
            <a:avLst/>
          </a:prstGeom>
          <a:noFill/>
          <a:ln>
            <a:noFill/>
          </a:ln>
        </p:spPr>
      </p:pic>
      <p:pic>
        <p:nvPicPr>
          <p:cNvPr id="282" name="Google Shape;282;p50"/>
          <p:cNvPicPr preferRelativeResize="0"/>
          <p:nvPr/>
        </p:nvPicPr>
        <p:blipFill>
          <a:blip r:embed="rId4">
            <a:alphaModFix/>
          </a:blip>
          <a:stretch>
            <a:fillRect/>
          </a:stretch>
        </p:blipFill>
        <p:spPr>
          <a:xfrm>
            <a:off x="3092700" y="3316181"/>
            <a:ext cx="4128503" cy="778963"/>
          </a:xfrm>
          <a:prstGeom prst="rect">
            <a:avLst/>
          </a:prstGeom>
          <a:noFill/>
          <a:ln>
            <a:noFill/>
          </a:ln>
        </p:spPr>
      </p:pic>
      <p:pic>
        <p:nvPicPr>
          <p:cNvPr id="283" name="Google Shape;283;p50"/>
          <p:cNvPicPr preferRelativeResize="0"/>
          <p:nvPr/>
        </p:nvPicPr>
        <p:blipFill>
          <a:blip r:embed="rId5">
            <a:alphaModFix/>
          </a:blip>
          <a:stretch>
            <a:fillRect/>
          </a:stretch>
        </p:blipFill>
        <p:spPr>
          <a:xfrm>
            <a:off x="3092711" y="4201141"/>
            <a:ext cx="5954738" cy="856859"/>
          </a:xfrm>
          <a:prstGeom prst="rect">
            <a:avLst/>
          </a:prstGeom>
          <a:noFill/>
          <a:ln>
            <a:noFill/>
          </a:ln>
        </p:spPr>
      </p:pic>
      <p:pic>
        <p:nvPicPr>
          <p:cNvPr id="284" name="Google Shape;284;p50"/>
          <p:cNvPicPr preferRelativeResize="0"/>
          <p:nvPr/>
        </p:nvPicPr>
        <p:blipFill>
          <a:blip r:embed="rId6">
            <a:alphaModFix/>
          </a:blip>
          <a:stretch>
            <a:fillRect/>
          </a:stretch>
        </p:blipFill>
        <p:spPr>
          <a:xfrm>
            <a:off x="3092700" y="1305950"/>
            <a:ext cx="3089886" cy="856859"/>
          </a:xfrm>
          <a:prstGeom prst="rect">
            <a:avLst/>
          </a:prstGeom>
          <a:noFill/>
          <a:ln>
            <a:noFill/>
          </a:ln>
        </p:spPr>
      </p:pic>
      <p:sp>
        <p:nvSpPr>
          <p:cNvPr id="285" name="Google Shape;285;p50"/>
          <p:cNvSpPr txBox="1"/>
          <p:nvPr/>
        </p:nvSpPr>
        <p:spPr>
          <a:xfrm>
            <a:off x="259225" y="1483775"/>
            <a:ext cx="2466900" cy="3417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Google Sans"/>
                <a:ea typeface="Google Sans"/>
                <a:cs typeface="Google Sans"/>
                <a:sym typeface="Google Sans"/>
              </a:rPr>
              <a:t>weight of evidence</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relative 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mutual information</a:t>
            </a:r>
            <a:endParaRPr>
              <a:latin typeface="Google Sans"/>
              <a:ea typeface="Google Sans"/>
              <a:cs typeface="Google Sans"/>
              <a:sym typeface="Google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1"/>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Weight of Evidence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a:t>
            </a:r>
            <a:endParaRPr/>
          </a:p>
        </p:txBody>
      </p:sp>
      <p:sp>
        <p:nvSpPr>
          <p:cNvPr id="296" name="Google Shape;296;p52"/>
          <p:cNvSpPr txBox="1"/>
          <p:nvPr/>
        </p:nvSpPr>
        <p:spPr>
          <a:xfrm>
            <a:off x="393300" y="4397700"/>
            <a:ext cx="835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Bayes Rule = Joint probability sliced two ways + algebra.</a:t>
            </a:r>
            <a:endParaRPr sz="2400">
              <a:latin typeface="Google Sans"/>
              <a:ea typeface="Google Sans"/>
              <a:cs typeface="Google Sans"/>
              <a:sym typeface="Google Sans"/>
            </a:endParaRPr>
          </a:p>
        </p:txBody>
      </p:sp>
      <p:pic>
        <p:nvPicPr>
          <p:cNvPr id="297" name="Google Shape;297;p52"/>
          <p:cNvPicPr preferRelativeResize="0"/>
          <p:nvPr/>
        </p:nvPicPr>
        <p:blipFill>
          <a:blip r:embed="rId3">
            <a:alphaModFix/>
          </a:blip>
          <a:stretch>
            <a:fillRect/>
          </a:stretch>
        </p:blipFill>
        <p:spPr>
          <a:xfrm>
            <a:off x="152400" y="1518350"/>
            <a:ext cx="8839200" cy="455745"/>
          </a:xfrm>
          <a:prstGeom prst="rect">
            <a:avLst/>
          </a:prstGeom>
          <a:noFill/>
          <a:ln>
            <a:noFill/>
          </a:ln>
        </p:spPr>
      </p:pic>
      <p:pic>
        <p:nvPicPr>
          <p:cNvPr id="298" name="Google Shape;298;p52"/>
          <p:cNvPicPr preferRelativeResize="0"/>
          <p:nvPr/>
        </p:nvPicPr>
        <p:blipFill>
          <a:blip r:embed="rId4">
            <a:alphaModFix/>
          </a:blip>
          <a:stretch>
            <a:fillRect/>
          </a:stretch>
        </p:blipFill>
        <p:spPr>
          <a:xfrm>
            <a:off x="310863" y="2367820"/>
            <a:ext cx="8522331" cy="174340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a:t>
            </a:r>
            <a:endParaRPr/>
          </a:p>
        </p:txBody>
      </p:sp>
      <p:sp>
        <p:nvSpPr>
          <p:cNvPr id="304" name="Google Shape;304;p53"/>
          <p:cNvSpPr txBox="1"/>
          <p:nvPr/>
        </p:nvSpPr>
        <p:spPr>
          <a:xfrm>
            <a:off x="393300" y="4397700"/>
            <a:ext cx="835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What if H is hypothesis, D is data?</a:t>
            </a:r>
            <a:endParaRPr sz="2400">
              <a:latin typeface="Google Sans"/>
              <a:ea typeface="Google Sans"/>
              <a:cs typeface="Google Sans"/>
              <a:sym typeface="Google Sans"/>
            </a:endParaRPr>
          </a:p>
        </p:txBody>
      </p:sp>
      <p:pic>
        <p:nvPicPr>
          <p:cNvPr id="305" name="Google Shape;305;p53"/>
          <p:cNvPicPr preferRelativeResize="0"/>
          <p:nvPr/>
        </p:nvPicPr>
        <p:blipFill>
          <a:blip r:embed="rId3">
            <a:alphaModFix/>
          </a:blip>
          <a:stretch>
            <a:fillRect/>
          </a:stretch>
        </p:blipFill>
        <p:spPr>
          <a:xfrm>
            <a:off x="152400" y="2011038"/>
            <a:ext cx="8839199" cy="17292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a:t>
            </a:r>
            <a:endParaRPr/>
          </a:p>
        </p:txBody>
      </p:sp>
      <p:pic>
        <p:nvPicPr>
          <p:cNvPr id="311" name="Google Shape;311;p54"/>
          <p:cNvPicPr preferRelativeResize="0"/>
          <p:nvPr/>
        </p:nvPicPr>
        <p:blipFill>
          <a:blip r:embed="rId3">
            <a:alphaModFix/>
          </a:blip>
          <a:stretch>
            <a:fillRect/>
          </a:stretch>
        </p:blipFill>
        <p:spPr>
          <a:xfrm>
            <a:off x="166000" y="2279188"/>
            <a:ext cx="8839199" cy="1729218"/>
          </a:xfrm>
          <a:prstGeom prst="rect">
            <a:avLst/>
          </a:prstGeom>
          <a:noFill/>
          <a:ln>
            <a:noFill/>
          </a:ln>
        </p:spPr>
      </p:pic>
      <p:sp>
        <p:nvSpPr>
          <p:cNvPr id="312" name="Google Shape;312;p54"/>
          <p:cNvSpPr txBox="1"/>
          <p:nvPr/>
        </p:nvSpPr>
        <p:spPr>
          <a:xfrm>
            <a:off x="112050" y="2055825"/>
            <a:ext cx="2967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The probability a hypothesis is true given the data</a:t>
            </a:r>
            <a:endParaRPr>
              <a:solidFill>
                <a:schemeClr val="accent5"/>
              </a:solidFill>
              <a:latin typeface="Google Sans"/>
              <a:ea typeface="Google Sans"/>
              <a:cs typeface="Google Sans"/>
              <a:sym typeface="Google Sans"/>
            </a:endParaRPr>
          </a:p>
        </p:txBody>
      </p:sp>
      <p:sp>
        <p:nvSpPr>
          <p:cNvPr id="313" name="Google Shape;313;p54"/>
          <p:cNvSpPr txBox="1"/>
          <p:nvPr/>
        </p:nvSpPr>
        <p:spPr>
          <a:xfrm>
            <a:off x="3839825" y="1591475"/>
            <a:ext cx="29676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The probability of the data given the hypothesis</a:t>
            </a:r>
            <a:endParaRPr>
              <a:solidFill>
                <a:schemeClr val="accent4"/>
              </a:solidFill>
              <a:latin typeface="Google Sans"/>
              <a:ea typeface="Google Sans"/>
              <a:cs typeface="Google Sans"/>
              <a:sym typeface="Google Sans"/>
            </a:endParaRPr>
          </a:p>
        </p:txBody>
      </p:sp>
      <p:sp>
        <p:nvSpPr>
          <p:cNvPr id="314" name="Google Shape;314;p54"/>
          <p:cNvSpPr txBox="1"/>
          <p:nvPr/>
        </p:nvSpPr>
        <p:spPr>
          <a:xfrm>
            <a:off x="7084525" y="1591475"/>
            <a:ext cx="1645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The probability of the hypothesis</a:t>
            </a:r>
            <a:endParaRPr>
              <a:solidFill>
                <a:schemeClr val="accent1"/>
              </a:solidFill>
              <a:latin typeface="Google Sans"/>
              <a:ea typeface="Google Sans"/>
              <a:cs typeface="Google Sans"/>
              <a:sym typeface="Google Sans"/>
            </a:endParaRPr>
          </a:p>
        </p:txBody>
      </p:sp>
      <p:sp>
        <p:nvSpPr>
          <p:cNvPr id="315" name="Google Shape;315;p54"/>
          <p:cNvSpPr txBox="1"/>
          <p:nvPr/>
        </p:nvSpPr>
        <p:spPr>
          <a:xfrm>
            <a:off x="5547550" y="4080525"/>
            <a:ext cx="1645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The probability of the data</a:t>
            </a:r>
            <a:endParaRPr>
              <a:latin typeface="Google Sans"/>
              <a:ea typeface="Google Sans"/>
              <a:cs typeface="Google Sans"/>
              <a:sym typeface="Google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5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a:t>
            </a:r>
            <a:endParaRPr/>
          </a:p>
        </p:txBody>
      </p:sp>
      <p:pic>
        <p:nvPicPr>
          <p:cNvPr id="321" name="Google Shape;321;p55"/>
          <p:cNvPicPr preferRelativeResize="0"/>
          <p:nvPr/>
        </p:nvPicPr>
        <p:blipFill>
          <a:blip r:embed="rId3">
            <a:alphaModFix/>
          </a:blip>
          <a:stretch>
            <a:fillRect/>
          </a:stretch>
        </p:blipFill>
        <p:spPr>
          <a:xfrm>
            <a:off x="166000" y="2279188"/>
            <a:ext cx="8839199" cy="1729218"/>
          </a:xfrm>
          <a:prstGeom prst="rect">
            <a:avLst/>
          </a:prstGeom>
          <a:noFill/>
          <a:ln>
            <a:noFill/>
          </a:ln>
        </p:spPr>
      </p:pic>
      <p:sp>
        <p:nvSpPr>
          <p:cNvPr id="322" name="Google Shape;322;p55"/>
          <p:cNvSpPr txBox="1"/>
          <p:nvPr/>
        </p:nvSpPr>
        <p:spPr>
          <a:xfrm>
            <a:off x="166000" y="22077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Probability</a:t>
            </a:r>
            <a:endParaRPr>
              <a:solidFill>
                <a:schemeClr val="accent5"/>
              </a:solidFill>
              <a:latin typeface="Google Sans"/>
              <a:ea typeface="Google Sans"/>
              <a:cs typeface="Google Sans"/>
              <a:sym typeface="Google Sans"/>
            </a:endParaRPr>
          </a:p>
        </p:txBody>
      </p:sp>
      <p:sp>
        <p:nvSpPr>
          <p:cNvPr id="323" name="Google Shape;323;p55"/>
          <p:cNvSpPr txBox="1"/>
          <p:nvPr/>
        </p:nvSpPr>
        <p:spPr>
          <a:xfrm>
            <a:off x="3839825"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Likelihood</a:t>
            </a:r>
            <a:endParaRPr>
              <a:solidFill>
                <a:schemeClr val="accent4"/>
              </a:solidFill>
              <a:latin typeface="Google Sans"/>
              <a:ea typeface="Google Sans"/>
              <a:cs typeface="Google Sans"/>
              <a:sym typeface="Google Sans"/>
            </a:endParaRPr>
          </a:p>
        </p:txBody>
      </p:sp>
      <p:sp>
        <p:nvSpPr>
          <p:cNvPr id="324" name="Google Shape;324;p55"/>
          <p:cNvSpPr txBox="1"/>
          <p:nvPr/>
        </p:nvSpPr>
        <p:spPr>
          <a:xfrm>
            <a:off x="7084525" y="15914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Probability</a:t>
            </a:r>
            <a:endParaRPr>
              <a:solidFill>
                <a:schemeClr val="accent1"/>
              </a:solidFill>
              <a:latin typeface="Google Sans"/>
              <a:ea typeface="Google Sans"/>
              <a:cs typeface="Google Sans"/>
              <a:sym typeface="Google Sans"/>
            </a:endParaRPr>
          </a:p>
        </p:txBody>
      </p:sp>
      <p:sp>
        <p:nvSpPr>
          <p:cNvPr id="325" name="Google Shape;325;p55"/>
          <p:cNvSpPr txBox="1"/>
          <p:nvPr/>
        </p:nvSpPr>
        <p:spPr>
          <a:xfrm>
            <a:off x="5547550" y="4080525"/>
            <a:ext cx="1645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Marginal Likelihood</a:t>
            </a:r>
            <a:endParaRPr>
              <a:latin typeface="Google Sans"/>
              <a:ea typeface="Google Sans"/>
              <a:cs typeface="Google Sans"/>
              <a:sym typeface="Google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5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Factor</a:t>
            </a:r>
            <a:endParaRPr/>
          </a:p>
        </p:txBody>
      </p:sp>
      <p:sp>
        <p:nvSpPr>
          <p:cNvPr id="331" name="Google Shape;331;p56"/>
          <p:cNvSpPr txBox="1"/>
          <p:nvPr/>
        </p:nvSpPr>
        <p:spPr>
          <a:xfrm>
            <a:off x="166000"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Odds</a:t>
            </a:r>
            <a:endParaRPr>
              <a:solidFill>
                <a:schemeClr val="accent5"/>
              </a:solidFill>
              <a:latin typeface="Google Sans"/>
              <a:ea typeface="Google Sans"/>
              <a:cs typeface="Google Sans"/>
              <a:sym typeface="Google Sans"/>
            </a:endParaRPr>
          </a:p>
        </p:txBody>
      </p:sp>
      <p:sp>
        <p:nvSpPr>
          <p:cNvPr id="332" name="Google Shape;332;p56"/>
          <p:cNvSpPr txBox="1"/>
          <p:nvPr/>
        </p:nvSpPr>
        <p:spPr>
          <a:xfrm>
            <a:off x="3839825"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Bayes Factor</a:t>
            </a:r>
            <a:endParaRPr>
              <a:solidFill>
                <a:schemeClr val="accent4"/>
              </a:solidFill>
              <a:latin typeface="Google Sans"/>
              <a:ea typeface="Google Sans"/>
              <a:cs typeface="Google Sans"/>
              <a:sym typeface="Google Sans"/>
            </a:endParaRPr>
          </a:p>
        </p:txBody>
      </p:sp>
      <p:sp>
        <p:nvSpPr>
          <p:cNvPr id="333" name="Google Shape;333;p56"/>
          <p:cNvSpPr txBox="1"/>
          <p:nvPr/>
        </p:nvSpPr>
        <p:spPr>
          <a:xfrm>
            <a:off x="7084525" y="15914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Odds</a:t>
            </a:r>
            <a:endParaRPr>
              <a:solidFill>
                <a:schemeClr val="accent1"/>
              </a:solidFill>
              <a:latin typeface="Google Sans"/>
              <a:ea typeface="Google Sans"/>
              <a:cs typeface="Google Sans"/>
              <a:sym typeface="Google Sans"/>
            </a:endParaRPr>
          </a:p>
        </p:txBody>
      </p:sp>
      <p:pic>
        <p:nvPicPr>
          <p:cNvPr id="334" name="Google Shape;334;p56"/>
          <p:cNvPicPr preferRelativeResize="0"/>
          <p:nvPr/>
        </p:nvPicPr>
        <p:blipFill>
          <a:blip r:embed="rId3">
            <a:alphaModFix/>
          </a:blip>
          <a:stretch>
            <a:fillRect/>
          </a:stretch>
        </p:blipFill>
        <p:spPr>
          <a:xfrm>
            <a:off x="152400" y="2144075"/>
            <a:ext cx="8839202" cy="151419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Factor</a:t>
            </a:r>
            <a:endParaRPr/>
          </a:p>
        </p:txBody>
      </p:sp>
      <p:sp>
        <p:nvSpPr>
          <p:cNvPr id="340" name="Google Shape;340;p57"/>
          <p:cNvSpPr txBox="1"/>
          <p:nvPr/>
        </p:nvSpPr>
        <p:spPr>
          <a:xfrm>
            <a:off x="166000"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Log Odds</a:t>
            </a:r>
            <a:endParaRPr>
              <a:solidFill>
                <a:schemeClr val="accent5"/>
              </a:solidFill>
              <a:latin typeface="Google Sans"/>
              <a:ea typeface="Google Sans"/>
              <a:cs typeface="Google Sans"/>
              <a:sym typeface="Google Sans"/>
            </a:endParaRPr>
          </a:p>
        </p:txBody>
      </p:sp>
      <p:sp>
        <p:nvSpPr>
          <p:cNvPr id="341" name="Google Shape;341;p57"/>
          <p:cNvSpPr txBox="1"/>
          <p:nvPr/>
        </p:nvSpPr>
        <p:spPr>
          <a:xfrm>
            <a:off x="3839825"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Weight of Evidence</a:t>
            </a:r>
            <a:endParaRPr>
              <a:solidFill>
                <a:schemeClr val="accent4"/>
              </a:solidFill>
              <a:latin typeface="Google Sans"/>
              <a:ea typeface="Google Sans"/>
              <a:cs typeface="Google Sans"/>
              <a:sym typeface="Google Sans"/>
            </a:endParaRPr>
          </a:p>
        </p:txBody>
      </p:sp>
      <p:sp>
        <p:nvSpPr>
          <p:cNvPr id="342" name="Google Shape;342;p57"/>
          <p:cNvSpPr txBox="1"/>
          <p:nvPr/>
        </p:nvSpPr>
        <p:spPr>
          <a:xfrm>
            <a:off x="7084525" y="15914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Log Odds</a:t>
            </a:r>
            <a:endParaRPr>
              <a:solidFill>
                <a:schemeClr val="accent1"/>
              </a:solidFill>
              <a:latin typeface="Google Sans"/>
              <a:ea typeface="Google Sans"/>
              <a:cs typeface="Google Sans"/>
              <a:sym typeface="Google Sans"/>
            </a:endParaRPr>
          </a:p>
        </p:txBody>
      </p:sp>
      <p:pic>
        <p:nvPicPr>
          <p:cNvPr id="343" name="Google Shape;343;p57"/>
          <p:cNvPicPr preferRelativeResize="0"/>
          <p:nvPr/>
        </p:nvPicPr>
        <p:blipFill>
          <a:blip r:embed="rId3">
            <a:alphaModFix/>
          </a:blip>
          <a:stretch>
            <a:fillRect/>
          </a:stretch>
        </p:blipFill>
        <p:spPr>
          <a:xfrm>
            <a:off x="152400" y="2144075"/>
            <a:ext cx="8839202" cy="1086290"/>
          </a:xfrm>
          <a:prstGeom prst="rect">
            <a:avLst/>
          </a:prstGeom>
          <a:noFill/>
          <a:ln>
            <a:noFill/>
          </a:ln>
        </p:spPr>
      </p:pic>
      <p:sp>
        <p:nvSpPr>
          <p:cNvPr id="344" name="Google Shape;344;p57"/>
          <p:cNvSpPr txBox="1"/>
          <p:nvPr/>
        </p:nvSpPr>
        <p:spPr>
          <a:xfrm>
            <a:off x="286025" y="4210000"/>
            <a:ext cx="853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Posterior log odds are prior log odds + weight of evidence</a:t>
            </a:r>
            <a:endParaRPr>
              <a:latin typeface="Google Sans"/>
              <a:ea typeface="Google Sans"/>
              <a:cs typeface="Google Sans"/>
              <a:sym typeface="Google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5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Odds</a:t>
            </a:r>
            <a:endParaRPr/>
          </a:p>
        </p:txBody>
      </p:sp>
      <p:pic>
        <p:nvPicPr>
          <p:cNvPr id="350" name="Google Shape;350;p58"/>
          <p:cNvPicPr preferRelativeResize="0"/>
          <p:nvPr/>
        </p:nvPicPr>
        <p:blipFill>
          <a:blip r:embed="rId3">
            <a:alphaModFix/>
          </a:blip>
          <a:stretch>
            <a:fillRect/>
          </a:stretch>
        </p:blipFill>
        <p:spPr>
          <a:xfrm>
            <a:off x="152400" y="1533625"/>
            <a:ext cx="8839200" cy="1429657"/>
          </a:xfrm>
          <a:prstGeom prst="rect">
            <a:avLst/>
          </a:prstGeom>
          <a:noFill/>
          <a:ln>
            <a:noFill/>
          </a:ln>
        </p:spPr>
      </p:pic>
      <p:pic>
        <p:nvPicPr>
          <p:cNvPr id="351" name="Google Shape;351;p58"/>
          <p:cNvPicPr preferRelativeResize="0"/>
          <p:nvPr/>
        </p:nvPicPr>
        <p:blipFill>
          <a:blip r:embed="rId4">
            <a:alphaModFix/>
          </a:blip>
          <a:stretch>
            <a:fillRect/>
          </a:stretch>
        </p:blipFill>
        <p:spPr>
          <a:xfrm>
            <a:off x="841793" y="4247026"/>
            <a:ext cx="4260306" cy="678250"/>
          </a:xfrm>
          <a:prstGeom prst="rect">
            <a:avLst/>
          </a:prstGeom>
          <a:noFill/>
          <a:ln>
            <a:noFill/>
          </a:ln>
        </p:spPr>
      </p:pic>
      <p:sp>
        <p:nvSpPr>
          <p:cNvPr id="352" name="Google Shape;352;p58"/>
          <p:cNvSpPr/>
          <p:nvPr/>
        </p:nvSpPr>
        <p:spPr>
          <a:xfrm>
            <a:off x="6319875" y="4352900"/>
            <a:ext cx="466500" cy="4665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58"/>
          <p:cNvSpPr/>
          <p:nvPr/>
        </p:nvSpPr>
        <p:spPr>
          <a:xfrm>
            <a:off x="6881300" y="4352900"/>
            <a:ext cx="466500" cy="4665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8"/>
          <p:cNvSpPr/>
          <p:nvPr/>
        </p:nvSpPr>
        <p:spPr>
          <a:xfrm>
            <a:off x="7442725" y="4352900"/>
            <a:ext cx="466500" cy="466500"/>
          </a:xfrm>
          <a:prstGeom prst="rect">
            <a:avLst/>
          </a:prstGeom>
          <a:solidFill>
            <a:schemeClr val="accent4"/>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58"/>
          <p:cNvSpPr/>
          <p:nvPr/>
        </p:nvSpPr>
        <p:spPr>
          <a:xfrm>
            <a:off x="8004150" y="4352900"/>
            <a:ext cx="466500" cy="466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6" name="Google Shape;356;p58"/>
          <p:cNvPicPr preferRelativeResize="0"/>
          <p:nvPr/>
        </p:nvPicPr>
        <p:blipFill>
          <a:blip r:embed="rId5">
            <a:alphaModFix/>
          </a:blip>
          <a:stretch>
            <a:fillRect/>
          </a:stretch>
        </p:blipFill>
        <p:spPr>
          <a:xfrm>
            <a:off x="841812" y="3372276"/>
            <a:ext cx="4260274" cy="6782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a:t>
            </a:r>
            <a:endParaRPr/>
          </a:p>
        </p:txBody>
      </p:sp>
      <p:pic>
        <p:nvPicPr>
          <p:cNvPr id="362" name="Google Shape;362;p59"/>
          <p:cNvPicPr preferRelativeResize="0"/>
          <p:nvPr/>
        </p:nvPicPr>
        <p:blipFill>
          <a:blip r:embed="rId3">
            <a:alphaModFix/>
          </a:blip>
          <a:stretch>
            <a:fillRect/>
          </a:stretch>
        </p:blipFill>
        <p:spPr>
          <a:xfrm>
            <a:off x="228600" y="3027300"/>
            <a:ext cx="8839199" cy="1976370"/>
          </a:xfrm>
          <a:prstGeom prst="rect">
            <a:avLst/>
          </a:prstGeom>
          <a:noFill/>
          <a:ln>
            <a:noFill/>
          </a:ln>
        </p:spPr>
      </p:pic>
      <p:grpSp>
        <p:nvGrpSpPr>
          <p:cNvPr id="363" name="Google Shape;363;p59"/>
          <p:cNvGrpSpPr/>
          <p:nvPr/>
        </p:nvGrpSpPr>
        <p:grpSpPr>
          <a:xfrm>
            <a:off x="403195" y="3360888"/>
            <a:ext cx="8490030" cy="1049413"/>
            <a:chOff x="403195" y="3513288"/>
            <a:chExt cx="8490030" cy="1049413"/>
          </a:xfrm>
        </p:grpSpPr>
        <p:sp>
          <p:nvSpPr>
            <p:cNvPr id="364" name="Google Shape;364;p59"/>
            <p:cNvSpPr/>
            <p:nvPr/>
          </p:nvSpPr>
          <p:spPr>
            <a:xfrm>
              <a:off x="2816720" y="3513288"/>
              <a:ext cx="6076500" cy="349800"/>
            </a:xfrm>
            <a:prstGeom prst="rect">
              <a:avLst/>
            </a:prstGeom>
            <a:solidFill>
              <a:srgbClr val="FFF2CC">
                <a:alpha val="469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9"/>
            <p:cNvSpPr/>
            <p:nvPr/>
          </p:nvSpPr>
          <p:spPr>
            <a:xfrm>
              <a:off x="403195" y="3863088"/>
              <a:ext cx="8490000" cy="349800"/>
            </a:xfrm>
            <a:prstGeom prst="rect">
              <a:avLst/>
            </a:prstGeom>
            <a:solidFill>
              <a:srgbClr val="FFF2CC">
                <a:alpha val="469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59"/>
            <p:cNvSpPr/>
            <p:nvPr/>
          </p:nvSpPr>
          <p:spPr>
            <a:xfrm>
              <a:off x="403225" y="4212900"/>
              <a:ext cx="8490000" cy="349800"/>
            </a:xfrm>
            <a:prstGeom prst="rect">
              <a:avLst/>
            </a:prstGeom>
            <a:solidFill>
              <a:srgbClr val="FFF2CC">
                <a:alpha val="469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7" name="Google Shape;367;p59"/>
          <p:cNvSpPr txBox="1"/>
          <p:nvPr/>
        </p:nvSpPr>
        <p:spPr>
          <a:xfrm>
            <a:off x="166000" y="1236000"/>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Log Odds</a:t>
            </a:r>
            <a:endParaRPr>
              <a:solidFill>
                <a:schemeClr val="accent5"/>
              </a:solidFill>
              <a:latin typeface="Google Sans"/>
              <a:ea typeface="Google Sans"/>
              <a:cs typeface="Google Sans"/>
              <a:sym typeface="Google Sans"/>
            </a:endParaRPr>
          </a:p>
        </p:txBody>
      </p:sp>
      <p:sp>
        <p:nvSpPr>
          <p:cNvPr id="368" name="Google Shape;368;p59"/>
          <p:cNvSpPr txBox="1"/>
          <p:nvPr/>
        </p:nvSpPr>
        <p:spPr>
          <a:xfrm>
            <a:off x="3839825" y="1236000"/>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Weight of Evidence</a:t>
            </a:r>
            <a:endParaRPr>
              <a:solidFill>
                <a:schemeClr val="accent4"/>
              </a:solidFill>
              <a:latin typeface="Google Sans"/>
              <a:ea typeface="Google Sans"/>
              <a:cs typeface="Google Sans"/>
              <a:sym typeface="Google Sans"/>
            </a:endParaRPr>
          </a:p>
        </p:txBody>
      </p:sp>
      <p:sp>
        <p:nvSpPr>
          <p:cNvPr id="369" name="Google Shape;369;p59"/>
          <p:cNvSpPr txBox="1"/>
          <p:nvPr/>
        </p:nvSpPr>
        <p:spPr>
          <a:xfrm>
            <a:off x="7084525" y="1236000"/>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Log Odds</a:t>
            </a:r>
            <a:endParaRPr>
              <a:solidFill>
                <a:schemeClr val="accent1"/>
              </a:solidFill>
              <a:latin typeface="Google Sans"/>
              <a:ea typeface="Google Sans"/>
              <a:cs typeface="Google Sans"/>
              <a:sym typeface="Google Sans"/>
            </a:endParaRPr>
          </a:p>
        </p:txBody>
      </p:sp>
      <p:pic>
        <p:nvPicPr>
          <p:cNvPr id="370" name="Google Shape;370;p59"/>
          <p:cNvPicPr preferRelativeResize="0"/>
          <p:nvPr/>
        </p:nvPicPr>
        <p:blipFill>
          <a:blip r:embed="rId4">
            <a:alphaModFix/>
          </a:blip>
          <a:stretch>
            <a:fillRect/>
          </a:stretch>
        </p:blipFill>
        <p:spPr>
          <a:xfrm>
            <a:off x="152400" y="1788600"/>
            <a:ext cx="8839202" cy="10862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6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Hypotheses</a:t>
            </a:r>
            <a:endParaRPr/>
          </a:p>
        </p:txBody>
      </p:sp>
      <p:sp>
        <p:nvSpPr>
          <p:cNvPr id="376" name="Google Shape;376;p60"/>
          <p:cNvSpPr txBox="1"/>
          <p:nvPr/>
        </p:nvSpPr>
        <p:spPr>
          <a:xfrm>
            <a:off x="393300" y="4147400"/>
            <a:ext cx="8357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some random variable X takes on a value x given that some model is true</a:t>
            </a:r>
            <a:endParaRPr sz="2400">
              <a:latin typeface="Google Sans"/>
              <a:ea typeface="Google Sans"/>
              <a:cs typeface="Google Sans"/>
              <a:sym typeface="Google Sans"/>
            </a:endParaRPr>
          </a:p>
        </p:txBody>
      </p:sp>
      <p:pic>
        <p:nvPicPr>
          <p:cNvPr id="377" name="Google Shape;377;p60"/>
          <p:cNvPicPr preferRelativeResize="0"/>
          <p:nvPr/>
        </p:nvPicPr>
        <p:blipFill>
          <a:blip r:embed="rId3">
            <a:alphaModFix/>
          </a:blip>
          <a:stretch>
            <a:fillRect/>
          </a:stretch>
        </p:blipFill>
        <p:spPr>
          <a:xfrm>
            <a:off x="1062063" y="1893775"/>
            <a:ext cx="7019925" cy="771525"/>
          </a:xfrm>
          <a:prstGeom prst="rect">
            <a:avLst/>
          </a:prstGeom>
          <a:noFill/>
          <a:ln>
            <a:noFill/>
          </a:ln>
        </p:spPr>
      </p:pic>
      <p:pic>
        <p:nvPicPr>
          <p:cNvPr id="378" name="Google Shape;378;p60"/>
          <p:cNvPicPr preferRelativeResize="0"/>
          <p:nvPr/>
        </p:nvPicPr>
        <p:blipFill>
          <a:blip r:embed="rId4">
            <a:alphaModFix/>
          </a:blip>
          <a:stretch>
            <a:fillRect/>
          </a:stretch>
        </p:blipFill>
        <p:spPr>
          <a:xfrm>
            <a:off x="1062075" y="2828413"/>
            <a:ext cx="7019925" cy="771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Probability Densities</a:t>
            </a:r>
            <a:endParaRPr/>
          </a:p>
        </p:txBody>
      </p:sp>
      <p:sp>
        <p:nvSpPr>
          <p:cNvPr id="384" name="Google Shape;384;p61"/>
          <p:cNvSpPr txBox="1"/>
          <p:nvPr/>
        </p:nvSpPr>
        <p:spPr>
          <a:xfrm>
            <a:off x="393300" y="3691550"/>
            <a:ext cx="8357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some continuous random variable X takes on a value between x and x + dx given that some model is true</a:t>
            </a:r>
            <a:endParaRPr sz="2400">
              <a:latin typeface="Google Sans"/>
              <a:ea typeface="Google Sans"/>
              <a:cs typeface="Google Sans"/>
              <a:sym typeface="Google Sans"/>
            </a:endParaRPr>
          </a:p>
        </p:txBody>
      </p:sp>
      <p:pic>
        <p:nvPicPr>
          <p:cNvPr id="385" name="Google Shape;385;p61"/>
          <p:cNvPicPr preferRelativeResize="0"/>
          <p:nvPr/>
        </p:nvPicPr>
        <p:blipFill>
          <a:blip r:embed="rId3">
            <a:alphaModFix/>
          </a:blip>
          <a:stretch>
            <a:fillRect/>
          </a:stretch>
        </p:blipFill>
        <p:spPr>
          <a:xfrm>
            <a:off x="152425" y="2273925"/>
            <a:ext cx="8839198" cy="59565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6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Weight of Evidence</a:t>
            </a:r>
            <a:endParaRPr/>
          </a:p>
        </p:txBody>
      </p:sp>
      <p:sp>
        <p:nvSpPr>
          <p:cNvPr id="391" name="Google Shape;391;p62"/>
          <p:cNvSpPr txBox="1"/>
          <p:nvPr/>
        </p:nvSpPr>
        <p:spPr>
          <a:xfrm>
            <a:off x="286025" y="4210000"/>
            <a:ext cx="853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392" name="Google Shape;392;p62"/>
          <p:cNvPicPr preferRelativeResize="0"/>
          <p:nvPr/>
        </p:nvPicPr>
        <p:blipFill>
          <a:blip r:embed="rId3">
            <a:alphaModFix/>
          </a:blip>
          <a:stretch>
            <a:fillRect/>
          </a:stretch>
        </p:blipFill>
        <p:spPr>
          <a:xfrm>
            <a:off x="3106325" y="1729100"/>
            <a:ext cx="2895600" cy="18764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6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Units</a:t>
            </a:r>
            <a:endParaRPr/>
          </a:p>
        </p:txBody>
      </p:sp>
      <p:pic>
        <p:nvPicPr>
          <p:cNvPr id="398" name="Google Shape;398;p63"/>
          <p:cNvPicPr preferRelativeResize="0"/>
          <p:nvPr/>
        </p:nvPicPr>
        <p:blipFill>
          <a:blip r:embed="rId3">
            <a:alphaModFix/>
          </a:blip>
          <a:stretch>
            <a:fillRect/>
          </a:stretch>
        </p:blipFill>
        <p:spPr>
          <a:xfrm>
            <a:off x="445970" y="1393650"/>
            <a:ext cx="5257351" cy="2344425"/>
          </a:xfrm>
          <a:prstGeom prst="rect">
            <a:avLst/>
          </a:prstGeom>
          <a:noFill/>
          <a:ln>
            <a:noFill/>
          </a:ln>
        </p:spPr>
      </p:pic>
      <p:pic>
        <p:nvPicPr>
          <p:cNvPr id="399" name="Google Shape;399;p63"/>
          <p:cNvPicPr preferRelativeResize="0"/>
          <p:nvPr/>
        </p:nvPicPr>
        <p:blipFill>
          <a:blip r:embed="rId4">
            <a:alphaModFix/>
          </a:blip>
          <a:stretch>
            <a:fillRect/>
          </a:stretch>
        </p:blipFill>
        <p:spPr>
          <a:xfrm>
            <a:off x="445975" y="4220925"/>
            <a:ext cx="3910374" cy="716700"/>
          </a:xfrm>
          <a:prstGeom prst="rect">
            <a:avLst/>
          </a:prstGeom>
          <a:noFill/>
          <a:ln>
            <a:noFill/>
          </a:ln>
        </p:spPr>
      </p:pic>
      <p:pic>
        <p:nvPicPr>
          <p:cNvPr id="400" name="Google Shape;400;p63"/>
          <p:cNvPicPr preferRelativeResize="0"/>
          <p:nvPr/>
        </p:nvPicPr>
        <p:blipFill>
          <a:blip r:embed="rId5">
            <a:alphaModFix/>
          </a:blip>
          <a:stretch>
            <a:fillRect/>
          </a:stretch>
        </p:blipFill>
        <p:spPr>
          <a:xfrm>
            <a:off x="5191597" y="3304800"/>
            <a:ext cx="3723801" cy="545675"/>
          </a:xfrm>
          <a:prstGeom prst="rect">
            <a:avLst/>
          </a:prstGeom>
          <a:noFill/>
          <a:ln>
            <a:noFill/>
          </a:ln>
        </p:spPr>
      </p:pic>
      <p:pic>
        <p:nvPicPr>
          <p:cNvPr id="401" name="Google Shape;401;p63"/>
          <p:cNvPicPr preferRelativeResize="0"/>
          <p:nvPr/>
        </p:nvPicPr>
        <p:blipFill>
          <a:blip r:embed="rId6">
            <a:alphaModFix/>
          </a:blip>
          <a:stretch>
            <a:fillRect/>
          </a:stretch>
        </p:blipFill>
        <p:spPr>
          <a:xfrm>
            <a:off x="5026875" y="4100799"/>
            <a:ext cx="4117125" cy="4621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Decibans</a:t>
            </a:r>
            <a:endParaRPr/>
          </a:p>
        </p:txBody>
      </p:sp>
      <p:graphicFrame>
        <p:nvGraphicFramePr>
          <p:cNvPr id="407" name="Google Shape;407;p64"/>
          <p:cNvGraphicFramePr/>
          <p:nvPr/>
        </p:nvGraphicFramePr>
        <p:xfrm>
          <a:off x="206050" y="1479275"/>
          <a:ext cx="3000000" cy="3000000"/>
        </p:xfrm>
        <a:graphic>
          <a:graphicData uri="http://schemas.openxmlformats.org/drawingml/2006/table">
            <a:tbl>
              <a:tblPr>
                <a:noFill/>
                <a:tableStyleId>{22C7768D-37AC-4C37-B4E8-91D0278590BF}</a:tableStyleId>
              </a:tblPr>
              <a:tblGrid>
                <a:gridCol w="586400"/>
                <a:gridCol w="586400"/>
                <a:gridCol w="586400"/>
                <a:gridCol w="586400"/>
                <a:gridCol w="586400"/>
                <a:gridCol w="586400"/>
                <a:gridCol w="586400"/>
                <a:gridCol w="586400"/>
                <a:gridCol w="586400"/>
                <a:gridCol w="586400"/>
                <a:gridCol w="586400"/>
                <a:gridCol w="586400"/>
                <a:gridCol w="586400"/>
                <a:gridCol w="586400"/>
                <a:gridCol w="586400"/>
              </a:tblGrid>
              <a:tr h="6970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3</a:t>
                      </a:r>
                      <a:endParaRPr/>
                    </a:p>
                  </a:txBody>
                  <a:tcPr marT="91425" marB="91425" marR="91425" marL="91425" anchor="ctr"/>
                </a:tc>
                <a:tc>
                  <a:txBody>
                    <a:bodyPr/>
                    <a:lstStyle/>
                    <a:p>
                      <a:pPr indent="0" lvl="0" marL="0" rtl="0" algn="ctr">
                        <a:spcBef>
                          <a:spcPts val="0"/>
                        </a:spcBef>
                        <a:spcAft>
                          <a:spcPts val="0"/>
                        </a:spcAft>
                        <a:buNone/>
                      </a:pPr>
                      <a:r>
                        <a:rPr lang="en"/>
                        <a:t>4</a:t>
                      </a:r>
                      <a:endParaRPr/>
                    </a:p>
                  </a:txBody>
                  <a:tcPr marT="91425" marB="91425" marR="91425" marL="91425" anchor="ctr"/>
                </a:tc>
                <a:tc>
                  <a:txBody>
                    <a:bodyPr/>
                    <a:lstStyle/>
                    <a:p>
                      <a:pPr indent="0" lvl="0" marL="0" rtl="0" algn="ctr">
                        <a:spcBef>
                          <a:spcPts val="0"/>
                        </a:spcBef>
                        <a:spcAft>
                          <a:spcPts val="0"/>
                        </a:spcAft>
                        <a:buNone/>
                      </a:pPr>
                      <a:r>
                        <a:rPr lang="en"/>
                        <a:t>5</a:t>
                      </a:r>
                      <a:endParaRPr/>
                    </a:p>
                  </a:txBody>
                  <a:tcPr marT="91425" marB="91425" marR="91425" marL="91425" anchor="ctr"/>
                </a:tc>
                <a:tc>
                  <a:txBody>
                    <a:bodyPr/>
                    <a:lstStyle/>
                    <a:p>
                      <a:pPr indent="0" lvl="0" marL="0" rtl="0" algn="ctr">
                        <a:spcBef>
                          <a:spcPts val="0"/>
                        </a:spcBef>
                        <a:spcAft>
                          <a:spcPts val="0"/>
                        </a:spcAft>
                        <a:buNone/>
                      </a:pPr>
                      <a:r>
                        <a:rPr lang="en"/>
                        <a:t>6</a:t>
                      </a:r>
                      <a:endParaRPr/>
                    </a:p>
                  </a:txBody>
                  <a:tcPr marT="91425" marB="91425" marR="91425" marL="91425" anchor="ctr"/>
                </a:tc>
                <a:tc>
                  <a:txBody>
                    <a:bodyPr/>
                    <a:lstStyle/>
                    <a:p>
                      <a:pPr indent="0" lvl="0" marL="0" rtl="0" algn="ctr">
                        <a:spcBef>
                          <a:spcPts val="0"/>
                        </a:spcBef>
                        <a:spcAft>
                          <a:spcPts val="0"/>
                        </a:spcAft>
                        <a:buNone/>
                      </a:pPr>
                      <a:r>
                        <a:rPr lang="en"/>
                        <a:t>7</a:t>
                      </a:r>
                      <a:endParaRPr/>
                    </a:p>
                  </a:txBody>
                  <a:tcPr marT="91425" marB="91425" marR="91425" marL="91425" anchor="ctr"/>
                </a:tc>
                <a:tc>
                  <a:txBody>
                    <a:bodyPr/>
                    <a:lstStyle/>
                    <a:p>
                      <a:pPr indent="0" lvl="0" marL="0" rtl="0" algn="ctr">
                        <a:spcBef>
                          <a:spcPts val="0"/>
                        </a:spcBef>
                        <a:spcAft>
                          <a:spcPts val="0"/>
                        </a:spcAft>
                        <a:buNone/>
                      </a:pPr>
                      <a:r>
                        <a:rPr lang="en"/>
                        <a:t>8</a:t>
                      </a:r>
                      <a:endParaRPr/>
                    </a:p>
                  </a:txBody>
                  <a:tcPr marT="91425" marB="91425" marR="91425" marL="91425" anchor="ctr"/>
                </a:tc>
                <a:tc>
                  <a:txBody>
                    <a:bodyPr/>
                    <a:lstStyle/>
                    <a:p>
                      <a:pPr indent="0" lvl="0" marL="0" rtl="0" algn="ctr">
                        <a:spcBef>
                          <a:spcPts val="0"/>
                        </a:spcBef>
                        <a:spcAft>
                          <a:spcPts val="0"/>
                        </a:spcAft>
                        <a:buNone/>
                      </a:pPr>
                      <a:r>
                        <a:rPr lang="en"/>
                        <a:t>9</a:t>
                      </a:r>
                      <a:endParaRPr/>
                    </a:p>
                  </a:txBody>
                  <a:tcPr marT="91425" marB="91425" marR="91425" marL="91425" anchor="ctr"/>
                </a:tc>
                <a:tc>
                  <a:txBody>
                    <a:bodyPr/>
                    <a:lstStyle/>
                    <a:p>
                      <a:pPr indent="0" lvl="0" marL="0" rtl="0" algn="ctr">
                        <a:spcBef>
                          <a:spcPts val="0"/>
                        </a:spcBef>
                        <a:spcAft>
                          <a:spcPts val="0"/>
                        </a:spcAft>
                        <a:buNone/>
                      </a:pPr>
                      <a:r>
                        <a:rPr lang="en"/>
                        <a:t>10</a:t>
                      </a:r>
                      <a:endParaRPr/>
                    </a:p>
                  </a:txBody>
                  <a:tcPr marT="91425" marB="91425" marR="91425" marL="91425" anchor="ctr"/>
                </a:tc>
                <a:tc>
                  <a:txBody>
                    <a:bodyPr/>
                    <a:lstStyle/>
                    <a:p>
                      <a:pPr indent="0" lvl="0" marL="0" rtl="0" algn="ctr">
                        <a:spcBef>
                          <a:spcPts val="0"/>
                        </a:spcBef>
                        <a:spcAft>
                          <a:spcPts val="0"/>
                        </a:spcAft>
                        <a:buNone/>
                      </a:pPr>
                      <a:r>
                        <a:rPr lang="en"/>
                        <a:t>11</a:t>
                      </a:r>
                      <a:endParaRPr/>
                    </a:p>
                  </a:txBody>
                  <a:tcPr marT="91425" marB="91425" marR="91425" marL="91425" anchor="ctr"/>
                </a:tc>
                <a:tc>
                  <a:txBody>
                    <a:bodyPr/>
                    <a:lstStyle/>
                    <a:p>
                      <a:pPr indent="0" lvl="0" marL="0" rtl="0" algn="ctr">
                        <a:spcBef>
                          <a:spcPts val="0"/>
                        </a:spcBef>
                        <a:spcAft>
                          <a:spcPts val="0"/>
                        </a:spcAft>
                        <a:buNone/>
                      </a:pPr>
                      <a:r>
                        <a:rPr lang="en"/>
                        <a:t>12</a:t>
                      </a:r>
                      <a:endParaRPr/>
                    </a:p>
                  </a:txBody>
                  <a:tcPr marT="91425" marB="91425" marR="91425" marL="91425" anchor="ctr"/>
                </a:tc>
                <a:tc>
                  <a:txBody>
                    <a:bodyPr/>
                    <a:lstStyle/>
                    <a:p>
                      <a:pPr indent="0" lvl="0" marL="0" rtl="0" algn="ctr">
                        <a:spcBef>
                          <a:spcPts val="0"/>
                        </a:spcBef>
                        <a:spcAft>
                          <a:spcPts val="0"/>
                        </a:spcAft>
                        <a:buNone/>
                      </a:pPr>
                      <a:r>
                        <a:rPr lang="en"/>
                        <a:t>13</a:t>
                      </a:r>
                      <a:endParaRPr/>
                    </a:p>
                  </a:txBody>
                  <a:tcPr marT="91425" marB="91425" marR="91425" marL="91425" anchor="ctr"/>
                </a:tc>
              </a:tr>
              <a:tr h="697075">
                <a:tc>
                  <a:txBody>
                    <a:bodyPr/>
                    <a:lstStyle/>
                    <a:p>
                      <a:pPr indent="0" lvl="0" marL="0" rtl="0" algn="r">
                        <a:spcBef>
                          <a:spcPts val="0"/>
                        </a:spcBef>
                        <a:spcAft>
                          <a:spcPts val="0"/>
                        </a:spcAft>
                        <a:buNone/>
                      </a:pPr>
                      <a:r>
                        <a:rPr lang="en"/>
                        <a:t>bit</a:t>
                      </a:r>
                      <a:endParaRPr/>
                    </a:p>
                  </a:txBody>
                  <a:tcPr marT="91425" marB="91425" marR="91425" marL="91425" anchor="ctr"/>
                </a:tc>
                <a:tc>
                  <a:txBody>
                    <a:bodyPr/>
                    <a:lstStyle/>
                    <a:p>
                      <a:pPr indent="0" lvl="0" marL="0" rtl="0" algn="ctr">
                        <a:spcBef>
                          <a:spcPts val="0"/>
                        </a:spcBef>
                        <a:spcAft>
                          <a:spcPts val="0"/>
                        </a:spcAft>
                        <a:buNone/>
                      </a:pPr>
                      <a:r>
                        <a:rPr lang="en"/>
                        <a:t>0 </a:t>
                      </a:r>
                      <a:endParaRPr/>
                    </a:p>
                  </a:txBody>
                  <a:tcPr marT="91425" marB="91425" marR="91425" marL="91425" anchor="ctr"/>
                </a:tc>
                <a:tc>
                  <a:txBody>
                    <a:bodyPr/>
                    <a:lstStyle/>
                    <a:p>
                      <a:pPr indent="0" lvl="0" marL="0" rtl="0" algn="ctr">
                        <a:spcBef>
                          <a:spcPts val="0"/>
                        </a:spcBef>
                        <a:spcAft>
                          <a:spcPts val="0"/>
                        </a:spcAft>
                        <a:buNone/>
                      </a:pPr>
                      <a:r>
                        <a:rPr lang="en"/>
                        <a:t>⅓</a:t>
                      </a:r>
                      <a:endParaRPr/>
                    </a:p>
                  </a:txBody>
                  <a:tcPr marT="91425" marB="91425" marR="91425" marL="91425" anchor="ctr"/>
                </a:tc>
                <a:tc>
                  <a:txBody>
                    <a:bodyPr/>
                    <a:lstStyle/>
                    <a:p>
                      <a:pPr indent="0" lvl="0" marL="0" rtl="0" algn="ctr">
                        <a:spcBef>
                          <a:spcPts val="0"/>
                        </a:spcBef>
                        <a:spcAft>
                          <a:spcPts val="0"/>
                        </a:spcAft>
                        <a:buNone/>
                      </a:pPr>
                      <a:r>
                        <a:rPr lang="en"/>
                        <a:t>⅔</a:t>
                      </a:r>
                      <a:endParaRPr/>
                    </a:p>
                  </a:txBody>
                  <a:tcPr marT="91425" marB="91425" marR="91425" marL="91425" anchor="ctr"/>
                </a:tc>
                <a:tc>
                  <a:txBody>
                    <a:bodyPr/>
                    <a:lstStyle/>
                    <a:p>
                      <a:pPr indent="0" lvl="0" marL="0" rtl="0" algn="ctr">
                        <a:spcBef>
                          <a:spcPts val="0"/>
                        </a:spcBef>
                        <a:spcAft>
                          <a:spcPts val="0"/>
                        </a:spcAft>
                        <a:buNone/>
                      </a:pPr>
                      <a:r>
                        <a:rPr lang="en"/>
                        <a:t>1</a:t>
                      </a:r>
                      <a:endParaRPr/>
                    </a:p>
                  </a:txBody>
                  <a:tcPr marT="91425" marB="91425" marR="91425" marL="91425" anchor="ctr"/>
                </a:tc>
                <a:tc>
                  <a:txBody>
                    <a:bodyPr/>
                    <a:lstStyle/>
                    <a:p>
                      <a:pPr indent="0" lvl="0" marL="0" rtl="0" algn="ctr">
                        <a:spcBef>
                          <a:spcPts val="0"/>
                        </a:spcBef>
                        <a:spcAft>
                          <a:spcPts val="0"/>
                        </a:spcAft>
                        <a:buNone/>
                      </a:pPr>
                      <a:r>
                        <a:rPr lang="en"/>
                        <a:t>1 ⅓ </a:t>
                      </a:r>
                      <a:endParaRPr/>
                    </a:p>
                  </a:txBody>
                  <a:tcPr marT="91425" marB="91425" marR="91425" marL="91425" anchor="ctr"/>
                </a:tc>
                <a:tc>
                  <a:txBody>
                    <a:bodyPr/>
                    <a:lstStyle/>
                    <a:p>
                      <a:pPr indent="0" lvl="0" marL="0" rtl="0" algn="ctr">
                        <a:spcBef>
                          <a:spcPts val="0"/>
                        </a:spcBef>
                        <a:spcAft>
                          <a:spcPts val="0"/>
                        </a:spcAft>
                        <a:buNone/>
                      </a:pPr>
                      <a:r>
                        <a:rPr lang="en"/>
                        <a:t>1 ⅔</a:t>
                      </a:r>
                      <a:endParaRPr/>
                    </a:p>
                  </a:txBody>
                  <a:tcPr marT="91425" marB="91425" marR="91425" marL="91425" anchor="ctr"/>
                </a:tc>
                <a:tc>
                  <a:txBody>
                    <a:bodyPr/>
                    <a:lstStyle/>
                    <a:p>
                      <a:pPr indent="0" lvl="0" marL="0" rtl="0" algn="ctr">
                        <a:spcBef>
                          <a:spcPts val="0"/>
                        </a:spcBef>
                        <a:spcAft>
                          <a:spcPts val="0"/>
                        </a:spcAft>
                        <a:buNone/>
                      </a:pPr>
                      <a:r>
                        <a:rPr lang="en"/>
                        <a:t>2</a:t>
                      </a:r>
                      <a:endParaRPr/>
                    </a:p>
                  </a:txBody>
                  <a:tcPr marT="91425" marB="91425" marR="91425" marL="91425" anchor="ctr"/>
                </a:tc>
                <a:tc>
                  <a:txBody>
                    <a:bodyPr/>
                    <a:lstStyle/>
                    <a:p>
                      <a:pPr indent="0" lvl="0" marL="0" rtl="0" algn="ctr">
                        <a:spcBef>
                          <a:spcPts val="0"/>
                        </a:spcBef>
                        <a:spcAft>
                          <a:spcPts val="0"/>
                        </a:spcAft>
                        <a:buNone/>
                      </a:pPr>
                      <a:r>
                        <a:rPr lang="en"/>
                        <a:t>2 ⅓</a:t>
                      </a:r>
                      <a:endParaRPr/>
                    </a:p>
                  </a:txBody>
                  <a:tcPr marT="91425" marB="91425" marR="91425" marL="91425" anchor="ctr"/>
                </a:tc>
                <a:tc>
                  <a:txBody>
                    <a:bodyPr/>
                    <a:lstStyle/>
                    <a:p>
                      <a:pPr indent="0" lvl="0" marL="0" rtl="0" algn="ctr">
                        <a:spcBef>
                          <a:spcPts val="0"/>
                        </a:spcBef>
                        <a:spcAft>
                          <a:spcPts val="0"/>
                        </a:spcAft>
                        <a:buNone/>
                      </a:pPr>
                      <a:r>
                        <a:rPr lang="en"/>
                        <a:t>2 ⅔</a:t>
                      </a:r>
                      <a:endParaRPr/>
                    </a:p>
                  </a:txBody>
                  <a:tcPr marT="91425" marB="91425" marR="91425" marL="91425" anchor="ctr"/>
                </a:tc>
                <a:tc>
                  <a:txBody>
                    <a:bodyPr/>
                    <a:lstStyle/>
                    <a:p>
                      <a:pPr indent="0" lvl="0" marL="0" rtl="0" algn="ctr">
                        <a:spcBef>
                          <a:spcPts val="0"/>
                        </a:spcBef>
                        <a:spcAft>
                          <a:spcPts val="0"/>
                        </a:spcAft>
                        <a:buNone/>
                      </a:pPr>
                      <a:r>
                        <a:rPr lang="en"/>
                        <a:t>3</a:t>
                      </a:r>
                      <a:endParaRPr/>
                    </a:p>
                  </a:txBody>
                  <a:tcPr marT="91425" marB="91425" marR="91425" marL="91425" anchor="ctr"/>
                </a:tc>
                <a:tc>
                  <a:txBody>
                    <a:bodyPr/>
                    <a:lstStyle/>
                    <a:p>
                      <a:pPr indent="0" lvl="0" marL="0" rtl="0" algn="ctr">
                        <a:spcBef>
                          <a:spcPts val="0"/>
                        </a:spcBef>
                        <a:spcAft>
                          <a:spcPts val="0"/>
                        </a:spcAft>
                        <a:buNone/>
                      </a:pPr>
                      <a:r>
                        <a:rPr lang="en"/>
                        <a:t>3 ⅓</a:t>
                      </a:r>
                      <a:endParaRPr/>
                    </a:p>
                  </a:txBody>
                  <a:tcPr marT="91425" marB="91425" marR="91425" marL="91425" anchor="ctr"/>
                </a:tc>
                <a:tc>
                  <a:txBody>
                    <a:bodyPr/>
                    <a:lstStyle/>
                    <a:p>
                      <a:pPr indent="0" lvl="0" marL="0" rtl="0" algn="ctr">
                        <a:spcBef>
                          <a:spcPts val="0"/>
                        </a:spcBef>
                        <a:spcAft>
                          <a:spcPts val="0"/>
                        </a:spcAft>
                        <a:buNone/>
                      </a:pPr>
                      <a:r>
                        <a:rPr lang="en"/>
                        <a:t>3 ⅔</a:t>
                      </a:r>
                      <a:endParaRPr/>
                    </a:p>
                  </a:txBody>
                  <a:tcPr marT="91425" marB="91425" marR="91425" marL="91425" anchor="ctr"/>
                </a:tc>
                <a:tc>
                  <a:txBody>
                    <a:bodyPr/>
                    <a:lstStyle/>
                    <a:p>
                      <a:pPr indent="0" lvl="0" marL="0" rtl="0" algn="ctr">
                        <a:spcBef>
                          <a:spcPts val="0"/>
                        </a:spcBef>
                        <a:spcAft>
                          <a:spcPts val="0"/>
                        </a:spcAft>
                        <a:buNone/>
                      </a:pPr>
                      <a:r>
                        <a:rPr lang="en"/>
                        <a:t>4</a:t>
                      </a:r>
                      <a:endParaRPr/>
                    </a:p>
                  </a:txBody>
                  <a:tcPr marT="91425" marB="91425" marR="91425" marL="91425" anchor="ctr"/>
                </a:tc>
                <a:tc>
                  <a:txBody>
                    <a:bodyPr/>
                    <a:lstStyle/>
                    <a:p>
                      <a:pPr indent="0" lvl="0" marL="0" rtl="0" algn="ctr">
                        <a:spcBef>
                          <a:spcPts val="0"/>
                        </a:spcBef>
                        <a:spcAft>
                          <a:spcPts val="0"/>
                        </a:spcAft>
                        <a:buNone/>
                      </a:pPr>
                      <a:r>
                        <a:rPr lang="en"/>
                        <a:t>4 ⅓</a:t>
                      </a:r>
                      <a:endParaRPr/>
                    </a:p>
                  </a:txBody>
                  <a:tcPr marT="91425" marB="91425" marR="91425" marL="91425" anchor="ctr"/>
                </a:tc>
              </a:tr>
              <a:tr h="697075">
                <a:tc>
                  <a:txBody>
                    <a:bodyPr/>
                    <a:lstStyle/>
                    <a:p>
                      <a:pPr indent="0" lvl="0" marL="0" rtl="0" algn="r">
                        <a:spcBef>
                          <a:spcPts val="0"/>
                        </a:spcBef>
                        <a:spcAft>
                          <a:spcPts val="0"/>
                        </a:spcAft>
                        <a:buNone/>
                      </a:pPr>
                      <a:r>
                        <a:rPr lang="en"/>
                        <a:t>nat</a:t>
                      </a:r>
                      <a:endParaRPr/>
                    </a:p>
                  </a:txBody>
                  <a:tcPr marT="91425" marB="91425" marR="91425" marL="91425" anchor="ctr"/>
                </a:tc>
                <a:tc>
                  <a:txBody>
                    <a:bodyPr/>
                    <a:lstStyle/>
                    <a:p>
                      <a:pPr indent="0" lvl="0" marL="0" rtl="0" algn="ctr">
                        <a:spcBef>
                          <a:spcPts val="0"/>
                        </a:spcBef>
                        <a:spcAft>
                          <a:spcPts val="0"/>
                        </a:spcAft>
                        <a:buNone/>
                      </a:pPr>
                      <a:r>
                        <a:rPr lang="en"/>
                        <a:t>0.00</a:t>
                      </a:r>
                      <a:endParaRPr/>
                    </a:p>
                  </a:txBody>
                  <a:tcPr marT="91425" marB="91425" marR="91425" marL="91425" anchor="ctr"/>
                </a:tc>
                <a:tc>
                  <a:txBody>
                    <a:bodyPr/>
                    <a:lstStyle/>
                    <a:p>
                      <a:pPr indent="0" lvl="0" marL="0" rtl="0" algn="ctr">
                        <a:spcBef>
                          <a:spcPts val="0"/>
                        </a:spcBef>
                        <a:spcAft>
                          <a:spcPts val="0"/>
                        </a:spcAft>
                        <a:buNone/>
                      </a:pPr>
                      <a:r>
                        <a:rPr lang="en"/>
                        <a:t>0.23</a:t>
                      </a:r>
                      <a:endParaRPr/>
                    </a:p>
                  </a:txBody>
                  <a:tcPr marT="91425" marB="91425" marR="91425" marL="91425" anchor="ctr"/>
                </a:tc>
                <a:tc>
                  <a:txBody>
                    <a:bodyPr/>
                    <a:lstStyle/>
                    <a:p>
                      <a:pPr indent="0" lvl="0" marL="0" rtl="0" algn="ctr">
                        <a:spcBef>
                          <a:spcPts val="0"/>
                        </a:spcBef>
                        <a:spcAft>
                          <a:spcPts val="0"/>
                        </a:spcAft>
                        <a:buNone/>
                      </a:pPr>
                      <a:r>
                        <a:rPr lang="en"/>
                        <a:t>0.46</a:t>
                      </a:r>
                      <a:endParaRPr/>
                    </a:p>
                  </a:txBody>
                  <a:tcPr marT="91425" marB="91425" marR="91425" marL="91425" anchor="ctr"/>
                </a:tc>
                <a:tc>
                  <a:txBody>
                    <a:bodyPr/>
                    <a:lstStyle/>
                    <a:p>
                      <a:pPr indent="0" lvl="0" marL="0" rtl="0" algn="ctr">
                        <a:spcBef>
                          <a:spcPts val="0"/>
                        </a:spcBef>
                        <a:spcAft>
                          <a:spcPts val="0"/>
                        </a:spcAft>
                        <a:buNone/>
                      </a:pPr>
                      <a:r>
                        <a:rPr lang="en"/>
                        <a:t>0.69</a:t>
                      </a:r>
                      <a:endParaRPr/>
                    </a:p>
                  </a:txBody>
                  <a:tcPr marT="91425" marB="91425" marR="91425" marL="91425" anchor="ctr"/>
                </a:tc>
                <a:tc>
                  <a:txBody>
                    <a:bodyPr/>
                    <a:lstStyle/>
                    <a:p>
                      <a:pPr indent="0" lvl="0" marL="0" rtl="0" algn="ctr">
                        <a:spcBef>
                          <a:spcPts val="0"/>
                        </a:spcBef>
                        <a:spcAft>
                          <a:spcPts val="0"/>
                        </a:spcAft>
                        <a:buNone/>
                      </a:pPr>
                      <a:r>
                        <a:rPr lang="en"/>
                        <a:t>0.92</a:t>
                      </a:r>
                      <a:endParaRPr/>
                    </a:p>
                  </a:txBody>
                  <a:tcPr marT="91425" marB="91425" marR="91425" marL="91425" anchor="ctr"/>
                </a:tc>
                <a:tc>
                  <a:txBody>
                    <a:bodyPr/>
                    <a:lstStyle/>
                    <a:p>
                      <a:pPr indent="0" lvl="0" marL="0" rtl="0" algn="ctr">
                        <a:spcBef>
                          <a:spcPts val="0"/>
                        </a:spcBef>
                        <a:spcAft>
                          <a:spcPts val="0"/>
                        </a:spcAft>
                        <a:buNone/>
                      </a:pPr>
                      <a:r>
                        <a:rPr lang="en"/>
                        <a:t>1.15</a:t>
                      </a:r>
                      <a:endParaRPr/>
                    </a:p>
                  </a:txBody>
                  <a:tcPr marT="91425" marB="91425" marR="91425" marL="91425" anchor="ctr"/>
                </a:tc>
                <a:tc>
                  <a:txBody>
                    <a:bodyPr/>
                    <a:lstStyle/>
                    <a:p>
                      <a:pPr indent="0" lvl="0" marL="0" rtl="0" algn="ctr">
                        <a:spcBef>
                          <a:spcPts val="0"/>
                        </a:spcBef>
                        <a:spcAft>
                          <a:spcPts val="0"/>
                        </a:spcAft>
                        <a:buNone/>
                      </a:pPr>
                      <a:r>
                        <a:rPr lang="en"/>
                        <a:t>1.38</a:t>
                      </a:r>
                      <a:endParaRPr/>
                    </a:p>
                  </a:txBody>
                  <a:tcPr marT="91425" marB="91425" marR="91425" marL="91425" anchor="ctr"/>
                </a:tc>
                <a:tc>
                  <a:txBody>
                    <a:bodyPr/>
                    <a:lstStyle/>
                    <a:p>
                      <a:pPr indent="0" lvl="0" marL="0" rtl="0" algn="ctr">
                        <a:spcBef>
                          <a:spcPts val="0"/>
                        </a:spcBef>
                        <a:spcAft>
                          <a:spcPts val="0"/>
                        </a:spcAft>
                        <a:buNone/>
                      </a:pPr>
                      <a:r>
                        <a:rPr lang="en"/>
                        <a:t>1.61</a:t>
                      </a:r>
                      <a:endParaRPr/>
                    </a:p>
                  </a:txBody>
                  <a:tcPr marT="91425" marB="91425" marR="91425" marL="91425" anchor="ctr"/>
                </a:tc>
                <a:tc>
                  <a:txBody>
                    <a:bodyPr/>
                    <a:lstStyle/>
                    <a:p>
                      <a:pPr indent="0" lvl="0" marL="0" rtl="0" algn="ctr">
                        <a:spcBef>
                          <a:spcPts val="0"/>
                        </a:spcBef>
                        <a:spcAft>
                          <a:spcPts val="0"/>
                        </a:spcAft>
                        <a:buNone/>
                      </a:pPr>
                      <a:r>
                        <a:rPr lang="en"/>
                        <a:t>1.84</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c>
                  <a:txBody>
                    <a:bodyPr/>
                    <a:lstStyle/>
                    <a:p>
                      <a:pPr indent="0" lvl="0" marL="0" rtl="0" algn="ctr">
                        <a:spcBef>
                          <a:spcPts val="0"/>
                        </a:spcBef>
                        <a:spcAft>
                          <a:spcPts val="0"/>
                        </a:spcAft>
                        <a:buNone/>
                      </a:pPr>
                      <a:r>
                        <a:rPr lang="en"/>
                        <a:t>2.30</a:t>
                      </a:r>
                      <a:endParaRPr/>
                    </a:p>
                  </a:txBody>
                  <a:tcPr marT="91425" marB="91425" marR="91425" marL="91425" anchor="ctr"/>
                </a:tc>
                <a:tc>
                  <a:txBody>
                    <a:bodyPr/>
                    <a:lstStyle/>
                    <a:p>
                      <a:pPr indent="0" lvl="0" marL="0" rtl="0" algn="ctr">
                        <a:spcBef>
                          <a:spcPts val="0"/>
                        </a:spcBef>
                        <a:spcAft>
                          <a:spcPts val="0"/>
                        </a:spcAft>
                        <a:buNone/>
                      </a:pPr>
                      <a:r>
                        <a:rPr lang="en"/>
                        <a:t>2.53</a:t>
                      </a:r>
                      <a:endParaRPr/>
                    </a:p>
                  </a:txBody>
                  <a:tcPr marT="91425" marB="91425" marR="91425" marL="91425" anchor="ctr"/>
                </a:tc>
                <a:tc>
                  <a:txBody>
                    <a:bodyPr/>
                    <a:lstStyle/>
                    <a:p>
                      <a:pPr indent="0" lvl="0" marL="0" rtl="0" algn="ctr">
                        <a:spcBef>
                          <a:spcPts val="0"/>
                        </a:spcBef>
                        <a:spcAft>
                          <a:spcPts val="0"/>
                        </a:spcAft>
                        <a:buNone/>
                      </a:pPr>
                      <a:r>
                        <a:rPr lang="en"/>
                        <a:t>2.76</a:t>
                      </a:r>
                      <a:endParaRPr/>
                    </a:p>
                  </a:txBody>
                  <a:tcPr marT="91425" marB="91425" marR="91425" marL="91425" anchor="ctr"/>
                </a:tc>
                <a:tc>
                  <a:txBody>
                    <a:bodyPr/>
                    <a:lstStyle/>
                    <a:p>
                      <a:pPr indent="0" lvl="0" marL="0" rtl="0" algn="ctr">
                        <a:spcBef>
                          <a:spcPts val="0"/>
                        </a:spcBef>
                        <a:spcAft>
                          <a:spcPts val="0"/>
                        </a:spcAft>
                        <a:buNone/>
                      </a:pPr>
                      <a:r>
                        <a:rPr lang="en"/>
                        <a:t>2.99</a:t>
                      </a:r>
                      <a:endParaRPr/>
                    </a:p>
                  </a:txBody>
                  <a:tcPr marT="91425" marB="91425" marR="91425" marL="91425" anchor="ctr"/>
                </a:tc>
              </a:tr>
              <a:tr h="697075">
                <a:tc>
                  <a:txBody>
                    <a:bodyPr/>
                    <a:lstStyle/>
                    <a:p>
                      <a:pPr indent="0" lvl="0" marL="0" rtl="0" algn="r">
                        <a:spcBef>
                          <a:spcPts val="0"/>
                        </a:spcBef>
                        <a:spcAft>
                          <a:spcPts val="0"/>
                        </a:spcAft>
                        <a:buNone/>
                      </a:pPr>
                      <a:r>
                        <a:rPr lang="en" sz="1300"/>
                        <a:t>odds</a:t>
                      </a:r>
                      <a:endParaRPr sz="1300"/>
                    </a:p>
                  </a:txBody>
                  <a:tcPr marT="91425" marB="91425" marR="91425" marL="91425" anchor="ctr"/>
                </a:tc>
                <a:tc>
                  <a:txBody>
                    <a:bodyPr/>
                    <a:lstStyle/>
                    <a:p>
                      <a:pPr indent="0" lvl="0" marL="0" rtl="0" algn="ctr">
                        <a:spcBef>
                          <a:spcPts val="0"/>
                        </a:spcBef>
                        <a:spcAft>
                          <a:spcPts val="0"/>
                        </a:spcAft>
                        <a:buNone/>
                      </a:pPr>
                      <a:r>
                        <a:rPr lang="en"/>
                        <a:t>1:1</a:t>
                      </a:r>
                      <a:endParaRPr/>
                    </a:p>
                  </a:txBody>
                  <a:tcPr marT="91425" marB="91425" marR="91425" marL="91425" anchor="ctr"/>
                </a:tc>
                <a:tc>
                  <a:txBody>
                    <a:bodyPr/>
                    <a:lstStyle/>
                    <a:p>
                      <a:pPr indent="0" lvl="0" marL="0" rtl="0" algn="ctr">
                        <a:spcBef>
                          <a:spcPts val="0"/>
                        </a:spcBef>
                        <a:spcAft>
                          <a:spcPts val="0"/>
                        </a:spcAft>
                        <a:buNone/>
                      </a:pPr>
                      <a:r>
                        <a:rPr lang="en"/>
                        <a:t>5:4</a:t>
                      </a:r>
                      <a:endParaRPr/>
                    </a:p>
                  </a:txBody>
                  <a:tcPr marT="91425" marB="91425" marR="91425" marL="91425" anchor="ctr"/>
                </a:tc>
                <a:tc>
                  <a:txBody>
                    <a:bodyPr/>
                    <a:lstStyle/>
                    <a:p>
                      <a:pPr indent="0" lvl="0" marL="0" rtl="0" algn="ctr">
                        <a:spcBef>
                          <a:spcPts val="0"/>
                        </a:spcBef>
                        <a:spcAft>
                          <a:spcPts val="0"/>
                        </a:spcAft>
                        <a:buNone/>
                      </a:pPr>
                      <a:r>
                        <a:rPr lang="en"/>
                        <a:t>𝛑:2</a:t>
                      </a:r>
                      <a:endParaRPr/>
                    </a:p>
                  </a:txBody>
                  <a:tcPr marT="91425" marB="91425" marR="91425" marL="91425" anchor="ctr"/>
                </a:tc>
                <a:tc>
                  <a:txBody>
                    <a:bodyPr/>
                    <a:lstStyle/>
                    <a:p>
                      <a:pPr indent="0" lvl="0" marL="0" rtl="0" algn="ctr">
                        <a:spcBef>
                          <a:spcPts val="0"/>
                        </a:spcBef>
                        <a:spcAft>
                          <a:spcPts val="0"/>
                        </a:spcAft>
                        <a:buNone/>
                      </a:pPr>
                      <a:r>
                        <a:rPr lang="en"/>
                        <a:t>2:1</a:t>
                      </a:r>
                      <a:endParaRPr/>
                    </a:p>
                  </a:txBody>
                  <a:tcPr marT="91425" marB="91425" marR="91425" marL="91425" anchor="ctr"/>
                </a:tc>
                <a:tc>
                  <a:txBody>
                    <a:bodyPr/>
                    <a:lstStyle/>
                    <a:p>
                      <a:pPr indent="0" lvl="0" marL="0" rtl="0" algn="ctr">
                        <a:spcBef>
                          <a:spcPts val="0"/>
                        </a:spcBef>
                        <a:spcAft>
                          <a:spcPts val="0"/>
                        </a:spcAft>
                        <a:buNone/>
                      </a:pPr>
                      <a:r>
                        <a:rPr lang="en"/>
                        <a:t>5:2</a:t>
                      </a:r>
                      <a:endParaRPr/>
                    </a:p>
                  </a:txBody>
                  <a:tcPr marT="91425" marB="91425" marR="91425" marL="91425" anchor="ctr"/>
                </a:tc>
                <a:tc>
                  <a:txBody>
                    <a:bodyPr/>
                    <a:lstStyle/>
                    <a:p>
                      <a:pPr indent="0" lvl="0" marL="0" rtl="0" algn="ctr">
                        <a:spcBef>
                          <a:spcPts val="0"/>
                        </a:spcBef>
                        <a:spcAft>
                          <a:spcPts val="0"/>
                        </a:spcAft>
                        <a:buNone/>
                      </a:pPr>
                      <a:r>
                        <a:rPr lang="en"/>
                        <a:t>𝛑:1</a:t>
                      </a:r>
                      <a:endParaRPr/>
                    </a:p>
                  </a:txBody>
                  <a:tcPr marT="91425" marB="91425" marR="91425" marL="91425" anchor="ctr"/>
                </a:tc>
                <a:tc>
                  <a:txBody>
                    <a:bodyPr/>
                    <a:lstStyle/>
                    <a:p>
                      <a:pPr indent="0" lvl="0" marL="0" rtl="0" algn="ctr">
                        <a:spcBef>
                          <a:spcPts val="0"/>
                        </a:spcBef>
                        <a:spcAft>
                          <a:spcPts val="0"/>
                        </a:spcAft>
                        <a:buNone/>
                      </a:pPr>
                      <a:r>
                        <a:rPr lang="en"/>
                        <a:t>4:1</a:t>
                      </a:r>
                      <a:endParaRPr/>
                    </a:p>
                  </a:txBody>
                  <a:tcPr marT="91425" marB="91425" marR="91425" marL="91425" anchor="ctr"/>
                </a:tc>
                <a:tc>
                  <a:txBody>
                    <a:bodyPr/>
                    <a:lstStyle/>
                    <a:p>
                      <a:pPr indent="0" lvl="0" marL="0" rtl="0" algn="ctr">
                        <a:spcBef>
                          <a:spcPts val="0"/>
                        </a:spcBef>
                        <a:spcAft>
                          <a:spcPts val="0"/>
                        </a:spcAft>
                        <a:buNone/>
                      </a:pPr>
                      <a:r>
                        <a:rPr lang="en"/>
                        <a:t>5:1</a:t>
                      </a:r>
                      <a:endParaRPr/>
                    </a:p>
                  </a:txBody>
                  <a:tcPr marT="91425" marB="91425" marR="91425" marL="91425" anchor="ctr"/>
                </a:tc>
                <a:tc>
                  <a:txBody>
                    <a:bodyPr/>
                    <a:lstStyle/>
                    <a:p>
                      <a:pPr indent="0" lvl="0" marL="0" rtl="0" algn="ctr">
                        <a:spcBef>
                          <a:spcPts val="0"/>
                        </a:spcBef>
                        <a:spcAft>
                          <a:spcPts val="0"/>
                        </a:spcAft>
                        <a:buNone/>
                      </a:pPr>
                      <a:r>
                        <a:rPr lang="en"/>
                        <a:t>2</a:t>
                      </a:r>
                      <a:r>
                        <a:rPr lang="en"/>
                        <a:t>𝛑:1</a:t>
                      </a:r>
                      <a:endParaRPr/>
                    </a:p>
                  </a:txBody>
                  <a:tcPr marT="91425" marB="91425" marR="91425" marL="91425" anchor="ctr"/>
                </a:tc>
                <a:tc>
                  <a:txBody>
                    <a:bodyPr/>
                    <a:lstStyle/>
                    <a:p>
                      <a:pPr indent="0" lvl="0" marL="0" rtl="0" algn="ctr">
                        <a:spcBef>
                          <a:spcPts val="0"/>
                        </a:spcBef>
                        <a:spcAft>
                          <a:spcPts val="0"/>
                        </a:spcAft>
                        <a:buNone/>
                      </a:pPr>
                      <a:r>
                        <a:rPr lang="en"/>
                        <a:t>8:1</a:t>
                      </a:r>
                      <a:endParaRPr/>
                    </a:p>
                  </a:txBody>
                  <a:tcPr marT="91425" marB="91425" marR="91425" marL="91425" anchor="ctr"/>
                </a:tc>
                <a:tc>
                  <a:txBody>
                    <a:bodyPr/>
                    <a:lstStyle/>
                    <a:p>
                      <a:pPr indent="0" lvl="0" marL="0" rtl="0" algn="ctr">
                        <a:spcBef>
                          <a:spcPts val="0"/>
                        </a:spcBef>
                        <a:spcAft>
                          <a:spcPts val="0"/>
                        </a:spcAft>
                        <a:buNone/>
                      </a:pPr>
                      <a:r>
                        <a:rPr lang="en"/>
                        <a:t>10:1</a:t>
                      </a:r>
                      <a:endParaRPr/>
                    </a:p>
                  </a:txBody>
                  <a:tcPr marT="91425" marB="91425" marR="91425" marL="91425" anchor="ctr"/>
                </a:tc>
                <a:tc>
                  <a:txBody>
                    <a:bodyPr/>
                    <a:lstStyle/>
                    <a:p>
                      <a:pPr indent="0" lvl="0" marL="0" rtl="0" algn="ctr">
                        <a:spcBef>
                          <a:spcPts val="0"/>
                        </a:spcBef>
                        <a:spcAft>
                          <a:spcPts val="0"/>
                        </a:spcAft>
                        <a:buNone/>
                      </a:pPr>
                      <a:r>
                        <a:rPr lang="en"/>
                        <a:t>4</a:t>
                      </a:r>
                      <a:r>
                        <a:rPr lang="en"/>
                        <a:t>𝛑:1</a:t>
                      </a:r>
                      <a:endParaRPr/>
                    </a:p>
                  </a:txBody>
                  <a:tcPr marT="91425" marB="91425" marR="91425" marL="91425" anchor="ctr"/>
                </a:tc>
                <a:tc>
                  <a:txBody>
                    <a:bodyPr/>
                    <a:lstStyle/>
                    <a:p>
                      <a:pPr indent="0" lvl="0" marL="0" rtl="0" algn="ctr">
                        <a:spcBef>
                          <a:spcPts val="0"/>
                        </a:spcBef>
                        <a:spcAft>
                          <a:spcPts val="0"/>
                        </a:spcAft>
                        <a:buNone/>
                      </a:pPr>
                      <a:r>
                        <a:rPr lang="en"/>
                        <a:t>16:1</a:t>
                      </a:r>
                      <a:endParaRPr/>
                    </a:p>
                  </a:txBody>
                  <a:tcPr marT="91425" marB="91425" marR="91425" marL="91425" anchor="ctr"/>
                </a:tc>
                <a:tc>
                  <a:txBody>
                    <a:bodyPr/>
                    <a:lstStyle/>
                    <a:p>
                      <a:pPr indent="0" lvl="0" marL="0" rtl="0" algn="ctr">
                        <a:spcBef>
                          <a:spcPts val="0"/>
                        </a:spcBef>
                        <a:spcAft>
                          <a:spcPts val="0"/>
                        </a:spcAft>
                        <a:buNone/>
                      </a:pPr>
                      <a:r>
                        <a:rPr lang="en"/>
                        <a:t>20:1</a:t>
                      </a:r>
                      <a:endParaRPr/>
                    </a:p>
                  </a:txBody>
                  <a:tcPr marT="91425" marB="91425" marR="91425" marL="91425" anchor="ctr"/>
                </a:tc>
              </a:tr>
              <a:tr h="697075">
                <a:tc>
                  <a:txBody>
                    <a:bodyPr/>
                    <a:lstStyle/>
                    <a:p>
                      <a:pPr indent="0" lvl="0" marL="0" rtl="0" algn="r">
                        <a:spcBef>
                          <a:spcPts val="0"/>
                        </a:spcBef>
                        <a:spcAft>
                          <a:spcPts val="0"/>
                        </a:spcAft>
                        <a:buNone/>
                      </a:pPr>
                      <a:r>
                        <a:rPr lang="en"/>
                        <a:t>p</a:t>
                      </a:r>
                      <a:endParaRPr/>
                    </a:p>
                  </a:txBody>
                  <a:tcPr marT="91425" marB="91425" marR="91425" marL="91425" anchor="ctr"/>
                </a:tc>
                <a:tc>
                  <a:txBody>
                    <a:bodyPr/>
                    <a:lstStyle/>
                    <a:p>
                      <a:pPr indent="0" lvl="0" marL="0" rtl="0" algn="ctr">
                        <a:spcBef>
                          <a:spcPts val="0"/>
                        </a:spcBef>
                        <a:spcAft>
                          <a:spcPts val="0"/>
                        </a:spcAft>
                        <a:buNone/>
                      </a:pPr>
                      <a:r>
                        <a:rPr lang="en"/>
                        <a:t>50%</a:t>
                      </a:r>
                      <a:endParaRPr/>
                    </a:p>
                  </a:txBody>
                  <a:tcPr marT="91425" marB="91425" marR="91425" marL="91425" anchor="ctr"/>
                </a:tc>
                <a:tc>
                  <a:txBody>
                    <a:bodyPr/>
                    <a:lstStyle/>
                    <a:p>
                      <a:pPr indent="0" lvl="0" marL="0" rtl="0" algn="ctr">
                        <a:spcBef>
                          <a:spcPts val="0"/>
                        </a:spcBef>
                        <a:spcAft>
                          <a:spcPts val="0"/>
                        </a:spcAft>
                        <a:buNone/>
                      </a:pPr>
                      <a:r>
                        <a:rPr lang="en"/>
                        <a:t>56%</a:t>
                      </a:r>
                      <a:endParaRPr/>
                    </a:p>
                  </a:txBody>
                  <a:tcPr marT="91425" marB="91425" marR="91425" marL="91425" anchor="ctr"/>
                </a:tc>
                <a:tc>
                  <a:txBody>
                    <a:bodyPr/>
                    <a:lstStyle/>
                    <a:p>
                      <a:pPr indent="0" lvl="0" marL="0" rtl="0" algn="ctr">
                        <a:spcBef>
                          <a:spcPts val="0"/>
                        </a:spcBef>
                        <a:spcAft>
                          <a:spcPts val="0"/>
                        </a:spcAft>
                        <a:buNone/>
                      </a:pPr>
                      <a:r>
                        <a:rPr lang="en"/>
                        <a:t>61%</a:t>
                      </a:r>
                      <a:endParaRPr/>
                    </a:p>
                  </a:txBody>
                  <a:tcPr marT="91425" marB="91425" marR="91425" marL="91425" anchor="ctr"/>
                </a:tc>
                <a:tc>
                  <a:txBody>
                    <a:bodyPr/>
                    <a:lstStyle/>
                    <a:p>
                      <a:pPr indent="0" lvl="0" marL="0" rtl="0" algn="ctr">
                        <a:spcBef>
                          <a:spcPts val="0"/>
                        </a:spcBef>
                        <a:spcAft>
                          <a:spcPts val="0"/>
                        </a:spcAft>
                        <a:buNone/>
                      </a:pPr>
                      <a:r>
                        <a:rPr lang="en"/>
                        <a:t>67%</a:t>
                      </a:r>
                      <a:endParaRPr/>
                    </a:p>
                  </a:txBody>
                  <a:tcPr marT="91425" marB="91425" marR="91425" marL="91425" anchor="ctr"/>
                </a:tc>
                <a:tc>
                  <a:txBody>
                    <a:bodyPr/>
                    <a:lstStyle/>
                    <a:p>
                      <a:pPr indent="0" lvl="0" marL="0" rtl="0" algn="ctr">
                        <a:spcBef>
                          <a:spcPts val="0"/>
                        </a:spcBef>
                        <a:spcAft>
                          <a:spcPts val="0"/>
                        </a:spcAft>
                        <a:buNone/>
                      </a:pPr>
                      <a:r>
                        <a:rPr lang="en"/>
                        <a:t>72%</a:t>
                      </a:r>
                      <a:endParaRPr/>
                    </a:p>
                  </a:txBody>
                  <a:tcPr marT="91425" marB="91425" marR="91425" marL="91425" anchor="ctr"/>
                </a:tc>
                <a:tc>
                  <a:txBody>
                    <a:bodyPr/>
                    <a:lstStyle/>
                    <a:p>
                      <a:pPr indent="0" lvl="0" marL="0" rtl="0" algn="ctr">
                        <a:spcBef>
                          <a:spcPts val="0"/>
                        </a:spcBef>
                        <a:spcAft>
                          <a:spcPts val="0"/>
                        </a:spcAft>
                        <a:buNone/>
                      </a:pPr>
                      <a:r>
                        <a:rPr lang="en"/>
                        <a:t>76%</a:t>
                      </a:r>
                      <a:endParaRPr/>
                    </a:p>
                  </a:txBody>
                  <a:tcPr marT="91425" marB="91425" marR="91425" marL="91425" anchor="ctr"/>
                </a:tc>
                <a:tc>
                  <a:txBody>
                    <a:bodyPr/>
                    <a:lstStyle/>
                    <a:p>
                      <a:pPr indent="0" lvl="0" marL="0" rtl="0" algn="ctr">
                        <a:spcBef>
                          <a:spcPts val="0"/>
                        </a:spcBef>
                        <a:spcAft>
                          <a:spcPts val="0"/>
                        </a:spcAft>
                        <a:buNone/>
                      </a:pPr>
                      <a:r>
                        <a:rPr lang="en"/>
                        <a:t>80%</a:t>
                      </a:r>
                      <a:endParaRPr/>
                    </a:p>
                  </a:txBody>
                  <a:tcPr marT="91425" marB="91425" marR="91425" marL="91425" anchor="ctr"/>
                </a:tc>
                <a:tc>
                  <a:txBody>
                    <a:bodyPr/>
                    <a:lstStyle/>
                    <a:p>
                      <a:pPr indent="0" lvl="0" marL="0" rtl="0" algn="ctr">
                        <a:spcBef>
                          <a:spcPts val="0"/>
                        </a:spcBef>
                        <a:spcAft>
                          <a:spcPts val="0"/>
                        </a:spcAft>
                        <a:buNone/>
                      </a:pPr>
                      <a:r>
                        <a:rPr lang="en"/>
                        <a:t>83%</a:t>
                      </a:r>
                      <a:endParaRPr/>
                    </a:p>
                  </a:txBody>
                  <a:tcPr marT="91425" marB="91425" marR="91425" marL="91425" anchor="ctr"/>
                </a:tc>
                <a:tc>
                  <a:txBody>
                    <a:bodyPr/>
                    <a:lstStyle/>
                    <a:p>
                      <a:pPr indent="0" lvl="0" marL="0" rtl="0" algn="ctr">
                        <a:spcBef>
                          <a:spcPts val="0"/>
                        </a:spcBef>
                        <a:spcAft>
                          <a:spcPts val="0"/>
                        </a:spcAft>
                        <a:buNone/>
                      </a:pPr>
                      <a:r>
                        <a:rPr lang="en"/>
                        <a:t>86%</a:t>
                      </a:r>
                      <a:endParaRPr/>
                    </a:p>
                  </a:txBody>
                  <a:tcPr marT="91425" marB="91425" marR="91425" marL="91425" anchor="ctr"/>
                </a:tc>
                <a:tc>
                  <a:txBody>
                    <a:bodyPr/>
                    <a:lstStyle/>
                    <a:p>
                      <a:pPr indent="0" lvl="0" marL="0" rtl="0" algn="ctr">
                        <a:spcBef>
                          <a:spcPts val="0"/>
                        </a:spcBef>
                        <a:spcAft>
                          <a:spcPts val="0"/>
                        </a:spcAft>
                        <a:buNone/>
                      </a:pPr>
                      <a:r>
                        <a:rPr lang="en"/>
                        <a:t>89%</a:t>
                      </a:r>
                      <a:endParaRPr/>
                    </a:p>
                  </a:txBody>
                  <a:tcPr marT="91425" marB="91425" marR="91425" marL="91425" anchor="ctr"/>
                </a:tc>
                <a:tc>
                  <a:txBody>
                    <a:bodyPr/>
                    <a:lstStyle/>
                    <a:p>
                      <a:pPr indent="0" lvl="0" marL="0" rtl="0" algn="ctr">
                        <a:spcBef>
                          <a:spcPts val="0"/>
                        </a:spcBef>
                        <a:spcAft>
                          <a:spcPts val="0"/>
                        </a:spcAft>
                        <a:buNone/>
                      </a:pPr>
                      <a:r>
                        <a:rPr lang="en"/>
                        <a:t>91%</a:t>
                      </a:r>
                      <a:endParaRPr/>
                    </a:p>
                  </a:txBody>
                  <a:tcPr marT="91425" marB="91425" marR="91425" marL="91425" anchor="ctr"/>
                </a:tc>
                <a:tc>
                  <a:txBody>
                    <a:bodyPr/>
                    <a:lstStyle/>
                    <a:p>
                      <a:pPr indent="0" lvl="0" marL="0" rtl="0" algn="ctr">
                        <a:spcBef>
                          <a:spcPts val="0"/>
                        </a:spcBef>
                        <a:spcAft>
                          <a:spcPts val="0"/>
                        </a:spcAft>
                        <a:buNone/>
                      </a:pPr>
                      <a:r>
                        <a:rPr lang="en"/>
                        <a:t>93%</a:t>
                      </a:r>
                      <a:endParaRPr/>
                    </a:p>
                  </a:txBody>
                  <a:tcPr marT="91425" marB="91425" marR="91425" marL="91425" anchor="ctr"/>
                </a:tc>
                <a:tc>
                  <a:txBody>
                    <a:bodyPr/>
                    <a:lstStyle/>
                    <a:p>
                      <a:pPr indent="0" lvl="0" marL="0" rtl="0" algn="ctr">
                        <a:spcBef>
                          <a:spcPts val="0"/>
                        </a:spcBef>
                        <a:spcAft>
                          <a:spcPts val="0"/>
                        </a:spcAft>
                        <a:buNone/>
                      </a:pPr>
                      <a:r>
                        <a:rPr lang="en"/>
                        <a:t>94%</a:t>
                      </a:r>
                      <a:endParaRPr/>
                    </a:p>
                  </a:txBody>
                  <a:tcPr marT="91425" marB="91425" marR="91425" marL="91425" anchor="ctr"/>
                </a:tc>
                <a:tc>
                  <a:txBody>
                    <a:bodyPr/>
                    <a:lstStyle/>
                    <a:p>
                      <a:pPr indent="0" lvl="0" marL="0" rtl="0" algn="ctr">
                        <a:spcBef>
                          <a:spcPts val="0"/>
                        </a:spcBef>
                        <a:spcAft>
                          <a:spcPts val="0"/>
                        </a:spcAft>
                        <a:buNone/>
                      </a:pPr>
                      <a:r>
                        <a:rPr lang="en"/>
                        <a:t>95%</a:t>
                      </a:r>
                      <a:endParaRPr/>
                    </a:p>
                  </a:txBody>
                  <a:tcPr marT="91425" marB="91425" marR="91425" marL="91425" anchor="ct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Belief-O-Meter</a:t>
            </a:r>
            <a:endParaRPr/>
          </a:p>
        </p:txBody>
      </p:sp>
      <p:cxnSp>
        <p:nvCxnSpPr>
          <p:cNvPr id="413" name="Google Shape;413;p65"/>
          <p:cNvCxnSpPr/>
          <p:nvPr/>
        </p:nvCxnSpPr>
        <p:spPr>
          <a:xfrm>
            <a:off x="475700" y="3150175"/>
            <a:ext cx="7959900" cy="0"/>
          </a:xfrm>
          <a:prstGeom prst="straightConnector1">
            <a:avLst/>
          </a:prstGeom>
          <a:noFill/>
          <a:ln cap="flat" cmpd="sng" w="28575">
            <a:solidFill>
              <a:schemeClr val="dk2"/>
            </a:solidFill>
            <a:prstDash val="solid"/>
            <a:round/>
            <a:headEnd len="med" w="med" type="stealth"/>
            <a:tailEnd len="med" w="med" type="stealth"/>
          </a:ln>
        </p:spPr>
      </p:cxnSp>
      <p:cxnSp>
        <p:nvCxnSpPr>
          <p:cNvPr id="414" name="Google Shape;414;p65"/>
          <p:cNvCxnSpPr/>
          <p:nvPr/>
        </p:nvCxnSpPr>
        <p:spPr>
          <a:xfrm>
            <a:off x="5096160"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65"/>
          <p:cNvCxnSpPr/>
          <p:nvPr/>
        </p:nvCxnSpPr>
        <p:spPr>
          <a:xfrm>
            <a:off x="5694308"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65"/>
          <p:cNvCxnSpPr/>
          <p:nvPr/>
        </p:nvCxnSpPr>
        <p:spPr>
          <a:xfrm>
            <a:off x="6292456"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65"/>
          <p:cNvCxnSpPr/>
          <p:nvPr/>
        </p:nvCxnSpPr>
        <p:spPr>
          <a:xfrm>
            <a:off x="6890604"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65"/>
          <p:cNvCxnSpPr/>
          <p:nvPr/>
        </p:nvCxnSpPr>
        <p:spPr>
          <a:xfrm>
            <a:off x="7488752"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65"/>
          <p:cNvCxnSpPr/>
          <p:nvPr/>
        </p:nvCxnSpPr>
        <p:spPr>
          <a:xfrm>
            <a:off x="8086900"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65"/>
          <p:cNvCxnSpPr/>
          <p:nvPr/>
        </p:nvCxnSpPr>
        <p:spPr>
          <a:xfrm>
            <a:off x="2105421"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65"/>
          <p:cNvCxnSpPr/>
          <p:nvPr/>
        </p:nvCxnSpPr>
        <p:spPr>
          <a:xfrm>
            <a:off x="2703569"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65"/>
          <p:cNvCxnSpPr/>
          <p:nvPr/>
        </p:nvCxnSpPr>
        <p:spPr>
          <a:xfrm>
            <a:off x="3301717"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3" name="Google Shape;423;p65"/>
          <p:cNvCxnSpPr/>
          <p:nvPr/>
        </p:nvCxnSpPr>
        <p:spPr>
          <a:xfrm>
            <a:off x="3899865"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4" name="Google Shape;424;p65"/>
          <p:cNvCxnSpPr/>
          <p:nvPr/>
        </p:nvCxnSpPr>
        <p:spPr>
          <a:xfrm>
            <a:off x="4498013"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5" name="Google Shape;425;p65"/>
          <p:cNvCxnSpPr/>
          <p:nvPr/>
        </p:nvCxnSpPr>
        <p:spPr>
          <a:xfrm>
            <a:off x="909125"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26" name="Google Shape;426;p65"/>
          <p:cNvCxnSpPr/>
          <p:nvPr/>
        </p:nvCxnSpPr>
        <p:spPr>
          <a:xfrm>
            <a:off x="1507273" y="2975725"/>
            <a:ext cx="0" cy="348900"/>
          </a:xfrm>
          <a:prstGeom prst="straightConnector1">
            <a:avLst/>
          </a:prstGeom>
          <a:noFill/>
          <a:ln cap="flat" cmpd="sng" w="9525">
            <a:solidFill>
              <a:schemeClr val="dk2"/>
            </a:solidFill>
            <a:prstDash val="solid"/>
            <a:round/>
            <a:headEnd len="med" w="med" type="none"/>
            <a:tailEnd len="med" w="med" type="none"/>
          </a:ln>
        </p:spPr>
      </p:cxnSp>
      <p:sp>
        <p:nvSpPr>
          <p:cNvPr id="427" name="Google Shape;427;p65"/>
          <p:cNvSpPr txBox="1"/>
          <p:nvPr/>
        </p:nvSpPr>
        <p:spPr>
          <a:xfrm>
            <a:off x="6424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428" name="Google Shape;428;p65"/>
          <p:cNvSpPr txBox="1"/>
          <p:nvPr/>
        </p:nvSpPr>
        <p:spPr>
          <a:xfrm>
            <a:off x="12405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429" name="Google Shape;429;p65"/>
          <p:cNvSpPr txBox="1"/>
          <p:nvPr/>
        </p:nvSpPr>
        <p:spPr>
          <a:xfrm>
            <a:off x="18387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430" name="Google Shape;430;p65"/>
          <p:cNvSpPr txBox="1"/>
          <p:nvPr/>
        </p:nvSpPr>
        <p:spPr>
          <a:xfrm>
            <a:off x="24368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431" name="Google Shape;431;p65"/>
          <p:cNvSpPr txBox="1"/>
          <p:nvPr/>
        </p:nvSpPr>
        <p:spPr>
          <a:xfrm>
            <a:off x="30350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432" name="Google Shape;432;p65"/>
          <p:cNvSpPr txBox="1"/>
          <p:nvPr/>
        </p:nvSpPr>
        <p:spPr>
          <a:xfrm>
            <a:off x="36331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433" name="Google Shape;433;p65"/>
          <p:cNvSpPr txBox="1"/>
          <p:nvPr/>
        </p:nvSpPr>
        <p:spPr>
          <a:xfrm>
            <a:off x="42313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434" name="Google Shape;434;p65"/>
          <p:cNvSpPr txBox="1"/>
          <p:nvPr/>
        </p:nvSpPr>
        <p:spPr>
          <a:xfrm>
            <a:off x="48294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435" name="Google Shape;435;p65"/>
          <p:cNvSpPr txBox="1"/>
          <p:nvPr/>
        </p:nvSpPr>
        <p:spPr>
          <a:xfrm>
            <a:off x="54276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436" name="Google Shape;436;p65"/>
          <p:cNvSpPr txBox="1"/>
          <p:nvPr/>
        </p:nvSpPr>
        <p:spPr>
          <a:xfrm>
            <a:off x="60257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437" name="Google Shape;437;p65"/>
          <p:cNvSpPr txBox="1"/>
          <p:nvPr/>
        </p:nvSpPr>
        <p:spPr>
          <a:xfrm>
            <a:off x="66239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438" name="Google Shape;438;p65"/>
          <p:cNvSpPr txBox="1"/>
          <p:nvPr/>
        </p:nvSpPr>
        <p:spPr>
          <a:xfrm>
            <a:off x="72220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439" name="Google Shape;439;p65"/>
          <p:cNvSpPr txBox="1"/>
          <p:nvPr/>
        </p:nvSpPr>
        <p:spPr>
          <a:xfrm>
            <a:off x="78202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440" name="Google Shape;440;p65"/>
          <p:cNvCxnSpPr/>
          <p:nvPr/>
        </p:nvCxnSpPr>
        <p:spPr>
          <a:xfrm flipH="1" rot="10800000">
            <a:off x="120400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1" name="Google Shape;441;p65"/>
          <p:cNvCxnSpPr/>
          <p:nvPr/>
        </p:nvCxnSpPr>
        <p:spPr>
          <a:xfrm flipH="1" rot="10800000">
            <a:off x="180215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2" name="Google Shape;442;p65"/>
          <p:cNvCxnSpPr/>
          <p:nvPr/>
        </p:nvCxnSpPr>
        <p:spPr>
          <a:xfrm flipH="1" rot="10800000">
            <a:off x="240030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3" name="Google Shape;443;p65"/>
          <p:cNvCxnSpPr/>
          <p:nvPr/>
        </p:nvCxnSpPr>
        <p:spPr>
          <a:xfrm flipH="1" rot="10800000">
            <a:off x="299845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4" name="Google Shape;444;p65"/>
          <p:cNvCxnSpPr/>
          <p:nvPr/>
        </p:nvCxnSpPr>
        <p:spPr>
          <a:xfrm flipH="1" rot="10800000">
            <a:off x="359658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5" name="Google Shape;445;p65"/>
          <p:cNvCxnSpPr/>
          <p:nvPr/>
        </p:nvCxnSpPr>
        <p:spPr>
          <a:xfrm flipH="1" rot="10800000">
            <a:off x="419473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6" name="Google Shape;446;p65"/>
          <p:cNvCxnSpPr/>
          <p:nvPr/>
        </p:nvCxnSpPr>
        <p:spPr>
          <a:xfrm flipH="1" rot="10800000">
            <a:off x="479288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7" name="Google Shape;447;p65"/>
          <p:cNvCxnSpPr/>
          <p:nvPr/>
        </p:nvCxnSpPr>
        <p:spPr>
          <a:xfrm flipH="1" rot="10800000">
            <a:off x="539103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65"/>
          <p:cNvCxnSpPr/>
          <p:nvPr/>
        </p:nvCxnSpPr>
        <p:spPr>
          <a:xfrm flipH="1" rot="10800000">
            <a:off x="598917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65"/>
          <p:cNvCxnSpPr/>
          <p:nvPr/>
        </p:nvCxnSpPr>
        <p:spPr>
          <a:xfrm flipH="1" rot="10800000">
            <a:off x="658732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65"/>
          <p:cNvCxnSpPr/>
          <p:nvPr/>
        </p:nvCxnSpPr>
        <p:spPr>
          <a:xfrm flipH="1" rot="10800000">
            <a:off x="718547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65"/>
          <p:cNvCxnSpPr/>
          <p:nvPr/>
        </p:nvCxnSpPr>
        <p:spPr>
          <a:xfrm flipH="1" rot="10800000">
            <a:off x="7783625" y="3010225"/>
            <a:ext cx="8400" cy="279900"/>
          </a:xfrm>
          <a:prstGeom prst="straightConnector1">
            <a:avLst/>
          </a:prstGeom>
          <a:noFill/>
          <a:ln cap="flat" cmpd="sng" w="9525">
            <a:solidFill>
              <a:schemeClr val="dk2"/>
            </a:solidFill>
            <a:prstDash val="solid"/>
            <a:round/>
            <a:headEnd len="med" w="med" type="none"/>
            <a:tailEnd len="med" w="med" type="none"/>
          </a:ln>
        </p:spPr>
      </p:cxnSp>
      <p:sp>
        <p:nvSpPr>
          <p:cNvPr id="452" name="Google Shape;452;p65"/>
          <p:cNvSpPr txBox="1"/>
          <p:nvPr/>
        </p:nvSpPr>
        <p:spPr>
          <a:xfrm>
            <a:off x="5665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453" name="Google Shape;453;p65"/>
          <p:cNvSpPr txBox="1"/>
          <p:nvPr/>
        </p:nvSpPr>
        <p:spPr>
          <a:xfrm>
            <a:off x="77443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454" name="Google Shape;454;p65"/>
          <p:cNvSpPr txBox="1"/>
          <p:nvPr/>
        </p:nvSpPr>
        <p:spPr>
          <a:xfrm>
            <a:off x="41554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455" name="Google Shape;455;p65"/>
          <p:cNvSpPr txBox="1"/>
          <p:nvPr/>
        </p:nvSpPr>
        <p:spPr>
          <a:xfrm>
            <a:off x="5052650"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456" name="Google Shape;456;p65"/>
          <p:cNvSpPr txBox="1"/>
          <p:nvPr/>
        </p:nvSpPr>
        <p:spPr>
          <a:xfrm>
            <a:off x="3258200"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457" name="Google Shape;457;p65"/>
          <p:cNvSpPr txBox="1"/>
          <p:nvPr/>
        </p:nvSpPr>
        <p:spPr>
          <a:xfrm>
            <a:off x="714617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458" name="Google Shape;458;p65"/>
          <p:cNvSpPr txBox="1"/>
          <p:nvPr/>
        </p:nvSpPr>
        <p:spPr>
          <a:xfrm>
            <a:off x="116467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459" name="Google Shape;459;p65"/>
          <p:cNvSpPr txBox="1"/>
          <p:nvPr/>
        </p:nvSpPr>
        <p:spPr>
          <a:xfrm>
            <a:off x="62489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460" name="Google Shape;460;p65"/>
          <p:cNvSpPr txBox="1"/>
          <p:nvPr/>
        </p:nvSpPr>
        <p:spPr>
          <a:xfrm>
            <a:off x="20619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461" name="Google Shape;461;p65"/>
          <p:cNvSpPr/>
          <p:nvPr/>
        </p:nvSpPr>
        <p:spPr>
          <a:xfrm>
            <a:off x="4358075" y="30102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Loaded Dice</a:t>
            </a:r>
            <a:endParaRPr/>
          </a:p>
        </p:txBody>
      </p:sp>
      <p:sp>
        <p:nvSpPr>
          <p:cNvPr id="467" name="Google Shape;467;p66"/>
          <p:cNvSpPr txBox="1"/>
          <p:nvPr/>
        </p:nvSpPr>
        <p:spPr>
          <a:xfrm>
            <a:off x="373225" y="1504550"/>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Die is loaded and shows ⚅ 1/3 of the time.</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Die is fair.</a:t>
            </a:r>
            <a:endParaRPr sz="2400">
              <a:latin typeface="Google Sans"/>
              <a:ea typeface="Google Sans"/>
              <a:cs typeface="Google Sans"/>
              <a:sym typeface="Google Sans"/>
            </a:endParaRPr>
          </a:p>
        </p:txBody>
      </p:sp>
      <p:sp>
        <p:nvSpPr>
          <p:cNvPr id="468" name="Google Shape;468;p66"/>
          <p:cNvSpPr txBox="1"/>
          <p:nvPr/>
        </p:nvSpPr>
        <p:spPr>
          <a:xfrm>
            <a:off x="431550" y="2449275"/>
            <a:ext cx="1668000" cy="55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469" name="Google Shape;469;p66"/>
          <p:cNvPicPr preferRelativeResize="0"/>
          <p:nvPr/>
        </p:nvPicPr>
        <p:blipFill>
          <a:blip r:embed="rId3">
            <a:alphaModFix/>
          </a:blip>
          <a:stretch>
            <a:fillRect/>
          </a:stretch>
        </p:blipFill>
        <p:spPr>
          <a:xfrm>
            <a:off x="1267888" y="2571750"/>
            <a:ext cx="6608219" cy="1829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Multiple Observations</a:t>
            </a:r>
            <a:endParaRPr/>
          </a:p>
        </p:txBody>
      </p:sp>
      <p:pic>
        <p:nvPicPr>
          <p:cNvPr id="475" name="Google Shape;475;p67"/>
          <p:cNvPicPr preferRelativeResize="0"/>
          <p:nvPr/>
        </p:nvPicPr>
        <p:blipFill>
          <a:blip r:embed="rId3">
            <a:alphaModFix/>
          </a:blip>
          <a:stretch>
            <a:fillRect/>
          </a:stretch>
        </p:blipFill>
        <p:spPr>
          <a:xfrm>
            <a:off x="152400" y="2401350"/>
            <a:ext cx="8839204" cy="725091"/>
          </a:xfrm>
          <a:prstGeom prst="rect">
            <a:avLst/>
          </a:prstGeom>
          <a:noFill/>
          <a:ln>
            <a:noFill/>
          </a:ln>
        </p:spPr>
      </p:pic>
      <p:sp>
        <p:nvSpPr>
          <p:cNvPr id="476" name="Google Shape;476;p67"/>
          <p:cNvSpPr txBox="1"/>
          <p:nvPr/>
        </p:nvSpPr>
        <p:spPr>
          <a:xfrm flipH="1">
            <a:off x="311725" y="3965500"/>
            <a:ext cx="8520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Independent observations decompose additively given the logarithmic form.</a:t>
            </a:r>
            <a:endParaRPr sz="2400">
              <a:latin typeface="Google Sans"/>
              <a:ea typeface="Google Sans"/>
              <a:cs typeface="Google Sans"/>
              <a:sym typeface="Google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Loaded Dice</a:t>
            </a:r>
            <a:endParaRPr/>
          </a:p>
        </p:txBody>
      </p:sp>
      <p:sp>
        <p:nvSpPr>
          <p:cNvPr id="482" name="Google Shape;482;p68"/>
          <p:cNvSpPr txBox="1"/>
          <p:nvPr/>
        </p:nvSpPr>
        <p:spPr>
          <a:xfrm>
            <a:off x="396550" y="2732475"/>
            <a:ext cx="81177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Roboto"/>
                <a:ea typeface="Roboto"/>
                <a:cs typeface="Roboto"/>
                <a:sym typeface="Roboto"/>
              </a:rPr>
              <a:t>10 ⚅ and 10 non-⚅.    </a:t>
            </a:r>
            <a:endParaRPr sz="3000">
              <a:latin typeface="Roboto"/>
              <a:ea typeface="Roboto"/>
              <a:cs typeface="Roboto"/>
              <a:sym typeface="Roboto"/>
            </a:endParaRPr>
          </a:p>
          <a:p>
            <a:pPr indent="0" lvl="0" marL="0" rtl="0" algn="l">
              <a:spcBef>
                <a:spcPts val="0"/>
              </a:spcBef>
              <a:spcAft>
                <a:spcPts val="0"/>
              </a:spcAft>
              <a:buNone/>
            </a:pPr>
            <a:r>
              <a:rPr lang="en" sz="3000">
                <a:latin typeface="Roboto"/>
                <a:ea typeface="Roboto"/>
                <a:cs typeface="Roboto"/>
                <a:sym typeface="Roboto"/>
              </a:rPr>
              <a:t>3 db for each ⚅,  -1 for each non-⚅ ,  </a:t>
            </a:r>
            <a:endParaRPr sz="3000">
              <a:latin typeface="Roboto"/>
              <a:ea typeface="Roboto"/>
              <a:cs typeface="Roboto"/>
              <a:sym typeface="Roboto"/>
            </a:endParaRPr>
          </a:p>
          <a:p>
            <a:pPr indent="0" lvl="0" marL="0" rtl="0" algn="l">
              <a:spcBef>
                <a:spcPts val="0"/>
              </a:spcBef>
              <a:spcAft>
                <a:spcPts val="0"/>
              </a:spcAft>
              <a:buNone/>
            </a:pPr>
            <a:r>
              <a:t/>
            </a:r>
            <a:endParaRPr sz="3000">
              <a:latin typeface="Roboto"/>
              <a:ea typeface="Roboto"/>
              <a:cs typeface="Roboto"/>
              <a:sym typeface="Roboto"/>
            </a:endParaRPr>
          </a:p>
          <a:p>
            <a:pPr indent="0" lvl="0" marL="0" rtl="0" algn="l">
              <a:spcBef>
                <a:spcPts val="0"/>
              </a:spcBef>
              <a:spcAft>
                <a:spcPts val="0"/>
              </a:spcAft>
              <a:buNone/>
            </a:pPr>
            <a:r>
              <a:rPr lang="en" sz="3000">
                <a:latin typeface="Roboto"/>
                <a:ea typeface="Roboto"/>
                <a:cs typeface="Roboto"/>
                <a:sym typeface="Roboto"/>
              </a:rPr>
              <a:t>we end up with 20 db in favor.</a:t>
            </a:r>
            <a:endParaRPr sz="3000">
              <a:latin typeface="Roboto"/>
              <a:ea typeface="Roboto"/>
              <a:cs typeface="Roboto"/>
              <a:sym typeface="Roboto"/>
            </a:endParaRPr>
          </a:p>
        </p:txBody>
      </p:sp>
      <p:sp>
        <p:nvSpPr>
          <p:cNvPr id="483" name="Google Shape;483;p68"/>
          <p:cNvSpPr txBox="1"/>
          <p:nvPr/>
        </p:nvSpPr>
        <p:spPr>
          <a:xfrm>
            <a:off x="0" y="1574550"/>
            <a:ext cx="91440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400">
                <a:solidFill>
                  <a:schemeClr val="accent4"/>
                </a:solidFill>
                <a:latin typeface="Roboto"/>
                <a:ea typeface="Roboto"/>
                <a:cs typeface="Roboto"/>
                <a:sym typeface="Roboto"/>
              </a:rPr>
              <a:t>⚅ ⚅</a:t>
            </a:r>
            <a:r>
              <a:rPr lang="en" sz="3400">
                <a:latin typeface="Roboto"/>
                <a:ea typeface="Roboto"/>
                <a:cs typeface="Roboto"/>
                <a:sym typeface="Roboto"/>
              </a:rPr>
              <a:t> ⚄ </a:t>
            </a:r>
            <a:r>
              <a:rPr lang="en" sz="3400">
                <a:solidFill>
                  <a:schemeClr val="accent4"/>
                </a:solidFill>
                <a:latin typeface="Roboto"/>
                <a:ea typeface="Roboto"/>
                <a:cs typeface="Roboto"/>
                <a:sym typeface="Roboto"/>
              </a:rPr>
              <a:t>⚅ ⚅</a:t>
            </a:r>
            <a:r>
              <a:rPr lang="en" sz="3400">
                <a:latin typeface="Roboto"/>
                <a:ea typeface="Roboto"/>
                <a:cs typeface="Roboto"/>
                <a:sym typeface="Roboto"/>
              </a:rPr>
              <a:t> ⚄ </a:t>
            </a:r>
            <a:r>
              <a:rPr lang="en" sz="3400">
                <a:solidFill>
                  <a:schemeClr val="accent4"/>
                </a:solidFill>
                <a:latin typeface="Roboto"/>
                <a:ea typeface="Roboto"/>
                <a:cs typeface="Roboto"/>
                <a:sym typeface="Roboto"/>
              </a:rPr>
              <a:t>⚅ ⚅</a:t>
            </a:r>
            <a:r>
              <a:rPr lang="en" sz="3400">
                <a:latin typeface="Roboto"/>
                <a:ea typeface="Roboto"/>
                <a:cs typeface="Roboto"/>
                <a:sym typeface="Roboto"/>
              </a:rPr>
              <a:t> ⚃ ⚀ </a:t>
            </a:r>
            <a:r>
              <a:rPr lang="en" sz="3400">
                <a:solidFill>
                  <a:schemeClr val="accent4"/>
                </a:solidFill>
                <a:latin typeface="Roboto"/>
                <a:ea typeface="Roboto"/>
                <a:cs typeface="Roboto"/>
                <a:sym typeface="Roboto"/>
              </a:rPr>
              <a:t>⚅ ⚅ ⚅</a:t>
            </a:r>
            <a:r>
              <a:rPr lang="en" sz="3400">
                <a:latin typeface="Roboto"/>
                <a:ea typeface="Roboto"/>
                <a:cs typeface="Roboto"/>
                <a:sym typeface="Roboto"/>
              </a:rPr>
              <a:t> ⚁ ⚃ ⚃ ⚀ ⚃ </a:t>
            </a:r>
            <a:r>
              <a:rPr lang="en" sz="3400">
                <a:solidFill>
                  <a:schemeClr val="accent4"/>
                </a:solidFill>
                <a:latin typeface="Roboto"/>
                <a:ea typeface="Roboto"/>
                <a:cs typeface="Roboto"/>
                <a:sym typeface="Roboto"/>
              </a:rPr>
              <a:t>⚅</a:t>
            </a:r>
            <a:r>
              <a:rPr lang="en" sz="3400">
                <a:latin typeface="Roboto"/>
                <a:ea typeface="Roboto"/>
                <a:cs typeface="Roboto"/>
                <a:sym typeface="Roboto"/>
              </a:rPr>
              <a:t> ⚁</a:t>
            </a:r>
            <a:endParaRPr sz="34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Belief-O-Meter</a:t>
            </a:r>
            <a:endParaRPr/>
          </a:p>
        </p:txBody>
      </p:sp>
      <p:cxnSp>
        <p:nvCxnSpPr>
          <p:cNvPr id="489" name="Google Shape;489;p69"/>
          <p:cNvCxnSpPr/>
          <p:nvPr/>
        </p:nvCxnSpPr>
        <p:spPr>
          <a:xfrm>
            <a:off x="475700" y="3150175"/>
            <a:ext cx="7959900" cy="0"/>
          </a:xfrm>
          <a:prstGeom prst="straightConnector1">
            <a:avLst/>
          </a:prstGeom>
          <a:noFill/>
          <a:ln cap="flat" cmpd="sng" w="28575">
            <a:solidFill>
              <a:schemeClr val="dk2"/>
            </a:solidFill>
            <a:prstDash val="solid"/>
            <a:round/>
            <a:headEnd len="med" w="med" type="stealth"/>
            <a:tailEnd len="med" w="med" type="stealth"/>
          </a:ln>
        </p:spPr>
      </p:cxnSp>
      <p:cxnSp>
        <p:nvCxnSpPr>
          <p:cNvPr id="490" name="Google Shape;490;p69"/>
          <p:cNvCxnSpPr/>
          <p:nvPr/>
        </p:nvCxnSpPr>
        <p:spPr>
          <a:xfrm>
            <a:off x="5096160"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69"/>
          <p:cNvCxnSpPr/>
          <p:nvPr/>
        </p:nvCxnSpPr>
        <p:spPr>
          <a:xfrm>
            <a:off x="5694308"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69"/>
          <p:cNvCxnSpPr/>
          <p:nvPr/>
        </p:nvCxnSpPr>
        <p:spPr>
          <a:xfrm>
            <a:off x="6292456"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69"/>
          <p:cNvCxnSpPr/>
          <p:nvPr/>
        </p:nvCxnSpPr>
        <p:spPr>
          <a:xfrm>
            <a:off x="6890604"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69"/>
          <p:cNvCxnSpPr/>
          <p:nvPr/>
        </p:nvCxnSpPr>
        <p:spPr>
          <a:xfrm>
            <a:off x="7488752"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69"/>
          <p:cNvCxnSpPr/>
          <p:nvPr/>
        </p:nvCxnSpPr>
        <p:spPr>
          <a:xfrm>
            <a:off x="8086900"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69"/>
          <p:cNvCxnSpPr/>
          <p:nvPr/>
        </p:nvCxnSpPr>
        <p:spPr>
          <a:xfrm>
            <a:off x="2105421"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69"/>
          <p:cNvCxnSpPr/>
          <p:nvPr/>
        </p:nvCxnSpPr>
        <p:spPr>
          <a:xfrm>
            <a:off x="2703569"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69"/>
          <p:cNvCxnSpPr/>
          <p:nvPr/>
        </p:nvCxnSpPr>
        <p:spPr>
          <a:xfrm>
            <a:off x="3301717"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499" name="Google Shape;499;p69"/>
          <p:cNvCxnSpPr/>
          <p:nvPr/>
        </p:nvCxnSpPr>
        <p:spPr>
          <a:xfrm>
            <a:off x="3899865"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00" name="Google Shape;500;p69"/>
          <p:cNvCxnSpPr/>
          <p:nvPr/>
        </p:nvCxnSpPr>
        <p:spPr>
          <a:xfrm>
            <a:off x="4498013"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01" name="Google Shape;501;p69"/>
          <p:cNvCxnSpPr/>
          <p:nvPr/>
        </p:nvCxnSpPr>
        <p:spPr>
          <a:xfrm>
            <a:off x="909125" y="29757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02" name="Google Shape;502;p69"/>
          <p:cNvCxnSpPr/>
          <p:nvPr/>
        </p:nvCxnSpPr>
        <p:spPr>
          <a:xfrm>
            <a:off x="1507273" y="2975725"/>
            <a:ext cx="0" cy="348900"/>
          </a:xfrm>
          <a:prstGeom prst="straightConnector1">
            <a:avLst/>
          </a:prstGeom>
          <a:noFill/>
          <a:ln cap="flat" cmpd="sng" w="9525">
            <a:solidFill>
              <a:schemeClr val="dk2"/>
            </a:solidFill>
            <a:prstDash val="solid"/>
            <a:round/>
            <a:headEnd len="med" w="med" type="none"/>
            <a:tailEnd len="med" w="med" type="none"/>
          </a:ln>
        </p:spPr>
      </p:cxnSp>
      <p:sp>
        <p:nvSpPr>
          <p:cNvPr id="503" name="Google Shape;503;p69"/>
          <p:cNvSpPr txBox="1"/>
          <p:nvPr/>
        </p:nvSpPr>
        <p:spPr>
          <a:xfrm>
            <a:off x="6424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504" name="Google Shape;504;p69"/>
          <p:cNvSpPr txBox="1"/>
          <p:nvPr/>
        </p:nvSpPr>
        <p:spPr>
          <a:xfrm>
            <a:off x="12405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505" name="Google Shape;505;p69"/>
          <p:cNvSpPr txBox="1"/>
          <p:nvPr/>
        </p:nvSpPr>
        <p:spPr>
          <a:xfrm>
            <a:off x="18387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506" name="Google Shape;506;p69"/>
          <p:cNvSpPr txBox="1"/>
          <p:nvPr/>
        </p:nvSpPr>
        <p:spPr>
          <a:xfrm>
            <a:off x="24368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507" name="Google Shape;507;p69"/>
          <p:cNvSpPr txBox="1"/>
          <p:nvPr/>
        </p:nvSpPr>
        <p:spPr>
          <a:xfrm>
            <a:off x="30350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508" name="Google Shape;508;p69"/>
          <p:cNvSpPr txBox="1"/>
          <p:nvPr/>
        </p:nvSpPr>
        <p:spPr>
          <a:xfrm>
            <a:off x="36331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509" name="Google Shape;509;p69"/>
          <p:cNvSpPr txBox="1"/>
          <p:nvPr/>
        </p:nvSpPr>
        <p:spPr>
          <a:xfrm>
            <a:off x="42313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510" name="Google Shape;510;p69"/>
          <p:cNvSpPr txBox="1"/>
          <p:nvPr/>
        </p:nvSpPr>
        <p:spPr>
          <a:xfrm>
            <a:off x="48294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511" name="Google Shape;511;p69"/>
          <p:cNvSpPr txBox="1"/>
          <p:nvPr/>
        </p:nvSpPr>
        <p:spPr>
          <a:xfrm>
            <a:off x="54276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512" name="Google Shape;512;p69"/>
          <p:cNvSpPr txBox="1"/>
          <p:nvPr/>
        </p:nvSpPr>
        <p:spPr>
          <a:xfrm>
            <a:off x="60257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513" name="Google Shape;513;p69"/>
          <p:cNvSpPr txBox="1"/>
          <p:nvPr/>
        </p:nvSpPr>
        <p:spPr>
          <a:xfrm>
            <a:off x="66239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514" name="Google Shape;514;p69"/>
          <p:cNvSpPr txBox="1"/>
          <p:nvPr/>
        </p:nvSpPr>
        <p:spPr>
          <a:xfrm>
            <a:off x="722207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515" name="Google Shape;515;p69"/>
          <p:cNvSpPr txBox="1"/>
          <p:nvPr/>
        </p:nvSpPr>
        <p:spPr>
          <a:xfrm>
            <a:off x="7820225" y="25717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516" name="Google Shape;516;p69"/>
          <p:cNvCxnSpPr/>
          <p:nvPr/>
        </p:nvCxnSpPr>
        <p:spPr>
          <a:xfrm flipH="1" rot="10800000">
            <a:off x="120400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17" name="Google Shape;517;p69"/>
          <p:cNvCxnSpPr/>
          <p:nvPr/>
        </p:nvCxnSpPr>
        <p:spPr>
          <a:xfrm flipH="1" rot="10800000">
            <a:off x="180215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69"/>
          <p:cNvCxnSpPr/>
          <p:nvPr/>
        </p:nvCxnSpPr>
        <p:spPr>
          <a:xfrm flipH="1" rot="10800000">
            <a:off x="240030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69"/>
          <p:cNvCxnSpPr/>
          <p:nvPr/>
        </p:nvCxnSpPr>
        <p:spPr>
          <a:xfrm flipH="1" rot="10800000">
            <a:off x="2998450"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69"/>
          <p:cNvCxnSpPr/>
          <p:nvPr/>
        </p:nvCxnSpPr>
        <p:spPr>
          <a:xfrm flipH="1" rot="10800000">
            <a:off x="359658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69"/>
          <p:cNvCxnSpPr/>
          <p:nvPr/>
        </p:nvCxnSpPr>
        <p:spPr>
          <a:xfrm flipH="1" rot="10800000">
            <a:off x="419473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69"/>
          <p:cNvCxnSpPr/>
          <p:nvPr/>
        </p:nvCxnSpPr>
        <p:spPr>
          <a:xfrm flipH="1" rot="10800000">
            <a:off x="479288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69"/>
          <p:cNvCxnSpPr/>
          <p:nvPr/>
        </p:nvCxnSpPr>
        <p:spPr>
          <a:xfrm flipH="1" rot="10800000">
            <a:off x="5391038"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4" name="Google Shape;524;p69"/>
          <p:cNvCxnSpPr/>
          <p:nvPr/>
        </p:nvCxnSpPr>
        <p:spPr>
          <a:xfrm flipH="1" rot="10800000">
            <a:off x="598917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5" name="Google Shape;525;p69"/>
          <p:cNvCxnSpPr/>
          <p:nvPr/>
        </p:nvCxnSpPr>
        <p:spPr>
          <a:xfrm flipH="1" rot="10800000">
            <a:off x="658732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6" name="Google Shape;526;p69"/>
          <p:cNvCxnSpPr/>
          <p:nvPr/>
        </p:nvCxnSpPr>
        <p:spPr>
          <a:xfrm flipH="1" rot="10800000">
            <a:off x="7185475" y="30102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27" name="Google Shape;527;p69"/>
          <p:cNvCxnSpPr/>
          <p:nvPr/>
        </p:nvCxnSpPr>
        <p:spPr>
          <a:xfrm flipH="1" rot="10800000">
            <a:off x="7783625" y="3010225"/>
            <a:ext cx="8400" cy="279900"/>
          </a:xfrm>
          <a:prstGeom prst="straightConnector1">
            <a:avLst/>
          </a:prstGeom>
          <a:noFill/>
          <a:ln cap="flat" cmpd="sng" w="9525">
            <a:solidFill>
              <a:schemeClr val="dk2"/>
            </a:solidFill>
            <a:prstDash val="solid"/>
            <a:round/>
            <a:headEnd len="med" w="med" type="none"/>
            <a:tailEnd len="med" w="med" type="none"/>
          </a:ln>
        </p:spPr>
      </p:cxnSp>
      <p:sp>
        <p:nvSpPr>
          <p:cNvPr id="528" name="Google Shape;528;p69"/>
          <p:cNvSpPr txBox="1"/>
          <p:nvPr/>
        </p:nvSpPr>
        <p:spPr>
          <a:xfrm>
            <a:off x="5665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529" name="Google Shape;529;p69"/>
          <p:cNvSpPr txBox="1"/>
          <p:nvPr/>
        </p:nvSpPr>
        <p:spPr>
          <a:xfrm>
            <a:off x="77443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530" name="Google Shape;530;p69"/>
          <p:cNvSpPr txBox="1"/>
          <p:nvPr/>
        </p:nvSpPr>
        <p:spPr>
          <a:xfrm>
            <a:off x="41554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531" name="Google Shape;531;p69"/>
          <p:cNvSpPr txBox="1"/>
          <p:nvPr/>
        </p:nvSpPr>
        <p:spPr>
          <a:xfrm>
            <a:off x="5052650"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532" name="Google Shape;532;p69"/>
          <p:cNvSpPr txBox="1"/>
          <p:nvPr/>
        </p:nvSpPr>
        <p:spPr>
          <a:xfrm>
            <a:off x="3258200"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533" name="Google Shape;533;p69"/>
          <p:cNvSpPr txBox="1"/>
          <p:nvPr/>
        </p:nvSpPr>
        <p:spPr>
          <a:xfrm>
            <a:off x="714617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534" name="Google Shape;534;p69"/>
          <p:cNvSpPr txBox="1"/>
          <p:nvPr/>
        </p:nvSpPr>
        <p:spPr>
          <a:xfrm>
            <a:off x="116467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535" name="Google Shape;535;p69"/>
          <p:cNvSpPr txBox="1"/>
          <p:nvPr/>
        </p:nvSpPr>
        <p:spPr>
          <a:xfrm>
            <a:off x="62489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536" name="Google Shape;536;p69"/>
          <p:cNvSpPr txBox="1"/>
          <p:nvPr/>
        </p:nvSpPr>
        <p:spPr>
          <a:xfrm>
            <a:off x="2061925" y="33899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537" name="Google Shape;537;p69"/>
          <p:cNvSpPr/>
          <p:nvPr/>
        </p:nvSpPr>
        <p:spPr>
          <a:xfrm>
            <a:off x="7946950" y="30102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1" name="Shape 541"/>
        <p:cNvGrpSpPr/>
        <p:nvPr/>
      </p:nvGrpSpPr>
      <p:grpSpPr>
        <a:xfrm>
          <a:off x="0" y="0"/>
          <a:ext cx="0" cy="0"/>
          <a:chOff x="0" y="0"/>
          <a:chExt cx="0" cy="0"/>
        </a:xfrm>
      </p:grpSpPr>
      <p:sp>
        <p:nvSpPr>
          <p:cNvPr id="542" name="Google Shape;542;p7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Coin</a:t>
            </a:r>
            <a:endParaRPr/>
          </a:p>
        </p:txBody>
      </p:sp>
      <p:sp>
        <p:nvSpPr>
          <p:cNvPr id="543" name="Google Shape;543;p70"/>
          <p:cNvSpPr txBox="1"/>
          <p:nvPr/>
        </p:nvSpPr>
        <p:spPr>
          <a:xfrm>
            <a:off x="373225" y="1504550"/>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Coin is doubled headed. ⚪/</a:t>
            </a:r>
            <a:r>
              <a:rPr lang="en" sz="2400">
                <a:latin typeface="Google Sans"/>
                <a:ea typeface="Google Sans"/>
                <a:cs typeface="Google Sans"/>
                <a:sym typeface="Google Sans"/>
              </a:rPr>
              <a:t>⚪</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Coin is fair.  ⚪/⚫</a:t>
            </a:r>
            <a:endParaRPr sz="2400">
              <a:latin typeface="Google Sans"/>
              <a:ea typeface="Google Sans"/>
              <a:cs typeface="Google Sans"/>
              <a:sym typeface="Google Sans"/>
            </a:endParaRPr>
          </a:p>
        </p:txBody>
      </p:sp>
      <p:pic>
        <p:nvPicPr>
          <p:cNvPr id="544" name="Google Shape;544;p70"/>
          <p:cNvPicPr preferRelativeResize="0"/>
          <p:nvPr/>
        </p:nvPicPr>
        <p:blipFill>
          <a:blip r:embed="rId3">
            <a:alphaModFix/>
          </a:blip>
          <a:stretch>
            <a:fillRect/>
          </a:stretch>
        </p:blipFill>
        <p:spPr>
          <a:xfrm>
            <a:off x="373213" y="2571750"/>
            <a:ext cx="4982586" cy="2410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Births</a:t>
            </a:r>
            <a:endParaRPr/>
          </a:p>
        </p:txBody>
      </p:sp>
      <p:sp>
        <p:nvSpPr>
          <p:cNvPr id="550" name="Google Shape;550;p71"/>
          <p:cNvSpPr txBox="1"/>
          <p:nvPr/>
        </p:nvSpPr>
        <p:spPr>
          <a:xfrm>
            <a:off x="373225" y="1504550"/>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a:t>
            </a:r>
            <a:r>
              <a:rPr lang="en" sz="2400">
                <a:latin typeface="Google Sans"/>
                <a:ea typeface="Google Sans"/>
                <a:cs typeface="Google Sans"/>
                <a:sym typeface="Google Sans"/>
              </a:rPr>
              <a:t>Human births are 51% male ♂- 49% female♀</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a:t>
            </a:r>
            <a:r>
              <a:rPr lang="en" sz="2400">
                <a:latin typeface="Google Sans"/>
                <a:ea typeface="Google Sans"/>
                <a:cs typeface="Google Sans"/>
                <a:sym typeface="Google Sans"/>
              </a:rPr>
              <a:t>Human births are 50% male♂- 50% female♀</a:t>
            </a:r>
            <a:endParaRPr sz="2400">
              <a:latin typeface="Google Sans"/>
              <a:ea typeface="Google Sans"/>
              <a:cs typeface="Google Sans"/>
              <a:sym typeface="Google Sans"/>
            </a:endParaRPr>
          </a:p>
        </p:txBody>
      </p:sp>
      <p:sp>
        <p:nvSpPr>
          <p:cNvPr id="551" name="Google Shape;551;p71"/>
          <p:cNvSpPr txBox="1"/>
          <p:nvPr/>
        </p:nvSpPr>
        <p:spPr>
          <a:xfrm>
            <a:off x="451525" y="2601200"/>
            <a:ext cx="8068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Google Sans"/>
                <a:ea typeface="Google Sans"/>
                <a:cs typeface="Google Sans"/>
                <a:sym typeface="Google Sans"/>
              </a:rPr>
              <a:t>Laplace looked at Parisian birth records and found that between 1745 and 1770, 251,527 males and 241,945 females were born.</a:t>
            </a:r>
            <a:endParaRPr sz="1700">
              <a:latin typeface="Google Sans"/>
              <a:ea typeface="Google Sans"/>
              <a:cs typeface="Google Sans"/>
              <a:sym typeface="Google Sans"/>
            </a:endParaRPr>
          </a:p>
        </p:txBody>
      </p:sp>
      <p:pic>
        <p:nvPicPr>
          <p:cNvPr id="552" name="Google Shape;552;p71"/>
          <p:cNvPicPr preferRelativeResize="0"/>
          <p:nvPr/>
        </p:nvPicPr>
        <p:blipFill>
          <a:blip r:embed="rId3">
            <a:alphaModFix/>
          </a:blip>
          <a:stretch>
            <a:fillRect/>
          </a:stretch>
        </p:blipFill>
        <p:spPr>
          <a:xfrm>
            <a:off x="152400" y="3482450"/>
            <a:ext cx="8839200" cy="758420"/>
          </a:xfrm>
          <a:prstGeom prst="rect">
            <a:avLst/>
          </a:prstGeom>
          <a:noFill/>
          <a:ln>
            <a:noFill/>
          </a:ln>
        </p:spPr>
      </p:pic>
      <p:pic>
        <p:nvPicPr>
          <p:cNvPr id="553" name="Google Shape;553;p71"/>
          <p:cNvPicPr preferRelativeResize="0"/>
          <p:nvPr/>
        </p:nvPicPr>
        <p:blipFill>
          <a:blip r:embed="rId4">
            <a:alphaModFix/>
          </a:blip>
          <a:stretch>
            <a:fillRect/>
          </a:stretch>
        </p:blipFill>
        <p:spPr>
          <a:xfrm>
            <a:off x="2076325" y="4461970"/>
            <a:ext cx="4524375" cy="4476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Covid</a:t>
            </a:r>
            <a:endParaRPr/>
          </a:p>
        </p:txBody>
      </p:sp>
      <p:sp>
        <p:nvSpPr>
          <p:cNvPr id="559" name="Google Shape;559;p72"/>
          <p:cNvSpPr txBox="1"/>
          <p:nvPr/>
        </p:nvSpPr>
        <p:spPr>
          <a:xfrm>
            <a:off x="373225" y="1504550"/>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You have Covid.</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You don't have Covid. </a:t>
            </a:r>
            <a:endParaRPr sz="2400">
              <a:latin typeface="Google Sans"/>
              <a:ea typeface="Google Sans"/>
              <a:cs typeface="Google Sans"/>
              <a:sym typeface="Google Sans"/>
            </a:endParaRPr>
          </a:p>
        </p:txBody>
      </p:sp>
      <p:pic>
        <p:nvPicPr>
          <p:cNvPr id="560" name="Google Shape;560;p72"/>
          <p:cNvPicPr preferRelativeResize="0"/>
          <p:nvPr/>
        </p:nvPicPr>
        <p:blipFill>
          <a:blip r:embed="rId3">
            <a:alphaModFix/>
          </a:blip>
          <a:stretch>
            <a:fillRect/>
          </a:stretch>
        </p:blipFill>
        <p:spPr>
          <a:xfrm>
            <a:off x="152400" y="2656550"/>
            <a:ext cx="8839196" cy="182534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Combine with Prior</a:t>
            </a:r>
            <a:endParaRPr/>
          </a:p>
        </p:txBody>
      </p:sp>
      <p:sp>
        <p:nvSpPr>
          <p:cNvPr id="566" name="Google Shape;566;p73"/>
          <p:cNvSpPr txBox="1"/>
          <p:nvPr/>
        </p:nvSpPr>
        <p:spPr>
          <a:xfrm>
            <a:off x="166000"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Log Odds</a:t>
            </a:r>
            <a:endParaRPr>
              <a:solidFill>
                <a:schemeClr val="accent5"/>
              </a:solidFill>
              <a:latin typeface="Google Sans"/>
              <a:ea typeface="Google Sans"/>
              <a:cs typeface="Google Sans"/>
              <a:sym typeface="Google Sans"/>
            </a:endParaRPr>
          </a:p>
        </p:txBody>
      </p:sp>
      <p:sp>
        <p:nvSpPr>
          <p:cNvPr id="567" name="Google Shape;567;p73"/>
          <p:cNvSpPr txBox="1"/>
          <p:nvPr/>
        </p:nvSpPr>
        <p:spPr>
          <a:xfrm>
            <a:off x="3839825" y="15914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Weight of Evidence</a:t>
            </a:r>
            <a:endParaRPr>
              <a:solidFill>
                <a:schemeClr val="accent4"/>
              </a:solidFill>
              <a:latin typeface="Google Sans"/>
              <a:ea typeface="Google Sans"/>
              <a:cs typeface="Google Sans"/>
              <a:sym typeface="Google Sans"/>
            </a:endParaRPr>
          </a:p>
        </p:txBody>
      </p:sp>
      <p:sp>
        <p:nvSpPr>
          <p:cNvPr id="568" name="Google Shape;568;p73"/>
          <p:cNvSpPr txBox="1"/>
          <p:nvPr/>
        </p:nvSpPr>
        <p:spPr>
          <a:xfrm>
            <a:off x="7084525" y="15914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Log Odds</a:t>
            </a:r>
            <a:endParaRPr>
              <a:solidFill>
                <a:schemeClr val="accent1"/>
              </a:solidFill>
              <a:latin typeface="Google Sans"/>
              <a:ea typeface="Google Sans"/>
              <a:cs typeface="Google Sans"/>
              <a:sym typeface="Google Sans"/>
            </a:endParaRPr>
          </a:p>
        </p:txBody>
      </p:sp>
      <p:pic>
        <p:nvPicPr>
          <p:cNvPr id="569" name="Google Shape;569;p73"/>
          <p:cNvPicPr preferRelativeResize="0"/>
          <p:nvPr/>
        </p:nvPicPr>
        <p:blipFill>
          <a:blip r:embed="rId3">
            <a:alphaModFix/>
          </a:blip>
          <a:stretch>
            <a:fillRect/>
          </a:stretch>
        </p:blipFill>
        <p:spPr>
          <a:xfrm>
            <a:off x="152400" y="2144075"/>
            <a:ext cx="8839202" cy="1086290"/>
          </a:xfrm>
          <a:prstGeom prst="rect">
            <a:avLst/>
          </a:prstGeom>
          <a:noFill/>
          <a:ln>
            <a:noFill/>
          </a:ln>
        </p:spPr>
      </p:pic>
      <p:cxnSp>
        <p:nvCxnSpPr>
          <p:cNvPr id="570" name="Google Shape;570;p73"/>
          <p:cNvCxnSpPr/>
          <p:nvPr/>
        </p:nvCxnSpPr>
        <p:spPr>
          <a:xfrm>
            <a:off x="475700" y="4140775"/>
            <a:ext cx="8388000" cy="0"/>
          </a:xfrm>
          <a:prstGeom prst="straightConnector1">
            <a:avLst/>
          </a:prstGeom>
          <a:noFill/>
          <a:ln cap="flat" cmpd="sng" w="28575">
            <a:solidFill>
              <a:schemeClr val="dk2"/>
            </a:solidFill>
            <a:prstDash val="solid"/>
            <a:round/>
            <a:headEnd len="med" w="med" type="stealth"/>
            <a:tailEnd len="med" w="med" type="stealth"/>
          </a:ln>
        </p:spPr>
      </p:cxnSp>
      <p:cxnSp>
        <p:nvCxnSpPr>
          <p:cNvPr id="571" name="Google Shape;571;p73"/>
          <p:cNvCxnSpPr/>
          <p:nvPr/>
        </p:nvCxnSpPr>
        <p:spPr>
          <a:xfrm>
            <a:off x="5096160"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2" name="Google Shape;572;p73"/>
          <p:cNvCxnSpPr/>
          <p:nvPr/>
        </p:nvCxnSpPr>
        <p:spPr>
          <a:xfrm>
            <a:off x="5694308"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3" name="Google Shape;573;p73"/>
          <p:cNvCxnSpPr/>
          <p:nvPr/>
        </p:nvCxnSpPr>
        <p:spPr>
          <a:xfrm>
            <a:off x="6292456"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4" name="Google Shape;574;p73"/>
          <p:cNvCxnSpPr/>
          <p:nvPr/>
        </p:nvCxnSpPr>
        <p:spPr>
          <a:xfrm>
            <a:off x="6890604"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5" name="Google Shape;575;p73"/>
          <p:cNvCxnSpPr/>
          <p:nvPr/>
        </p:nvCxnSpPr>
        <p:spPr>
          <a:xfrm>
            <a:off x="7488752"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73"/>
          <p:cNvCxnSpPr/>
          <p:nvPr/>
        </p:nvCxnSpPr>
        <p:spPr>
          <a:xfrm>
            <a:off x="8086900"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73"/>
          <p:cNvCxnSpPr/>
          <p:nvPr/>
        </p:nvCxnSpPr>
        <p:spPr>
          <a:xfrm>
            <a:off x="2105421"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73"/>
          <p:cNvCxnSpPr/>
          <p:nvPr/>
        </p:nvCxnSpPr>
        <p:spPr>
          <a:xfrm>
            <a:off x="2703569"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73"/>
          <p:cNvCxnSpPr/>
          <p:nvPr/>
        </p:nvCxnSpPr>
        <p:spPr>
          <a:xfrm>
            <a:off x="3301717"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80" name="Google Shape;580;p73"/>
          <p:cNvCxnSpPr/>
          <p:nvPr/>
        </p:nvCxnSpPr>
        <p:spPr>
          <a:xfrm>
            <a:off x="3899865"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73"/>
          <p:cNvCxnSpPr/>
          <p:nvPr/>
        </p:nvCxnSpPr>
        <p:spPr>
          <a:xfrm>
            <a:off x="4498013"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73"/>
          <p:cNvCxnSpPr/>
          <p:nvPr/>
        </p:nvCxnSpPr>
        <p:spPr>
          <a:xfrm>
            <a:off x="909125" y="39663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583" name="Google Shape;583;p73"/>
          <p:cNvCxnSpPr/>
          <p:nvPr/>
        </p:nvCxnSpPr>
        <p:spPr>
          <a:xfrm>
            <a:off x="1507273" y="3966325"/>
            <a:ext cx="0" cy="348900"/>
          </a:xfrm>
          <a:prstGeom prst="straightConnector1">
            <a:avLst/>
          </a:prstGeom>
          <a:noFill/>
          <a:ln cap="flat" cmpd="sng" w="9525">
            <a:solidFill>
              <a:schemeClr val="dk2"/>
            </a:solidFill>
            <a:prstDash val="solid"/>
            <a:round/>
            <a:headEnd len="med" w="med" type="none"/>
            <a:tailEnd len="med" w="med" type="none"/>
          </a:ln>
        </p:spPr>
      </p:cxnSp>
      <p:sp>
        <p:nvSpPr>
          <p:cNvPr id="584" name="Google Shape;584;p73"/>
          <p:cNvSpPr txBox="1"/>
          <p:nvPr/>
        </p:nvSpPr>
        <p:spPr>
          <a:xfrm>
            <a:off x="6424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585" name="Google Shape;585;p73"/>
          <p:cNvSpPr txBox="1"/>
          <p:nvPr/>
        </p:nvSpPr>
        <p:spPr>
          <a:xfrm>
            <a:off x="12405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586" name="Google Shape;586;p73"/>
          <p:cNvSpPr txBox="1"/>
          <p:nvPr/>
        </p:nvSpPr>
        <p:spPr>
          <a:xfrm>
            <a:off x="18387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587" name="Google Shape;587;p73"/>
          <p:cNvSpPr txBox="1"/>
          <p:nvPr/>
        </p:nvSpPr>
        <p:spPr>
          <a:xfrm>
            <a:off x="24368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588" name="Google Shape;588;p73"/>
          <p:cNvSpPr txBox="1"/>
          <p:nvPr/>
        </p:nvSpPr>
        <p:spPr>
          <a:xfrm>
            <a:off x="30350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589" name="Google Shape;589;p73"/>
          <p:cNvSpPr txBox="1"/>
          <p:nvPr/>
        </p:nvSpPr>
        <p:spPr>
          <a:xfrm>
            <a:off x="36331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590" name="Google Shape;590;p73"/>
          <p:cNvSpPr txBox="1"/>
          <p:nvPr/>
        </p:nvSpPr>
        <p:spPr>
          <a:xfrm>
            <a:off x="42313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591" name="Google Shape;591;p73"/>
          <p:cNvSpPr txBox="1"/>
          <p:nvPr/>
        </p:nvSpPr>
        <p:spPr>
          <a:xfrm>
            <a:off x="48294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592" name="Google Shape;592;p73"/>
          <p:cNvSpPr txBox="1"/>
          <p:nvPr/>
        </p:nvSpPr>
        <p:spPr>
          <a:xfrm>
            <a:off x="54276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593" name="Google Shape;593;p73"/>
          <p:cNvSpPr txBox="1"/>
          <p:nvPr/>
        </p:nvSpPr>
        <p:spPr>
          <a:xfrm>
            <a:off x="60257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594" name="Google Shape;594;p73"/>
          <p:cNvSpPr txBox="1"/>
          <p:nvPr/>
        </p:nvSpPr>
        <p:spPr>
          <a:xfrm>
            <a:off x="66239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595" name="Google Shape;595;p73"/>
          <p:cNvSpPr txBox="1"/>
          <p:nvPr/>
        </p:nvSpPr>
        <p:spPr>
          <a:xfrm>
            <a:off x="722207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596" name="Google Shape;596;p73"/>
          <p:cNvSpPr txBox="1"/>
          <p:nvPr/>
        </p:nvSpPr>
        <p:spPr>
          <a:xfrm>
            <a:off x="7820225" y="35623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597" name="Google Shape;597;p73"/>
          <p:cNvCxnSpPr/>
          <p:nvPr/>
        </p:nvCxnSpPr>
        <p:spPr>
          <a:xfrm flipH="1" rot="10800000">
            <a:off x="1204000"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98" name="Google Shape;598;p73"/>
          <p:cNvCxnSpPr/>
          <p:nvPr/>
        </p:nvCxnSpPr>
        <p:spPr>
          <a:xfrm flipH="1" rot="10800000">
            <a:off x="1802150"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599" name="Google Shape;599;p73"/>
          <p:cNvCxnSpPr/>
          <p:nvPr/>
        </p:nvCxnSpPr>
        <p:spPr>
          <a:xfrm flipH="1" rot="10800000">
            <a:off x="2400300"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0" name="Google Shape;600;p73"/>
          <p:cNvCxnSpPr/>
          <p:nvPr/>
        </p:nvCxnSpPr>
        <p:spPr>
          <a:xfrm flipH="1" rot="10800000">
            <a:off x="2998450"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1" name="Google Shape;601;p73"/>
          <p:cNvCxnSpPr/>
          <p:nvPr/>
        </p:nvCxnSpPr>
        <p:spPr>
          <a:xfrm flipH="1" rot="10800000">
            <a:off x="3596588"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2" name="Google Shape;602;p73"/>
          <p:cNvCxnSpPr/>
          <p:nvPr/>
        </p:nvCxnSpPr>
        <p:spPr>
          <a:xfrm flipH="1" rot="10800000">
            <a:off x="4194738"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3" name="Google Shape;603;p73"/>
          <p:cNvCxnSpPr/>
          <p:nvPr/>
        </p:nvCxnSpPr>
        <p:spPr>
          <a:xfrm flipH="1" rot="10800000">
            <a:off x="4792888"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73"/>
          <p:cNvCxnSpPr/>
          <p:nvPr/>
        </p:nvCxnSpPr>
        <p:spPr>
          <a:xfrm flipH="1" rot="10800000">
            <a:off x="5391038"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73"/>
          <p:cNvCxnSpPr/>
          <p:nvPr/>
        </p:nvCxnSpPr>
        <p:spPr>
          <a:xfrm flipH="1" rot="10800000">
            <a:off x="5989175"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73"/>
          <p:cNvCxnSpPr/>
          <p:nvPr/>
        </p:nvCxnSpPr>
        <p:spPr>
          <a:xfrm flipH="1" rot="10800000">
            <a:off x="6587325"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73"/>
          <p:cNvCxnSpPr/>
          <p:nvPr/>
        </p:nvCxnSpPr>
        <p:spPr>
          <a:xfrm flipH="1" rot="10800000">
            <a:off x="7185475" y="40008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73"/>
          <p:cNvCxnSpPr/>
          <p:nvPr/>
        </p:nvCxnSpPr>
        <p:spPr>
          <a:xfrm flipH="1" rot="10800000">
            <a:off x="7783625" y="4000825"/>
            <a:ext cx="8400" cy="279900"/>
          </a:xfrm>
          <a:prstGeom prst="straightConnector1">
            <a:avLst/>
          </a:prstGeom>
          <a:noFill/>
          <a:ln cap="flat" cmpd="sng" w="9525">
            <a:solidFill>
              <a:schemeClr val="dk2"/>
            </a:solidFill>
            <a:prstDash val="solid"/>
            <a:round/>
            <a:headEnd len="med" w="med" type="none"/>
            <a:tailEnd len="med" w="med" type="none"/>
          </a:ln>
        </p:spPr>
      </p:cxnSp>
      <p:sp>
        <p:nvSpPr>
          <p:cNvPr id="609" name="Google Shape;609;p73"/>
          <p:cNvSpPr txBox="1"/>
          <p:nvPr/>
        </p:nvSpPr>
        <p:spPr>
          <a:xfrm>
            <a:off x="56652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610" name="Google Shape;610;p73"/>
          <p:cNvSpPr txBox="1"/>
          <p:nvPr/>
        </p:nvSpPr>
        <p:spPr>
          <a:xfrm>
            <a:off x="774432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611" name="Google Shape;611;p73"/>
          <p:cNvSpPr txBox="1"/>
          <p:nvPr/>
        </p:nvSpPr>
        <p:spPr>
          <a:xfrm>
            <a:off x="415542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612" name="Google Shape;612;p73"/>
          <p:cNvSpPr txBox="1"/>
          <p:nvPr/>
        </p:nvSpPr>
        <p:spPr>
          <a:xfrm>
            <a:off x="5052650"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613" name="Google Shape;613;p73"/>
          <p:cNvSpPr txBox="1"/>
          <p:nvPr/>
        </p:nvSpPr>
        <p:spPr>
          <a:xfrm>
            <a:off x="3258200"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614" name="Google Shape;614;p73"/>
          <p:cNvSpPr txBox="1"/>
          <p:nvPr/>
        </p:nvSpPr>
        <p:spPr>
          <a:xfrm>
            <a:off x="714617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615" name="Google Shape;615;p73"/>
          <p:cNvSpPr txBox="1"/>
          <p:nvPr/>
        </p:nvSpPr>
        <p:spPr>
          <a:xfrm>
            <a:off x="116467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616" name="Google Shape;616;p73"/>
          <p:cNvSpPr txBox="1"/>
          <p:nvPr/>
        </p:nvSpPr>
        <p:spPr>
          <a:xfrm>
            <a:off x="624892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617" name="Google Shape;617;p73"/>
          <p:cNvSpPr txBox="1"/>
          <p:nvPr/>
        </p:nvSpPr>
        <p:spPr>
          <a:xfrm>
            <a:off x="2061925" y="43805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618" name="Google Shape;618;p73"/>
          <p:cNvSpPr/>
          <p:nvPr/>
        </p:nvSpPr>
        <p:spPr>
          <a:xfrm>
            <a:off x="8381775" y="40008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73"/>
          <p:cNvSpPr/>
          <p:nvPr/>
        </p:nvSpPr>
        <p:spPr>
          <a:xfrm>
            <a:off x="4415075" y="4057825"/>
            <a:ext cx="165900" cy="165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73"/>
          <p:cNvSpPr/>
          <p:nvPr/>
        </p:nvSpPr>
        <p:spPr>
          <a:xfrm>
            <a:off x="826175" y="4057825"/>
            <a:ext cx="165900" cy="1659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73"/>
          <p:cNvSpPr/>
          <p:nvPr/>
        </p:nvSpPr>
        <p:spPr>
          <a:xfrm>
            <a:off x="4764725" y="4000825"/>
            <a:ext cx="279900" cy="279900"/>
          </a:xfrm>
          <a:prstGeom prst="ellipse">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Gaussians</a:t>
            </a:r>
            <a:endParaRPr/>
          </a:p>
        </p:txBody>
      </p:sp>
      <p:pic>
        <p:nvPicPr>
          <p:cNvPr id="627" name="Google Shape;627;p74"/>
          <p:cNvPicPr preferRelativeResize="0"/>
          <p:nvPr/>
        </p:nvPicPr>
        <p:blipFill>
          <a:blip r:embed="rId3">
            <a:alphaModFix/>
          </a:blip>
          <a:stretch>
            <a:fillRect/>
          </a:stretch>
        </p:blipFill>
        <p:spPr>
          <a:xfrm>
            <a:off x="1872250" y="1387175"/>
            <a:ext cx="5399506" cy="37140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M&amp;Ms</a:t>
            </a:r>
            <a:endParaRPr/>
          </a:p>
        </p:txBody>
      </p:sp>
      <p:graphicFrame>
        <p:nvGraphicFramePr>
          <p:cNvPr id="633" name="Google Shape;633;p75"/>
          <p:cNvGraphicFramePr/>
          <p:nvPr/>
        </p:nvGraphicFramePr>
        <p:xfrm>
          <a:off x="311713" y="2513425"/>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783F04"/>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38761D"/>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13.1%</a:t>
                      </a:r>
                      <a:endParaRPr/>
                    </a:p>
                  </a:txBody>
                  <a:tcPr marT="91425" marB="91425" marR="91425" marL="91425" anchor="ctr"/>
                </a:tc>
                <a:tc>
                  <a:txBody>
                    <a:bodyPr/>
                    <a:lstStyle/>
                    <a:p>
                      <a:pPr indent="0" lvl="0" marL="0" rtl="0" algn="ctr">
                        <a:spcBef>
                          <a:spcPts val="0"/>
                        </a:spcBef>
                        <a:spcAft>
                          <a:spcPts val="0"/>
                        </a:spcAft>
                        <a:buNone/>
                      </a:pPr>
                      <a:r>
                        <a:rPr lang="en"/>
                        <a:t>13.5%</a:t>
                      </a:r>
                      <a:endParaRPr/>
                    </a:p>
                  </a:txBody>
                  <a:tcPr marT="91425" marB="91425" marR="91425" marL="91425" anchor="ctr"/>
                </a:tc>
                <a:tc>
                  <a:txBody>
                    <a:bodyPr/>
                    <a:lstStyle/>
                    <a:p>
                      <a:pPr indent="0" lvl="0" marL="0" rtl="0" algn="ctr">
                        <a:spcBef>
                          <a:spcPts val="0"/>
                        </a:spcBef>
                        <a:spcAft>
                          <a:spcPts val="0"/>
                        </a:spcAft>
                        <a:buNone/>
                      </a:pPr>
                      <a:r>
                        <a:rPr lang="en"/>
                        <a:t>19.8%</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r>
            </a:tbl>
          </a:graphicData>
        </a:graphic>
      </p:graphicFrame>
      <p:sp>
        <p:nvSpPr>
          <p:cNvPr id="634" name="Google Shape;634;p75"/>
          <p:cNvSpPr txBox="1"/>
          <p:nvPr/>
        </p:nvSpPr>
        <p:spPr>
          <a:xfrm>
            <a:off x="373225" y="1504550"/>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M&amp;M Bag is from NJ.</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M&amp;M Bag is from TN.</a:t>
            </a:r>
            <a:endParaRPr sz="2400">
              <a:latin typeface="Google Sans"/>
              <a:ea typeface="Google Sans"/>
              <a:cs typeface="Google Sans"/>
              <a:sym typeface="Google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76"/>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Should we expect to be able to tell where our M&amp;M bag came from?</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7"/>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 (KL Divergence)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7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expected weight of evidence.</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7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Expected Weight of Evidence</a:t>
            </a:r>
            <a:endParaRPr/>
          </a:p>
        </p:txBody>
      </p:sp>
      <p:pic>
        <p:nvPicPr>
          <p:cNvPr id="655" name="Google Shape;655;p79"/>
          <p:cNvPicPr preferRelativeResize="0"/>
          <p:nvPr/>
        </p:nvPicPr>
        <p:blipFill>
          <a:blip r:embed="rId3">
            <a:alphaModFix/>
          </a:blip>
          <a:stretch>
            <a:fillRect/>
          </a:stretch>
        </p:blipFill>
        <p:spPr>
          <a:xfrm>
            <a:off x="2452688" y="2058475"/>
            <a:ext cx="4238625" cy="1876425"/>
          </a:xfrm>
          <a:prstGeom prst="rect">
            <a:avLst/>
          </a:prstGeom>
          <a:noFill/>
          <a:ln>
            <a:noFill/>
          </a:ln>
        </p:spPr>
      </p:pic>
      <p:sp>
        <p:nvSpPr>
          <p:cNvPr id="656" name="Google Shape;656;p79"/>
          <p:cNvSpPr txBox="1"/>
          <p:nvPr/>
        </p:nvSpPr>
        <p:spPr>
          <a:xfrm>
            <a:off x="303250" y="4513675"/>
            <a:ext cx="6717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But expected with respect to what?</a:t>
            </a:r>
            <a:endParaRPr>
              <a:latin typeface="Google Sans"/>
              <a:ea typeface="Google Sans"/>
              <a:cs typeface="Google Sans"/>
              <a:sym typeface="Google Sa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8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a:t>
            </a:r>
            <a:endParaRPr/>
          </a:p>
        </p:txBody>
      </p:sp>
      <p:pic>
        <p:nvPicPr>
          <p:cNvPr id="662" name="Google Shape;662;p80"/>
          <p:cNvPicPr preferRelativeResize="0"/>
          <p:nvPr/>
        </p:nvPicPr>
        <p:blipFill>
          <a:blip r:embed="rId3">
            <a:alphaModFix/>
          </a:blip>
          <a:stretch>
            <a:fillRect/>
          </a:stretch>
        </p:blipFill>
        <p:spPr>
          <a:xfrm>
            <a:off x="152400" y="1659113"/>
            <a:ext cx="8839201" cy="182528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a:t>
            </a:r>
            <a:endParaRPr/>
          </a:p>
        </p:txBody>
      </p:sp>
      <p:pic>
        <p:nvPicPr>
          <p:cNvPr id="668" name="Google Shape;668;p81"/>
          <p:cNvPicPr preferRelativeResize="0"/>
          <p:nvPr/>
        </p:nvPicPr>
        <p:blipFill>
          <a:blip r:embed="rId3">
            <a:alphaModFix/>
          </a:blip>
          <a:stretch>
            <a:fillRect/>
          </a:stretch>
        </p:blipFill>
        <p:spPr>
          <a:xfrm>
            <a:off x="152425" y="1586575"/>
            <a:ext cx="8839201" cy="197034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a:t>
            </a:r>
            <a:endParaRPr/>
          </a:p>
        </p:txBody>
      </p:sp>
      <p:pic>
        <p:nvPicPr>
          <p:cNvPr id="674" name="Google Shape;674;p82"/>
          <p:cNvPicPr preferRelativeResize="0"/>
          <p:nvPr/>
        </p:nvPicPr>
        <p:blipFill>
          <a:blip r:embed="rId3">
            <a:alphaModFix/>
          </a:blip>
          <a:stretch>
            <a:fillRect/>
          </a:stretch>
        </p:blipFill>
        <p:spPr>
          <a:xfrm>
            <a:off x="152400" y="1688725"/>
            <a:ext cx="8839199" cy="176604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8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a:t>
            </a:r>
            <a:endParaRPr/>
          </a:p>
        </p:txBody>
      </p:sp>
      <p:pic>
        <p:nvPicPr>
          <p:cNvPr id="680" name="Google Shape;680;p83"/>
          <p:cNvPicPr preferRelativeResize="0"/>
          <p:nvPr/>
        </p:nvPicPr>
        <p:blipFill>
          <a:blip r:embed="rId3">
            <a:alphaModFix/>
          </a:blip>
          <a:stretch>
            <a:fillRect/>
          </a:stretch>
        </p:blipFill>
        <p:spPr>
          <a:xfrm>
            <a:off x="857250" y="1566863"/>
            <a:ext cx="7429500" cy="20097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8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M&amp;Ms</a:t>
            </a:r>
            <a:endParaRPr/>
          </a:p>
        </p:txBody>
      </p:sp>
      <p:graphicFrame>
        <p:nvGraphicFramePr>
          <p:cNvPr id="686" name="Google Shape;686;p84"/>
          <p:cNvGraphicFramePr/>
          <p:nvPr/>
        </p:nvGraphicFramePr>
        <p:xfrm>
          <a:off x="311700" y="2868000"/>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783F04"/>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38761D"/>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13.1%</a:t>
                      </a:r>
                      <a:endParaRPr/>
                    </a:p>
                  </a:txBody>
                  <a:tcPr marT="91425" marB="91425" marR="91425" marL="91425" anchor="ctr"/>
                </a:tc>
                <a:tc>
                  <a:txBody>
                    <a:bodyPr/>
                    <a:lstStyle/>
                    <a:p>
                      <a:pPr indent="0" lvl="0" marL="0" rtl="0" algn="ctr">
                        <a:spcBef>
                          <a:spcPts val="0"/>
                        </a:spcBef>
                        <a:spcAft>
                          <a:spcPts val="0"/>
                        </a:spcAft>
                        <a:buNone/>
                      </a:pPr>
                      <a:r>
                        <a:rPr lang="en"/>
                        <a:t>13.5%</a:t>
                      </a:r>
                      <a:endParaRPr/>
                    </a:p>
                  </a:txBody>
                  <a:tcPr marT="91425" marB="91425" marR="91425" marL="91425" anchor="ctr"/>
                </a:tc>
                <a:tc>
                  <a:txBody>
                    <a:bodyPr/>
                    <a:lstStyle/>
                    <a:p>
                      <a:pPr indent="0" lvl="0" marL="0" rtl="0" algn="ctr">
                        <a:spcBef>
                          <a:spcPts val="0"/>
                        </a:spcBef>
                        <a:spcAft>
                          <a:spcPts val="0"/>
                        </a:spcAft>
                        <a:buNone/>
                      </a:pPr>
                      <a:r>
                        <a:rPr lang="en"/>
                        <a:t>19.8%</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r>
            </a:tbl>
          </a:graphicData>
        </a:graphic>
      </p:graphicFrame>
      <p:pic>
        <p:nvPicPr>
          <p:cNvPr id="687" name="Google Shape;687;p84"/>
          <p:cNvPicPr preferRelativeResize="0"/>
          <p:nvPr/>
        </p:nvPicPr>
        <p:blipFill>
          <a:blip r:embed="rId3">
            <a:alphaModFix/>
          </a:blip>
          <a:stretch>
            <a:fillRect/>
          </a:stretch>
        </p:blipFill>
        <p:spPr>
          <a:xfrm>
            <a:off x="200946" y="2267175"/>
            <a:ext cx="4180001" cy="446550"/>
          </a:xfrm>
          <a:prstGeom prst="rect">
            <a:avLst/>
          </a:prstGeom>
          <a:noFill/>
          <a:ln>
            <a:noFill/>
          </a:ln>
        </p:spPr>
      </p:pic>
      <p:pic>
        <p:nvPicPr>
          <p:cNvPr id="688" name="Google Shape;688;p84"/>
          <p:cNvPicPr preferRelativeResize="0"/>
          <p:nvPr/>
        </p:nvPicPr>
        <p:blipFill>
          <a:blip r:embed="rId4">
            <a:alphaModFix/>
          </a:blip>
          <a:stretch>
            <a:fillRect/>
          </a:stretch>
        </p:blipFill>
        <p:spPr>
          <a:xfrm>
            <a:off x="4779622" y="2267175"/>
            <a:ext cx="4180001" cy="446550"/>
          </a:xfrm>
          <a:prstGeom prst="rect">
            <a:avLst/>
          </a:prstGeom>
          <a:noFill/>
          <a:ln>
            <a:noFill/>
          </a:ln>
        </p:spPr>
      </p:pic>
      <p:pic>
        <p:nvPicPr>
          <p:cNvPr id="689" name="Google Shape;689;p84"/>
          <p:cNvPicPr preferRelativeResize="0"/>
          <p:nvPr/>
        </p:nvPicPr>
        <p:blipFill>
          <a:blip r:embed="rId5">
            <a:alphaModFix/>
          </a:blip>
          <a:stretch>
            <a:fillRect/>
          </a:stretch>
        </p:blipFill>
        <p:spPr>
          <a:xfrm>
            <a:off x="4698925" y="1448250"/>
            <a:ext cx="4076700" cy="495300"/>
          </a:xfrm>
          <a:prstGeom prst="rect">
            <a:avLst/>
          </a:prstGeom>
          <a:noFill/>
          <a:ln>
            <a:noFill/>
          </a:ln>
        </p:spPr>
      </p:pic>
      <p:pic>
        <p:nvPicPr>
          <p:cNvPr id="690" name="Google Shape;690;p84"/>
          <p:cNvPicPr preferRelativeResize="0"/>
          <p:nvPr/>
        </p:nvPicPr>
        <p:blipFill>
          <a:blip r:embed="rId6">
            <a:alphaModFix/>
          </a:blip>
          <a:stretch>
            <a:fillRect/>
          </a:stretch>
        </p:blipFill>
        <p:spPr>
          <a:xfrm>
            <a:off x="665000" y="1443488"/>
            <a:ext cx="3543300" cy="5048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8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M&amp;Ms</a:t>
            </a:r>
            <a:endParaRPr/>
          </a:p>
        </p:txBody>
      </p:sp>
      <p:pic>
        <p:nvPicPr>
          <p:cNvPr id="696" name="Google Shape;696;p85"/>
          <p:cNvPicPr preferRelativeResize="0"/>
          <p:nvPr/>
        </p:nvPicPr>
        <p:blipFill>
          <a:blip r:embed="rId3">
            <a:alphaModFix/>
          </a:blip>
          <a:stretch>
            <a:fillRect/>
          </a:stretch>
        </p:blipFill>
        <p:spPr>
          <a:xfrm>
            <a:off x="121925" y="1353275"/>
            <a:ext cx="5341194" cy="3714075"/>
          </a:xfrm>
          <a:prstGeom prst="rect">
            <a:avLst/>
          </a:prstGeom>
          <a:noFill/>
          <a:ln>
            <a:noFill/>
          </a:ln>
        </p:spPr>
      </p:pic>
      <p:pic>
        <p:nvPicPr>
          <p:cNvPr id="697" name="Google Shape;697;p85"/>
          <p:cNvPicPr preferRelativeResize="0"/>
          <p:nvPr/>
        </p:nvPicPr>
        <p:blipFill>
          <a:blip r:embed="rId4">
            <a:alphaModFix/>
          </a:blip>
          <a:stretch>
            <a:fillRect/>
          </a:stretch>
        </p:blipFill>
        <p:spPr>
          <a:xfrm>
            <a:off x="5756409" y="3454025"/>
            <a:ext cx="3203216" cy="342200"/>
          </a:xfrm>
          <a:prstGeom prst="rect">
            <a:avLst/>
          </a:prstGeom>
          <a:noFill/>
          <a:ln>
            <a:noFill/>
          </a:ln>
        </p:spPr>
      </p:pic>
      <p:pic>
        <p:nvPicPr>
          <p:cNvPr id="698" name="Google Shape;698;p85"/>
          <p:cNvPicPr preferRelativeResize="0"/>
          <p:nvPr/>
        </p:nvPicPr>
        <p:blipFill>
          <a:blip r:embed="rId5">
            <a:alphaModFix/>
          </a:blip>
          <a:stretch>
            <a:fillRect/>
          </a:stretch>
        </p:blipFill>
        <p:spPr>
          <a:xfrm>
            <a:off x="5756399" y="4078074"/>
            <a:ext cx="3203224" cy="342201"/>
          </a:xfrm>
          <a:prstGeom prst="rect">
            <a:avLst/>
          </a:prstGeom>
          <a:noFill/>
          <a:ln>
            <a:noFill/>
          </a:ln>
        </p:spPr>
      </p:pic>
      <p:pic>
        <p:nvPicPr>
          <p:cNvPr id="699" name="Google Shape;699;p85"/>
          <p:cNvPicPr preferRelativeResize="0"/>
          <p:nvPr/>
        </p:nvPicPr>
        <p:blipFill>
          <a:blip r:embed="rId6">
            <a:alphaModFix/>
          </a:blip>
          <a:stretch>
            <a:fillRect/>
          </a:stretch>
        </p:blipFill>
        <p:spPr>
          <a:xfrm>
            <a:off x="5756400" y="2406763"/>
            <a:ext cx="3203225" cy="389175"/>
          </a:xfrm>
          <a:prstGeom prst="rect">
            <a:avLst/>
          </a:prstGeom>
          <a:noFill/>
          <a:ln>
            <a:noFill/>
          </a:ln>
        </p:spPr>
      </p:pic>
      <p:pic>
        <p:nvPicPr>
          <p:cNvPr id="700" name="Google Shape;700;p85"/>
          <p:cNvPicPr preferRelativeResize="0"/>
          <p:nvPr/>
        </p:nvPicPr>
        <p:blipFill>
          <a:blip r:embed="rId7">
            <a:alphaModFix/>
          </a:blip>
          <a:stretch>
            <a:fillRect/>
          </a:stretch>
        </p:blipFill>
        <p:spPr>
          <a:xfrm>
            <a:off x="5756400" y="1561727"/>
            <a:ext cx="3203225" cy="45637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8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Examples: M&amp;Ms</a:t>
            </a:r>
            <a:endParaRPr/>
          </a:p>
        </p:txBody>
      </p:sp>
      <p:pic>
        <p:nvPicPr>
          <p:cNvPr id="706" name="Google Shape;706;p86"/>
          <p:cNvPicPr preferRelativeResize="0"/>
          <p:nvPr/>
        </p:nvPicPr>
        <p:blipFill>
          <a:blip r:embed="rId3">
            <a:alphaModFix/>
          </a:blip>
          <a:stretch>
            <a:fillRect/>
          </a:stretch>
        </p:blipFill>
        <p:spPr>
          <a:xfrm>
            <a:off x="160875" y="1336350"/>
            <a:ext cx="5341194" cy="3714075"/>
          </a:xfrm>
          <a:prstGeom prst="rect">
            <a:avLst/>
          </a:prstGeom>
          <a:noFill/>
          <a:ln>
            <a:noFill/>
          </a:ln>
        </p:spPr>
      </p:pic>
      <p:pic>
        <p:nvPicPr>
          <p:cNvPr id="707" name="Google Shape;707;p86"/>
          <p:cNvPicPr preferRelativeResize="0"/>
          <p:nvPr/>
        </p:nvPicPr>
        <p:blipFill>
          <a:blip r:embed="rId4">
            <a:alphaModFix/>
          </a:blip>
          <a:stretch>
            <a:fillRect/>
          </a:stretch>
        </p:blipFill>
        <p:spPr>
          <a:xfrm>
            <a:off x="5756409" y="3454025"/>
            <a:ext cx="3203216" cy="342200"/>
          </a:xfrm>
          <a:prstGeom prst="rect">
            <a:avLst/>
          </a:prstGeom>
          <a:noFill/>
          <a:ln>
            <a:noFill/>
          </a:ln>
        </p:spPr>
      </p:pic>
      <p:pic>
        <p:nvPicPr>
          <p:cNvPr id="708" name="Google Shape;708;p86"/>
          <p:cNvPicPr preferRelativeResize="0"/>
          <p:nvPr/>
        </p:nvPicPr>
        <p:blipFill>
          <a:blip r:embed="rId5">
            <a:alphaModFix/>
          </a:blip>
          <a:stretch>
            <a:fillRect/>
          </a:stretch>
        </p:blipFill>
        <p:spPr>
          <a:xfrm>
            <a:off x="5756399" y="4078074"/>
            <a:ext cx="3203224" cy="342201"/>
          </a:xfrm>
          <a:prstGeom prst="rect">
            <a:avLst/>
          </a:prstGeom>
          <a:noFill/>
          <a:ln>
            <a:noFill/>
          </a:ln>
        </p:spPr>
      </p:pic>
      <p:pic>
        <p:nvPicPr>
          <p:cNvPr id="709" name="Google Shape;709;p86"/>
          <p:cNvPicPr preferRelativeResize="0"/>
          <p:nvPr/>
        </p:nvPicPr>
        <p:blipFill>
          <a:blip r:embed="rId6">
            <a:alphaModFix/>
          </a:blip>
          <a:stretch>
            <a:fillRect/>
          </a:stretch>
        </p:blipFill>
        <p:spPr>
          <a:xfrm>
            <a:off x="5756400" y="2406763"/>
            <a:ext cx="3203225" cy="389175"/>
          </a:xfrm>
          <a:prstGeom prst="rect">
            <a:avLst/>
          </a:prstGeom>
          <a:noFill/>
          <a:ln>
            <a:noFill/>
          </a:ln>
        </p:spPr>
      </p:pic>
      <p:pic>
        <p:nvPicPr>
          <p:cNvPr id="710" name="Google Shape;710;p86"/>
          <p:cNvPicPr preferRelativeResize="0"/>
          <p:nvPr/>
        </p:nvPicPr>
        <p:blipFill>
          <a:blip r:embed="rId7">
            <a:alphaModFix/>
          </a:blip>
          <a:stretch>
            <a:fillRect/>
          </a:stretch>
        </p:blipFill>
        <p:spPr>
          <a:xfrm>
            <a:off x="5756400" y="1561727"/>
            <a:ext cx="3203225" cy="456373"/>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87"/>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asymmetric in its arguments.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8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Updating Beliefs</a:t>
            </a:r>
            <a:endParaRPr/>
          </a:p>
        </p:txBody>
      </p:sp>
      <p:grpSp>
        <p:nvGrpSpPr>
          <p:cNvPr id="721" name="Google Shape;721;p88"/>
          <p:cNvGrpSpPr/>
          <p:nvPr/>
        </p:nvGrpSpPr>
        <p:grpSpPr>
          <a:xfrm>
            <a:off x="5082437" y="2147450"/>
            <a:ext cx="1575280" cy="2242775"/>
            <a:chOff x="6901612" y="2347312"/>
            <a:chExt cx="1575280" cy="2242775"/>
          </a:xfrm>
        </p:grpSpPr>
        <p:sp>
          <p:nvSpPr>
            <p:cNvPr id="722" name="Google Shape;722;p88"/>
            <p:cNvSpPr/>
            <p:nvPr/>
          </p:nvSpPr>
          <p:spPr>
            <a:xfrm rot="5400000">
              <a:off x="6901612" y="3423568"/>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3" name="Google Shape;723;p88"/>
            <p:cNvGrpSpPr/>
            <p:nvPr/>
          </p:nvGrpSpPr>
          <p:grpSpPr>
            <a:xfrm>
              <a:off x="6992812" y="2347312"/>
              <a:ext cx="1484080" cy="2242775"/>
              <a:chOff x="6992812" y="2347312"/>
              <a:chExt cx="1484080" cy="2242775"/>
            </a:xfrm>
          </p:grpSpPr>
          <p:sp>
            <p:nvSpPr>
              <p:cNvPr id="724" name="Google Shape;724;p88"/>
              <p:cNvSpPr/>
              <p:nvPr/>
            </p:nvSpPr>
            <p:spPr>
              <a:xfrm>
                <a:off x="8000792" y="23473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25" name="Google Shape;725;p88"/>
              <p:cNvSpPr/>
              <p:nvPr/>
            </p:nvSpPr>
            <p:spPr>
              <a:xfrm>
                <a:off x="8000792" y="29547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26" name="Google Shape;726;p88"/>
              <p:cNvSpPr/>
              <p:nvPr/>
            </p:nvSpPr>
            <p:spPr>
              <a:xfrm>
                <a:off x="8000792" y="35343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27" name="Google Shape;727;p88"/>
              <p:cNvSpPr/>
              <p:nvPr/>
            </p:nvSpPr>
            <p:spPr>
              <a:xfrm>
                <a:off x="8000792" y="41139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728" name="Google Shape;728;p88"/>
              <p:cNvCxnSpPr>
                <a:stCxn id="722" idx="0"/>
                <a:endCxn id="724" idx="2"/>
              </p:cNvCxnSpPr>
              <p:nvPr/>
            </p:nvCxnSpPr>
            <p:spPr>
              <a:xfrm flipH="1" rot="10800000">
                <a:off x="6992812" y="2585368"/>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729" name="Google Shape;729;p88"/>
              <p:cNvCxnSpPr>
                <a:stCxn id="722" idx="0"/>
                <a:endCxn id="725" idx="2"/>
              </p:cNvCxnSpPr>
              <p:nvPr/>
            </p:nvCxnSpPr>
            <p:spPr>
              <a:xfrm flipH="1" rot="10800000">
                <a:off x="6992812" y="3192868"/>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730" name="Google Shape;730;p88"/>
              <p:cNvCxnSpPr>
                <a:stCxn id="722" idx="0"/>
                <a:endCxn id="726" idx="2"/>
              </p:cNvCxnSpPr>
              <p:nvPr/>
            </p:nvCxnSpPr>
            <p:spPr>
              <a:xfrm>
                <a:off x="6992812" y="3469168"/>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731" name="Google Shape;731;p88"/>
              <p:cNvCxnSpPr>
                <a:stCxn id="722" idx="0"/>
                <a:endCxn id="727" idx="2"/>
              </p:cNvCxnSpPr>
              <p:nvPr/>
            </p:nvCxnSpPr>
            <p:spPr>
              <a:xfrm>
                <a:off x="6992812" y="3469168"/>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732" name="Google Shape;732;p88"/>
              <p:cNvSpPr txBox="1"/>
              <p:nvPr/>
            </p:nvSpPr>
            <p:spPr>
              <a:xfrm rot="-2455691">
                <a:off x="7346344" y="2646400"/>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6.6%</a:t>
                </a:r>
                <a:endParaRPr sz="800">
                  <a:latin typeface="Fira Code"/>
                  <a:ea typeface="Fira Code"/>
                  <a:cs typeface="Fira Code"/>
                  <a:sym typeface="Fira Code"/>
                </a:endParaRPr>
              </a:p>
            </p:txBody>
          </p:sp>
          <p:sp>
            <p:nvSpPr>
              <p:cNvPr id="733" name="Google Shape;733;p88"/>
              <p:cNvSpPr txBox="1"/>
              <p:nvPr/>
            </p:nvSpPr>
            <p:spPr>
              <a:xfrm rot="-909060">
                <a:off x="7388874" y="3054408"/>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0.4%</a:t>
                </a:r>
                <a:endParaRPr sz="800">
                  <a:latin typeface="Fira Code"/>
                  <a:ea typeface="Fira Code"/>
                  <a:cs typeface="Fira Code"/>
                  <a:sym typeface="Fira Code"/>
                </a:endParaRPr>
              </a:p>
            </p:txBody>
          </p:sp>
          <p:sp>
            <p:nvSpPr>
              <p:cNvPr id="734" name="Google Shape;734;p88"/>
              <p:cNvSpPr txBox="1"/>
              <p:nvPr/>
            </p:nvSpPr>
            <p:spPr>
              <a:xfrm rot="1032743">
                <a:off x="7388896" y="3418090"/>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4.1%</a:t>
                </a:r>
                <a:endParaRPr sz="800">
                  <a:latin typeface="Fira Code"/>
                  <a:ea typeface="Fira Code"/>
                  <a:cs typeface="Fira Code"/>
                  <a:sym typeface="Fira Code"/>
                </a:endParaRPr>
              </a:p>
            </p:txBody>
          </p:sp>
          <p:sp>
            <p:nvSpPr>
              <p:cNvPr id="735" name="Google Shape;735;p88"/>
              <p:cNvSpPr txBox="1"/>
              <p:nvPr/>
            </p:nvSpPr>
            <p:spPr>
              <a:xfrm rot="2490578">
                <a:off x="7346421" y="3772290"/>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88.9%</a:t>
                </a:r>
                <a:endParaRPr sz="800">
                  <a:latin typeface="Fira Code"/>
                  <a:ea typeface="Fira Code"/>
                  <a:cs typeface="Fira Code"/>
                  <a:sym typeface="Fira Code"/>
                </a:endParaRPr>
              </a:p>
            </p:txBody>
          </p:sp>
        </p:grpSp>
      </p:grpSp>
      <p:grpSp>
        <p:nvGrpSpPr>
          <p:cNvPr id="736" name="Google Shape;736;p88"/>
          <p:cNvGrpSpPr/>
          <p:nvPr/>
        </p:nvGrpSpPr>
        <p:grpSpPr>
          <a:xfrm>
            <a:off x="7363962" y="2147450"/>
            <a:ext cx="1575280" cy="2242775"/>
            <a:chOff x="6901612" y="2347312"/>
            <a:chExt cx="1575280" cy="2242775"/>
          </a:xfrm>
        </p:grpSpPr>
        <p:sp>
          <p:nvSpPr>
            <p:cNvPr id="737" name="Google Shape;737;p88"/>
            <p:cNvSpPr/>
            <p:nvPr/>
          </p:nvSpPr>
          <p:spPr>
            <a:xfrm rot="5400000">
              <a:off x="6901612" y="3423568"/>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8" name="Google Shape;738;p88"/>
            <p:cNvGrpSpPr/>
            <p:nvPr/>
          </p:nvGrpSpPr>
          <p:grpSpPr>
            <a:xfrm>
              <a:off x="6992812" y="2347312"/>
              <a:ext cx="1484080" cy="2242775"/>
              <a:chOff x="6992812" y="2347312"/>
              <a:chExt cx="1484080" cy="2242775"/>
            </a:xfrm>
          </p:grpSpPr>
          <p:sp>
            <p:nvSpPr>
              <p:cNvPr id="739" name="Google Shape;739;p88"/>
              <p:cNvSpPr/>
              <p:nvPr/>
            </p:nvSpPr>
            <p:spPr>
              <a:xfrm>
                <a:off x="8000792" y="23473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40" name="Google Shape;740;p88"/>
              <p:cNvSpPr/>
              <p:nvPr/>
            </p:nvSpPr>
            <p:spPr>
              <a:xfrm>
                <a:off x="8000792" y="29547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41" name="Google Shape;741;p88"/>
              <p:cNvSpPr/>
              <p:nvPr/>
            </p:nvSpPr>
            <p:spPr>
              <a:xfrm>
                <a:off x="8000792" y="35343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742" name="Google Shape;742;p88"/>
              <p:cNvSpPr/>
              <p:nvPr/>
            </p:nvSpPr>
            <p:spPr>
              <a:xfrm>
                <a:off x="8000792" y="41139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743" name="Google Shape;743;p88"/>
              <p:cNvCxnSpPr>
                <a:stCxn id="737" idx="0"/>
                <a:endCxn id="739" idx="2"/>
              </p:cNvCxnSpPr>
              <p:nvPr/>
            </p:nvCxnSpPr>
            <p:spPr>
              <a:xfrm flipH="1" rot="10800000">
                <a:off x="6992812" y="2585368"/>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744" name="Google Shape;744;p88"/>
              <p:cNvCxnSpPr>
                <a:stCxn id="737" idx="0"/>
                <a:endCxn id="740" idx="2"/>
              </p:cNvCxnSpPr>
              <p:nvPr/>
            </p:nvCxnSpPr>
            <p:spPr>
              <a:xfrm flipH="1" rot="10800000">
                <a:off x="6992812" y="3192868"/>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745" name="Google Shape;745;p88"/>
              <p:cNvCxnSpPr>
                <a:stCxn id="737" idx="0"/>
                <a:endCxn id="741" idx="2"/>
              </p:cNvCxnSpPr>
              <p:nvPr/>
            </p:nvCxnSpPr>
            <p:spPr>
              <a:xfrm>
                <a:off x="6992812" y="3469168"/>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746" name="Google Shape;746;p88"/>
              <p:cNvCxnSpPr>
                <a:stCxn id="737" idx="0"/>
                <a:endCxn id="742" idx="2"/>
              </p:cNvCxnSpPr>
              <p:nvPr/>
            </p:nvCxnSpPr>
            <p:spPr>
              <a:xfrm>
                <a:off x="6992812" y="3469168"/>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747" name="Google Shape;747;p88"/>
              <p:cNvSpPr txBox="1"/>
              <p:nvPr/>
            </p:nvSpPr>
            <p:spPr>
              <a:xfrm rot="-2455691">
                <a:off x="7346344" y="2646400"/>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sp>
            <p:nvSpPr>
              <p:cNvPr id="748" name="Google Shape;748;p88"/>
              <p:cNvSpPr txBox="1"/>
              <p:nvPr/>
            </p:nvSpPr>
            <p:spPr>
              <a:xfrm rot="-909060">
                <a:off x="7388874" y="3054408"/>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
            <p:nvSpPr>
              <p:cNvPr id="749" name="Google Shape;749;p88"/>
              <p:cNvSpPr txBox="1"/>
              <p:nvPr/>
            </p:nvSpPr>
            <p:spPr>
              <a:xfrm rot="1032743">
                <a:off x="7388896" y="3418090"/>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38.4</a:t>
                </a:r>
                <a:r>
                  <a:rPr lang="en" sz="800">
                    <a:latin typeface="Fira Code"/>
                    <a:ea typeface="Fira Code"/>
                    <a:cs typeface="Fira Code"/>
                    <a:sym typeface="Fira Code"/>
                  </a:rPr>
                  <a:t>%</a:t>
                </a:r>
                <a:endParaRPr sz="800">
                  <a:latin typeface="Fira Code"/>
                  <a:ea typeface="Fira Code"/>
                  <a:cs typeface="Fira Code"/>
                  <a:sym typeface="Fira Code"/>
                </a:endParaRPr>
              </a:p>
            </p:txBody>
          </p:sp>
          <p:sp>
            <p:nvSpPr>
              <p:cNvPr id="750" name="Google Shape;750;p88"/>
              <p:cNvSpPr txBox="1"/>
              <p:nvPr/>
            </p:nvSpPr>
            <p:spPr>
              <a:xfrm rot="2490578">
                <a:off x="7346421" y="3772290"/>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r>
                  <a:rPr lang="en" sz="800">
                    <a:latin typeface="Fira Code"/>
                    <a:ea typeface="Fira Code"/>
                    <a:cs typeface="Fira Code"/>
                    <a:sym typeface="Fira Code"/>
                  </a:rPr>
                  <a:t>%</a:t>
                </a:r>
                <a:endParaRPr sz="800">
                  <a:latin typeface="Fira Code"/>
                  <a:ea typeface="Fira Code"/>
                  <a:cs typeface="Fira Code"/>
                  <a:sym typeface="Fira Code"/>
                </a:endParaRPr>
              </a:p>
            </p:txBody>
          </p:sp>
        </p:grpSp>
      </p:grpSp>
      <p:sp>
        <p:nvSpPr>
          <p:cNvPr id="751" name="Google Shape;751;p88"/>
          <p:cNvSpPr txBox="1"/>
          <p:nvPr/>
        </p:nvSpPr>
        <p:spPr>
          <a:xfrm>
            <a:off x="262675" y="1660825"/>
            <a:ext cx="41859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Imagine the COVID example again, let's say you started with some belief distribution over outcomes (blue distribution) and then updated to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some new beliefs (orange distribution).</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b="1" i="1" lang="en">
                <a:latin typeface="Google Sans"/>
                <a:ea typeface="Google Sans"/>
                <a:cs typeface="Google Sans"/>
                <a:sym typeface="Google Sans"/>
              </a:rPr>
              <a:t>How much did your beliefs change?</a:t>
            </a:r>
            <a:endParaRPr b="1" i="1">
              <a:latin typeface="Google Sans"/>
              <a:ea typeface="Google Sans"/>
              <a:cs typeface="Google Sans"/>
              <a:sym typeface="Google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5" name="Shape 755"/>
        <p:cNvGrpSpPr/>
        <p:nvPr/>
      </p:nvGrpSpPr>
      <p:grpSpPr>
        <a:xfrm>
          <a:off x="0" y="0"/>
          <a:ext cx="0" cy="0"/>
          <a:chOff x="0" y="0"/>
          <a:chExt cx="0" cy="0"/>
        </a:xfrm>
      </p:grpSpPr>
      <p:sp>
        <p:nvSpPr>
          <p:cNvPr id="756" name="Google Shape;756;p89"/>
          <p:cNvSpPr txBox="1"/>
          <p:nvPr>
            <p:ph type="title"/>
          </p:nvPr>
        </p:nvSpPr>
        <p:spPr>
          <a:xfrm>
            <a:off x="490250" y="450150"/>
            <a:ext cx="83094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chemeClr val="lt1"/>
                </a:solidFill>
              </a:rPr>
              <a:t>Break</a:t>
            </a:r>
            <a:endParaRPr b="1" sz="6000">
              <a:solidFill>
                <a:schemeClr val="lt1"/>
              </a:solidFill>
            </a:endParaRPr>
          </a:p>
          <a:p>
            <a:pPr indent="0" lvl="0" marL="0" rtl="0" algn="ctr">
              <a:spcBef>
                <a:spcPts val="0"/>
              </a:spcBef>
              <a:spcAft>
                <a:spcPts val="0"/>
              </a:spcAft>
              <a:buNone/>
            </a:pPr>
            <a:r>
              <a:t/>
            </a:r>
            <a:endParaRPr b="1" sz="6000">
              <a:solidFill>
                <a:schemeClr val="lt1"/>
              </a:solidFill>
            </a:endParaRPr>
          </a:p>
          <a:p>
            <a:pPr indent="0" lvl="0" marL="0" rtl="0" algn="ctr">
              <a:spcBef>
                <a:spcPts val="0"/>
              </a:spcBef>
              <a:spcAft>
                <a:spcPts val="0"/>
              </a:spcAft>
              <a:buNone/>
            </a:pPr>
            <a:r>
              <a:rPr i="1" lang="en" sz="3000">
                <a:solidFill>
                  <a:schemeClr val="lt1"/>
                </a:solidFill>
              </a:rPr>
              <a:t>Q: How would you measure the magnitude of your updated beliefs? What properties does that magnitude have?</a:t>
            </a:r>
            <a:endParaRPr i="1" sz="3000">
              <a:solidFill>
                <a:schemeClr val="lt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90"/>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a measure of the magnitude in your updated beliefs</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9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Continuous</a:t>
            </a:r>
            <a:endParaRPr/>
          </a:p>
        </p:txBody>
      </p:sp>
      <p:pic>
        <p:nvPicPr>
          <p:cNvPr id="767" name="Google Shape;767;p91"/>
          <p:cNvPicPr preferRelativeResize="0"/>
          <p:nvPr/>
        </p:nvPicPr>
        <p:blipFill>
          <a:blip r:embed="rId3">
            <a:alphaModFix/>
          </a:blip>
          <a:stretch>
            <a:fillRect/>
          </a:stretch>
        </p:blipFill>
        <p:spPr>
          <a:xfrm>
            <a:off x="5461325" y="212725"/>
            <a:ext cx="3371000" cy="911900"/>
          </a:xfrm>
          <a:prstGeom prst="rect">
            <a:avLst/>
          </a:prstGeom>
          <a:noFill/>
          <a:ln>
            <a:noFill/>
          </a:ln>
        </p:spPr>
      </p:pic>
      <p:graphicFrame>
        <p:nvGraphicFramePr>
          <p:cNvPr id="768" name="Google Shape;768;p91"/>
          <p:cNvGraphicFramePr/>
          <p:nvPr/>
        </p:nvGraphicFramePr>
        <p:xfrm>
          <a:off x="311738" y="2406675"/>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783F04"/>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38761D"/>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strike="sngStrike"/>
                        <a:t>25%</a:t>
                      </a:r>
                      <a:r>
                        <a:rPr lang="en"/>
                        <a:t> </a:t>
                      </a:r>
                      <a:r>
                        <a:rPr lang="en">
                          <a:solidFill>
                            <a:schemeClr val="accent4"/>
                          </a:solidFill>
                        </a:rPr>
                        <a:t>24%</a:t>
                      </a:r>
                      <a:endParaRPr>
                        <a:solidFill>
                          <a:schemeClr val="accent4"/>
                        </a:solidFill>
                      </a:endParaRPr>
                    </a:p>
                  </a:txBody>
                  <a:tcPr marT="91425" marB="91425" marR="91425" marL="91425" anchor="ctr"/>
                </a:tc>
                <a:tc>
                  <a:txBody>
                    <a:bodyPr/>
                    <a:lstStyle/>
                    <a:p>
                      <a:pPr indent="0" lvl="0" marL="0" rtl="0" algn="ctr">
                        <a:spcBef>
                          <a:spcPts val="0"/>
                        </a:spcBef>
                        <a:spcAft>
                          <a:spcPts val="0"/>
                        </a:spcAft>
                        <a:buNone/>
                      </a:pPr>
                      <a:r>
                        <a:rPr lang="en" strike="sngStrike"/>
                        <a:t>25%</a:t>
                      </a:r>
                      <a:r>
                        <a:rPr lang="en"/>
                        <a:t> </a:t>
                      </a:r>
                      <a:r>
                        <a:rPr lang="en">
                          <a:solidFill>
                            <a:schemeClr val="accent4"/>
                          </a:solidFill>
                        </a:rPr>
                        <a:t>26%</a:t>
                      </a:r>
                      <a:endParaRPr>
                        <a:solidFill>
                          <a:schemeClr val="accent4"/>
                        </a:solidFill>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13.1%</a:t>
                      </a:r>
                      <a:endParaRPr/>
                    </a:p>
                  </a:txBody>
                  <a:tcPr marT="91425" marB="91425" marR="91425" marL="91425" anchor="ctr"/>
                </a:tc>
                <a:tc>
                  <a:txBody>
                    <a:bodyPr/>
                    <a:lstStyle/>
                    <a:p>
                      <a:pPr indent="0" lvl="0" marL="0" rtl="0" algn="ctr">
                        <a:spcBef>
                          <a:spcPts val="0"/>
                        </a:spcBef>
                        <a:spcAft>
                          <a:spcPts val="0"/>
                        </a:spcAft>
                        <a:buNone/>
                      </a:pPr>
                      <a:r>
                        <a:rPr lang="en"/>
                        <a:t>13.5%</a:t>
                      </a:r>
                      <a:endParaRPr/>
                    </a:p>
                  </a:txBody>
                  <a:tcPr marT="91425" marB="91425" marR="91425" marL="91425" anchor="ctr"/>
                </a:tc>
                <a:tc>
                  <a:txBody>
                    <a:bodyPr/>
                    <a:lstStyle/>
                    <a:p>
                      <a:pPr indent="0" lvl="0" marL="0" rtl="0" algn="ctr">
                        <a:spcBef>
                          <a:spcPts val="0"/>
                        </a:spcBef>
                        <a:spcAft>
                          <a:spcPts val="0"/>
                        </a:spcAft>
                        <a:buNone/>
                      </a:pPr>
                      <a:r>
                        <a:rPr lang="en"/>
                        <a:t>19.8%</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r>
            </a:tbl>
          </a:graphicData>
        </a:graphic>
      </p:graphicFrame>
      <p:pic>
        <p:nvPicPr>
          <p:cNvPr id="769" name="Google Shape;769;p91"/>
          <p:cNvPicPr preferRelativeResize="0"/>
          <p:nvPr/>
        </p:nvPicPr>
        <p:blipFill>
          <a:blip r:embed="rId4">
            <a:alphaModFix/>
          </a:blip>
          <a:stretch>
            <a:fillRect/>
          </a:stretch>
        </p:blipFill>
        <p:spPr>
          <a:xfrm>
            <a:off x="532225" y="1935075"/>
            <a:ext cx="2916547" cy="311575"/>
          </a:xfrm>
          <a:prstGeom prst="rect">
            <a:avLst/>
          </a:prstGeom>
          <a:noFill/>
          <a:ln>
            <a:noFill/>
          </a:ln>
        </p:spPr>
      </p:pic>
      <p:pic>
        <p:nvPicPr>
          <p:cNvPr id="770" name="Google Shape;770;p91"/>
          <p:cNvPicPr preferRelativeResize="0"/>
          <p:nvPr/>
        </p:nvPicPr>
        <p:blipFill>
          <a:blip r:embed="rId5">
            <a:alphaModFix/>
          </a:blip>
          <a:stretch>
            <a:fillRect/>
          </a:stretch>
        </p:blipFill>
        <p:spPr>
          <a:xfrm>
            <a:off x="319138" y="1370775"/>
            <a:ext cx="3342722" cy="520225"/>
          </a:xfrm>
          <a:prstGeom prst="rect">
            <a:avLst/>
          </a:prstGeom>
          <a:noFill/>
          <a:ln>
            <a:noFill/>
          </a:ln>
        </p:spPr>
      </p:pic>
      <p:pic>
        <p:nvPicPr>
          <p:cNvPr id="771" name="Google Shape;771;p91"/>
          <p:cNvPicPr preferRelativeResize="0"/>
          <p:nvPr/>
        </p:nvPicPr>
        <p:blipFill>
          <a:blip r:embed="rId6">
            <a:alphaModFix/>
          </a:blip>
          <a:stretch>
            <a:fillRect/>
          </a:stretch>
        </p:blipFill>
        <p:spPr>
          <a:xfrm>
            <a:off x="5362375" y="1370775"/>
            <a:ext cx="3342722" cy="520225"/>
          </a:xfrm>
          <a:prstGeom prst="rect">
            <a:avLst/>
          </a:prstGeom>
          <a:noFill/>
          <a:ln>
            <a:noFill/>
          </a:ln>
        </p:spPr>
      </p:pic>
      <p:pic>
        <p:nvPicPr>
          <p:cNvPr id="772" name="Google Shape;772;p91"/>
          <p:cNvPicPr preferRelativeResize="0"/>
          <p:nvPr/>
        </p:nvPicPr>
        <p:blipFill>
          <a:blip r:embed="rId7">
            <a:alphaModFix/>
          </a:blip>
          <a:stretch>
            <a:fillRect/>
          </a:stretch>
        </p:blipFill>
        <p:spPr>
          <a:xfrm>
            <a:off x="5575463" y="1935075"/>
            <a:ext cx="2916547" cy="3115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92"/>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reparameterization independent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9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Permutation Invariant</a:t>
            </a:r>
            <a:endParaRPr/>
          </a:p>
        </p:txBody>
      </p:sp>
      <p:graphicFrame>
        <p:nvGraphicFramePr>
          <p:cNvPr id="783" name="Google Shape;783;p93"/>
          <p:cNvGraphicFramePr/>
          <p:nvPr/>
        </p:nvGraphicFramePr>
        <p:xfrm>
          <a:off x="311713" y="2377200"/>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38761D"/>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783F04"/>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25</a:t>
                      </a:r>
                      <a:r>
                        <a:rPr lang="en"/>
                        <a:t>%</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r>
                        <a:rPr lang="en"/>
                        <a:t>%</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19.8</a:t>
                      </a:r>
                      <a:r>
                        <a:rPr lang="en"/>
                        <a:t>%</a:t>
                      </a:r>
                      <a:endParaRPr/>
                    </a:p>
                  </a:txBody>
                  <a:tcPr marT="91425" marB="91425" marR="91425" marL="91425" anchor="ctr"/>
                </a:tc>
                <a:tc>
                  <a:txBody>
                    <a:bodyPr/>
                    <a:lstStyle/>
                    <a:p>
                      <a:pPr indent="0" lvl="0" marL="0" rtl="0" algn="ctr">
                        <a:spcBef>
                          <a:spcPts val="0"/>
                        </a:spcBef>
                        <a:spcAft>
                          <a:spcPts val="0"/>
                        </a:spcAft>
                        <a:buNone/>
                      </a:pPr>
                      <a:r>
                        <a:rPr lang="en"/>
                        <a:t>20.7</a:t>
                      </a:r>
                      <a:r>
                        <a:rPr lang="en"/>
                        <a:t>%</a:t>
                      </a:r>
                      <a:endParaRPr/>
                    </a:p>
                  </a:txBody>
                  <a:tcPr marT="91425" marB="91425" marR="91425" marL="91425" anchor="ctr"/>
                </a:tc>
                <a:tc>
                  <a:txBody>
                    <a:bodyPr/>
                    <a:lstStyle/>
                    <a:p>
                      <a:pPr indent="0" lvl="0" marL="0" rtl="0" algn="ctr">
                        <a:spcBef>
                          <a:spcPts val="0"/>
                        </a:spcBef>
                        <a:spcAft>
                          <a:spcPts val="0"/>
                        </a:spcAft>
                        <a:buNone/>
                      </a:pPr>
                      <a:r>
                        <a:rPr lang="en"/>
                        <a:t>12.4</a:t>
                      </a:r>
                      <a:r>
                        <a:rPr lang="en"/>
                        <a:t>%</a:t>
                      </a:r>
                      <a:endParaRPr/>
                    </a:p>
                  </a:txBody>
                  <a:tcPr marT="91425" marB="91425" marR="91425" marL="91425" anchor="ctr"/>
                </a:tc>
                <a:tc>
                  <a:txBody>
                    <a:bodyPr/>
                    <a:lstStyle/>
                    <a:p>
                      <a:pPr indent="0" lvl="0" marL="0" rtl="0" algn="ctr">
                        <a:spcBef>
                          <a:spcPts val="0"/>
                        </a:spcBef>
                        <a:spcAft>
                          <a:spcPts val="0"/>
                        </a:spcAft>
                        <a:buNone/>
                      </a:pPr>
                      <a:r>
                        <a:rPr lang="en"/>
                        <a:t>13.5</a:t>
                      </a:r>
                      <a:r>
                        <a:rPr lang="en"/>
                        <a:t>%</a:t>
                      </a:r>
                      <a:endParaRPr/>
                    </a:p>
                  </a:txBody>
                  <a:tcPr marT="91425" marB="91425" marR="91425" marL="91425" anchor="ctr"/>
                </a:tc>
                <a:tc>
                  <a:txBody>
                    <a:bodyPr/>
                    <a:lstStyle/>
                    <a:p>
                      <a:pPr indent="0" lvl="0" marL="0" rtl="0" algn="ctr">
                        <a:spcBef>
                          <a:spcPts val="0"/>
                        </a:spcBef>
                        <a:spcAft>
                          <a:spcPts val="0"/>
                        </a:spcAft>
                        <a:buNone/>
                      </a:pPr>
                      <a:r>
                        <a:rPr lang="en"/>
                        <a:t>13.1</a:t>
                      </a:r>
                      <a:r>
                        <a:rPr lang="en"/>
                        <a:t>%</a:t>
                      </a:r>
                      <a:endParaRPr/>
                    </a:p>
                  </a:txBody>
                  <a:tcPr marT="91425" marB="91425" marR="91425" marL="91425" anchor="ctr"/>
                </a:tc>
                <a:tc>
                  <a:txBody>
                    <a:bodyPr/>
                    <a:lstStyle/>
                    <a:p>
                      <a:pPr indent="0" lvl="0" marL="0" rtl="0" algn="ctr">
                        <a:spcBef>
                          <a:spcPts val="0"/>
                        </a:spcBef>
                        <a:spcAft>
                          <a:spcPts val="0"/>
                        </a:spcAft>
                        <a:buNone/>
                      </a:pPr>
                      <a:r>
                        <a:rPr lang="en"/>
                        <a:t>20.5</a:t>
                      </a:r>
                      <a:r>
                        <a:rPr lang="en"/>
                        <a:t>%</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r>
            </a:tbl>
          </a:graphicData>
        </a:graphic>
      </p:graphicFrame>
      <p:pic>
        <p:nvPicPr>
          <p:cNvPr id="784" name="Google Shape;784;p93"/>
          <p:cNvPicPr preferRelativeResize="0"/>
          <p:nvPr/>
        </p:nvPicPr>
        <p:blipFill>
          <a:blip r:embed="rId3">
            <a:alphaModFix/>
          </a:blip>
          <a:stretch>
            <a:fillRect/>
          </a:stretch>
        </p:blipFill>
        <p:spPr>
          <a:xfrm>
            <a:off x="238363" y="1490673"/>
            <a:ext cx="4223203" cy="446550"/>
          </a:xfrm>
          <a:prstGeom prst="rect">
            <a:avLst/>
          </a:prstGeom>
          <a:noFill/>
          <a:ln>
            <a:noFill/>
          </a:ln>
        </p:spPr>
      </p:pic>
      <p:pic>
        <p:nvPicPr>
          <p:cNvPr id="785" name="Google Shape;785;p93"/>
          <p:cNvPicPr preferRelativeResize="0"/>
          <p:nvPr/>
        </p:nvPicPr>
        <p:blipFill>
          <a:blip r:embed="rId4">
            <a:alphaModFix/>
          </a:blip>
          <a:stretch>
            <a:fillRect/>
          </a:stretch>
        </p:blipFill>
        <p:spPr>
          <a:xfrm>
            <a:off x="4682692" y="1490652"/>
            <a:ext cx="4222922" cy="446550"/>
          </a:xfrm>
          <a:prstGeom prst="rect">
            <a:avLst/>
          </a:prstGeom>
          <a:noFill/>
          <a:ln>
            <a:noFill/>
          </a:ln>
        </p:spPr>
      </p:pic>
      <p:pic>
        <p:nvPicPr>
          <p:cNvPr id="786" name="Google Shape;786;p93"/>
          <p:cNvPicPr preferRelativeResize="0"/>
          <p:nvPr/>
        </p:nvPicPr>
        <p:blipFill>
          <a:blip r:embed="rId5">
            <a:alphaModFix/>
          </a:blip>
          <a:stretch>
            <a:fillRect/>
          </a:stretch>
        </p:blipFill>
        <p:spPr>
          <a:xfrm>
            <a:off x="5250600" y="277575"/>
            <a:ext cx="3796025" cy="8470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9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Reparameterization Invariant</a:t>
            </a:r>
            <a:endParaRPr/>
          </a:p>
        </p:txBody>
      </p:sp>
      <p:pic>
        <p:nvPicPr>
          <p:cNvPr id="792" name="Google Shape;792;p94"/>
          <p:cNvPicPr preferRelativeResize="0"/>
          <p:nvPr/>
        </p:nvPicPr>
        <p:blipFill>
          <a:blip r:embed="rId3">
            <a:alphaModFix/>
          </a:blip>
          <a:stretch>
            <a:fillRect/>
          </a:stretch>
        </p:blipFill>
        <p:spPr>
          <a:xfrm>
            <a:off x="5726350" y="212750"/>
            <a:ext cx="3371000" cy="911900"/>
          </a:xfrm>
          <a:prstGeom prst="rect">
            <a:avLst/>
          </a:prstGeom>
          <a:noFill/>
          <a:ln>
            <a:noFill/>
          </a:ln>
        </p:spPr>
      </p:pic>
      <p:pic>
        <p:nvPicPr>
          <p:cNvPr id="793" name="Google Shape;793;p94"/>
          <p:cNvPicPr preferRelativeResize="0"/>
          <p:nvPr/>
        </p:nvPicPr>
        <p:blipFill>
          <a:blip r:embed="rId4">
            <a:alphaModFix/>
          </a:blip>
          <a:stretch>
            <a:fillRect/>
          </a:stretch>
        </p:blipFill>
        <p:spPr>
          <a:xfrm>
            <a:off x="828675" y="2065075"/>
            <a:ext cx="7486650" cy="390525"/>
          </a:xfrm>
          <a:prstGeom prst="rect">
            <a:avLst/>
          </a:prstGeom>
          <a:noFill/>
          <a:ln>
            <a:noFill/>
          </a:ln>
        </p:spPr>
      </p:pic>
      <p:sp>
        <p:nvSpPr>
          <p:cNvPr id="794" name="Google Shape;794;p94"/>
          <p:cNvSpPr txBox="1"/>
          <p:nvPr/>
        </p:nvSpPr>
        <p:spPr>
          <a:xfrm>
            <a:off x="432150" y="3253875"/>
            <a:ext cx="820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Our belief update magnitude should be invariant to change of coordinates.</a:t>
            </a:r>
            <a:endParaRPr>
              <a:latin typeface="Google Sans"/>
              <a:ea typeface="Google Sans"/>
              <a:cs typeface="Google Sans"/>
              <a:sym typeface="Google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9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Reparameterization</a:t>
            </a:r>
            <a:r>
              <a:rPr lang="en"/>
              <a:t> Invariant</a:t>
            </a:r>
            <a:endParaRPr/>
          </a:p>
        </p:txBody>
      </p:sp>
      <p:pic>
        <p:nvPicPr>
          <p:cNvPr id="800" name="Google Shape;800;p95"/>
          <p:cNvPicPr preferRelativeResize="0"/>
          <p:nvPr/>
        </p:nvPicPr>
        <p:blipFill>
          <a:blip r:embed="rId3">
            <a:alphaModFix/>
          </a:blip>
          <a:stretch>
            <a:fillRect/>
          </a:stretch>
        </p:blipFill>
        <p:spPr>
          <a:xfrm>
            <a:off x="5726350" y="212750"/>
            <a:ext cx="3371000" cy="911900"/>
          </a:xfrm>
          <a:prstGeom prst="rect">
            <a:avLst/>
          </a:prstGeom>
          <a:noFill/>
          <a:ln>
            <a:noFill/>
          </a:ln>
        </p:spPr>
      </p:pic>
      <p:pic>
        <p:nvPicPr>
          <p:cNvPr id="801" name="Google Shape;801;p95"/>
          <p:cNvPicPr preferRelativeResize="0"/>
          <p:nvPr/>
        </p:nvPicPr>
        <p:blipFill>
          <a:blip r:embed="rId4">
            <a:alphaModFix/>
          </a:blip>
          <a:stretch>
            <a:fillRect/>
          </a:stretch>
        </p:blipFill>
        <p:spPr>
          <a:xfrm>
            <a:off x="3008825" y="1522425"/>
            <a:ext cx="6019800" cy="3352800"/>
          </a:xfrm>
          <a:prstGeom prst="rect">
            <a:avLst/>
          </a:prstGeom>
          <a:noFill/>
          <a:ln>
            <a:noFill/>
          </a:ln>
        </p:spPr>
      </p:pic>
      <p:pic>
        <p:nvPicPr>
          <p:cNvPr id="802" name="Google Shape;802;p95"/>
          <p:cNvPicPr preferRelativeResize="0"/>
          <p:nvPr/>
        </p:nvPicPr>
        <p:blipFill>
          <a:blip r:embed="rId5">
            <a:alphaModFix/>
          </a:blip>
          <a:stretch>
            <a:fillRect/>
          </a:stretch>
        </p:blipFill>
        <p:spPr>
          <a:xfrm>
            <a:off x="54225" y="3937125"/>
            <a:ext cx="2704025" cy="836113"/>
          </a:xfrm>
          <a:prstGeom prst="rect">
            <a:avLst/>
          </a:prstGeom>
          <a:noFill/>
          <a:ln>
            <a:noFill/>
          </a:ln>
        </p:spPr>
      </p:pic>
      <p:sp>
        <p:nvSpPr>
          <p:cNvPr id="803" name="Google Shape;803;p95"/>
          <p:cNvSpPr txBox="1"/>
          <p:nvPr/>
        </p:nvSpPr>
        <p:spPr>
          <a:xfrm>
            <a:off x="166875" y="1482200"/>
            <a:ext cx="2532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Consider a remapping of our coordinate system.  The Relative Entropy is invariant to such a mapping.</a:t>
            </a:r>
            <a:endParaRPr>
              <a:latin typeface="Google Sans"/>
              <a:ea typeface="Google Sans"/>
              <a:cs typeface="Google Sans"/>
              <a:sym typeface="Google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96"/>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non-negative</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9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Non-Negative</a:t>
            </a:r>
            <a:endParaRPr/>
          </a:p>
        </p:txBody>
      </p:sp>
      <p:sp>
        <p:nvSpPr>
          <p:cNvPr id="814" name="Google Shape;814;p97"/>
          <p:cNvSpPr txBox="1"/>
          <p:nvPr/>
        </p:nvSpPr>
        <p:spPr>
          <a:xfrm>
            <a:off x="2836775" y="2836775"/>
            <a:ext cx="5653800" cy="65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815" name="Google Shape;815;p97"/>
          <p:cNvPicPr preferRelativeResize="0"/>
          <p:nvPr/>
        </p:nvPicPr>
        <p:blipFill>
          <a:blip r:embed="rId3">
            <a:alphaModFix/>
          </a:blip>
          <a:stretch>
            <a:fillRect/>
          </a:stretch>
        </p:blipFill>
        <p:spPr>
          <a:xfrm>
            <a:off x="5207550" y="1522425"/>
            <a:ext cx="3448050" cy="771525"/>
          </a:xfrm>
          <a:prstGeom prst="rect">
            <a:avLst/>
          </a:prstGeom>
          <a:noFill/>
          <a:ln>
            <a:noFill/>
          </a:ln>
        </p:spPr>
      </p:pic>
      <p:sp>
        <p:nvSpPr>
          <p:cNvPr id="816" name="Google Shape;816;p97"/>
          <p:cNvSpPr txBox="1"/>
          <p:nvPr/>
        </p:nvSpPr>
        <p:spPr>
          <a:xfrm>
            <a:off x="363175" y="1649050"/>
            <a:ext cx="8019600" cy="301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latin typeface="Google Sans"/>
                <a:ea typeface="Google Sans"/>
                <a:cs typeface="Google Sans"/>
                <a:sym typeface="Google Sans"/>
              </a:rPr>
              <a:t>Very useful property!</a:t>
            </a:r>
            <a:endParaRPr sz="2300">
              <a:latin typeface="Google Sans"/>
              <a:ea typeface="Google Sans"/>
              <a:cs typeface="Google Sans"/>
              <a:sym typeface="Google Sans"/>
            </a:endParaRPr>
          </a:p>
          <a:p>
            <a:pPr indent="0" lvl="0" marL="0" rtl="0" algn="l">
              <a:spcBef>
                <a:spcPts val="0"/>
              </a:spcBef>
              <a:spcAft>
                <a:spcPts val="0"/>
              </a:spcAft>
              <a:buNone/>
            </a:pPr>
            <a:r>
              <a:t/>
            </a:r>
            <a:endParaRPr sz="2300">
              <a:latin typeface="Google Sans"/>
              <a:ea typeface="Google Sans"/>
              <a:cs typeface="Google Sans"/>
              <a:sym typeface="Google Sans"/>
            </a:endParaRPr>
          </a:p>
          <a:p>
            <a:pPr indent="0" lvl="0" marL="0" rtl="0" algn="l">
              <a:spcBef>
                <a:spcPts val="0"/>
              </a:spcBef>
              <a:spcAft>
                <a:spcPts val="0"/>
              </a:spcAft>
              <a:buNone/>
            </a:pPr>
            <a:r>
              <a:rPr lang="en" sz="2300">
                <a:latin typeface="Google Sans"/>
                <a:ea typeface="Google Sans"/>
                <a:cs typeface="Google Sans"/>
                <a:sym typeface="Google Sans"/>
              </a:rPr>
              <a:t>Intuitively, viewing Relative Entropy as expected weight of evidence, this is saying that the expected weight of evidence in favor of the truth is always positive.</a:t>
            </a:r>
            <a:endParaRPr sz="2300">
              <a:latin typeface="Google Sans"/>
              <a:ea typeface="Google Sans"/>
              <a:cs typeface="Google Sans"/>
              <a:sym typeface="Google Sans"/>
            </a:endParaRPr>
          </a:p>
          <a:p>
            <a:pPr indent="0" lvl="0" marL="0" rtl="0" algn="l">
              <a:spcBef>
                <a:spcPts val="0"/>
              </a:spcBef>
              <a:spcAft>
                <a:spcPts val="0"/>
              </a:spcAft>
              <a:buNone/>
            </a:pPr>
            <a:r>
              <a:t/>
            </a:r>
            <a:endParaRPr sz="2300">
              <a:latin typeface="Google Sans"/>
              <a:ea typeface="Google Sans"/>
              <a:cs typeface="Google Sans"/>
              <a:sym typeface="Google Sans"/>
            </a:endParaRPr>
          </a:p>
          <a:p>
            <a:pPr indent="0" lvl="0" marL="0" rtl="0" algn="l">
              <a:spcBef>
                <a:spcPts val="0"/>
              </a:spcBef>
              <a:spcAft>
                <a:spcPts val="0"/>
              </a:spcAft>
              <a:buNone/>
            </a:pPr>
            <a:r>
              <a:rPr lang="en" sz="2300">
                <a:latin typeface="Google Sans"/>
                <a:ea typeface="Google Sans"/>
                <a:cs typeface="Google Sans"/>
                <a:sym typeface="Google Sans"/>
              </a:rPr>
              <a:t>More data is always a good thing when we are trying to learn the truth.</a:t>
            </a:r>
            <a:endParaRPr sz="2300">
              <a:latin typeface="Google Sans"/>
              <a:ea typeface="Google Sans"/>
              <a:cs typeface="Google Sans"/>
              <a:sym typeface="Google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9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Non-Negative</a:t>
            </a:r>
            <a:endParaRPr/>
          </a:p>
        </p:txBody>
      </p:sp>
      <p:pic>
        <p:nvPicPr>
          <p:cNvPr id="822" name="Google Shape;822;p98"/>
          <p:cNvPicPr preferRelativeResize="0"/>
          <p:nvPr/>
        </p:nvPicPr>
        <p:blipFill>
          <a:blip r:embed="rId3">
            <a:alphaModFix/>
          </a:blip>
          <a:stretch>
            <a:fillRect/>
          </a:stretch>
        </p:blipFill>
        <p:spPr>
          <a:xfrm>
            <a:off x="6437000" y="1364375"/>
            <a:ext cx="2660900" cy="1773925"/>
          </a:xfrm>
          <a:prstGeom prst="rect">
            <a:avLst/>
          </a:prstGeom>
          <a:noFill/>
          <a:ln>
            <a:noFill/>
          </a:ln>
        </p:spPr>
      </p:pic>
      <p:pic>
        <p:nvPicPr>
          <p:cNvPr id="823" name="Google Shape;823;p98"/>
          <p:cNvPicPr preferRelativeResize="0"/>
          <p:nvPr/>
        </p:nvPicPr>
        <p:blipFill>
          <a:blip r:embed="rId4">
            <a:alphaModFix/>
          </a:blip>
          <a:stretch>
            <a:fillRect/>
          </a:stretch>
        </p:blipFill>
        <p:spPr>
          <a:xfrm>
            <a:off x="6672075" y="3138300"/>
            <a:ext cx="2190750" cy="352425"/>
          </a:xfrm>
          <a:prstGeom prst="rect">
            <a:avLst/>
          </a:prstGeom>
          <a:noFill/>
          <a:ln>
            <a:noFill/>
          </a:ln>
        </p:spPr>
      </p:pic>
      <p:pic>
        <p:nvPicPr>
          <p:cNvPr id="824" name="Google Shape;824;p98"/>
          <p:cNvPicPr preferRelativeResize="0"/>
          <p:nvPr/>
        </p:nvPicPr>
        <p:blipFill>
          <a:blip r:embed="rId5">
            <a:alphaModFix/>
          </a:blip>
          <a:stretch>
            <a:fillRect/>
          </a:stretch>
        </p:blipFill>
        <p:spPr>
          <a:xfrm>
            <a:off x="1634575" y="1364375"/>
            <a:ext cx="4650396" cy="3714074"/>
          </a:xfrm>
          <a:prstGeom prst="rect">
            <a:avLst/>
          </a:prstGeom>
          <a:noFill/>
          <a:ln>
            <a:noFill/>
          </a:ln>
        </p:spPr>
      </p:pic>
      <p:sp>
        <p:nvSpPr>
          <p:cNvPr id="825" name="Google Shape;825;p98"/>
          <p:cNvSpPr txBox="1"/>
          <p:nvPr/>
        </p:nvSpPr>
        <p:spPr>
          <a:xfrm>
            <a:off x="127600" y="1482200"/>
            <a:ext cx="18465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Relative Entropy is always non-negative!</a:t>
            </a:r>
            <a:endParaRPr sz="1900">
              <a:latin typeface="Google Sans"/>
              <a:ea typeface="Google Sans"/>
              <a:cs typeface="Google Sans"/>
              <a:sym typeface="Google Sans"/>
            </a:endParaRPr>
          </a:p>
        </p:txBody>
      </p:sp>
      <p:pic>
        <p:nvPicPr>
          <p:cNvPr id="826" name="Google Shape;826;p98"/>
          <p:cNvPicPr preferRelativeResize="0"/>
          <p:nvPr/>
        </p:nvPicPr>
        <p:blipFill>
          <a:blip r:embed="rId6">
            <a:alphaModFix/>
          </a:blip>
          <a:stretch>
            <a:fillRect/>
          </a:stretch>
        </p:blipFill>
        <p:spPr>
          <a:xfrm>
            <a:off x="6538138" y="4746225"/>
            <a:ext cx="2458625" cy="2611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9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Edges</a:t>
            </a:r>
            <a:endParaRPr/>
          </a:p>
        </p:txBody>
      </p:sp>
      <p:pic>
        <p:nvPicPr>
          <p:cNvPr id="832" name="Google Shape;832;p99"/>
          <p:cNvPicPr preferRelativeResize="0"/>
          <p:nvPr/>
        </p:nvPicPr>
        <p:blipFill>
          <a:blip r:embed="rId3">
            <a:alphaModFix/>
          </a:blip>
          <a:stretch>
            <a:fillRect/>
          </a:stretch>
        </p:blipFill>
        <p:spPr>
          <a:xfrm>
            <a:off x="3831659" y="1296650"/>
            <a:ext cx="5312340" cy="3846849"/>
          </a:xfrm>
          <a:prstGeom prst="rect">
            <a:avLst/>
          </a:prstGeom>
          <a:noFill/>
          <a:ln>
            <a:noFill/>
          </a:ln>
        </p:spPr>
      </p:pic>
      <p:pic>
        <p:nvPicPr>
          <p:cNvPr id="833" name="Google Shape;833;p99"/>
          <p:cNvPicPr preferRelativeResize="0"/>
          <p:nvPr/>
        </p:nvPicPr>
        <p:blipFill>
          <a:blip r:embed="rId4">
            <a:alphaModFix/>
          </a:blip>
          <a:stretch>
            <a:fillRect/>
          </a:stretch>
        </p:blipFill>
        <p:spPr>
          <a:xfrm>
            <a:off x="5726350" y="212750"/>
            <a:ext cx="3371000" cy="911900"/>
          </a:xfrm>
          <a:prstGeom prst="rect">
            <a:avLst/>
          </a:prstGeom>
          <a:noFill/>
          <a:ln>
            <a:noFill/>
          </a:ln>
        </p:spPr>
      </p:pic>
      <p:sp>
        <p:nvSpPr>
          <p:cNvPr id="834" name="Google Shape;834;p99"/>
          <p:cNvSpPr txBox="1"/>
          <p:nvPr/>
        </p:nvSpPr>
        <p:spPr>
          <a:xfrm>
            <a:off x="314100" y="3366825"/>
            <a:ext cx="32295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Google Sans"/>
                <a:ea typeface="Google Sans"/>
                <a:cs typeface="Google Sans"/>
                <a:sym typeface="Google Sans"/>
              </a:rPr>
              <a:t>p can be zero where q is not zero, and this doesn't count towards the KL.</a:t>
            </a:r>
            <a:endParaRPr sz="1700">
              <a:latin typeface="Google Sans"/>
              <a:ea typeface="Google Sans"/>
              <a:cs typeface="Google Sans"/>
              <a:sym typeface="Google Sans"/>
            </a:endParaRPr>
          </a:p>
          <a:p>
            <a:pPr indent="0" lvl="0" marL="0" rtl="0" algn="l">
              <a:spcBef>
                <a:spcPts val="0"/>
              </a:spcBef>
              <a:spcAft>
                <a:spcPts val="0"/>
              </a:spcAft>
              <a:buNone/>
            </a:pPr>
            <a:r>
              <a:t/>
            </a:r>
            <a:endParaRPr sz="1700">
              <a:latin typeface="Google Sans"/>
              <a:ea typeface="Google Sans"/>
              <a:cs typeface="Google Sans"/>
              <a:sym typeface="Google Sans"/>
            </a:endParaRPr>
          </a:p>
          <a:p>
            <a:pPr indent="0" lvl="0" marL="0" rtl="0" algn="l">
              <a:spcBef>
                <a:spcPts val="0"/>
              </a:spcBef>
              <a:spcAft>
                <a:spcPts val="0"/>
              </a:spcAft>
              <a:buNone/>
            </a:pPr>
            <a:r>
              <a:rPr lang="en" sz="1700">
                <a:latin typeface="Google Sans"/>
                <a:ea typeface="Google Sans"/>
                <a:cs typeface="Google Sans"/>
                <a:sym typeface="Google Sans"/>
              </a:rPr>
              <a:t>q cannot be zero where p is </a:t>
            </a:r>
            <a:r>
              <a:rPr i="1" lang="en" sz="1700">
                <a:latin typeface="Google Sans"/>
                <a:ea typeface="Google Sans"/>
                <a:cs typeface="Google Sans"/>
                <a:sym typeface="Google Sans"/>
              </a:rPr>
              <a:t>not</a:t>
            </a:r>
            <a:r>
              <a:rPr lang="en" sz="1700">
                <a:latin typeface="Google Sans"/>
                <a:ea typeface="Google Sans"/>
                <a:cs typeface="Google Sans"/>
                <a:sym typeface="Google Sans"/>
              </a:rPr>
              <a:t> zero.</a:t>
            </a:r>
            <a:endParaRPr sz="1700">
              <a:latin typeface="Google Sans"/>
              <a:ea typeface="Google Sans"/>
              <a:cs typeface="Google Sans"/>
              <a:sym typeface="Google Sans"/>
            </a:endParaRPr>
          </a:p>
        </p:txBody>
      </p:sp>
      <p:pic>
        <p:nvPicPr>
          <p:cNvPr id="835" name="Google Shape;835;p99"/>
          <p:cNvPicPr preferRelativeResize="0"/>
          <p:nvPr/>
        </p:nvPicPr>
        <p:blipFill>
          <a:blip r:embed="rId5">
            <a:alphaModFix/>
          </a:blip>
          <a:stretch>
            <a:fillRect/>
          </a:stretch>
        </p:blipFill>
        <p:spPr>
          <a:xfrm>
            <a:off x="423900" y="1659850"/>
            <a:ext cx="3009900" cy="12858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0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Monotonic</a:t>
            </a:r>
            <a:endParaRPr/>
          </a:p>
        </p:txBody>
      </p:sp>
      <p:sp>
        <p:nvSpPr>
          <p:cNvPr id="841" name="Google Shape;841;p100"/>
          <p:cNvSpPr txBox="1"/>
          <p:nvPr/>
        </p:nvSpPr>
        <p:spPr>
          <a:xfrm>
            <a:off x="382825" y="1501825"/>
            <a:ext cx="826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Consider updating our beliefs from a uniform distribution on N elements to one on N' &lt; N elements.</a:t>
            </a:r>
            <a:endParaRPr>
              <a:latin typeface="Roboto"/>
              <a:ea typeface="Roboto"/>
              <a:cs typeface="Roboto"/>
              <a:sym typeface="Roboto"/>
            </a:endParaRPr>
          </a:p>
        </p:txBody>
      </p:sp>
      <p:pic>
        <p:nvPicPr>
          <p:cNvPr id="842" name="Google Shape;842;p100"/>
          <p:cNvPicPr preferRelativeResize="0"/>
          <p:nvPr/>
        </p:nvPicPr>
        <p:blipFill>
          <a:blip r:embed="rId3">
            <a:alphaModFix/>
          </a:blip>
          <a:stretch>
            <a:fillRect/>
          </a:stretch>
        </p:blipFill>
        <p:spPr>
          <a:xfrm>
            <a:off x="1657825" y="2201675"/>
            <a:ext cx="5715000" cy="1123950"/>
          </a:xfrm>
          <a:prstGeom prst="rect">
            <a:avLst/>
          </a:prstGeom>
          <a:noFill/>
          <a:ln>
            <a:noFill/>
          </a:ln>
        </p:spPr>
      </p:pic>
      <p:sp>
        <p:nvSpPr>
          <p:cNvPr id="843" name="Google Shape;843;p100"/>
          <p:cNvSpPr txBox="1"/>
          <p:nvPr/>
        </p:nvSpPr>
        <p:spPr>
          <a:xfrm>
            <a:off x="480975" y="3592600"/>
            <a:ext cx="8098200" cy="1231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Google Sans"/>
                <a:ea typeface="Google Sans"/>
                <a:cs typeface="Google Sans"/>
                <a:sym typeface="Google Sans"/>
              </a:rPr>
              <a:t>Cutting a space in half is 1 bit of KL.</a:t>
            </a:r>
            <a:endParaRPr sz="1700">
              <a:latin typeface="Google Sans"/>
              <a:ea typeface="Google Sans"/>
              <a:cs typeface="Google Sans"/>
              <a:sym typeface="Google Sans"/>
            </a:endParaRPr>
          </a:p>
          <a:p>
            <a:pPr indent="0" lvl="0" marL="0" rtl="0" algn="l">
              <a:spcBef>
                <a:spcPts val="0"/>
              </a:spcBef>
              <a:spcAft>
                <a:spcPts val="0"/>
              </a:spcAft>
              <a:buNone/>
            </a:pPr>
            <a:r>
              <a:t/>
            </a:r>
            <a:endParaRPr sz="1700">
              <a:latin typeface="Google Sans"/>
              <a:ea typeface="Google Sans"/>
              <a:cs typeface="Google Sans"/>
              <a:sym typeface="Google Sans"/>
            </a:endParaRPr>
          </a:p>
          <a:p>
            <a:pPr indent="0" lvl="0" marL="0" rtl="0" algn="l">
              <a:spcBef>
                <a:spcPts val="0"/>
              </a:spcBef>
              <a:spcAft>
                <a:spcPts val="0"/>
              </a:spcAft>
              <a:buNone/>
            </a:pPr>
            <a:r>
              <a:rPr lang="en" sz="1700">
                <a:latin typeface="Google Sans"/>
                <a:ea typeface="Google Sans"/>
                <a:cs typeface="Google Sans"/>
                <a:sym typeface="Google Sans"/>
              </a:rPr>
              <a:t>In general Relative Entropy is the number of optimal yes-no questions needed to move from q to p.</a:t>
            </a:r>
            <a:endParaRPr sz="1700">
              <a:latin typeface="Google Sans"/>
              <a:ea typeface="Google Sans"/>
              <a:cs typeface="Google Sans"/>
              <a:sym typeface="Google Sans"/>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0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Chain Rule</a:t>
            </a:r>
            <a:endParaRPr/>
          </a:p>
        </p:txBody>
      </p:sp>
      <p:sp>
        <p:nvSpPr>
          <p:cNvPr id="849" name="Google Shape;849;p101"/>
          <p:cNvSpPr txBox="1"/>
          <p:nvPr/>
        </p:nvSpPr>
        <p:spPr>
          <a:xfrm>
            <a:off x="373000" y="1560725"/>
            <a:ext cx="8459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We could decompose a situation into multiple steps.  Want our measurement of information gain to be the same in either.</a:t>
            </a:r>
            <a:endParaRPr>
              <a:latin typeface="Google Sans"/>
              <a:ea typeface="Google Sans"/>
              <a:cs typeface="Google Sans"/>
              <a:sym typeface="Google Sans"/>
            </a:endParaRPr>
          </a:p>
        </p:txBody>
      </p:sp>
      <p:sp>
        <p:nvSpPr>
          <p:cNvPr id="850" name="Google Shape;850;p101"/>
          <p:cNvSpPr/>
          <p:nvPr/>
        </p:nvSpPr>
        <p:spPr>
          <a:xfrm>
            <a:off x="3091817" y="235733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51" name="Google Shape;851;p101"/>
          <p:cNvSpPr/>
          <p:nvPr/>
        </p:nvSpPr>
        <p:spPr>
          <a:xfrm>
            <a:off x="3091817" y="29648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52" name="Google Shape;852;p101"/>
          <p:cNvSpPr/>
          <p:nvPr/>
        </p:nvSpPr>
        <p:spPr>
          <a:xfrm>
            <a:off x="3091817" y="35444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53" name="Google Shape;853;p101"/>
          <p:cNvSpPr/>
          <p:nvPr/>
        </p:nvSpPr>
        <p:spPr>
          <a:xfrm>
            <a:off x="3091817" y="41240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854" name="Google Shape;854;p101"/>
          <p:cNvCxnSpPr>
            <a:stCxn id="855" idx="0"/>
            <a:endCxn id="850" idx="2"/>
          </p:cNvCxnSpPr>
          <p:nvPr/>
        </p:nvCxnSpPr>
        <p:spPr>
          <a:xfrm flipH="1" rot="10800000">
            <a:off x="2083837" y="2595393"/>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856" name="Google Shape;856;p101"/>
          <p:cNvCxnSpPr>
            <a:stCxn id="855" idx="0"/>
            <a:endCxn id="851" idx="2"/>
          </p:cNvCxnSpPr>
          <p:nvPr/>
        </p:nvCxnSpPr>
        <p:spPr>
          <a:xfrm flipH="1" rot="10800000">
            <a:off x="2083837" y="3202893"/>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857" name="Google Shape;857;p101"/>
          <p:cNvCxnSpPr>
            <a:stCxn id="855" idx="0"/>
            <a:endCxn id="852" idx="2"/>
          </p:cNvCxnSpPr>
          <p:nvPr/>
        </p:nvCxnSpPr>
        <p:spPr>
          <a:xfrm>
            <a:off x="2083837" y="3479193"/>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858" name="Google Shape;858;p101"/>
          <p:cNvCxnSpPr>
            <a:stCxn id="855" idx="0"/>
            <a:endCxn id="853" idx="2"/>
          </p:cNvCxnSpPr>
          <p:nvPr/>
        </p:nvCxnSpPr>
        <p:spPr>
          <a:xfrm>
            <a:off x="2083837" y="3479193"/>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855" name="Google Shape;855;p101"/>
          <p:cNvSpPr/>
          <p:nvPr/>
        </p:nvSpPr>
        <p:spPr>
          <a:xfrm rot="5400000">
            <a:off x="1992637" y="3433593"/>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101"/>
          <p:cNvSpPr txBox="1"/>
          <p:nvPr/>
        </p:nvSpPr>
        <p:spPr>
          <a:xfrm rot="-2455691">
            <a:off x="2437369" y="2656425"/>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6.6%</a:t>
            </a:r>
            <a:endParaRPr sz="800">
              <a:latin typeface="Fira Code"/>
              <a:ea typeface="Fira Code"/>
              <a:cs typeface="Fira Code"/>
              <a:sym typeface="Fira Code"/>
            </a:endParaRPr>
          </a:p>
        </p:txBody>
      </p:sp>
      <p:sp>
        <p:nvSpPr>
          <p:cNvPr id="860" name="Google Shape;860;p101"/>
          <p:cNvSpPr txBox="1"/>
          <p:nvPr/>
        </p:nvSpPr>
        <p:spPr>
          <a:xfrm rot="-909060">
            <a:off x="2479899" y="3064433"/>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0.4%</a:t>
            </a:r>
            <a:endParaRPr sz="800">
              <a:latin typeface="Fira Code"/>
              <a:ea typeface="Fira Code"/>
              <a:cs typeface="Fira Code"/>
              <a:sym typeface="Fira Code"/>
            </a:endParaRPr>
          </a:p>
        </p:txBody>
      </p:sp>
      <p:sp>
        <p:nvSpPr>
          <p:cNvPr id="861" name="Google Shape;861;p101"/>
          <p:cNvSpPr txBox="1"/>
          <p:nvPr/>
        </p:nvSpPr>
        <p:spPr>
          <a:xfrm rot="1032743">
            <a:off x="2479921" y="3428115"/>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4.1%</a:t>
            </a:r>
            <a:endParaRPr sz="800">
              <a:latin typeface="Fira Code"/>
              <a:ea typeface="Fira Code"/>
              <a:cs typeface="Fira Code"/>
              <a:sym typeface="Fira Code"/>
            </a:endParaRPr>
          </a:p>
        </p:txBody>
      </p:sp>
      <p:sp>
        <p:nvSpPr>
          <p:cNvPr id="862" name="Google Shape;862;p101"/>
          <p:cNvSpPr txBox="1"/>
          <p:nvPr/>
        </p:nvSpPr>
        <p:spPr>
          <a:xfrm rot="2490578">
            <a:off x="2437446" y="3782315"/>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88.9%</a:t>
            </a:r>
            <a:endParaRPr sz="800">
              <a:latin typeface="Fira Code"/>
              <a:ea typeface="Fira Code"/>
              <a:cs typeface="Fira Code"/>
              <a:sym typeface="Fira Code"/>
            </a:endParaRPr>
          </a:p>
        </p:txBody>
      </p:sp>
      <p:grpSp>
        <p:nvGrpSpPr>
          <p:cNvPr id="863" name="Google Shape;863;p101"/>
          <p:cNvGrpSpPr/>
          <p:nvPr/>
        </p:nvGrpSpPr>
        <p:grpSpPr>
          <a:xfrm>
            <a:off x="263987" y="2357337"/>
            <a:ext cx="1575280" cy="2242775"/>
            <a:chOff x="6901612" y="2347312"/>
            <a:chExt cx="1575280" cy="2242775"/>
          </a:xfrm>
        </p:grpSpPr>
        <p:sp>
          <p:nvSpPr>
            <p:cNvPr id="864" name="Google Shape;864;p101"/>
            <p:cNvSpPr/>
            <p:nvPr/>
          </p:nvSpPr>
          <p:spPr>
            <a:xfrm rot="5400000">
              <a:off x="6901612" y="3423568"/>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5" name="Google Shape;865;p101"/>
            <p:cNvGrpSpPr/>
            <p:nvPr/>
          </p:nvGrpSpPr>
          <p:grpSpPr>
            <a:xfrm>
              <a:off x="6992812" y="2347312"/>
              <a:ext cx="1484080" cy="2242775"/>
              <a:chOff x="6992812" y="2347312"/>
              <a:chExt cx="1484080" cy="2242775"/>
            </a:xfrm>
          </p:grpSpPr>
          <p:sp>
            <p:nvSpPr>
              <p:cNvPr id="866" name="Google Shape;866;p101"/>
              <p:cNvSpPr/>
              <p:nvPr/>
            </p:nvSpPr>
            <p:spPr>
              <a:xfrm>
                <a:off x="8000792" y="23473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67" name="Google Shape;867;p101"/>
              <p:cNvSpPr/>
              <p:nvPr/>
            </p:nvSpPr>
            <p:spPr>
              <a:xfrm>
                <a:off x="8000792" y="29547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68" name="Google Shape;868;p101"/>
              <p:cNvSpPr/>
              <p:nvPr/>
            </p:nvSpPr>
            <p:spPr>
              <a:xfrm>
                <a:off x="8000792" y="35343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869" name="Google Shape;869;p101"/>
              <p:cNvSpPr/>
              <p:nvPr/>
            </p:nvSpPr>
            <p:spPr>
              <a:xfrm>
                <a:off x="8000792" y="41139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870" name="Google Shape;870;p101"/>
              <p:cNvCxnSpPr>
                <a:stCxn id="864" idx="0"/>
                <a:endCxn id="866" idx="2"/>
              </p:cNvCxnSpPr>
              <p:nvPr/>
            </p:nvCxnSpPr>
            <p:spPr>
              <a:xfrm flipH="1" rot="10800000">
                <a:off x="6992812" y="2585368"/>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871" name="Google Shape;871;p101"/>
              <p:cNvCxnSpPr>
                <a:stCxn id="864" idx="0"/>
                <a:endCxn id="867" idx="2"/>
              </p:cNvCxnSpPr>
              <p:nvPr/>
            </p:nvCxnSpPr>
            <p:spPr>
              <a:xfrm flipH="1" rot="10800000">
                <a:off x="6992812" y="3192868"/>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872" name="Google Shape;872;p101"/>
              <p:cNvCxnSpPr>
                <a:stCxn id="864" idx="0"/>
                <a:endCxn id="868" idx="2"/>
              </p:cNvCxnSpPr>
              <p:nvPr/>
            </p:nvCxnSpPr>
            <p:spPr>
              <a:xfrm>
                <a:off x="6992812" y="3469168"/>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873" name="Google Shape;873;p101"/>
              <p:cNvCxnSpPr>
                <a:stCxn id="864" idx="0"/>
                <a:endCxn id="869" idx="2"/>
              </p:cNvCxnSpPr>
              <p:nvPr/>
            </p:nvCxnSpPr>
            <p:spPr>
              <a:xfrm>
                <a:off x="6992812" y="3469168"/>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874" name="Google Shape;874;p101"/>
              <p:cNvSpPr txBox="1"/>
              <p:nvPr/>
            </p:nvSpPr>
            <p:spPr>
              <a:xfrm rot="-2455691">
                <a:off x="7346344" y="2646400"/>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sp>
            <p:nvSpPr>
              <p:cNvPr id="875" name="Google Shape;875;p101"/>
              <p:cNvSpPr txBox="1"/>
              <p:nvPr/>
            </p:nvSpPr>
            <p:spPr>
              <a:xfrm rot="-909060">
                <a:off x="7388874" y="3054408"/>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
            <p:nvSpPr>
              <p:cNvPr id="876" name="Google Shape;876;p101"/>
              <p:cNvSpPr txBox="1"/>
              <p:nvPr/>
            </p:nvSpPr>
            <p:spPr>
              <a:xfrm rot="1032743">
                <a:off x="7388896" y="3418090"/>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38.4%</a:t>
                </a:r>
                <a:endParaRPr sz="800">
                  <a:latin typeface="Fira Code"/>
                  <a:ea typeface="Fira Code"/>
                  <a:cs typeface="Fira Code"/>
                  <a:sym typeface="Fira Code"/>
                </a:endParaRPr>
              </a:p>
            </p:txBody>
          </p:sp>
          <p:sp>
            <p:nvSpPr>
              <p:cNvPr id="877" name="Google Shape;877;p101"/>
              <p:cNvSpPr txBox="1"/>
              <p:nvPr/>
            </p:nvSpPr>
            <p:spPr>
              <a:xfrm rot="2490578">
                <a:off x="7346421" y="3772290"/>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grpSp>
      </p:grpSp>
      <p:grpSp>
        <p:nvGrpSpPr>
          <p:cNvPr id="878" name="Google Shape;878;p101"/>
          <p:cNvGrpSpPr/>
          <p:nvPr/>
        </p:nvGrpSpPr>
        <p:grpSpPr>
          <a:xfrm>
            <a:off x="7294052" y="2489462"/>
            <a:ext cx="476100" cy="1820225"/>
            <a:chOff x="1091517" y="106612"/>
            <a:chExt cx="476100" cy="1820225"/>
          </a:xfrm>
        </p:grpSpPr>
        <p:sp>
          <p:nvSpPr>
            <p:cNvPr id="879" name="Google Shape;879;p101"/>
            <p:cNvSpPr/>
            <p:nvPr/>
          </p:nvSpPr>
          <p:spPr>
            <a:xfrm>
              <a:off x="1091517" y="145073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880" name="Google Shape;880;p101"/>
            <p:cNvSpPr/>
            <p:nvPr/>
          </p:nvSpPr>
          <p:spPr>
            <a:xfrm>
              <a:off x="1091517" y="1066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grpSp>
      <p:sp>
        <p:nvSpPr>
          <p:cNvPr id="881" name="Google Shape;881;p101"/>
          <p:cNvSpPr/>
          <p:nvPr/>
        </p:nvSpPr>
        <p:spPr>
          <a:xfrm rot="5400000">
            <a:off x="6823437" y="3353975"/>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2" name="Google Shape;882;p101"/>
          <p:cNvGrpSpPr/>
          <p:nvPr/>
        </p:nvGrpSpPr>
        <p:grpSpPr>
          <a:xfrm>
            <a:off x="8149567" y="2143337"/>
            <a:ext cx="492963" cy="2512500"/>
            <a:chOff x="1880842" y="-232788"/>
            <a:chExt cx="492963" cy="2512500"/>
          </a:xfrm>
        </p:grpSpPr>
        <p:grpSp>
          <p:nvGrpSpPr>
            <p:cNvPr id="883" name="Google Shape;883;p101"/>
            <p:cNvGrpSpPr/>
            <p:nvPr/>
          </p:nvGrpSpPr>
          <p:grpSpPr>
            <a:xfrm>
              <a:off x="1880842" y="-232788"/>
              <a:ext cx="476100" cy="1154900"/>
              <a:chOff x="1880842" y="-232788"/>
              <a:chExt cx="476100" cy="1154900"/>
            </a:xfrm>
          </p:grpSpPr>
          <p:sp>
            <p:nvSpPr>
              <p:cNvPr id="884" name="Google Shape;884;p101"/>
              <p:cNvSpPr/>
              <p:nvPr/>
            </p:nvSpPr>
            <p:spPr>
              <a:xfrm>
                <a:off x="1880842" y="4460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885" name="Google Shape;885;p101"/>
              <p:cNvSpPr/>
              <p:nvPr/>
            </p:nvSpPr>
            <p:spPr>
              <a:xfrm>
                <a:off x="1880842" y="-232788"/>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nvGrpSpPr>
            <p:cNvPr id="886" name="Google Shape;886;p101"/>
            <p:cNvGrpSpPr/>
            <p:nvPr/>
          </p:nvGrpSpPr>
          <p:grpSpPr>
            <a:xfrm>
              <a:off x="1897705" y="1124812"/>
              <a:ext cx="476100" cy="1154900"/>
              <a:chOff x="1897705" y="1124812"/>
              <a:chExt cx="476100" cy="1154900"/>
            </a:xfrm>
          </p:grpSpPr>
          <p:sp>
            <p:nvSpPr>
              <p:cNvPr id="887" name="Google Shape;887;p101"/>
              <p:cNvSpPr/>
              <p:nvPr/>
            </p:nvSpPr>
            <p:spPr>
              <a:xfrm>
                <a:off x="1897705" y="18036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888" name="Google Shape;888;p101"/>
              <p:cNvSpPr/>
              <p:nvPr/>
            </p:nvSpPr>
            <p:spPr>
              <a:xfrm>
                <a:off x="1897705" y="11248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cxnSp>
        <p:nvCxnSpPr>
          <p:cNvPr id="889" name="Google Shape;889;p101"/>
          <p:cNvCxnSpPr>
            <a:endCxn id="880" idx="3"/>
          </p:cNvCxnSpPr>
          <p:nvPr/>
        </p:nvCxnSpPr>
        <p:spPr>
          <a:xfrm flipH="1" rot="10800000">
            <a:off x="6901176" y="289583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890" name="Google Shape;890;p101"/>
          <p:cNvCxnSpPr>
            <a:stCxn id="881" idx="7"/>
            <a:endCxn id="879" idx="1"/>
          </p:cNvCxnSpPr>
          <p:nvPr/>
        </p:nvCxnSpPr>
        <p:spPr>
          <a:xfrm>
            <a:off x="6901281" y="343181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891" name="Google Shape;891;p101"/>
          <p:cNvCxnSpPr>
            <a:endCxn id="885" idx="2"/>
          </p:cNvCxnSpPr>
          <p:nvPr/>
        </p:nvCxnSpPr>
        <p:spPr>
          <a:xfrm flipH="1" rot="10800000">
            <a:off x="7700467" y="2381387"/>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892" name="Google Shape;892;p101"/>
          <p:cNvCxnSpPr>
            <a:endCxn id="884" idx="2"/>
          </p:cNvCxnSpPr>
          <p:nvPr/>
        </p:nvCxnSpPr>
        <p:spPr>
          <a:xfrm>
            <a:off x="7700467" y="2895787"/>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893" name="Google Shape;893;p101"/>
          <p:cNvSpPr txBox="1"/>
          <p:nvPr/>
        </p:nvSpPr>
        <p:spPr>
          <a:xfrm rot="-2701531">
            <a:off x="6839766" y="2882441"/>
            <a:ext cx="476236"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7%</a:t>
            </a:r>
            <a:endParaRPr sz="800">
              <a:latin typeface="Fira Code"/>
              <a:ea typeface="Fira Code"/>
              <a:cs typeface="Fira Code"/>
              <a:sym typeface="Fira Code"/>
            </a:endParaRPr>
          </a:p>
        </p:txBody>
      </p:sp>
      <p:cxnSp>
        <p:nvCxnSpPr>
          <p:cNvPr id="894" name="Google Shape;894;p101"/>
          <p:cNvCxnSpPr>
            <a:endCxn id="888" idx="2"/>
          </p:cNvCxnSpPr>
          <p:nvPr/>
        </p:nvCxnSpPr>
        <p:spPr>
          <a:xfrm flipH="1" rot="10800000">
            <a:off x="7700530" y="3738987"/>
            <a:ext cx="465900" cy="164400"/>
          </a:xfrm>
          <a:prstGeom prst="straightConnector1">
            <a:avLst/>
          </a:prstGeom>
          <a:noFill/>
          <a:ln cap="flat" cmpd="sng" w="9525">
            <a:solidFill>
              <a:srgbClr val="000000"/>
            </a:solidFill>
            <a:prstDash val="solid"/>
            <a:round/>
            <a:headEnd len="med" w="med" type="none"/>
            <a:tailEnd len="med" w="med" type="triangle"/>
          </a:ln>
        </p:spPr>
      </p:cxnSp>
      <p:cxnSp>
        <p:nvCxnSpPr>
          <p:cNvPr id="895" name="Google Shape;895;p101"/>
          <p:cNvCxnSpPr>
            <a:stCxn id="879" idx="5"/>
            <a:endCxn id="887" idx="2"/>
          </p:cNvCxnSpPr>
          <p:nvPr/>
        </p:nvCxnSpPr>
        <p:spPr>
          <a:xfrm>
            <a:off x="7700429" y="4239964"/>
            <a:ext cx="465900" cy="177900"/>
          </a:xfrm>
          <a:prstGeom prst="straightConnector1">
            <a:avLst/>
          </a:prstGeom>
          <a:noFill/>
          <a:ln cap="flat" cmpd="sng" w="9525">
            <a:solidFill>
              <a:srgbClr val="000000"/>
            </a:solidFill>
            <a:prstDash val="solid"/>
            <a:round/>
            <a:headEnd len="med" w="med" type="none"/>
            <a:tailEnd len="med" w="med" type="triangle"/>
          </a:ln>
        </p:spPr>
      </p:cxnSp>
      <p:sp>
        <p:nvSpPr>
          <p:cNvPr id="896" name="Google Shape;896;p101"/>
          <p:cNvSpPr txBox="1"/>
          <p:nvPr/>
        </p:nvSpPr>
        <p:spPr>
          <a:xfrm rot="2696936">
            <a:off x="6826086" y="3625153"/>
            <a:ext cx="47602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93%</a:t>
            </a:r>
            <a:endParaRPr sz="800">
              <a:latin typeface="Fira Code"/>
              <a:ea typeface="Fira Code"/>
              <a:cs typeface="Fira Code"/>
              <a:sym typeface="Fira Code"/>
            </a:endParaRPr>
          </a:p>
        </p:txBody>
      </p:sp>
      <p:sp>
        <p:nvSpPr>
          <p:cNvPr id="897" name="Google Shape;897;p101"/>
          <p:cNvSpPr txBox="1"/>
          <p:nvPr/>
        </p:nvSpPr>
        <p:spPr>
          <a:xfrm rot="-1300283">
            <a:off x="7627984" y="2227192"/>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93.8%</a:t>
            </a:r>
            <a:endParaRPr sz="800">
              <a:latin typeface="Fira Code"/>
              <a:ea typeface="Fira Code"/>
              <a:cs typeface="Fira Code"/>
              <a:sym typeface="Fira Code"/>
            </a:endParaRPr>
          </a:p>
        </p:txBody>
      </p:sp>
      <p:sp>
        <p:nvSpPr>
          <p:cNvPr id="898" name="Google Shape;898;p101"/>
          <p:cNvSpPr txBox="1"/>
          <p:nvPr/>
        </p:nvSpPr>
        <p:spPr>
          <a:xfrm rot="1234884">
            <a:off x="7656609" y="2912436"/>
            <a:ext cx="476194"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6.2%</a:t>
            </a:r>
            <a:endParaRPr sz="800">
              <a:latin typeface="Fira Code"/>
              <a:ea typeface="Fira Code"/>
              <a:cs typeface="Fira Code"/>
              <a:sym typeface="Fira Code"/>
            </a:endParaRPr>
          </a:p>
        </p:txBody>
      </p:sp>
      <p:sp>
        <p:nvSpPr>
          <p:cNvPr id="899" name="Google Shape;899;p101"/>
          <p:cNvSpPr txBox="1"/>
          <p:nvPr/>
        </p:nvSpPr>
        <p:spPr>
          <a:xfrm rot="-1172528">
            <a:off x="7645156" y="3572109"/>
            <a:ext cx="476233"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4.4%</a:t>
            </a:r>
            <a:endParaRPr sz="800">
              <a:latin typeface="Fira Code"/>
              <a:ea typeface="Fira Code"/>
              <a:cs typeface="Fira Code"/>
              <a:sym typeface="Fira Code"/>
            </a:endParaRPr>
          </a:p>
        </p:txBody>
      </p:sp>
      <p:sp>
        <p:nvSpPr>
          <p:cNvPr id="900" name="Google Shape;900;p101"/>
          <p:cNvSpPr txBox="1"/>
          <p:nvPr/>
        </p:nvSpPr>
        <p:spPr>
          <a:xfrm rot="1183270">
            <a:off x="7657841" y="4269802"/>
            <a:ext cx="549426" cy="27699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95.6%</a:t>
            </a:r>
            <a:endParaRPr sz="800">
              <a:latin typeface="Fira Code"/>
              <a:ea typeface="Fira Code"/>
              <a:cs typeface="Fira Code"/>
              <a:sym typeface="Fira Code"/>
            </a:endParaRPr>
          </a:p>
        </p:txBody>
      </p:sp>
      <p:grpSp>
        <p:nvGrpSpPr>
          <p:cNvPr id="901" name="Google Shape;901;p101"/>
          <p:cNvGrpSpPr/>
          <p:nvPr/>
        </p:nvGrpSpPr>
        <p:grpSpPr>
          <a:xfrm>
            <a:off x="5397802" y="2383050"/>
            <a:ext cx="476100" cy="1820225"/>
            <a:chOff x="1091517" y="106612"/>
            <a:chExt cx="476100" cy="1820225"/>
          </a:xfrm>
        </p:grpSpPr>
        <p:sp>
          <p:nvSpPr>
            <p:cNvPr id="902" name="Google Shape;902;p101"/>
            <p:cNvSpPr/>
            <p:nvPr/>
          </p:nvSpPr>
          <p:spPr>
            <a:xfrm>
              <a:off x="1091517" y="145073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903" name="Google Shape;903;p101"/>
            <p:cNvSpPr/>
            <p:nvPr/>
          </p:nvSpPr>
          <p:spPr>
            <a:xfrm>
              <a:off x="1091517" y="1066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grpSp>
      <p:sp>
        <p:nvSpPr>
          <p:cNvPr id="904" name="Google Shape;904;p101"/>
          <p:cNvSpPr/>
          <p:nvPr/>
        </p:nvSpPr>
        <p:spPr>
          <a:xfrm rot="5400000">
            <a:off x="4927187" y="3247562"/>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5" name="Google Shape;905;p101"/>
          <p:cNvGrpSpPr/>
          <p:nvPr/>
        </p:nvGrpSpPr>
        <p:grpSpPr>
          <a:xfrm>
            <a:off x="6253317" y="2036925"/>
            <a:ext cx="492963" cy="2512500"/>
            <a:chOff x="1880842" y="-232788"/>
            <a:chExt cx="492963" cy="2512500"/>
          </a:xfrm>
        </p:grpSpPr>
        <p:grpSp>
          <p:nvGrpSpPr>
            <p:cNvPr id="906" name="Google Shape;906;p101"/>
            <p:cNvGrpSpPr/>
            <p:nvPr/>
          </p:nvGrpSpPr>
          <p:grpSpPr>
            <a:xfrm>
              <a:off x="1880842" y="-232788"/>
              <a:ext cx="476100" cy="1154900"/>
              <a:chOff x="1880842" y="-232788"/>
              <a:chExt cx="476100" cy="1154900"/>
            </a:xfrm>
          </p:grpSpPr>
          <p:sp>
            <p:nvSpPr>
              <p:cNvPr id="907" name="Google Shape;907;p101"/>
              <p:cNvSpPr/>
              <p:nvPr/>
            </p:nvSpPr>
            <p:spPr>
              <a:xfrm>
                <a:off x="1880842" y="4460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08" name="Google Shape;908;p101"/>
              <p:cNvSpPr/>
              <p:nvPr/>
            </p:nvSpPr>
            <p:spPr>
              <a:xfrm>
                <a:off x="1880842" y="-232788"/>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nvGrpSpPr>
            <p:cNvPr id="909" name="Google Shape;909;p101"/>
            <p:cNvGrpSpPr/>
            <p:nvPr/>
          </p:nvGrpSpPr>
          <p:grpSpPr>
            <a:xfrm>
              <a:off x="1897705" y="1124812"/>
              <a:ext cx="476100" cy="1154900"/>
              <a:chOff x="1897705" y="1124812"/>
              <a:chExt cx="476100" cy="1154900"/>
            </a:xfrm>
          </p:grpSpPr>
          <p:sp>
            <p:nvSpPr>
              <p:cNvPr id="910" name="Google Shape;910;p101"/>
              <p:cNvSpPr/>
              <p:nvPr/>
            </p:nvSpPr>
            <p:spPr>
              <a:xfrm>
                <a:off x="1897705" y="18036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11" name="Google Shape;911;p101"/>
              <p:cNvSpPr/>
              <p:nvPr/>
            </p:nvSpPr>
            <p:spPr>
              <a:xfrm>
                <a:off x="1897705" y="11248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cxnSp>
        <p:nvCxnSpPr>
          <p:cNvPr id="912" name="Google Shape;912;p101"/>
          <p:cNvCxnSpPr>
            <a:endCxn id="903" idx="3"/>
          </p:cNvCxnSpPr>
          <p:nvPr/>
        </p:nvCxnSpPr>
        <p:spPr>
          <a:xfrm flipH="1" rot="10800000">
            <a:off x="5004926" y="2789427"/>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13" name="Google Shape;913;p101"/>
          <p:cNvCxnSpPr>
            <a:stCxn id="904" idx="7"/>
            <a:endCxn id="902" idx="1"/>
          </p:cNvCxnSpPr>
          <p:nvPr/>
        </p:nvCxnSpPr>
        <p:spPr>
          <a:xfrm>
            <a:off x="5005031" y="3325406"/>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14" name="Google Shape;914;p101"/>
          <p:cNvCxnSpPr>
            <a:endCxn id="908" idx="2"/>
          </p:cNvCxnSpPr>
          <p:nvPr/>
        </p:nvCxnSpPr>
        <p:spPr>
          <a:xfrm flipH="1" rot="10800000">
            <a:off x="5804217" y="2274975"/>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915" name="Google Shape;915;p101"/>
          <p:cNvCxnSpPr>
            <a:endCxn id="907" idx="2"/>
          </p:cNvCxnSpPr>
          <p:nvPr/>
        </p:nvCxnSpPr>
        <p:spPr>
          <a:xfrm>
            <a:off x="5804217" y="2789375"/>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916" name="Google Shape;916;p101"/>
          <p:cNvSpPr txBox="1"/>
          <p:nvPr/>
        </p:nvSpPr>
        <p:spPr>
          <a:xfrm rot="-2701385">
            <a:off x="4900337" y="2794001"/>
            <a:ext cx="52672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cxnSp>
        <p:nvCxnSpPr>
          <p:cNvPr id="917" name="Google Shape;917;p101"/>
          <p:cNvCxnSpPr>
            <a:endCxn id="911" idx="2"/>
          </p:cNvCxnSpPr>
          <p:nvPr/>
        </p:nvCxnSpPr>
        <p:spPr>
          <a:xfrm flipH="1" rot="10800000">
            <a:off x="5804280" y="3632575"/>
            <a:ext cx="465900" cy="164400"/>
          </a:xfrm>
          <a:prstGeom prst="straightConnector1">
            <a:avLst/>
          </a:prstGeom>
          <a:noFill/>
          <a:ln cap="flat" cmpd="sng" w="9525">
            <a:solidFill>
              <a:srgbClr val="000000"/>
            </a:solidFill>
            <a:prstDash val="solid"/>
            <a:round/>
            <a:headEnd len="med" w="med" type="none"/>
            <a:tailEnd len="med" w="med" type="triangle"/>
          </a:ln>
        </p:spPr>
      </p:cxnSp>
      <p:cxnSp>
        <p:nvCxnSpPr>
          <p:cNvPr id="918" name="Google Shape;918;p101"/>
          <p:cNvCxnSpPr>
            <a:stCxn id="902" idx="5"/>
            <a:endCxn id="910" idx="2"/>
          </p:cNvCxnSpPr>
          <p:nvPr/>
        </p:nvCxnSpPr>
        <p:spPr>
          <a:xfrm>
            <a:off x="5804179" y="4133552"/>
            <a:ext cx="465900" cy="177900"/>
          </a:xfrm>
          <a:prstGeom prst="straightConnector1">
            <a:avLst/>
          </a:prstGeom>
          <a:noFill/>
          <a:ln cap="flat" cmpd="sng" w="9525">
            <a:solidFill>
              <a:srgbClr val="000000"/>
            </a:solidFill>
            <a:prstDash val="solid"/>
            <a:round/>
            <a:headEnd len="med" w="med" type="none"/>
            <a:tailEnd len="med" w="med" type="triangle"/>
          </a:ln>
        </p:spPr>
      </p:cxnSp>
      <p:sp>
        <p:nvSpPr>
          <p:cNvPr id="919" name="Google Shape;919;p101"/>
          <p:cNvSpPr txBox="1"/>
          <p:nvPr/>
        </p:nvSpPr>
        <p:spPr>
          <a:xfrm rot="2697239">
            <a:off x="4885201" y="3500277"/>
            <a:ext cx="528209"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38.3%</a:t>
            </a:r>
            <a:endParaRPr sz="800">
              <a:latin typeface="Fira Code"/>
              <a:ea typeface="Fira Code"/>
              <a:cs typeface="Fira Code"/>
              <a:sym typeface="Fira Code"/>
            </a:endParaRPr>
          </a:p>
        </p:txBody>
      </p:sp>
      <p:sp>
        <p:nvSpPr>
          <p:cNvPr id="920" name="Google Shape;920;p101"/>
          <p:cNvSpPr txBox="1"/>
          <p:nvPr/>
        </p:nvSpPr>
        <p:spPr>
          <a:xfrm rot="-1300283">
            <a:off x="5731734" y="2120779"/>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100%</a:t>
            </a:r>
            <a:endParaRPr sz="800">
              <a:latin typeface="Fira Code"/>
              <a:ea typeface="Fira Code"/>
              <a:cs typeface="Fira Code"/>
              <a:sym typeface="Fira Code"/>
            </a:endParaRPr>
          </a:p>
        </p:txBody>
      </p:sp>
      <p:sp>
        <p:nvSpPr>
          <p:cNvPr id="921" name="Google Shape;921;p101"/>
          <p:cNvSpPr txBox="1"/>
          <p:nvPr/>
        </p:nvSpPr>
        <p:spPr>
          <a:xfrm rot="1234884">
            <a:off x="5760359" y="2806023"/>
            <a:ext cx="476194"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
        <p:nvSpPr>
          <p:cNvPr id="922" name="Google Shape;922;p101"/>
          <p:cNvSpPr txBox="1"/>
          <p:nvPr/>
        </p:nvSpPr>
        <p:spPr>
          <a:xfrm rot="-1172528">
            <a:off x="5748906" y="3465697"/>
            <a:ext cx="476233"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100%</a:t>
            </a:r>
            <a:endParaRPr sz="800">
              <a:latin typeface="Fira Code"/>
              <a:ea typeface="Fira Code"/>
              <a:cs typeface="Fira Code"/>
              <a:sym typeface="Fira Code"/>
            </a:endParaRPr>
          </a:p>
        </p:txBody>
      </p:sp>
      <p:sp>
        <p:nvSpPr>
          <p:cNvPr id="923" name="Google Shape;923;p101"/>
          <p:cNvSpPr txBox="1"/>
          <p:nvPr/>
        </p:nvSpPr>
        <p:spPr>
          <a:xfrm rot="1183270">
            <a:off x="5761591" y="4163389"/>
            <a:ext cx="549426" cy="27699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10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Chain Rule</a:t>
            </a:r>
            <a:endParaRPr/>
          </a:p>
        </p:txBody>
      </p:sp>
      <p:grpSp>
        <p:nvGrpSpPr>
          <p:cNvPr id="929" name="Google Shape;929;p102"/>
          <p:cNvGrpSpPr/>
          <p:nvPr/>
        </p:nvGrpSpPr>
        <p:grpSpPr>
          <a:xfrm>
            <a:off x="7675777" y="1837912"/>
            <a:ext cx="476100" cy="1820225"/>
            <a:chOff x="1091517" y="106612"/>
            <a:chExt cx="476100" cy="1820225"/>
          </a:xfrm>
        </p:grpSpPr>
        <p:sp>
          <p:nvSpPr>
            <p:cNvPr id="930" name="Google Shape;930;p102"/>
            <p:cNvSpPr/>
            <p:nvPr/>
          </p:nvSpPr>
          <p:spPr>
            <a:xfrm>
              <a:off x="1091517" y="145073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931" name="Google Shape;931;p102"/>
            <p:cNvSpPr/>
            <p:nvPr/>
          </p:nvSpPr>
          <p:spPr>
            <a:xfrm>
              <a:off x="1091517" y="1066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grpSp>
      <p:sp>
        <p:nvSpPr>
          <p:cNvPr id="932" name="Google Shape;932;p102"/>
          <p:cNvSpPr/>
          <p:nvPr/>
        </p:nvSpPr>
        <p:spPr>
          <a:xfrm rot="5400000">
            <a:off x="7205162" y="2702425"/>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3" name="Google Shape;933;p102"/>
          <p:cNvGrpSpPr/>
          <p:nvPr/>
        </p:nvGrpSpPr>
        <p:grpSpPr>
          <a:xfrm>
            <a:off x="8531292" y="1491787"/>
            <a:ext cx="492963" cy="2512500"/>
            <a:chOff x="1880842" y="-232788"/>
            <a:chExt cx="492963" cy="2512500"/>
          </a:xfrm>
        </p:grpSpPr>
        <p:grpSp>
          <p:nvGrpSpPr>
            <p:cNvPr id="934" name="Google Shape;934;p102"/>
            <p:cNvGrpSpPr/>
            <p:nvPr/>
          </p:nvGrpSpPr>
          <p:grpSpPr>
            <a:xfrm>
              <a:off x="1880842" y="-232788"/>
              <a:ext cx="476100" cy="1154900"/>
              <a:chOff x="1880842" y="-232788"/>
              <a:chExt cx="476100" cy="1154900"/>
            </a:xfrm>
          </p:grpSpPr>
          <p:sp>
            <p:nvSpPr>
              <p:cNvPr id="935" name="Google Shape;935;p102"/>
              <p:cNvSpPr/>
              <p:nvPr/>
            </p:nvSpPr>
            <p:spPr>
              <a:xfrm>
                <a:off x="1880842" y="4460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36" name="Google Shape;936;p102"/>
              <p:cNvSpPr/>
              <p:nvPr/>
            </p:nvSpPr>
            <p:spPr>
              <a:xfrm>
                <a:off x="1880842" y="-232788"/>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nvGrpSpPr>
            <p:cNvPr id="937" name="Google Shape;937;p102"/>
            <p:cNvGrpSpPr/>
            <p:nvPr/>
          </p:nvGrpSpPr>
          <p:grpSpPr>
            <a:xfrm>
              <a:off x="1897705" y="1124812"/>
              <a:ext cx="476100" cy="1154900"/>
              <a:chOff x="1897705" y="1124812"/>
              <a:chExt cx="476100" cy="1154900"/>
            </a:xfrm>
          </p:grpSpPr>
          <p:sp>
            <p:nvSpPr>
              <p:cNvPr id="938" name="Google Shape;938;p102"/>
              <p:cNvSpPr/>
              <p:nvPr/>
            </p:nvSpPr>
            <p:spPr>
              <a:xfrm>
                <a:off x="1897705" y="18036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39" name="Google Shape;939;p102"/>
              <p:cNvSpPr/>
              <p:nvPr/>
            </p:nvSpPr>
            <p:spPr>
              <a:xfrm>
                <a:off x="1897705" y="11248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cxnSp>
        <p:nvCxnSpPr>
          <p:cNvPr id="940" name="Google Shape;940;p102"/>
          <p:cNvCxnSpPr>
            <a:endCxn id="931" idx="3"/>
          </p:cNvCxnSpPr>
          <p:nvPr/>
        </p:nvCxnSpPr>
        <p:spPr>
          <a:xfrm flipH="1" rot="10800000">
            <a:off x="7282901" y="224428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41" name="Google Shape;941;p102"/>
          <p:cNvCxnSpPr>
            <a:stCxn id="932" idx="7"/>
            <a:endCxn id="930" idx="1"/>
          </p:cNvCxnSpPr>
          <p:nvPr/>
        </p:nvCxnSpPr>
        <p:spPr>
          <a:xfrm>
            <a:off x="7283006" y="278026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42" name="Google Shape;942;p102"/>
          <p:cNvCxnSpPr>
            <a:endCxn id="936" idx="2"/>
          </p:cNvCxnSpPr>
          <p:nvPr/>
        </p:nvCxnSpPr>
        <p:spPr>
          <a:xfrm flipH="1" rot="10800000">
            <a:off x="8082192" y="1729837"/>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943" name="Google Shape;943;p102"/>
          <p:cNvCxnSpPr>
            <a:endCxn id="935" idx="2"/>
          </p:cNvCxnSpPr>
          <p:nvPr/>
        </p:nvCxnSpPr>
        <p:spPr>
          <a:xfrm>
            <a:off x="8082192" y="2244237"/>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944" name="Google Shape;944;p102"/>
          <p:cNvSpPr txBox="1"/>
          <p:nvPr/>
        </p:nvSpPr>
        <p:spPr>
          <a:xfrm rot="-2701531">
            <a:off x="7221491" y="2230891"/>
            <a:ext cx="476236"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7%</a:t>
            </a:r>
            <a:endParaRPr sz="800">
              <a:latin typeface="Fira Code"/>
              <a:ea typeface="Fira Code"/>
              <a:cs typeface="Fira Code"/>
              <a:sym typeface="Fira Code"/>
            </a:endParaRPr>
          </a:p>
        </p:txBody>
      </p:sp>
      <p:cxnSp>
        <p:nvCxnSpPr>
          <p:cNvPr id="945" name="Google Shape;945;p102"/>
          <p:cNvCxnSpPr>
            <a:endCxn id="939" idx="2"/>
          </p:cNvCxnSpPr>
          <p:nvPr/>
        </p:nvCxnSpPr>
        <p:spPr>
          <a:xfrm flipH="1" rot="10800000">
            <a:off x="8082255" y="3087437"/>
            <a:ext cx="465900" cy="164400"/>
          </a:xfrm>
          <a:prstGeom prst="straightConnector1">
            <a:avLst/>
          </a:prstGeom>
          <a:noFill/>
          <a:ln cap="flat" cmpd="sng" w="9525">
            <a:solidFill>
              <a:srgbClr val="000000"/>
            </a:solidFill>
            <a:prstDash val="solid"/>
            <a:round/>
            <a:headEnd len="med" w="med" type="none"/>
            <a:tailEnd len="med" w="med" type="triangle"/>
          </a:ln>
        </p:spPr>
      </p:cxnSp>
      <p:cxnSp>
        <p:nvCxnSpPr>
          <p:cNvPr id="946" name="Google Shape;946;p102"/>
          <p:cNvCxnSpPr>
            <a:stCxn id="930" idx="5"/>
            <a:endCxn id="938" idx="2"/>
          </p:cNvCxnSpPr>
          <p:nvPr/>
        </p:nvCxnSpPr>
        <p:spPr>
          <a:xfrm>
            <a:off x="8082154" y="3588414"/>
            <a:ext cx="465900" cy="177900"/>
          </a:xfrm>
          <a:prstGeom prst="straightConnector1">
            <a:avLst/>
          </a:prstGeom>
          <a:noFill/>
          <a:ln cap="flat" cmpd="sng" w="9525">
            <a:solidFill>
              <a:srgbClr val="000000"/>
            </a:solidFill>
            <a:prstDash val="solid"/>
            <a:round/>
            <a:headEnd len="med" w="med" type="none"/>
            <a:tailEnd len="med" w="med" type="triangle"/>
          </a:ln>
        </p:spPr>
      </p:cxnSp>
      <p:sp>
        <p:nvSpPr>
          <p:cNvPr id="947" name="Google Shape;947;p102"/>
          <p:cNvSpPr txBox="1"/>
          <p:nvPr/>
        </p:nvSpPr>
        <p:spPr>
          <a:xfrm rot="2696936">
            <a:off x="7207811" y="2973603"/>
            <a:ext cx="47602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93%</a:t>
            </a:r>
            <a:endParaRPr sz="800">
              <a:latin typeface="Fira Code"/>
              <a:ea typeface="Fira Code"/>
              <a:cs typeface="Fira Code"/>
              <a:sym typeface="Fira Code"/>
            </a:endParaRPr>
          </a:p>
        </p:txBody>
      </p:sp>
      <p:sp>
        <p:nvSpPr>
          <p:cNvPr id="948" name="Google Shape;948;p102"/>
          <p:cNvSpPr txBox="1"/>
          <p:nvPr/>
        </p:nvSpPr>
        <p:spPr>
          <a:xfrm rot="-1300283">
            <a:off x="8009709" y="1575642"/>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93.8%</a:t>
            </a:r>
            <a:endParaRPr sz="800">
              <a:latin typeface="Fira Code"/>
              <a:ea typeface="Fira Code"/>
              <a:cs typeface="Fira Code"/>
              <a:sym typeface="Fira Code"/>
            </a:endParaRPr>
          </a:p>
        </p:txBody>
      </p:sp>
      <p:sp>
        <p:nvSpPr>
          <p:cNvPr id="949" name="Google Shape;949;p102"/>
          <p:cNvSpPr txBox="1"/>
          <p:nvPr/>
        </p:nvSpPr>
        <p:spPr>
          <a:xfrm rot="1234884">
            <a:off x="8038334" y="2260886"/>
            <a:ext cx="476194"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6.2%</a:t>
            </a:r>
            <a:endParaRPr sz="800">
              <a:latin typeface="Fira Code"/>
              <a:ea typeface="Fira Code"/>
              <a:cs typeface="Fira Code"/>
              <a:sym typeface="Fira Code"/>
            </a:endParaRPr>
          </a:p>
        </p:txBody>
      </p:sp>
      <p:sp>
        <p:nvSpPr>
          <p:cNvPr id="950" name="Google Shape;950;p102"/>
          <p:cNvSpPr txBox="1"/>
          <p:nvPr/>
        </p:nvSpPr>
        <p:spPr>
          <a:xfrm rot="-1172528">
            <a:off x="8026881" y="2920559"/>
            <a:ext cx="476233"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4.4%</a:t>
            </a:r>
            <a:endParaRPr sz="800">
              <a:latin typeface="Fira Code"/>
              <a:ea typeface="Fira Code"/>
              <a:cs typeface="Fira Code"/>
              <a:sym typeface="Fira Code"/>
            </a:endParaRPr>
          </a:p>
        </p:txBody>
      </p:sp>
      <p:sp>
        <p:nvSpPr>
          <p:cNvPr id="951" name="Google Shape;951;p102"/>
          <p:cNvSpPr txBox="1"/>
          <p:nvPr/>
        </p:nvSpPr>
        <p:spPr>
          <a:xfrm rot="1183270">
            <a:off x="8039566" y="3618252"/>
            <a:ext cx="549426" cy="27699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95.6%</a:t>
            </a:r>
            <a:endParaRPr sz="800">
              <a:latin typeface="Fira Code"/>
              <a:ea typeface="Fira Code"/>
              <a:cs typeface="Fira Code"/>
              <a:sym typeface="Fira Code"/>
            </a:endParaRPr>
          </a:p>
        </p:txBody>
      </p:sp>
      <p:grpSp>
        <p:nvGrpSpPr>
          <p:cNvPr id="952" name="Google Shape;952;p102"/>
          <p:cNvGrpSpPr/>
          <p:nvPr/>
        </p:nvGrpSpPr>
        <p:grpSpPr>
          <a:xfrm>
            <a:off x="5779527" y="1731500"/>
            <a:ext cx="476100" cy="1820225"/>
            <a:chOff x="1091517" y="106612"/>
            <a:chExt cx="476100" cy="1820225"/>
          </a:xfrm>
        </p:grpSpPr>
        <p:sp>
          <p:nvSpPr>
            <p:cNvPr id="953" name="Google Shape;953;p102"/>
            <p:cNvSpPr/>
            <p:nvPr/>
          </p:nvSpPr>
          <p:spPr>
            <a:xfrm>
              <a:off x="1091517" y="145073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954" name="Google Shape;954;p102"/>
            <p:cNvSpPr/>
            <p:nvPr/>
          </p:nvSpPr>
          <p:spPr>
            <a:xfrm>
              <a:off x="1091517" y="1066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grpSp>
      <p:sp>
        <p:nvSpPr>
          <p:cNvPr id="955" name="Google Shape;955;p102"/>
          <p:cNvSpPr/>
          <p:nvPr/>
        </p:nvSpPr>
        <p:spPr>
          <a:xfrm rot="5400000">
            <a:off x="5308912" y="2596012"/>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102"/>
          <p:cNvGrpSpPr/>
          <p:nvPr/>
        </p:nvGrpSpPr>
        <p:grpSpPr>
          <a:xfrm>
            <a:off x="6635042" y="1385375"/>
            <a:ext cx="492963" cy="2512500"/>
            <a:chOff x="1880842" y="-232788"/>
            <a:chExt cx="492963" cy="2512500"/>
          </a:xfrm>
        </p:grpSpPr>
        <p:grpSp>
          <p:nvGrpSpPr>
            <p:cNvPr id="957" name="Google Shape;957;p102"/>
            <p:cNvGrpSpPr/>
            <p:nvPr/>
          </p:nvGrpSpPr>
          <p:grpSpPr>
            <a:xfrm>
              <a:off x="1880842" y="-232788"/>
              <a:ext cx="476100" cy="1154900"/>
              <a:chOff x="1880842" y="-232788"/>
              <a:chExt cx="476100" cy="1154900"/>
            </a:xfrm>
          </p:grpSpPr>
          <p:sp>
            <p:nvSpPr>
              <p:cNvPr id="958" name="Google Shape;958;p102"/>
              <p:cNvSpPr/>
              <p:nvPr/>
            </p:nvSpPr>
            <p:spPr>
              <a:xfrm>
                <a:off x="1880842" y="4460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59" name="Google Shape;959;p102"/>
              <p:cNvSpPr/>
              <p:nvPr/>
            </p:nvSpPr>
            <p:spPr>
              <a:xfrm>
                <a:off x="1880842" y="-232788"/>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nvGrpSpPr>
            <p:cNvPr id="960" name="Google Shape;960;p102"/>
            <p:cNvGrpSpPr/>
            <p:nvPr/>
          </p:nvGrpSpPr>
          <p:grpSpPr>
            <a:xfrm>
              <a:off x="1897705" y="1124812"/>
              <a:ext cx="476100" cy="1154900"/>
              <a:chOff x="1897705" y="1124812"/>
              <a:chExt cx="476100" cy="1154900"/>
            </a:xfrm>
          </p:grpSpPr>
          <p:sp>
            <p:nvSpPr>
              <p:cNvPr id="961" name="Google Shape;961;p102"/>
              <p:cNvSpPr/>
              <p:nvPr/>
            </p:nvSpPr>
            <p:spPr>
              <a:xfrm>
                <a:off x="1897705" y="18036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962" name="Google Shape;962;p102"/>
              <p:cNvSpPr/>
              <p:nvPr/>
            </p:nvSpPr>
            <p:spPr>
              <a:xfrm>
                <a:off x="1897705" y="11248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grpSp>
      </p:grpSp>
      <p:cxnSp>
        <p:nvCxnSpPr>
          <p:cNvPr id="963" name="Google Shape;963;p102"/>
          <p:cNvCxnSpPr>
            <a:endCxn id="954" idx="3"/>
          </p:cNvCxnSpPr>
          <p:nvPr/>
        </p:nvCxnSpPr>
        <p:spPr>
          <a:xfrm flipH="1" rot="10800000">
            <a:off x="5386651" y="2137877"/>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64" name="Google Shape;964;p102"/>
          <p:cNvCxnSpPr>
            <a:stCxn id="955" idx="7"/>
            <a:endCxn id="953" idx="1"/>
          </p:cNvCxnSpPr>
          <p:nvPr/>
        </p:nvCxnSpPr>
        <p:spPr>
          <a:xfrm>
            <a:off x="5386756" y="2673856"/>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965" name="Google Shape;965;p102"/>
          <p:cNvCxnSpPr>
            <a:endCxn id="959" idx="2"/>
          </p:cNvCxnSpPr>
          <p:nvPr/>
        </p:nvCxnSpPr>
        <p:spPr>
          <a:xfrm flipH="1" rot="10800000">
            <a:off x="6185942" y="1623425"/>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966" name="Google Shape;966;p102"/>
          <p:cNvCxnSpPr>
            <a:endCxn id="958" idx="2"/>
          </p:cNvCxnSpPr>
          <p:nvPr/>
        </p:nvCxnSpPr>
        <p:spPr>
          <a:xfrm>
            <a:off x="6185942" y="2137825"/>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967" name="Google Shape;967;p102"/>
          <p:cNvSpPr txBox="1"/>
          <p:nvPr/>
        </p:nvSpPr>
        <p:spPr>
          <a:xfrm rot="-2701385">
            <a:off x="5282062" y="2142451"/>
            <a:ext cx="52672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r>
              <a:rPr lang="en" sz="800">
                <a:latin typeface="Fira Code"/>
                <a:ea typeface="Fira Code"/>
                <a:cs typeface="Fira Code"/>
                <a:sym typeface="Fira Code"/>
              </a:rPr>
              <a:t>%</a:t>
            </a:r>
            <a:endParaRPr sz="800">
              <a:latin typeface="Fira Code"/>
              <a:ea typeface="Fira Code"/>
              <a:cs typeface="Fira Code"/>
              <a:sym typeface="Fira Code"/>
            </a:endParaRPr>
          </a:p>
        </p:txBody>
      </p:sp>
      <p:cxnSp>
        <p:nvCxnSpPr>
          <p:cNvPr id="968" name="Google Shape;968;p102"/>
          <p:cNvCxnSpPr>
            <a:endCxn id="962" idx="2"/>
          </p:cNvCxnSpPr>
          <p:nvPr/>
        </p:nvCxnSpPr>
        <p:spPr>
          <a:xfrm flipH="1" rot="10800000">
            <a:off x="6186005" y="2981025"/>
            <a:ext cx="465900" cy="164400"/>
          </a:xfrm>
          <a:prstGeom prst="straightConnector1">
            <a:avLst/>
          </a:prstGeom>
          <a:noFill/>
          <a:ln cap="flat" cmpd="sng" w="9525">
            <a:solidFill>
              <a:srgbClr val="000000"/>
            </a:solidFill>
            <a:prstDash val="solid"/>
            <a:round/>
            <a:headEnd len="med" w="med" type="none"/>
            <a:tailEnd len="med" w="med" type="triangle"/>
          </a:ln>
        </p:spPr>
      </p:cxnSp>
      <p:cxnSp>
        <p:nvCxnSpPr>
          <p:cNvPr id="969" name="Google Shape;969;p102"/>
          <p:cNvCxnSpPr>
            <a:stCxn id="953" idx="5"/>
            <a:endCxn id="961" idx="2"/>
          </p:cNvCxnSpPr>
          <p:nvPr/>
        </p:nvCxnSpPr>
        <p:spPr>
          <a:xfrm>
            <a:off x="6185904" y="3482002"/>
            <a:ext cx="465900" cy="177900"/>
          </a:xfrm>
          <a:prstGeom prst="straightConnector1">
            <a:avLst/>
          </a:prstGeom>
          <a:noFill/>
          <a:ln cap="flat" cmpd="sng" w="9525">
            <a:solidFill>
              <a:srgbClr val="000000"/>
            </a:solidFill>
            <a:prstDash val="solid"/>
            <a:round/>
            <a:headEnd len="med" w="med" type="none"/>
            <a:tailEnd len="med" w="med" type="triangle"/>
          </a:ln>
        </p:spPr>
      </p:cxnSp>
      <p:sp>
        <p:nvSpPr>
          <p:cNvPr id="970" name="Google Shape;970;p102"/>
          <p:cNvSpPr txBox="1"/>
          <p:nvPr/>
        </p:nvSpPr>
        <p:spPr>
          <a:xfrm rot="2697239">
            <a:off x="5266926" y="2848727"/>
            <a:ext cx="528209"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38.3</a:t>
            </a:r>
            <a:r>
              <a:rPr lang="en" sz="800">
                <a:latin typeface="Fira Code"/>
                <a:ea typeface="Fira Code"/>
                <a:cs typeface="Fira Code"/>
                <a:sym typeface="Fira Code"/>
              </a:rPr>
              <a:t>%</a:t>
            </a:r>
            <a:endParaRPr sz="800">
              <a:latin typeface="Fira Code"/>
              <a:ea typeface="Fira Code"/>
              <a:cs typeface="Fira Code"/>
              <a:sym typeface="Fira Code"/>
            </a:endParaRPr>
          </a:p>
        </p:txBody>
      </p:sp>
      <p:sp>
        <p:nvSpPr>
          <p:cNvPr id="971" name="Google Shape;971;p102"/>
          <p:cNvSpPr txBox="1"/>
          <p:nvPr/>
        </p:nvSpPr>
        <p:spPr>
          <a:xfrm rot="-1300283">
            <a:off x="6113459" y="1469229"/>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100</a:t>
            </a:r>
            <a:r>
              <a:rPr lang="en" sz="800">
                <a:latin typeface="Fira Code"/>
                <a:ea typeface="Fira Code"/>
                <a:cs typeface="Fira Code"/>
                <a:sym typeface="Fira Code"/>
              </a:rPr>
              <a:t>%</a:t>
            </a:r>
            <a:endParaRPr sz="800">
              <a:latin typeface="Fira Code"/>
              <a:ea typeface="Fira Code"/>
              <a:cs typeface="Fira Code"/>
              <a:sym typeface="Fira Code"/>
            </a:endParaRPr>
          </a:p>
        </p:txBody>
      </p:sp>
      <p:sp>
        <p:nvSpPr>
          <p:cNvPr id="972" name="Google Shape;972;p102"/>
          <p:cNvSpPr txBox="1"/>
          <p:nvPr/>
        </p:nvSpPr>
        <p:spPr>
          <a:xfrm rot="1234884">
            <a:off x="6142084" y="2154473"/>
            <a:ext cx="476194"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r>
              <a:rPr lang="en" sz="800">
                <a:latin typeface="Fira Code"/>
                <a:ea typeface="Fira Code"/>
                <a:cs typeface="Fira Code"/>
                <a:sym typeface="Fira Code"/>
              </a:rPr>
              <a:t>%</a:t>
            </a:r>
            <a:endParaRPr sz="800">
              <a:latin typeface="Fira Code"/>
              <a:ea typeface="Fira Code"/>
              <a:cs typeface="Fira Code"/>
              <a:sym typeface="Fira Code"/>
            </a:endParaRPr>
          </a:p>
        </p:txBody>
      </p:sp>
      <p:sp>
        <p:nvSpPr>
          <p:cNvPr id="973" name="Google Shape;973;p102"/>
          <p:cNvSpPr txBox="1"/>
          <p:nvPr/>
        </p:nvSpPr>
        <p:spPr>
          <a:xfrm rot="-1172528">
            <a:off x="6130631" y="2814147"/>
            <a:ext cx="476233"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100</a:t>
            </a:r>
            <a:r>
              <a:rPr lang="en" sz="800">
                <a:latin typeface="Fira Code"/>
                <a:ea typeface="Fira Code"/>
                <a:cs typeface="Fira Code"/>
                <a:sym typeface="Fira Code"/>
              </a:rPr>
              <a:t>%</a:t>
            </a:r>
            <a:endParaRPr sz="800">
              <a:latin typeface="Fira Code"/>
              <a:ea typeface="Fira Code"/>
              <a:cs typeface="Fira Code"/>
              <a:sym typeface="Fira Code"/>
            </a:endParaRPr>
          </a:p>
        </p:txBody>
      </p:sp>
      <p:sp>
        <p:nvSpPr>
          <p:cNvPr id="974" name="Google Shape;974;p102"/>
          <p:cNvSpPr txBox="1"/>
          <p:nvPr/>
        </p:nvSpPr>
        <p:spPr>
          <a:xfrm rot="1183270">
            <a:off x="6143316" y="3511839"/>
            <a:ext cx="549426" cy="27699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800">
                <a:latin typeface="Fira Code"/>
                <a:ea typeface="Fira Code"/>
                <a:cs typeface="Fira Code"/>
                <a:sym typeface="Fira Code"/>
              </a:rPr>
              <a:t>0</a:t>
            </a:r>
            <a:r>
              <a:rPr lang="en" sz="800">
                <a:latin typeface="Fira Code"/>
                <a:ea typeface="Fira Code"/>
                <a:cs typeface="Fira Code"/>
                <a:sym typeface="Fira Code"/>
              </a:rPr>
              <a:t>%</a:t>
            </a:r>
            <a:endParaRPr sz="800">
              <a:latin typeface="Fira Code"/>
              <a:ea typeface="Fira Code"/>
              <a:cs typeface="Fira Code"/>
              <a:sym typeface="Fira Code"/>
            </a:endParaRPr>
          </a:p>
        </p:txBody>
      </p:sp>
      <p:pic>
        <p:nvPicPr>
          <p:cNvPr id="975" name="Google Shape;975;p102"/>
          <p:cNvPicPr preferRelativeResize="0"/>
          <p:nvPr/>
        </p:nvPicPr>
        <p:blipFill>
          <a:blip r:embed="rId3">
            <a:alphaModFix/>
          </a:blip>
          <a:stretch>
            <a:fillRect/>
          </a:stretch>
        </p:blipFill>
        <p:spPr>
          <a:xfrm>
            <a:off x="155921" y="2714621"/>
            <a:ext cx="2643155" cy="271603"/>
          </a:xfrm>
          <a:prstGeom prst="rect">
            <a:avLst/>
          </a:prstGeom>
          <a:noFill/>
          <a:ln>
            <a:noFill/>
          </a:ln>
        </p:spPr>
      </p:pic>
      <p:pic>
        <p:nvPicPr>
          <p:cNvPr id="976" name="Google Shape;976;p102"/>
          <p:cNvPicPr preferRelativeResize="0"/>
          <p:nvPr/>
        </p:nvPicPr>
        <p:blipFill>
          <a:blip r:embed="rId4">
            <a:alphaModFix/>
          </a:blip>
          <a:stretch>
            <a:fillRect/>
          </a:stretch>
        </p:blipFill>
        <p:spPr>
          <a:xfrm>
            <a:off x="155930" y="3064918"/>
            <a:ext cx="4292642" cy="271603"/>
          </a:xfrm>
          <a:prstGeom prst="rect">
            <a:avLst/>
          </a:prstGeom>
          <a:noFill/>
          <a:ln>
            <a:noFill/>
          </a:ln>
        </p:spPr>
      </p:pic>
      <p:pic>
        <p:nvPicPr>
          <p:cNvPr id="977" name="Google Shape;977;p102"/>
          <p:cNvPicPr preferRelativeResize="0"/>
          <p:nvPr/>
        </p:nvPicPr>
        <p:blipFill>
          <a:blip r:embed="rId5">
            <a:alphaModFix/>
          </a:blip>
          <a:stretch>
            <a:fillRect/>
          </a:stretch>
        </p:blipFill>
        <p:spPr>
          <a:xfrm>
            <a:off x="155930" y="3368895"/>
            <a:ext cx="4292642" cy="271603"/>
          </a:xfrm>
          <a:prstGeom prst="rect">
            <a:avLst/>
          </a:prstGeom>
          <a:noFill/>
          <a:ln>
            <a:noFill/>
          </a:ln>
        </p:spPr>
      </p:pic>
      <p:pic>
        <p:nvPicPr>
          <p:cNvPr id="978" name="Google Shape;978;p102"/>
          <p:cNvPicPr preferRelativeResize="0"/>
          <p:nvPr/>
        </p:nvPicPr>
        <p:blipFill>
          <a:blip r:embed="rId6">
            <a:alphaModFix/>
          </a:blip>
          <a:stretch>
            <a:fillRect/>
          </a:stretch>
        </p:blipFill>
        <p:spPr>
          <a:xfrm>
            <a:off x="155925" y="1506069"/>
            <a:ext cx="4038049" cy="336504"/>
          </a:xfrm>
          <a:prstGeom prst="rect">
            <a:avLst/>
          </a:prstGeom>
          <a:noFill/>
          <a:ln>
            <a:noFill/>
          </a:ln>
        </p:spPr>
      </p:pic>
      <p:pic>
        <p:nvPicPr>
          <p:cNvPr id="979" name="Google Shape;979;p102"/>
          <p:cNvPicPr preferRelativeResize="0"/>
          <p:nvPr/>
        </p:nvPicPr>
        <p:blipFill>
          <a:blip r:embed="rId7">
            <a:alphaModFix/>
          </a:blip>
          <a:stretch>
            <a:fillRect/>
          </a:stretch>
        </p:blipFill>
        <p:spPr>
          <a:xfrm>
            <a:off x="349113" y="4452763"/>
            <a:ext cx="6162675" cy="2952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sp>
        <p:nvSpPr>
          <p:cNvPr id="984" name="Google Shape;984;p10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Rules</a:t>
            </a:r>
            <a:endParaRPr/>
          </a:p>
        </p:txBody>
      </p:sp>
      <p:sp>
        <p:nvSpPr>
          <p:cNvPr id="985" name="Google Shape;985;p103"/>
          <p:cNvSpPr txBox="1"/>
          <p:nvPr/>
        </p:nvSpPr>
        <p:spPr>
          <a:xfrm>
            <a:off x="373000" y="1560725"/>
            <a:ext cx="845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Bayes Rule corresponds to a minimal update!</a:t>
            </a:r>
            <a:endParaRPr>
              <a:latin typeface="Google Sans"/>
              <a:ea typeface="Google Sans"/>
              <a:cs typeface="Google Sans"/>
              <a:sym typeface="Google Sans"/>
            </a:endParaRPr>
          </a:p>
        </p:txBody>
      </p:sp>
      <p:sp>
        <p:nvSpPr>
          <p:cNvPr id="986" name="Google Shape;986;p103"/>
          <p:cNvSpPr/>
          <p:nvPr/>
        </p:nvSpPr>
        <p:spPr>
          <a:xfrm>
            <a:off x="1472192" y="1999112"/>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987" name="Google Shape;987;p103"/>
          <p:cNvSpPr/>
          <p:nvPr/>
        </p:nvSpPr>
        <p:spPr>
          <a:xfrm>
            <a:off x="1472192" y="26065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988" name="Google Shape;988;p103"/>
          <p:cNvSpPr/>
          <p:nvPr/>
        </p:nvSpPr>
        <p:spPr>
          <a:xfrm>
            <a:off x="1472192" y="31861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989" name="Google Shape;989;p103"/>
          <p:cNvSpPr/>
          <p:nvPr/>
        </p:nvSpPr>
        <p:spPr>
          <a:xfrm>
            <a:off x="1472192" y="3765787"/>
            <a:ext cx="476100" cy="476100"/>
          </a:xfrm>
          <a:prstGeom prst="ellipse">
            <a:avLst/>
          </a:prstGeom>
          <a:solidFill>
            <a:srgbClr val="1F77B4">
              <a:alpha val="4693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990" name="Google Shape;990;p103"/>
          <p:cNvCxnSpPr>
            <a:stCxn id="991" idx="0"/>
            <a:endCxn id="986" idx="2"/>
          </p:cNvCxnSpPr>
          <p:nvPr/>
        </p:nvCxnSpPr>
        <p:spPr>
          <a:xfrm flipH="1" rot="10800000">
            <a:off x="464212" y="2237168"/>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992" name="Google Shape;992;p103"/>
          <p:cNvCxnSpPr>
            <a:stCxn id="991" idx="0"/>
            <a:endCxn id="987" idx="2"/>
          </p:cNvCxnSpPr>
          <p:nvPr/>
        </p:nvCxnSpPr>
        <p:spPr>
          <a:xfrm flipH="1" rot="10800000">
            <a:off x="464212" y="2844668"/>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993" name="Google Shape;993;p103"/>
          <p:cNvCxnSpPr>
            <a:stCxn id="991" idx="0"/>
            <a:endCxn id="988" idx="2"/>
          </p:cNvCxnSpPr>
          <p:nvPr/>
        </p:nvCxnSpPr>
        <p:spPr>
          <a:xfrm>
            <a:off x="464212" y="3120968"/>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994" name="Google Shape;994;p103"/>
          <p:cNvCxnSpPr>
            <a:stCxn id="991" idx="0"/>
            <a:endCxn id="989" idx="2"/>
          </p:cNvCxnSpPr>
          <p:nvPr/>
        </p:nvCxnSpPr>
        <p:spPr>
          <a:xfrm>
            <a:off x="464212" y="3120968"/>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991" name="Google Shape;991;p103"/>
          <p:cNvSpPr/>
          <p:nvPr/>
        </p:nvSpPr>
        <p:spPr>
          <a:xfrm rot="5400000">
            <a:off x="373012" y="3075368"/>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103"/>
          <p:cNvSpPr txBox="1"/>
          <p:nvPr/>
        </p:nvSpPr>
        <p:spPr>
          <a:xfrm rot="-2455691">
            <a:off x="817744" y="2298200"/>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6.6%</a:t>
            </a:r>
            <a:endParaRPr sz="800">
              <a:latin typeface="Fira Code"/>
              <a:ea typeface="Fira Code"/>
              <a:cs typeface="Fira Code"/>
              <a:sym typeface="Fira Code"/>
            </a:endParaRPr>
          </a:p>
        </p:txBody>
      </p:sp>
      <p:sp>
        <p:nvSpPr>
          <p:cNvPr id="996" name="Google Shape;996;p103"/>
          <p:cNvSpPr txBox="1"/>
          <p:nvPr/>
        </p:nvSpPr>
        <p:spPr>
          <a:xfrm rot="-909060">
            <a:off x="860274" y="2706208"/>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0.4%</a:t>
            </a:r>
            <a:endParaRPr sz="800">
              <a:latin typeface="Fira Code"/>
              <a:ea typeface="Fira Code"/>
              <a:cs typeface="Fira Code"/>
              <a:sym typeface="Fira Code"/>
            </a:endParaRPr>
          </a:p>
        </p:txBody>
      </p:sp>
      <p:sp>
        <p:nvSpPr>
          <p:cNvPr id="997" name="Google Shape;997;p103"/>
          <p:cNvSpPr txBox="1"/>
          <p:nvPr/>
        </p:nvSpPr>
        <p:spPr>
          <a:xfrm rot="1032743">
            <a:off x="860296" y="3069890"/>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4.1%</a:t>
            </a:r>
            <a:endParaRPr sz="800">
              <a:latin typeface="Fira Code"/>
              <a:ea typeface="Fira Code"/>
              <a:cs typeface="Fira Code"/>
              <a:sym typeface="Fira Code"/>
            </a:endParaRPr>
          </a:p>
        </p:txBody>
      </p:sp>
      <p:sp>
        <p:nvSpPr>
          <p:cNvPr id="998" name="Google Shape;998;p103"/>
          <p:cNvSpPr txBox="1"/>
          <p:nvPr/>
        </p:nvSpPr>
        <p:spPr>
          <a:xfrm rot="2490578">
            <a:off x="817821" y="3424090"/>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88.9%</a:t>
            </a:r>
            <a:endParaRPr sz="800">
              <a:latin typeface="Fira Code"/>
              <a:ea typeface="Fira Code"/>
              <a:cs typeface="Fira Code"/>
              <a:sym typeface="Fira Code"/>
            </a:endParaRPr>
          </a:p>
        </p:txBody>
      </p:sp>
      <p:sp>
        <p:nvSpPr>
          <p:cNvPr id="999" name="Google Shape;999;p103"/>
          <p:cNvSpPr/>
          <p:nvPr/>
        </p:nvSpPr>
        <p:spPr>
          <a:xfrm>
            <a:off x="7456527" y="345553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1000" name="Google Shape;1000;p103"/>
          <p:cNvSpPr/>
          <p:nvPr/>
        </p:nvSpPr>
        <p:spPr>
          <a:xfrm>
            <a:off x="7456527" y="21114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1001" name="Google Shape;1001;p103"/>
          <p:cNvSpPr/>
          <p:nvPr/>
        </p:nvSpPr>
        <p:spPr>
          <a:xfrm rot="5400000">
            <a:off x="6985912" y="2975925"/>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03"/>
          <p:cNvSpPr/>
          <p:nvPr/>
        </p:nvSpPr>
        <p:spPr>
          <a:xfrm>
            <a:off x="8312042" y="24440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1003" name="Google Shape;1003;p103"/>
          <p:cNvSpPr/>
          <p:nvPr/>
        </p:nvSpPr>
        <p:spPr>
          <a:xfrm>
            <a:off x="8312042" y="17652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cxnSp>
        <p:nvCxnSpPr>
          <p:cNvPr id="1004" name="Google Shape;1004;p103"/>
          <p:cNvCxnSpPr>
            <a:endCxn id="1000" idx="3"/>
          </p:cNvCxnSpPr>
          <p:nvPr/>
        </p:nvCxnSpPr>
        <p:spPr>
          <a:xfrm flipH="1" rot="10800000">
            <a:off x="7063651" y="251778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1005" name="Google Shape;1005;p103"/>
          <p:cNvCxnSpPr>
            <a:stCxn id="1001" idx="7"/>
            <a:endCxn id="999" idx="1"/>
          </p:cNvCxnSpPr>
          <p:nvPr/>
        </p:nvCxnSpPr>
        <p:spPr>
          <a:xfrm>
            <a:off x="7063756" y="3053769"/>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1006" name="Google Shape;1006;p103"/>
          <p:cNvCxnSpPr>
            <a:endCxn id="1003" idx="2"/>
          </p:cNvCxnSpPr>
          <p:nvPr/>
        </p:nvCxnSpPr>
        <p:spPr>
          <a:xfrm flipH="1" rot="10800000">
            <a:off x="7862942" y="2003337"/>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1007" name="Google Shape;1007;p103"/>
          <p:cNvCxnSpPr>
            <a:endCxn id="1002" idx="2"/>
          </p:cNvCxnSpPr>
          <p:nvPr/>
        </p:nvCxnSpPr>
        <p:spPr>
          <a:xfrm>
            <a:off x="7862942" y="2517737"/>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1008" name="Google Shape;1008;p103"/>
          <p:cNvSpPr txBox="1"/>
          <p:nvPr/>
        </p:nvSpPr>
        <p:spPr>
          <a:xfrm rot="-2701531">
            <a:off x="7002241" y="2504391"/>
            <a:ext cx="476236"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100%</a:t>
            </a:r>
            <a:endParaRPr sz="800">
              <a:latin typeface="Fira Code"/>
              <a:ea typeface="Fira Code"/>
              <a:cs typeface="Fira Code"/>
              <a:sym typeface="Fira Code"/>
            </a:endParaRPr>
          </a:p>
        </p:txBody>
      </p:sp>
      <p:cxnSp>
        <p:nvCxnSpPr>
          <p:cNvPr id="1009" name="Google Shape;1009;p103"/>
          <p:cNvCxnSpPr>
            <a:endCxn id="1010" idx="2"/>
          </p:cNvCxnSpPr>
          <p:nvPr/>
        </p:nvCxnSpPr>
        <p:spPr>
          <a:xfrm flipH="1" rot="10800000">
            <a:off x="7862942" y="3363137"/>
            <a:ext cx="449100" cy="162300"/>
          </a:xfrm>
          <a:prstGeom prst="straightConnector1">
            <a:avLst/>
          </a:prstGeom>
          <a:noFill/>
          <a:ln cap="flat" cmpd="sng" w="9525">
            <a:solidFill>
              <a:srgbClr val="000000"/>
            </a:solidFill>
            <a:prstDash val="solid"/>
            <a:round/>
            <a:headEnd len="med" w="med" type="none"/>
            <a:tailEnd len="med" w="med" type="triangle"/>
          </a:ln>
        </p:spPr>
      </p:cxnSp>
      <p:cxnSp>
        <p:nvCxnSpPr>
          <p:cNvPr id="1011" name="Google Shape;1011;p103"/>
          <p:cNvCxnSpPr>
            <a:stCxn id="999" idx="5"/>
            <a:endCxn id="1012" idx="2"/>
          </p:cNvCxnSpPr>
          <p:nvPr/>
        </p:nvCxnSpPr>
        <p:spPr>
          <a:xfrm>
            <a:off x="7862904" y="3861914"/>
            <a:ext cx="449100" cy="180000"/>
          </a:xfrm>
          <a:prstGeom prst="straightConnector1">
            <a:avLst/>
          </a:prstGeom>
          <a:noFill/>
          <a:ln cap="flat" cmpd="sng" w="9525">
            <a:solidFill>
              <a:srgbClr val="000000"/>
            </a:solidFill>
            <a:prstDash val="solid"/>
            <a:round/>
            <a:headEnd len="med" w="med" type="none"/>
            <a:tailEnd len="med" w="med" type="triangle"/>
          </a:ln>
        </p:spPr>
      </p:cxnSp>
      <p:sp>
        <p:nvSpPr>
          <p:cNvPr id="1013" name="Google Shape;1013;p103"/>
          <p:cNvSpPr txBox="1"/>
          <p:nvPr/>
        </p:nvSpPr>
        <p:spPr>
          <a:xfrm rot="2696936">
            <a:off x="6988561" y="3247103"/>
            <a:ext cx="47602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
        <p:nvSpPr>
          <p:cNvPr id="1014" name="Google Shape;1014;p103"/>
          <p:cNvSpPr txBox="1"/>
          <p:nvPr/>
        </p:nvSpPr>
        <p:spPr>
          <a:xfrm rot="-1300283">
            <a:off x="7790459" y="1849142"/>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sp>
        <p:nvSpPr>
          <p:cNvPr id="1015" name="Google Shape;1015;p103"/>
          <p:cNvSpPr txBox="1"/>
          <p:nvPr/>
        </p:nvSpPr>
        <p:spPr>
          <a:xfrm rot="1235041">
            <a:off x="7818205" y="2539187"/>
            <a:ext cx="503441"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38.4%</a:t>
            </a:r>
            <a:endParaRPr sz="800">
              <a:latin typeface="Fira Code"/>
              <a:ea typeface="Fira Code"/>
              <a:cs typeface="Fira Code"/>
              <a:sym typeface="Fira Code"/>
            </a:endParaRPr>
          </a:p>
        </p:txBody>
      </p:sp>
      <p:sp>
        <p:nvSpPr>
          <p:cNvPr id="1016" name="Google Shape;1016;p103"/>
          <p:cNvSpPr txBox="1"/>
          <p:nvPr/>
        </p:nvSpPr>
        <p:spPr>
          <a:xfrm rot="1183270">
            <a:off x="7820316" y="3891752"/>
            <a:ext cx="549426" cy="27699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95.9%</a:t>
            </a:r>
            <a:endParaRPr sz="800">
              <a:latin typeface="Fira Code"/>
              <a:ea typeface="Fira Code"/>
              <a:cs typeface="Fira Code"/>
              <a:sym typeface="Fira Code"/>
            </a:endParaRPr>
          </a:p>
        </p:txBody>
      </p:sp>
      <p:sp>
        <p:nvSpPr>
          <p:cNvPr id="1017" name="Google Shape;1017;p103"/>
          <p:cNvSpPr txBox="1"/>
          <p:nvPr/>
        </p:nvSpPr>
        <p:spPr>
          <a:xfrm rot="-1173326">
            <a:off x="7806099" y="3185210"/>
            <a:ext cx="528802"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4.1%</a:t>
            </a:r>
            <a:endParaRPr sz="800">
              <a:latin typeface="Fira Code"/>
              <a:ea typeface="Fira Code"/>
              <a:cs typeface="Fira Code"/>
              <a:sym typeface="Fira Code"/>
            </a:endParaRPr>
          </a:p>
        </p:txBody>
      </p:sp>
      <p:sp>
        <p:nvSpPr>
          <p:cNvPr id="1012" name="Google Shape;1012;p103"/>
          <p:cNvSpPr/>
          <p:nvPr/>
        </p:nvSpPr>
        <p:spPr>
          <a:xfrm>
            <a:off x="8312042" y="38038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1010" name="Google Shape;1010;p103"/>
          <p:cNvSpPr/>
          <p:nvPr/>
        </p:nvSpPr>
        <p:spPr>
          <a:xfrm>
            <a:off x="8312042" y="31250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1018" name="Google Shape;1018;p103"/>
          <p:cNvSpPr/>
          <p:nvPr/>
        </p:nvSpPr>
        <p:spPr>
          <a:xfrm>
            <a:off x="5211027" y="3421062"/>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1019" name="Google Shape;1019;p103"/>
          <p:cNvSpPr/>
          <p:nvPr/>
        </p:nvSpPr>
        <p:spPr>
          <a:xfrm>
            <a:off x="5211027" y="2076937"/>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T</a:t>
            </a:r>
            <a:endParaRPr>
              <a:latin typeface="Fira Code"/>
              <a:ea typeface="Fira Code"/>
              <a:cs typeface="Fira Code"/>
              <a:sym typeface="Fira Code"/>
            </a:endParaRPr>
          </a:p>
        </p:txBody>
      </p:sp>
      <p:sp>
        <p:nvSpPr>
          <p:cNvPr id="1020" name="Google Shape;1020;p103"/>
          <p:cNvSpPr/>
          <p:nvPr/>
        </p:nvSpPr>
        <p:spPr>
          <a:xfrm rot="5400000">
            <a:off x="4740412" y="2941450"/>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103"/>
          <p:cNvSpPr/>
          <p:nvPr/>
        </p:nvSpPr>
        <p:spPr>
          <a:xfrm>
            <a:off x="6066542" y="2409612"/>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1022" name="Google Shape;1022;p103"/>
          <p:cNvSpPr/>
          <p:nvPr/>
        </p:nvSpPr>
        <p:spPr>
          <a:xfrm>
            <a:off x="6066542" y="1730812"/>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cxnSp>
        <p:nvCxnSpPr>
          <p:cNvPr id="1023" name="Google Shape;1023;p103"/>
          <p:cNvCxnSpPr>
            <a:endCxn id="1019" idx="3"/>
          </p:cNvCxnSpPr>
          <p:nvPr/>
        </p:nvCxnSpPr>
        <p:spPr>
          <a:xfrm flipH="1" rot="10800000">
            <a:off x="4818151" y="2483314"/>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1024" name="Google Shape;1024;p103"/>
          <p:cNvCxnSpPr>
            <a:stCxn id="1020" idx="7"/>
            <a:endCxn id="1018" idx="1"/>
          </p:cNvCxnSpPr>
          <p:nvPr/>
        </p:nvCxnSpPr>
        <p:spPr>
          <a:xfrm>
            <a:off x="4818256" y="3019294"/>
            <a:ext cx="462600" cy="471600"/>
          </a:xfrm>
          <a:prstGeom prst="straightConnector1">
            <a:avLst/>
          </a:prstGeom>
          <a:noFill/>
          <a:ln cap="flat" cmpd="sng" w="9525">
            <a:solidFill>
              <a:srgbClr val="000000"/>
            </a:solidFill>
            <a:prstDash val="solid"/>
            <a:round/>
            <a:headEnd len="med" w="med" type="none"/>
            <a:tailEnd len="med" w="med" type="triangle"/>
          </a:ln>
        </p:spPr>
      </p:cxnSp>
      <p:cxnSp>
        <p:nvCxnSpPr>
          <p:cNvPr id="1025" name="Google Shape;1025;p103"/>
          <p:cNvCxnSpPr>
            <a:endCxn id="1022" idx="2"/>
          </p:cNvCxnSpPr>
          <p:nvPr/>
        </p:nvCxnSpPr>
        <p:spPr>
          <a:xfrm flipH="1" rot="10800000">
            <a:off x="5617442" y="1968862"/>
            <a:ext cx="449100" cy="177900"/>
          </a:xfrm>
          <a:prstGeom prst="straightConnector1">
            <a:avLst/>
          </a:prstGeom>
          <a:noFill/>
          <a:ln cap="flat" cmpd="sng" w="9525">
            <a:solidFill>
              <a:srgbClr val="000000"/>
            </a:solidFill>
            <a:prstDash val="solid"/>
            <a:round/>
            <a:headEnd len="med" w="med" type="none"/>
            <a:tailEnd len="med" w="med" type="triangle"/>
          </a:ln>
        </p:spPr>
      </p:cxnSp>
      <p:cxnSp>
        <p:nvCxnSpPr>
          <p:cNvPr id="1026" name="Google Shape;1026;p103"/>
          <p:cNvCxnSpPr>
            <a:endCxn id="1021" idx="2"/>
          </p:cNvCxnSpPr>
          <p:nvPr/>
        </p:nvCxnSpPr>
        <p:spPr>
          <a:xfrm>
            <a:off x="5617442" y="2483262"/>
            <a:ext cx="449100" cy="164400"/>
          </a:xfrm>
          <a:prstGeom prst="straightConnector1">
            <a:avLst/>
          </a:prstGeom>
          <a:noFill/>
          <a:ln cap="flat" cmpd="sng" w="9525">
            <a:solidFill>
              <a:srgbClr val="000000"/>
            </a:solidFill>
            <a:prstDash val="solid"/>
            <a:round/>
            <a:headEnd len="med" w="med" type="none"/>
            <a:tailEnd len="med" w="med" type="triangle"/>
          </a:ln>
        </p:spPr>
      </p:cxnSp>
      <p:sp>
        <p:nvSpPr>
          <p:cNvPr id="1027" name="Google Shape;1027;p103"/>
          <p:cNvSpPr txBox="1"/>
          <p:nvPr/>
        </p:nvSpPr>
        <p:spPr>
          <a:xfrm rot="-2701327">
            <a:off x="4745982" y="2443975"/>
            <a:ext cx="549634"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10.7%</a:t>
            </a:r>
            <a:endParaRPr sz="800">
              <a:latin typeface="Fira Code"/>
              <a:ea typeface="Fira Code"/>
              <a:cs typeface="Fira Code"/>
              <a:sym typeface="Fira Code"/>
            </a:endParaRPr>
          </a:p>
        </p:txBody>
      </p:sp>
      <p:cxnSp>
        <p:nvCxnSpPr>
          <p:cNvPr id="1028" name="Google Shape;1028;p103"/>
          <p:cNvCxnSpPr>
            <a:endCxn id="1029" idx="2"/>
          </p:cNvCxnSpPr>
          <p:nvPr/>
        </p:nvCxnSpPr>
        <p:spPr>
          <a:xfrm flipH="1" rot="10800000">
            <a:off x="5617442" y="3328662"/>
            <a:ext cx="449100" cy="162300"/>
          </a:xfrm>
          <a:prstGeom prst="straightConnector1">
            <a:avLst/>
          </a:prstGeom>
          <a:noFill/>
          <a:ln cap="flat" cmpd="sng" w="9525">
            <a:solidFill>
              <a:srgbClr val="000000"/>
            </a:solidFill>
            <a:prstDash val="solid"/>
            <a:round/>
            <a:headEnd len="med" w="med" type="none"/>
            <a:tailEnd len="med" w="med" type="triangle"/>
          </a:ln>
        </p:spPr>
      </p:cxnSp>
      <p:cxnSp>
        <p:nvCxnSpPr>
          <p:cNvPr id="1030" name="Google Shape;1030;p103"/>
          <p:cNvCxnSpPr>
            <a:stCxn id="1018" idx="5"/>
            <a:endCxn id="1031" idx="2"/>
          </p:cNvCxnSpPr>
          <p:nvPr/>
        </p:nvCxnSpPr>
        <p:spPr>
          <a:xfrm>
            <a:off x="5617404" y="3827439"/>
            <a:ext cx="449100" cy="180000"/>
          </a:xfrm>
          <a:prstGeom prst="straightConnector1">
            <a:avLst/>
          </a:prstGeom>
          <a:noFill/>
          <a:ln cap="flat" cmpd="sng" w="9525">
            <a:solidFill>
              <a:srgbClr val="000000"/>
            </a:solidFill>
            <a:prstDash val="solid"/>
            <a:round/>
            <a:headEnd len="med" w="med" type="none"/>
            <a:tailEnd len="med" w="med" type="triangle"/>
          </a:ln>
        </p:spPr>
      </p:cxnSp>
      <p:sp>
        <p:nvSpPr>
          <p:cNvPr id="1032" name="Google Shape;1032;p103"/>
          <p:cNvSpPr txBox="1"/>
          <p:nvPr/>
        </p:nvSpPr>
        <p:spPr>
          <a:xfrm rot="2697425">
            <a:off x="4729826" y="3244578"/>
            <a:ext cx="566393" cy="27704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89.3%</a:t>
            </a:r>
            <a:endParaRPr sz="800">
              <a:latin typeface="Fira Code"/>
              <a:ea typeface="Fira Code"/>
              <a:cs typeface="Fira Code"/>
              <a:sym typeface="Fira Code"/>
            </a:endParaRPr>
          </a:p>
        </p:txBody>
      </p:sp>
      <p:sp>
        <p:nvSpPr>
          <p:cNvPr id="1033" name="Google Shape;1033;p103"/>
          <p:cNvSpPr txBox="1"/>
          <p:nvPr/>
        </p:nvSpPr>
        <p:spPr>
          <a:xfrm rot="-1300283">
            <a:off x="5544959" y="1814667"/>
            <a:ext cx="564608" cy="2768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sp>
        <p:nvSpPr>
          <p:cNvPr id="1034" name="Google Shape;1034;p103"/>
          <p:cNvSpPr txBox="1"/>
          <p:nvPr/>
        </p:nvSpPr>
        <p:spPr>
          <a:xfrm rot="1235041">
            <a:off x="5572705" y="2504712"/>
            <a:ext cx="503441" cy="276826"/>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38.4%</a:t>
            </a:r>
            <a:endParaRPr sz="800">
              <a:latin typeface="Fira Code"/>
              <a:ea typeface="Fira Code"/>
              <a:cs typeface="Fira Code"/>
              <a:sym typeface="Fira Code"/>
            </a:endParaRPr>
          </a:p>
        </p:txBody>
      </p:sp>
      <p:sp>
        <p:nvSpPr>
          <p:cNvPr id="1035" name="Google Shape;1035;p103"/>
          <p:cNvSpPr txBox="1"/>
          <p:nvPr/>
        </p:nvSpPr>
        <p:spPr>
          <a:xfrm rot="1183270">
            <a:off x="5574816" y="3857277"/>
            <a:ext cx="549426" cy="27699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95.9%</a:t>
            </a:r>
            <a:endParaRPr sz="800">
              <a:latin typeface="Fira Code"/>
              <a:ea typeface="Fira Code"/>
              <a:cs typeface="Fira Code"/>
              <a:sym typeface="Fira Code"/>
            </a:endParaRPr>
          </a:p>
        </p:txBody>
      </p:sp>
      <p:sp>
        <p:nvSpPr>
          <p:cNvPr id="1036" name="Google Shape;1036;p103"/>
          <p:cNvSpPr txBox="1"/>
          <p:nvPr/>
        </p:nvSpPr>
        <p:spPr>
          <a:xfrm rot="-1173326">
            <a:off x="5560599" y="3150735"/>
            <a:ext cx="528802"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4.1%</a:t>
            </a:r>
            <a:endParaRPr sz="800">
              <a:latin typeface="Fira Code"/>
              <a:ea typeface="Fira Code"/>
              <a:cs typeface="Fira Code"/>
              <a:sym typeface="Fira Code"/>
            </a:endParaRPr>
          </a:p>
        </p:txBody>
      </p:sp>
      <p:sp>
        <p:nvSpPr>
          <p:cNvPr id="1031" name="Google Shape;1031;p103"/>
          <p:cNvSpPr/>
          <p:nvPr/>
        </p:nvSpPr>
        <p:spPr>
          <a:xfrm>
            <a:off x="6066542" y="3769412"/>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sp>
        <p:nvSpPr>
          <p:cNvPr id="1029" name="Google Shape;1029;p103"/>
          <p:cNvSpPr/>
          <p:nvPr/>
        </p:nvSpPr>
        <p:spPr>
          <a:xfrm>
            <a:off x="6066542" y="3090612"/>
            <a:ext cx="476100" cy="476100"/>
          </a:xfrm>
          <a:prstGeom prst="ellipse">
            <a:avLst/>
          </a:prstGeom>
          <a:solidFill>
            <a:srgbClr val="1F77B4">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a:t>
            </a:r>
            <a:endParaRPr>
              <a:latin typeface="Fira Code"/>
              <a:ea typeface="Fira Code"/>
              <a:cs typeface="Fira Code"/>
              <a:sym typeface="Fira Code"/>
            </a:endParaRPr>
          </a:p>
        </p:txBody>
      </p:sp>
      <p:grpSp>
        <p:nvGrpSpPr>
          <p:cNvPr id="1037" name="Google Shape;1037;p103"/>
          <p:cNvGrpSpPr/>
          <p:nvPr/>
        </p:nvGrpSpPr>
        <p:grpSpPr>
          <a:xfrm>
            <a:off x="2312762" y="1968850"/>
            <a:ext cx="1575280" cy="2242775"/>
            <a:chOff x="6901612" y="2347312"/>
            <a:chExt cx="1575280" cy="2242775"/>
          </a:xfrm>
        </p:grpSpPr>
        <p:sp>
          <p:nvSpPr>
            <p:cNvPr id="1038" name="Google Shape;1038;p103"/>
            <p:cNvSpPr/>
            <p:nvPr/>
          </p:nvSpPr>
          <p:spPr>
            <a:xfrm rot="5400000">
              <a:off x="6901612" y="3423568"/>
              <a:ext cx="91200" cy="912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9" name="Google Shape;1039;p103"/>
            <p:cNvGrpSpPr/>
            <p:nvPr/>
          </p:nvGrpSpPr>
          <p:grpSpPr>
            <a:xfrm>
              <a:off x="6992812" y="2347312"/>
              <a:ext cx="1484080" cy="2242775"/>
              <a:chOff x="6992812" y="2347312"/>
              <a:chExt cx="1484080" cy="2242775"/>
            </a:xfrm>
          </p:grpSpPr>
          <p:sp>
            <p:nvSpPr>
              <p:cNvPr id="1040" name="Google Shape;1040;p103"/>
              <p:cNvSpPr/>
              <p:nvPr/>
            </p:nvSpPr>
            <p:spPr>
              <a:xfrm>
                <a:off x="8000792" y="2347312"/>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1041" name="Google Shape;1041;p103"/>
              <p:cNvSpPr/>
              <p:nvPr/>
            </p:nvSpPr>
            <p:spPr>
              <a:xfrm>
                <a:off x="8000792" y="29547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1042" name="Google Shape;1042;p103"/>
              <p:cNvSpPr/>
              <p:nvPr/>
            </p:nvSpPr>
            <p:spPr>
              <a:xfrm>
                <a:off x="8000792" y="35343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sp>
            <p:nvSpPr>
              <p:cNvPr id="1043" name="Google Shape;1043;p103"/>
              <p:cNvSpPr/>
              <p:nvPr/>
            </p:nvSpPr>
            <p:spPr>
              <a:xfrm>
                <a:off x="8000792" y="4113987"/>
                <a:ext cx="476100" cy="476100"/>
              </a:xfrm>
              <a:prstGeom prst="ellipse">
                <a:avLst/>
              </a:prstGeom>
              <a:solidFill>
                <a:srgbClr val="FF7F0E">
                  <a:alpha val="46670"/>
                </a:srgbClr>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Fira Code"/>
                    <a:ea typeface="Fira Code"/>
                    <a:cs typeface="Fira Code"/>
                    <a:sym typeface="Fira Code"/>
                  </a:rPr>
                  <a:t>D̅T̅</a:t>
                </a:r>
                <a:endParaRPr sz="1000">
                  <a:latin typeface="Fira Code"/>
                  <a:ea typeface="Fira Code"/>
                  <a:cs typeface="Fira Code"/>
                  <a:sym typeface="Fira Code"/>
                </a:endParaRPr>
              </a:p>
            </p:txBody>
          </p:sp>
          <p:cxnSp>
            <p:nvCxnSpPr>
              <p:cNvPr id="1044" name="Google Shape;1044;p103"/>
              <p:cNvCxnSpPr>
                <a:stCxn id="1038" idx="0"/>
                <a:endCxn id="1040" idx="2"/>
              </p:cNvCxnSpPr>
              <p:nvPr/>
            </p:nvCxnSpPr>
            <p:spPr>
              <a:xfrm flipH="1" rot="10800000">
                <a:off x="6992812" y="2585368"/>
                <a:ext cx="1008000" cy="883800"/>
              </a:xfrm>
              <a:prstGeom prst="straightConnector1">
                <a:avLst/>
              </a:prstGeom>
              <a:noFill/>
              <a:ln cap="flat" cmpd="sng" w="9525">
                <a:solidFill>
                  <a:srgbClr val="000000"/>
                </a:solidFill>
                <a:prstDash val="solid"/>
                <a:round/>
                <a:headEnd len="med" w="med" type="none"/>
                <a:tailEnd len="med" w="med" type="triangle"/>
              </a:ln>
            </p:spPr>
          </p:cxnSp>
          <p:cxnSp>
            <p:nvCxnSpPr>
              <p:cNvPr id="1045" name="Google Shape;1045;p103"/>
              <p:cNvCxnSpPr>
                <a:stCxn id="1038" idx="0"/>
                <a:endCxn id="1041" idx="2"/>
              </p:cNvCxnSpPr>
              <p:nvPr/>
            </p:nvCxnSpPr>
            <p:spPr>
              <a:xfrm flipH="1" rot="10800000">
                <a:off x="6992812" y="3192868"/>
                <a:ext cx="1008000" cy="276300"/>
              </a:xfrm>
              <a:prstGeom prst="straightConnector1">
                <a:avLst/>
              </a:prstGeom>
              <a:noFill/>
              <a:ln cap="flat" cmpd="sng" w="9525">
                <a:solidFill>
                  <a:srgbClr val="000000"/>
                </a:solidFill>
                <a:prstDash val="solid"/>
                <a:round/>
                <a:headEnd len="med" w="med" type="none"/>
                <a:tailEnd len="med" w="med" type="triangle"/>
              </a:ln>
            </p:spPr>
          </p:cxnSp>
          <p:cxnSp>
            <p:nvCxnSpPr>
              <p:cNvPr id="1046" name="Google Shape;1046;p103"/>
              <p:cNvCxnSpPr>
                <a:stCxn id="1038" idx="0"/>
                <a:endCxn id="1042" idx="2"/>
              </p:cNvCxnSpPr>
              <p:nvPr/>
            </p:nvCxnSpPr>
            <p:spPr>
              <a:xfrm>
                <a:off x="6992812" y="3469168"/>
                <a:ext cx="1008000" cy="303300"/>
              </a:xfrm>
              <a:prstGeom prst="straightConnector1">
                <a:avLst/>
              </a:prstGeom>
              <a:noFill/>
              <a:ln cap="flat" cmpd="sng" w="9525">
                <a:solidFill>
                  <a:srgbClr val="000000"/>
                </a:solidFill>
                <a:prstDash val="solid"/>
                <a:round/>
                <a:headEnd len="med" w="med" type="none"/>
                <a:tailEnd len="med" w="med" type="triangle"/>
              </a:ln>
            </p:spPr>
          </p:cxnSp>
          <p:cxnSp>
            <p:nvCxnSpPr>
              <p:cNvPr id="1047" name="Google Shape;1047;p103"/>
              <p:cNvCxnSpPr>
                <a:stCxn id="1038" idx="0"/>
                <a:endCxn id="1043" idx="2"/>
              </p:cNvCxnSpPr>
              <p:nvPr/>
            </p:nvCxnSpPr>
            <p:spPr>
              <a:xfrm>
                <a:off x="6992812" y="3469168"/>
                <a:ext cx="1008000" cy="882900"/>
              </a:xfrm>
              <a:prstGeom prst="straightConnector1">
                <a:avLst/>
              </a:prstGeom>
              <a:noFill/>
              <a:ln cap="flat" cmpd="sng" w="9525">
                <a:solidFill>
                  <a:srgbClr val="000000"/>
                </a:solidFill>
                <a:prstDash val="solid"/>
                <a:round/>
                <a:headEnd len="med" w="med" type="none"/>
                <a:tailEnd len="med" w="med" type="triangle"/>
              </a:ln>
            </p:spPr>
          </p:cxnSp>
          <p:sp>
            <p:nvSpPr>
              <p:cNvPr id="1048" name="Google Shape;1048;p103"/>
              <p:cNvSpPr txBox="1"/>
              <p:nvPr/>
            </p:nvSpPr>
            <p:spPr>
              <a:xfrm rot="-2455691">
                <a:off x="7346344" y="2646400"/>
                <a:ext cx="564636" cy="276915"/>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61.6%</a:t>
                </a:r>
                <a:endParaRPr sz="800">
                  <a:latin typeface="Fira Code"/>
                  <a:ea typeface="Fira Code"/>
                  <a:cs typeface="Fira Code"/>
                  <a:sym typeface="Fira Code"/>
                </a:endParaRPr>
              </a:p>
            </p:txBody>
          </p:sp>
          <p:sp>
            <p:nvSpPr>
              <p:cNvPr id="1049" name="Google Shape;1049;p103"/>
              <p:cNvSpPr txBox="1"/>
              <p:nvPr/>
            </p:nvSpPr>
            <p:spPr>
              <a:xfrm rot="-909060">
                <a:off x="7388874" y="3054408"/>
                <a:ext cx="564730" cy="27682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sp>
            <p:nvSpPr>
              <p:cNvPr id="1050" name="Google Shape;1050;p103"/>
              <p:cNvSpPr txBox="1"/>
              <p:nvPr/>
            </p:nvSpPr>
            <p:spPr>
              <a:xfrm rot="1032743">
                <a:off x="7388896" y="3418090"/>
                <a:ext cx="564690" cy="277074"/>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38.4%</a:t>
                </a:r>
                <a:endParaRPr sz="800">
                  <a:latin typeface="Fira Code"/>
                  <a:ea typeface="Fira Code"/>
                  <a:cs typeface="Fira Code"/>
                  <a:sym typeface="Fira Code"/>
                </a:endParaRPr>
              </a:p>
            </p:txBody>
          </p:sp>
          <p:sp>
            <p:nvSpPr>
              <p:cNvPr id="1051" name="Google Shape;1051;p103"/>
              <p:cNvSpPr txBox="1"/>
              <p:nvPr/>
            </p:nvSpPr>
            <p:spPr>
              <a:xfrm rot="2490578">
                <a:off x="7346421" y="3772290"/>
                <a:ext cx="564470" cy="276691"/>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latin typeface="Fira Code"/>
                    <a:ea typeface="Fira Code"/>
                    <a:cs typeface="Fira Code"/>
                    <a:sym typeface="Fira Code"/>
                  </a:rPr>
                  <a:t>0%</a:t>
                </a:r>
                <a:endParaRPr sz="800">
                  <a:latin typeface="Fira Code"/>
                  <a:ea typeface="Fira Code"/>
                  <a:cs typeface="Fira Code"/>
                  <a:sym typeface="Fira Code"/>
                </a:endParaRPr>
              </a:p>
            </p:txBody>
          </p:sp>
        </p:grpSp>
      </p:grpSp>
      <p:pic>
        <p:nvPicPr>
          <p:cNvPr id="1052" name="Google Shape;1052;p103"/>
          <p:cNvPicPr preferRelativeResize="0"/>
          <p:nvPr/>
        </p:nvPicPr>
        <p:blipFill>
          <a:blip r:embed="rId3">
            <a:alphaModFix/>
          </a:blip>
          <a:stretch>
            <a:fillRect/>
          </a:stretch>
        </p:blipFill>
        <p:spPr>
          <a:xfrm>
            <a:off x="4708376" y="4478233"/>
            <a:ext cx="2380681" cy="250915"/>
          </a:xfrm>
          <a:prstGeom prst="rect">
            <a:avLst/>
          </a:prstGeom>
          <a:noFill/>
          <a:ln>
            <a:noFill/>
          </a:ln>
        </p:spPr>
      </p:pic>
      <p:pic>
        <p:nvPicPr>
          <p:cNvPr id="1053" name="Google Shape;1053;p103"/>
          <p:cNvPicPr preferRelativeResize="0"/>
          <p:nvPr/>
        </p:nvPicPr>
        <p:blipFill>
          <a:blip r:embed="rId4">
            <a:alphaModFix/>
          </a:blip>
          <a:stretch>
            <a:fillRect/>
          </a:stretch>
        </p:blipFill>
        <p:spPr>
          <a:xfrm>
            <a:off x="1391575" y="4345379"/>
            <a:ext cx="3011041" cy="250915"/>
          </a:xfrm>
          <a:prstGeom prst="rect">
            <a:avLst/>
          </a:prstGeom>
          <a:noFill/>
          <a:ln>
            <a:noFill/>
          </a:ln>
        </p:spPr>
      </p:pic>
      <p:pic>
        <p:nvPicPr>
          <p:cNvPr id="1054" name="Google Shape;1054;p103"/>
          <p:cNvPicPr preferRelativeResize="0"/>
          <p:nvPr/>
        </p:nvPicPr>
        <p:blipFill>
          <a:blip r:embed="rId5">
            <a:alphaModFix/>
          </a:blip>
          <a:stretch>
            <a:fillRect/>
          </a:stretch>
        </p:blipFill>
        <p:spPr>
          <a:xfrm>
            <a:off x="4571037" y="4803527"/>
            <a:ext cx="2600697" cy="222602"/>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0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Chain Rule</a:t>
            </a:r>
            <a:endParaRPr/>
          </a:p>
        </p:txBody>
      </p:sp>
      <p:pic>
        <p:nvPicPr>
          <p:cNvPr id="1060" name="Google Shape;1060;p104"/>
          <p:cNvPicPr preferRelativeResize="0"/>
          <p:nvPr/>
        </p:nvPicPr>
        <p:blipFill>
          <a:blip r:embed="rId3">
            <a:alphaModFix/>
          </a:blip>
          <a:stretch>
            <a:fillRect/>
          </a:stretch>
        </p:blipFill>
        <p:spPr>
          <a:xfrm>
            <a:off x="152425" y="1765625"/>
            <a:ext cx="8839201" cy="256432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10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Hobson</a:t>
            </a:r>
            <a:endParaRPr/>
          </a:p>
        </p:txBody>
      </p:sp>
      <p:pic>
        <p:nvPicPr>
          <p:cNvPr id="1066" name="Google Shape;1066;p105"/>
          <p:cNvPicPr preferRelativeResize="0"/>
          <p:nvPr/>
        </p:nvPicPr>
        <p:blipFill>
          <a:blip r:embed="rId3">
            <a:alphaModFix/>
          </a:blip>
          <a:stretch>
            <a:fillRect/>
          </a:stretch>
        </p:blipFill>
        <p:spPr>
          <a:xfrm>
            <a:off x="2100288" y="1626400"/>
            <a:ext cx="4943475" cy="29146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10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Hobson</a:t>
            </a:r>
            <a:endParaRPr/>
          </a:p>
        </p:txBody>
      </p:sp>
      <p:sp>
        <p:nvSpPr>
          <p:cNvPr id="1072" name="Google Shape;1072;p106"/>
          <p:cNvSpPr txBox="1"/>
          <p:nvPr/>
        </p:nvSpPr>
        <p:spPr>
          <a:xfrm>
            <a:off x="320250" y="1494525"/>
            <a:ext cx="85206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Relative Entropy is unique given some reasonable axiomatic requirements.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We want our measure of information gain to be:</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317500" lvl="0" marL="457200" rtl="0" algn="l">
              <a:spcBef>
                <a:spcPts val="0"/>
              </a:spcBef>
              <a:spcAft>
                <a:spcPts val="0"/>
              </a:spcAft>
              <a:buSzPts val="1400"/>
              <a:buFont typeface="Google Sans"/>
              <a:buAutoNum type="arabicPeriod"/>
            </a:pPr>
            <a:r>
              <a:rPr i="1" lang="en">
                <a:latin typeface="Google Sans"/>
                <a:ea typeface="Google Sans"/>
                <a:cs typeface="Google Sans"/>
                <a:sym typeface="Google Sans"/>
              </a:rPr>
              <a:t>Continuous</a:t>
            </a:r>
            <a:r>
              <a:rPr lang="en">
                <a:latin typeface="Google Sans"/>
                <a:ea typeface="Google Sans"/>
                <a:cs typeface="Google Sans"/>
                <a:sym typeface="Google Sans"/>
              </a:rPr>
              <a:t>.  Small changes in the distributions should correspond to small changes in the information gain.</a:t>
            </a:r>
            <a:endParaRPr>
              <a:latin typeface="Google Sans"/>
              <a:ea typeface="Google Sans"/>
              <a:cs typeface="Google Sans"/>
              <a:sym typeface="Google Sans"/>
            </a:endParaRPr>
          </a:p>
          <a:p>
            <a:pPr indent="-317500" lvl="0" marL="457200" rtl="0" algn="l">
              <a:spcBef>
                <a:spcPts val="0"/>
              </a:spcBef>
              <a:spcAft>
                <a:spcPts val="0"/>
              </a:spcAft>
              <a:buSzPts val="1400"/>
              <a:buFont typeface="Google Sans"/>
              <a:buAutoNum type="arabicPeriod"/>
            </a:pPr>
            <a:r>
              <a:rPr i="1" lang="en">
                <a:latin typeface="Google Sans"/>
                <a:ea typeface="Google Sans"/>
                <a:cs typeface="Google Sans"/>
                <a:sym typeface="Google Sans"/>
              </a:rPr>
              <a:t>Reparameterization Independent</a:t>
            </a:r>
            <a:r>
              <a:rPr lang="en">
                <a:latin typeface="Google Sans"/>
                <a:ea typeface="Google Sans"/>
                <a:cs typeface="Google Sans"/>
                <a:sym typeface="Google Sans"/>
              </a:rPr>
              <a:t>.  Changing our coordinate system shouldn't have an effect on our measurement.</a:t>
            </a:r>
            <a:endParaRPr>
              <a:latin typeface="Google Sans"/>
              <a:ea typeface="Google Sans"/>
              <a:cs typeface="Google Sans"/>
              <a:sym typeface="Google Sans"/>
            </a:endParaRPr>
          </a:p>
          <a:p>
            <a:pPr indent="-317500" lvl="0" marL="457200" rtl="0" algn="l">
              <a:spcBef>
                <a:spcPts val="0"/>
              </a:spcBef>
              <a:spcAft>
                <a:spcPts val="0"/>
              </a:spcAft>
              <a:buSzPts val="1400"/>
              <a:buFont typeface="Google Sans"/>
              <a:buAutoNum type="arabicPeriod"/>
            </a:pPr>
            <a:r>
              <a:rPr i="1" lang="en">
                <a:latin typeface="Google Sans"/>
                <a:ea typeface="Google Sans"/>
                <a:cs typeface="Google Sans"/>
                <a:sym typeface="Google Sans"/>
              </a:rPr>
              <a:t>Non-negative</a:t>
            </a:r>
            <a:r>
              <a:rPr lang="en">
                <a:latin typeface="Google Sans"/>
                <a:ea typeface="Google Sans"/>
                <a:cs typeface="Google Sans"/>
                <a:sym typeface="Google Sans"/>
              </a:rPr>
              <a:t>.  Should always be positive.</a:t>
            </a:r>
            <a:endParaRPr>
              <a:latin typeface="Google Sans"/>
              <a:ea typeface="Google Sans"/>
              <a:cs typeface="Google Sans"/>
              <a:sym typeface="Google Sans"/>
            </a:endParaRPr>
          </a:p>
          <a:p>
            <a:pPr indent="-317500" lvl="0" marL="457200" rtl="0" algn="l">
              <a:spcBef>
                <a:spcPts val="0"/>
              </a:spcBef>
              <a:spcAft>
                <a:spcPts val="0"/>
              </a:spcAft>
              <a:buSzPts val="1400"/>
              <a:buFont typeface="Google Sans"/>
              <a:buAutoNum type="arabicPeriod"/>
            </a:pPr>
            <a:r>
              <a:rPr i="1" lang="en">
                <a:latin typeface="Google Sans"/>
                <a:ea typeface="Google Sans"/>
                <a:cs typeface="Google Sans"/>
                <a:sym typeface="Google Sans"/>
              </a:rPr>
              <a:t>Monotonic</a:t>
            </a:r>
            <a:r>
              <a:rPr lang="en">
                <a:latin typeface="Google Sans"/>
                <a:ea typeface="Google Sans"/>
                <a:cs typeface="Google Sans"/>
                <a:sym typeface="Google Sans"/>
              </a:rPr>
              <a:t>. In a natural way, restricting to fewer and fewer things should be a larger and larger change.</a:t>
            </a:r>
            <a:endParaRPr>
              <a:latin typeface="Google Sans"/>
              <a:ea typeface="Google Sans"/>
              <a:cs typeface="Google Sans"/>
              <a:sym typeface="Google Sans"/>
            </a:endParaRPr>
          </a:p>
          <a:p>
            <a:pPr indent="-317500" lvl="0" marL="457200" rtl="0" algn="l">
              <a:spcBef>
                <a:spcPts val="0"/>
              </a:spcBef>
              <a:spcAft>
                <a:spcPts val="0"/>
              </a:spcAft>
              <a:buSzPts val="1400"/>
              <a:buFont typeface="Google Sans"/>
              <a:buAutoNum type="arabicPeriod"/>
            </a:pPr>
            <a:r>
              <a:rPr lang="en">
                <a:latin typeface="Google Sans"/>
                <a:ea typeface="Google Sans"/>
                <a:cs typeface="Google Sans"/>
                <a:sym typeface="Google Sans"/>
              </a:rPr>
              <a:t>Satisfy a natural </a:t>
            </a:r>
            <a:r>
              <a:rPr i="1" lang="en">
                <a:latin typeface="Google Sans"/>
                <a:ea typeface="Google Sans"/>
                <a:cs typeface="Google Sans"/>
                <a:sym typeface="Google Sans"/>
              </a:rPr>
              <a:t>additive</a:t>
            </a:r>
            <a:r>
              <a:rPr lang="en">
                <a:latin typeface="Google Sans"/>
                <a:ea typeface="Google Sans"/>
                <a:cs typeface="Google Sans"/>
                <a:sym typeface="Google Sans"/>
              </a:rPr>
              <a:t> </a:t>
            </a:r>
            <a:r>
              <a:rPr i="1" lang="en">
                <a:latin typeface="Google Sans"/>
                <a:ea typeface="Google Sans"/>
                <a:cs typeface="Google Sans"/>
                <a:sym typeface="Google Sans"/>
              </a:rPr>
              <a:t>chain rule.  </a:t>
            </a:r>
            <a:r>
              <a:rPr lang="en">
                <a:latin typeface="Google Sans"/>
                <a:ea typeface="Google Sans"/>
                <a:cs typeface="Google Sans"/>
                <a:sym typeface="Google Sans"/>
              </a:rPr>
              <a:t>If we decompose our probability into steps, we should get the same answer.</a:t>
            </a:r>
            <a:endParaRPr>
              <a:latin typeface="Google Sans"/>
              <a:ea typeface="Google Sans"/>
              <a:cs typeface="Google Sans"/>
              <a:sym typeface="Google Sans"/>
            </a:endParaRPr>
          </a:p>
        </p:txBody>
      </p:sp>
      <p:sp>
        <p:nvSpPr>
          <p:cNvPr id="1073" name="Google Shape;1073;p106"/>
          <p:cNvSpPr txBox="1"/>
          <p:nvPr/>
        </p:nvSpPr>
        <p:spPr>
          <a:xfrm>
            <a:off x="274850" y="4603625"/>
            <a:ext cx="852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latin typeface="Google Sans"/>
                <a:ea typeface="Google Sans"/>
                <a:cs typeface="Google Sans"/>
                <a:sym typeface="Google Sans"/>
              </a:rPr>
              <a:t>The Relative Entropy is the only function to satisfy all of these requirements.</a:t>
            </a:r>
            <a:endParaRPr i="1" sz="1600">
              <a:latin typeface="Google Sans"/>
              <a:ea typeface="Google Sans"/>
              <a:cs typeface="Google Sans"/>
              <a:sym typeface="Google Sans"/>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p107"/>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is the Kullback-Leibler Divergence, a "distance" between distributions</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p10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Samples to Distinguish</a:t>
            </a:r>
            <a:endParaRPr/>
          </a:p>
        </p:txBody>
      </p:sp>
      <p:sp>
        <p:nvSpPr>
          <p:cNvPr id="1084" name="Google Shape;1084;p108"/>
          <p:cNvSpPr txBox="1"/>
          <p:nvPr/>
        </p:nvSpPr>
        <p:spPr>
          <a:xfrm>
            <a:off x="320250" y="1494525"/>
            <a:ext cx="85206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Relative Entropy is like a "distance" between distributions.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As the expected weight of evidence, it's how easy it would be to distinguish p from q if p were true.</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1085" name="Google Shape;1085;p108"/>
          <p:cNvPicPr preferRelativeResize="0"/>
          <p:nvPr/>
        </p:nvPicPr>
        <p:blipFill>
          <a:blip r:embed="rId3">
            <a:alphaModFix/>
          </a:blip>
          <a:stretch>
            <a:fillRect/>
          </a:stretch>
        </p:blipFill>
        <p:spPr>
          <a:xfrm>
            <a:off x="751175" y="2898650"/>
            <a:ext cx="2314575" cy="895350"/>
          </a:xfrm>
          <a:prstGeom prst="rect">
            <a:avLst/>
          </a:prstGeom>
          <a:noFill/>
          <a:ln>
            <a:noFill/>
          </a:ln>
        </p:spPr>
      </p:pic>
      <p:pic>
        <p:nvPicPr>
          <p:cNvPr id="1086" name="Google Shape;1086;p108"/>
          <p:cNvPicPr preferRelativeResize="0"/>
          <p:nvPr/>
        </p:nvPicPr>
        <p:blipFill>
          <a:blip r:embed="rId4">
            <a:alphaModFix/>
          </a:blip>
          <a:stretch>
            <a:fillRect/>
          </a:stretch>
        </p:blipFill>
        <p:spPr>
          <a:xfrm>
            <a:off x="5727775" y="3184400"/>
            <a:ext cx="2171700" cy="323850"/>
          </a:xfrm>
          <a:prstGeom prst="rect">
            <a:avLst/>
          </a:prstGeom>
          <a:noFill/>
          <a:ln>
            <a:noFill/>
          </a:ln>
        </p:spPr>
      </p:pic>
      <p:sp>
        <p:nvSpPr>
          <p:cNvPr id="1087" name="Google Shape;1087;p108"/>
          <p:cNvSpPr txBox="1"/>
          <p:nvPr/>
        </p:nvSpPr>
        <p:spPr>
          <a:xfrm>
            <a:off x="206125" y="4234575"/>
            <a:ext cx="1020900" cy="523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2200">
                <a:latin typeface="Google Sans"/>
                <a:ea typeface="Google Sans"/>
                <a:cs typeface="Google Sans"/>
                <a:sym typeface="Google Sans"/>
              </a:rPr>
              <a:t>Births:</a:t>
            </a:r>
            <a:endParaRPr sz="2200">
              <a:latin typeface="Google Sans"/>
              <a:ea typeface="Google Sans"/>
              <a:cs typeface="Google Sans"/>
              <a:sym typeface="Google Sans"/>
            </a:endParaRPr>
          </a:p>
        </p:txBody>
      </p:sp>
      <p:pic>
        <p:nvPicPr>
          <p:cNvPr id="1088" name="Google Shape;1088;p108"/>
          <p:cNvPicPr preferRelativeResize="0"/>
          <p:nvPr/>
        </p:nvPicPr>
        <p:blipFill>
          <a:blip r:embed="rId5">
            <a:alphaModFix/>
          </a:blip>
          <a:stretch>
            <a:fillRect/>
          </a:stretch>
        </p:blipFill>
        <p:spPr>
          <a:xfrm>
            <a:off x="1227025" y="4202800"/>
            <a:ext cx="7606975" cy="5867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p109"/>
          <p:cNvSpPr txBox="1"/>
          <p:nvPr>
            <p:ph type="title"/>
          </p:nvPr>
        </p:nvSpPr>
        <p:spPr>
          <a:xfrm>
            <a:off x="311725" y="500925"/>
            <a:ext cx="3127500" cy="1829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KL Divergence is asymmetric</a:t>
            </a:r>
            <a:endParaRPr/>
          </a:p>
        </p:txBody>
      </p:sp>
      <p:pic>
        <p:nvPicPr>
          <p:cNvPr id="1094" name="Google Shape;1094;p109" title="klmovie.mp4">
            <a:hlinkClick r:id="rId3"/>
          </p:cNvPr>
          <p:cNvPicPr preferRelativeResize="0"/>
          <p:nvPr/>
        </p:nvPicPr>
        <p:blipFill>
          <a:blip r:embed="rId4">
            <a:alphaModFix/>
          </a:blip>
          <a:stretch>
            <a:fillRect/>
          </a:stretch>
        </p:blipFill>
        <p:spPr>
          <a:xfrm>
            <a:off x="4177200" y="608650"/>
            <a:ext cx="4572000" cy="3429000"/>
          </a:xfrm>
          <a:prstGeom prst="rect">
            <a:avLst/>
          </a:prstGeom>
          <a:noFill/>
          <a:ln>
            <a:noFill/>
          </a:ln>
          <a:effectLst>
            <a:outerShdw blurRad="57150" rotWithShape="0" algn="bl" dir="5400000" dist="19050">
              <a:srgbClr val="000000">
                <a:alpha val="50000"/>
              </a:srgbClr>
            </a:outerShdw>
          </a:effectLst>
        </p:spPr>
      </p:pic>
      <p:sp>
        <p:nvSpPr>
          <p:cNvPr id="1095" name="Google Shape;1095;p109"/>
          <p:cNvSpPr txBox="1"/>
          <p:nvPr/>
        </p:nvSpPr>
        <p:spPr>
          <a:xfrm>
            <a:off x="4177200" y="4312200"/>
            <a:ext cx="4826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u="sng">
                <a:solidFill>
                  <a:schemeClr val="hlink"/>
                </a:solidFill>
                <a:latin typeface="Source Code Pro"/>
                <a:ea typeface="Source Code Pro"/>
                <a:cs typeface="Source Code Pro"/>
                <a:sym typeface="Source Code Pro"/>
                <a:hlinkClick r:id="rId5"/>
              </a:rPr>
              <a:t>https://twitter.com/ari_seff/status/1303741288911638530</a:t>
            </a:r>
            <a:endParaRPr sz="1100">
              <a:latin typeface="Source Code Pro"/>
              <a:ea typeface="Source Code Pro"/>
              <a:cs typeface="Source Code Pro"/>
              <a:sym typeface="Source Code Pr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1000"/>
                                        <p:tgtEl>
                                          <p:spTgt spid="1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1000"/>
                                        <p:tgtEl>
                                          <p:spTgt spid="10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11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Principle For Learning</a:t>
            </a:r>
            <a:endParaRPr/>
          </a:p>
        </p:txBody>
      </p:sp>
      <p:sp>
        <p:nvSpPr>
          <p:cNvPr id="1101" name="Google Shape;1101;p110"/>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Make it hard to tell the difference between the real world and your model.</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1102" name="Google Shape;1102;p110"/>
          <p:cNvPicPr preferRelativeResize="0"/>
          <p:nvPr/>
        </p:nvPicPr>
        <p:blipFill>
          <a:blip r:embed="rId3">
            <a:alphaModFix/>
          </a:blip>
          <a:stretch>
            <a:fillRect/>
          </a:stretch>
        </p:blipFill>
        <p:spPr>
          <a:xfrm>
            <a:off x="3085125" y="2056400"/>
            <a:ext cx="2990850" cy="390525"/>
          </a:xfrm>
          <a:prstGeom prst="rect">
            <a:avLst/>
          </a:prstGeom>
          <a:noFill/>
          <a:ln>
            <a:noFill/>
          </a:ln>
        </p:spPr>
      </p:pic>
      <p:pic>
        <p:nvPicPr>
          <p:cNvPr id="1103" name="Google Shape;1103;p110"/>
          <p:cNvPicPr preferRelativeResize="0"/>
          <p:nvPr/>
        </p:nvPicPr>
        <p:blipFill>
          <a:blip r:embed="rId4">
            <a:alphaModFix/>
          </a:blip>
          <a:stretch>
            <a:fillRect/>
          </a:stretch>
        </p:blipFill>
        <p:spPr>
          <a:xfrm>
            <a:off x="2642213" y="2628775"/>
            <a:ext cx="3876675" cy="942975"/>
          </a:xfrm>
          <a:prstGeom prst="rect">
            <a:avLst/>
          </a:prstGeom>
          <a:noFill/>
          <a:ln>
            <a:noFill/>
          </a:ln>
        </p:spPr>
      </p:pic>
      <p:pic>
        <p:nvPicPr>
          <p:cNvPr id="1104" name="Google Shape;1104;p110"/>
          <p:cNvPicPr preferRelativeResize="0"/>
          <p:nvPr/>
        </p:nvPicPr>
        <p:blipFill>
          <a:blip r:embed="rId5">
            <a:alphaModFix/>
          </a:blip>
          <a:stretch>
            <a:fillRect/>
          </a:stretch>
        </p:blipFill>
        <p:spPr>
          <a:xfrm>
            <a:off x="152400" y="3724150"/>
            <a:ext cx="8839201" cy="721419"/>
          </a:xfrm>
          <a:prstGeom prst="rect">
            <a:avLst/>
          </a:prstGeom>
          <a:noFill/>
          <a:ln>
            <a:noFill/>
          </a:ln>
        </p:spPr>
      </p:pic>
      <p:sp>
        <p:nvSpPr>
          <p:cNvPr id="1105" name="Google Shape;1105;p110"/>
          <p:cNvSpPr txBox="1"/>
          <p:nvPr/>
        </p:nvSpPr>
        <p:spPr>
          <a:xfrm>
            <a:off x="387725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-Data Entropy</a:t>
            </a:r>
            <a:endParaRPr>
              <a:solidFill>
                <a:schemeClr val="accent5"/>
              </a:solidFill>
              <a:latin typeface="Google Sans"/>
              <a:ea typeface="Google Sans"/>
              <a:cs typeface="Google Sans"/>
              <a:sym typeface="Google Sans"/>
            </a:endParaRPr>
          </a:p>
        </p:txBody>
      </p:sp>
      <p:sp>
        <p:nvSpPr>
          <p:cNvPr id="1106" name="Google Shape;1106;p110"/>
          <p:cNvSpPr txBox="1"/>
          <p:nvPr/>
        </p:nvSpPr>
        <p:spPr>
          <a:xfrm>
            <a:off x="690570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Cross Entropy</a:t>
            </a:r>
            <a:endParaRPr>
              <a:solidFill>
                <a:schemeClr val="accent4"/>
              </a:solidFill>
              <a:latin typeface="Google Sans"/>
              <a:ea typeface="Google Sans"/>
              <a:cs typeface="Google Sans"/>
              <a:sym typeface="Google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11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Maximum Likelihood</a:t>
            </a:r>
            <a:endParaRPr/>
          </a:p>
        </p:txBody>
      </p:sp>
      <p:sp>
        <p:nvSpPr>
          <p:cNvPr id="1112" name="Google Shape;1112;p111"/>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We don't have access to the true distribution of data, only samples.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sp>
        <p:nvSpPr>
          <p:cNvPr id="1113" name="Google Shape;1113;p111"/>
          <p:cNvSpPr txBox="1"/>
          <p:nvPr/>
        </p:nvSpPr>
        <p:spPr>
          <a:xfrm>
            <a:off x="7203750" y="3447475"/>
            <a:ext cx="1796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Empirical</a:t>
            </a:r>
            <a:r>
              <a:rPr lang="en">
                <a:solidFill>
                  <a:schemeClr val="accent4"/>
                </a:solidFill>
                <a:latin typeface="Google Sans"/>
                <a:ea typeface="Google Sans"/>
                <a:cs typeface="Google Sans"/>
                <a:sym typeface="Google Sans"/>
              </a:rPr>
              <a:t> </a:t>
            </a:r>
            <a:r>
              <a:rPr lang="en">
                <a:solidFill>
                  <a:schemeClr val="accent4"/>
                </a:solidFill>
                <a:latin typeface="Google Sans"/>
                <a:ea typeface="Google Sans"/>
                <a:cs typeface="Google Sans"/>
                <a:sym typeface="Google Sans"/>
              </a:rPr>
              <a:t>Cross Entropy</a:t>
            </a:r>
            <a:endParaRPr>
              <a:solidFill>
                <a:schemeClr val="accent4"/>
              </a:solidFill>
              <a:latin typeface="Google Sans"/>
              <a:ea typeface="Google Sans"/>
              <a:cs typeface="Google Sans"/>
              <a:sym typeface="Google Sans"/>
            </a:endParaRPr>
          </a:p>
        </p:txBody>
      </p:sp>
      <p:pic>
        <p:nvPicPr>
          <p:cNvPr id="1114" name="Google Shape;1114;p111"/>
          <p:cNvPicPr preferRelativeResize="0"/>
          <p:nvPr/>
        </p:nvPicPr>
        <p:blipFill>
          <a:blip r:embed="rId3">
            <a:alphaModFix/>
          </a:blip>
          <a:stretch>
            <a:fillRect/>
          </a:stretch>
        </p:blipFill>
        <p:spPr>
          <a:xfrm>
            <a:off x="6193800" y="1408350"/>
            <a:ext cx="2847950" cy="701775"/>
          </a:xfrm>
          <a:prstGeom prst="rect">
            <a:avLst/>
          </a:prstGeom>
          <a:noFill/>
          <a:ln>
            <a:noFill/>
          </a:ln>
        </p:spPr>
      </p:pic>
      <p:pic>
        <p:nvPicPr>
          <p:cNvPr id="1115" name="Google Shape;1115;p111"/>
          <p:cNvPicPr preferRelativeResize="0"/>
          <p:nvPr/>
        </p:nvPicPr>
        <p:blipFill>
          <a:blip r:embed="rId4">
            <a:alphaModFix/>
          </a:blip>
          <a:stretch>
            <a:fillRect/>
          </a:stretch>
        </p:blipFill>
        <p:spPr>
          <a:xfrm>
            <a:off x="160950" y="2696225"/>
            <a:ext cx="8839199" cy="693271"/>
          </a:xfrm>
          <a:prstGeom prst="rect">
            <a:avLst/>
          </a:prstGeom>
          <a:noFill/>
          <a:ln>
            <a:noFill/>
          </a:ln>
        </p:spPr>
      </p:pic>
      <p:pic>
        <p:nvPicPr>
          <p:cNvPr id="1116" name="Google Shape;1116;p111"/>
          <p:cNvPicPr preferRelativeResize="0"/>
          <p:nvPr/>
        </p:nvPicPr>
        <p:blipFill>
          <a:blip r:embed="rId5">
            <a:alphaModFix/>
          </a:blip>
          <a:stretch>
            <a:fillRect/>
          </a:stretch>
        </p:blipFill>
        <p:spPr>
          <a:xfrm>
            <a:off x="3695700" y="4190621"/>
            <a:ext cx="1752600" cy="619125"/>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11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 to a Uniform Distribution</a:t>
            </a:r>
            <a:endParaRPr/>
          </a:p>
        </p:txBody>
      </p:sp>
      <p:pic>
        <p:nvPicPr>
          <p:cNvPr id="1122" name="Google Shape;1122;p112"/>
          <p:cNvPicPr preferRelativeResize="0"/>
          <p:nvPr/>
        </p:nvPicPr>
        <p:blipFill>
          <a:blip r:embed="rId3">
            <a:alphaModFix/>
          </a:blip>
          <a:stretch>
            <a:fillRect/>
          </a:stretch>
        </p:blipFill>
        <p:spPr>
          <a:xfrm>
            <a:off x="152400" y="2030000"/>
            <a:ext cx="8839200" cy="957506"/>
          </a:xfrm>
          <a:prstGeom prst="rect">
            <a:avLst/>
          </a:prstGeom>
          <a:noFill/>
          <a:ln>
            <a:noFill/>
          </a:ln>
        </p:spPr>
      </p:pic>
      <p:sp>
        <p:nvSpPr>
          <p:cNvPr id="1123" name="Google Shape;1123;p112"/>
          <p:cNvSpPr txBox="1"/>
          <p:nvPr/>
        </p:nvSpPr>
        <p:spPr>
          <a:xfrm>
            <a:off x="107975" y="1423300"/>
            <a:ext cx="88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The uniform distribution is special, the Relative entropy with respect to the uniform distribution is special.</a:t>
            </a:r>
            <a:endParaRPr>
              <a:latin typeface="Google Sans"/>
              <a:ea typeface="Google Sans"/>
              <a:cs typeface="Google Sans"/>
              <a:sym typeface="Google Sans"/>
            </a:endParaRPr>
          </a:p>
        </p:txBody>
      </p:sp>
      <p:sp>
        <p:nvSpPr>
          <p:cNvPr id="1124" name="Google Shape;1124;p112"/>
          <p:cNvSpPr txBox="1"/>
          <p:nvPr/>
        </p:nvSpPr>
        <p:spPr>
          <a:xfrm>
            <a:off x="196325" y="3435550"/>
            <a:ext cx="3219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Entropy is a measure of how un-uniform a distribution is.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How easy it is is to distinguish it from a uniform distribution.</a:t>
            </a:r>
            <a:endParaRPr>
              <a:latin typeface="Google Sans"/>
              <a:ea typeface="Google Sans"/>
              <a:cs typeface="Google Sans"/>
              <a:sym typeface="Google Sans"/>
            </a:endParaRPr>
          </a:p>
        </p:txBody>
      </p:sp>
      <p:pic>
        <p:nvPicPr>
          <p:cNvPr id="1125" name="Google Shape;1125;p112"/>
          <p:cNvPicPr preferRelativeResize="0"/>
          <p:nvPr/>
        </p:nvPicPr>
        <p:blipFill>
          <a:blip r:embed="rId4">
            <a:alphaModFix/>
          </a:blip>
          <a:stretch>
            <a:fillRect/>
          </a:stretch>
        </p:blipFill>
        <p:spPr>
          <a:xfrm>
            <a:off x="4176713" y="3342556"/>
            <a:ext cx="3686175" cy="390525"/>
          </a:xfrm>
          <a:prstGeom prst="rect">
            <a:avLst/>
          </a:prstGeom>
          <a:noFill/>
          <a:ln>
            <a:noFill/>
          </a:ln>
        </p:spPr>
      </p:pic>
      <p:pic>
        <p:nvPicPr>
          <p:cNvPr id="1126" name="Google Shape;1126;p112"/>
          <p:cNvPicPr preferRelativeResize="0"/>
          <p:nvPr/>
        </p:nvPicPr>
        <p:blipFill>
          <a:blip r:embed="rId5">
            <a:alphaModFix/>
          </a:blip>
          <a:stretch>
            <a:fillRect/>
          </a:stretch>
        </p:blipFill>
        <p:spPr>
          <a:xfrm>
            <a:off x="3752863" y="4088131"/>
            <a:ext cx="4533900" cy="828675"/>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11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a:t>
            </a:r>
            <a:endParaRPr/>
          </a:p>
        </p:txBody>
      </p:sp>
      <p:pic>
        <p:nvPicPr>
          <p:cNvPr id="1132" name="Google Shape;1132;p113"/>
          <p:cNvPicPr preferRelativeResize="0"/>
          <p:nvPr/>
        </p:nvPicPr>
        <p:blipFill>
          <a:blip r:embed="rId3">
            <a:alphaModFix/>
          </a:blip>
          <a:stretch>
            <a:fillRect/>
          </a:stretch>
        </p:blipFill>
        <p:spPr>
          <a:xfrm>
            <a:off x="152425" y="2003400"/>
            <a:ext cx="8839202" cy="824770"/>
          </a:xfrm>
          <a:prstGeom prst="rect">
            <a:avLst/>
          </a:prstGeom>
          <a:noFill/>
          <a:ln>
            <a:noFill/>
          </a:ln>
        </p:spPr>
      </p:pic>
      <p:sp>
        <p:nvSpPr>
          <p:cNvPr id="1133" name="Google Shape;1133;p113"/>
          <p:cNvSpPr txBox="1"/>
          <p:nvPr/>
        </p:nvSpPr>
        <p:spPr>
          <a:xfrm>
            <a:off x="343550" y="3523875"/>
            <a:ext cx="8421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Mutual information is the relative entropy between a joint distribution and the product of its marginals.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It tests how easily we can discern whether there is a relationship between the two variables, rather than them being independent.</a:t>
            </a:r>
            <a:endParaRPr>
              <a:latin typeface="Google Sans"/>
              <a:ea typeface="Google Sans"/>
              <a:cs typeface="Google Sans"/>
              <a:sym typeface="Google Sans"/>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1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pic>
        <p:nvPicPr>
          <p:cNvPr id="1139" name="Google Shape;1139;p114"/>
          <p:cNvPicPr preferRelativeResize="0"/>
          <p:nvPr/>
        </p:nvPicPr>
        <p:blipFill>
          <a:blip r:embed="rId3">
            <a:alphaModFix/>
          </a:blip>
          <a:stretch>
            <a:fillRect/>
          </a:stretch>
        </p:blipFill>
        <p:spPr>
          <a:xfrm>
            <a:off x="3092711" y="2311071"/>
            <a:ext cx="4266985" cy="856859"/>
          </a:xfrm>
          <a:prstGeom prst="rect">
            <a:avLst/>
          </a:prstGeom>
          <a:noFill/>
          <a:ln>
            <a:noFill/>
          </a:ln>
        </p:spPr>
      </p:pic>
      <p:pic>
        <p:nvPicPr>
          <p:cNvPr id="1140" name="Google Shape;1140;p114"/>
          <p:cNvPicPr preferRelativeResize="0"/>
          <p:nvPr/>
        </p:nvPicPr>
        <p:blipFill>
          <a:blip r:embed="rId4">
            <a:alphaModFix/>
          </a:blip>
          <a:stretch>
            <a:fillRect/>
          </a:stretch>
        </p:blipFill>
        <p:spPr>
          <a:xfrm>
            <a:off x="3092700" y="3316181"/>
            <a:ext cx="4128503" cy="778963"/>
          </a:xfrm>
          <a:prstGeom prst="rect">
            <a:avLst/>
          </a:prstGeom>
          <a:noFill/>
          <a:ln>
            <a:noFill/>
          </a:ln>
        </p:spPr>
      </p:pic>
      <p:pic>
        <p:nvPicPr>
          <p:cNvPr id="1141" name="Google Shape;1141;p114"/>
          <p:cNvPicPr preferRelativeResize="0"/>
          <p:nvPr/>
        </p:nvPicPr>
        <p:blipFill>
          <a:blip r:embed="rId5">
            <a:alphaModFix/>
          </a:blip>
          <a:stretch>
            <a:fillRect/>
          </a:stretch>
        </p:blipFill>
        <p:spPr>
          <a:xfrm>
            <a:off x="3092711" y="4201141"/>
            <a:ext cx="5954738" cy="856859"/>
          </a:xfrm>
          <a:prstGeom prst="rect">
            <a:avLst/>
          </a:prstGeom>
          <a:noFill/>
          <a:ln>
            <a:noFill/>
          </a:ln>
        </p:spPr>
      </p:pic>
      <p:pic>
        <p:nvPicPr>
          <p:cNvPr id="1142" name="Google Shape;1142;p114"/>
          <p:cNvPicPr preferRelativeResize="0"/>
          <p:nvPr/>
        </p:nvPicPr>
        <p:blipFill>
          <a:blip r:embed="rId6">
            <a:alphaModFix/>
          </a:blip>
          <a:stretch>
            <a:fillRect/>
          </a:stretch>
        </p:blipFill>
        <p:spPr>
          <a:xfrm>
            <a:off x="3092700" y="1305950"/>
            <a:ext cx="3089886" cy="856859"/>
          </a:xfrm>
          <a:prstGeom prst="rect">
            <a:avLst/>
          </a:prstGeom>
          <a:noFill/>
          <a:ln>
            <a:noFill/>
          </a:ln>
        </p:spPr>
      </p:pic>
      <p:sp>
        <p:nvSpPr>
          <p:cNvPr id="1143" name="Google Shape;1143;p114"/>
          <p:cNvSpPr txBox="1"/>
          <p:nvPr/>
        </p:nvSpPr>
        <p:spPr>
          <a:xfrm>
            <a:off x="259225" y="1483775"/>
            <a:ext cx="2466900" cy="3417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Google Sans"/>
                <a:ea typeface="Google Sans"/>
                <a:cs typeface="Google Sans"/>
                <a:sym typeface="Google Sans"/>
              </a:rPr>
              <a:t>weight of evidence</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relative 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mutual information</a:t>
            </a:r>
            <a:endParaRPr>
              <a:latin typeface="Google Sans"/>
              <a:ea typeface="Google Sans"/>
              <a:cs typeface="Google Sans"/>
              <a:sym typeface="Google Sans"/>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47" name="Shape 1147"/>
        <p:cNvGrpSpPr/>
        <p:nvPr/>
      </p:nvGrpSpPr>
      <p:grpSpPr>
        <a:xfrm>
          <a:off x="0" y="0"/>
          <a:ext cx="0" cy="0"/>
          <a:chOff x="0" y="0"/>
          <a:chExt cx="0" cy="0"/>
        </a:xfrm>
      </p:grpSpPr>
      <p:sp>
        <p:nvSpPr>
          <p:cNvPr id="1148" name="Google Shape;1148;p115"/>
          <p:cNvSpPr txBox="1"/>
          <p:nvPr>
            <p:ph type="title"/>
          </p:nvPr>
        </p:nvSpPr>
        <p:spPr>
          <a:xfrm>
            <a:off x="490250" y="450150"/>
            <a:ext cx="83094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chemeClr val="lt1"/>
                </a:solidFill>
              </a:rPr>
              <a:t>FIN</a:t>
            </a:r>
            <a:endParaRPr b="1" sz="6000">
              <a:solidFill>
                <a:schemeClr val="lt1"/>
              </a:solidFill>
            </a:endParaRPr>
          </a:p>
          <a:p>
            <a:pPr indent="0" lvl="0" marL="0" rtl="0" algn="ctr">
              <a:spcBef>
                <a:spcPts val="0"/>
              </a:spcBef>
              <a:spcAft>
                <a:spcPts val="0"/>
              </a:spcAft>
              <a:buNone/>
            </a:pPr>
            <a:r>
              <a:rPr i="1" lang="en" sz="1800">
                <a:solidFill>
                  <a:schemeClr val="lt1"/>
                </a:solidFill>
              </a:rPr>
              <a:t>(THE END)</a:t>
            </a:r>
            <a:endParaRPr i="1" sz="1800">
              <a:solidFill>
                <a:schemeClr val="lt1"/>
              </a:solidFill>
            </a:endParaRPr>
          </a:p>
          <a:p>
            <a:pPr indent="0" lvl="0" marL="0" rtl="0" algn="ctr">
              <a:spcBef>
                <a:spcPts val="0"/>
              </a:spcBef>
              <a:spcAft>
                <a:spcPts val="0"/>
              </a:spcAft>
              <a:buNone/>
            </a:pPr>
            <a:r>
              <a:t/>
            </a:r>
            <a:endParaRPr i="1" sz="1800">
              <a:solidFill>
                <a:schemeClr val="lt1"/>
              </a:solidFill>
            </a:endParaRPr>
          </a:p>
          <a:p>
            <a:pPr indent="0" lvl="0" marL="0" rtl="0" algn="ctr">
              <a:spcBef>
                <a:spcPts val="0"/>
              </a:spcBef>
              <a:spcAft>
                <a:spcPts val="0"/>
              </a:spcAft>
              <a:buNone/>
            </a:pPr>
            <a:r>
              <a:rPr i="1" lang="en" sz="1400">
                <a:solidFill>
                  <a:schemeClr val="lt1"/>
                </a:solidFill>
              </a:rPr>
              <a:t>Please check out the Problem Set </a:t>
            </a:r>
            <a:r>
              <a:rPr i="1" lang="en" sz="1400" u="sng">
                <a:solidFill>
                  <a:schemeClr val="hlink"/>
                </a:solidFill>
                <a:hlinkClick r:id="rId3"/>
              </a:rPr>
              <a:t>here</a:t>
            </a:r>
            <a:endParaRPr i="1" sz="1400">
              <a:solidFill>
                <a:schemeClr val="lt1"/>
              </a:solidFill>
            </a:endParaRPr>
          </a:p>
          <a:p>
            <a:pPr indent="0" lvl="0" marL="0" rtl="0" algn="ctr">
              <a:spcBef>
                <a:spcPts val="0"/>
              </a:spcBef>
              <a:spcAft>
                <a:spcPts val="0"/>
              </a:spcAft>
              <a:buNone/>
            </a:pPr>
            <a:r>
              <a:rPr i="1" lang="en" sz="1400">
                <a:solidFill>
                  <a:schemeClr val="lt1"/>
                </a:solidFill>
              </a:rPr>
              <a:t>Solutions </a:t>
            </a:r>
            <a:r>
              <a:rPr i="1" lang="en" sz="1400" u="sng">
                <a:solidFill>
                  <a:schemeClr val="hlink"/>
                </a:solidFill>
                <a:hlinkClick r:id="rId4"/>
              </a:rPr>
              <a:t>here</a:t>
            </a:r>
            <a:endParaRPr i="1" sz="1400">
              <a:solidFill>
                <a:schemeClr val="lt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116"/>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Theory Part II</a:t>
            </a:r>
            <a:endParaRPr/>
          </a:p>
        </p:txBody>
      </p:sp>
      <p:sp>
        <p:nvSpPr>
          <p:cNvPr id="1154" name="Google Shape;1154;p116"/>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Alex Alemi</a:t>
            </a:r>
            <a:endParaRPr/>
          </a:p>
          <a:p>
            <a:pPr indent="0" lvl="0" marL="0" rtl="0" algn="l">
              <a:spcBef>
                <a:spcPts val="0"/>
              </a:spcBef>
              <a:spcAft>
                <a:spcPts val="0"/>
              </a:spcAft>
              <a:buNone/>
            </a:pPr>
            <a:r>
              <a:rPr lang="en"/>
              <a:t>2021-03-30</a:t>
            </a:r>
            <a:endParaRPr/>
          </a:p>
        </p:txBody>
      </p:sp>
      <p:sp>
        <p:nvSpPr>
          <p:cNvPr id="1155" name="Google Shape;1155;p116"/>
          <p:cNvSpPr txBox="1"/>
          <p:nvPr/>
        </p:nvSpPr>
        <p:spPr>
          <a:xfrm>
            <a:off x="2303250" y="1999150"/>
            <a:ext cx="3610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4"/>
              </a:rPr>
              <a:t>Part 1</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5"/>
              </a:rPr>
              <a:t>Part 2</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6"/>
              </a:rPr>
              <a:t>Part 3</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7"/>
              </a:rPr>
              <a:t>Problem Set</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8"/>
              </a:rPr>
              <a:t>Solutions</a:t>
            </a:r>
            <a:endParaRPr>
              <a:latin typeface="Source Code Pro"/>
              <a:ea typeface="Source Code Pro"/>
              <a:cs typeface="Source Code Pro"/>
              <a:sym typeface="Source Code Pro"/>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9" name="Shape 1159"/>
        <p:cNvGrpSpPr/>
        <p:nvPr/>
      </p:nvGrpSpPr>
      <p:grpSpPr>
        <a:xfrm>
          <a:off x="0" y="0"/>
          <a:ext cx="0" cy="0"/>
          <a:chOff x="0" y="0"/>
          <a:chExt cx="0" cy="0"/>
        </a:xfrm>
      </p:grpSpPr>
      <p:sp>
        <p:nvSpPr>
          <p:cNvPr id="1160" name="Google Shape;1160;p11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Errata</a:t>
            </a:r>
            <a:endParaRPr/>
          </a:p>
        </p:txBody>
      </p:sp>
      <p:sp>
        <p:nvSpPr>
          <p:cNvPr id="1161" name="Google Shape;1161;p117"/>
          <p:cNvSpPr txBox="1"/>
          <p:nvPr/>
        </p:nvSpPr>
        <p:spPr>
          <a:xfrm>
            <a:off x="311725" y="1301125"/>
            <a:ext cx="59373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Google Sans"/>
                <a:ea typeface="Google Sans"/>
                <a:cs typeface="Google Sans"/>
                <a:sym typeface="Google Sans"/>
              </a:rPr>
              <a:t>Cleveland</a:t>
            </a:r>
            <a:r>
              <a:rPr lang="en" sz="3000">
                <a:latin typeface="Google Sans"/>
                <a:ea typeface="Google Sans"/>
                <a:cs typeface="Google Sans"/>
                <a:sym typeface="Google Sans"/>
              </a:rPr>
              <a:t>, TN not </a:t>
            </a:r>
            <a:r>
              <a:rPr lang="en" sz="3000">
                <a:latin typeface="Google Sans"/>
                <a:ea typeface="Google Sans"/>
                <a:cs typeface="Google Sans"/>
                <a:sym typeface="Google Sans"/>
              </a:rPr>
              <a:t>Cleveland</a:t>
            </a:r>
            <a:r>
              <a:rPr lang="en" sz="3000">
                <a:latin typeface="Google Sans"/>
                <a:ea typeface="Google Sans"/>
                <a:cs typeface="Google Sans"/>
                <a:sym typeface="Google Sans"/>
              </a:rPr>
              <a:t>, OH</a:t>
            </a:r>
            <a:endParaRPr sz="3000">
              <a:latin typeface="Google Sans"/>
              <a:ea typeface="Google Sans"/>
              <a:cs typeface="Google Sans"/>
              <a:sym typeface="Google Sans"/>
            </a:endParaRPr>
          </a:p>
        </p:txBody>
      </p:sp>
      <p:sp>
        <p:nvSpPr>
          <p:cNvPr id="1162" name="Google Shape;1162;p117"/>
          <p:cNvSpPr txBox="1"/>
          <p:nvPr/>
        </p:nvSpPr>
        <p:spPr>
          <a:xfrm>
            <a:off x="7469775" y="1424275"/>
            <a:ext cx="1508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Google Sans"/>
                <a:ea typeface="Google Sans"/>
                <a:cs typeface="Google Sans"/>
                <a:sym typeface="Google Sans"/>
                <a:hlinkClick r:id="rId3"/>
              </a:rPr>
              <a:t>[quartz article]</a:t>
            </a:r>
            <a:endParaRPr>
              <a:latin typeface="Google Sans"/>
              <a:ea typeface="Google Sans"/>
              <a:cs typeface="Google Sans"/>
              <a:sym typeface="Google Sans"/>
            </a:endParaRPr>
          </a:p>
        </p:txBody>
      </p:sp>
      <p:pic>
        <p:nvPicPr>
          <p:cNvPr id="1163" name="Google Shape;1163;p117"/>
          <p:cNvPicPr preferRelativeResize="0"/>
          <p:nvPr/>
        </p:nvPicPr>
        <p:blipFill rotWithShape="1">
          <a:blip r:embed="rId4">
            <a:alphaModFix/>
          </a:blip>
          <a:srcRect b="15154" l="0" r="0" t="0"/>
          <a:stretch/>
        </p:blipFill>
        <p:spPr>
          <a:xfrm>
            <a:off x="0" y="1947625"/>
            <a:ext cx="6324675" cy="3195874"/>
          </a:xfrm>
          <a:prstGeom prst="rect">
            <a:avLst/>
          </a:prstGeom>
          <a:noFill/>
          <a:ln>
            <a:noFill/>
          </a:ln>
        </p:spPr>
      </p:pic>
      <p:pic>
        <p:nvPicPr>
          <p:cNvPr id="1164" name="Google Shape;1164;p117"/>
          <p:cNvPicPr preferRelativeResize="0"/>
          <p:nvPr/>
        </p:nvPicPr>
        <p:blipFill>
          <a:blip r:embed="rId5">
            <a:alphaModFix/>
          </a:blip>
          <a:stretch>
            <a:fillRect/>
          </a:stretch>
        </p:blipFill>
        <p:spPr>
          <a:xfrm>
            <a:off x="5396475" y="2840588"/>
            <a:ext cx="3581400" cy="981075"/>
          </a:xfrm>
          <a:prstGeom prst="rect">
            <a:avLst/>
          </a:prstGeom>
          <a:noFill/>
          <a:ln>
            <a:noFill/>
          </a:ln>
        </p:spPr>
      </p:pic>
      <p:sp>
        <p:nvSpPr>
          <p:cNvPr id="1165" name="Google Shape;1165;p117"/>
          <p:cNvSpPr/>
          <p:nvPr/>
        </p:nvSpPr>
        <p:spPr>
          <a:xfrm>
            <a:off x="6569650" y="3238075"/>
            <a:ext cx="2139300" cy="4002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6" name="Google Shape;1166;p117"/>
          <p:cNvPicPr preferRelativeResize="0"/>
          <p:nvPr/>
        </p:nvPicPr>
        <p:blipFill>
          <a:blip r:embed="rId6">
            <a:alphaModFix/>
          </a:blip>
          <a:stretch>
            <a:fillRect/>
          </a:stretch>
        </p:blipFill>
        <p:spPr>
          <a:xfrm>
            <a:off x="4196622" y="4297550"/>
            <a:ext cx="4947375" cy="845950"/>
          </a:xfrm>
          <a:prstGeom prst="rect">
            <a:avLst/>
          </a:prstGeom>
          <a:noFill/>
          <a:ln>
            <a:noFill/>
          </a:ln>
        </p:spPr>
      </p:pic>
      <p:sp>
        <p:nvSpPr>
          <p:cNvPr id="1167" name="Google Shape;1167;p117"/>
          <p:cNvSpPr txBox="1"/>
          <p:nvPr/>
        </p:nvSpPr>
        <p:spPr>
          <a:xfrm>
            <a:off x="7557525" y="1782513"/>
            <a:ext cx="1332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Roboto"/>
                <a:ea typeface="Roboto"/>
                <a:cs typeface="Roboto"/>
                <a:sym typeface="Roboto"/>
                <a:hlinkClick r:id="rId7"/>
              </a:rPr>
              <a:t>[SAS article]</a:t>
            </a:r>
            <a:endParaRPr>
              <a:latin typeface="Roboto"/>
              <a:ea typeface="Roboto"/>
              <a:cs typeface="Roboto"/>
              <a:sym typeface="Roboto"/>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11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Analysis</a:t>
            </a:r>
            <a:endParaRPr/>
          </a:p>
        </p:txBody>
      </p:sp>
      <p:pic>
        <p:nvPicPr>
          <p:cNvPr id="1173" name="Google Shape;1173;p118"/>
          <p:cNvPicPr preferRelativeResize="0"/>
          <p:nvPr/>
        </p:nvPicPr>
        <p:blipFill rotWithShape="1">
          <a:blip r:embed="rId3">
            <a:alphaModFix/>
          </a:blip>
          <a:srcRect b="16985" l="0" r="0" t="13772"/>
          <a:stretch/>
        </p:blipFill>
        <p:spPr>
          <a:xfrm>
            <a:off x="3179850" y="1928775"/>
            <a:ext cx="2784276" cy="2571749"/>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7" name="Shape 1177"/>
        <p:cNvGrpSpPr/>
        <p:nvPr/>
      </p:nvGrpSpPr>
      <p:grpSpPr>
        <a:xfrm>
          <a:off x="0" y="0"/>
          <a:ext cx="0" cy="0"/>
          <a:chOff x="0" y="0"/>
          <a:chExt cx="0" cy="0"/>
        </a:xfrm>
      </p:grpSpPr>
      <p:sp>
        <p:nvSpPr>
          <p:cNvPr id="1178" name="Google Shape;1178;p11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M&amp;M Analysis</a:t>
            </a:r>
            <a:endParaRPr/>
          </a:p>
        </p:txBody>
      </p:sp>
      <p:graphicFrame>
        <p:nvGraphicFramePr>
          <p:cNvPr id="1179" name="Google Shape;1179;p119"/>
          <p:cNvGraphicFramePr/>
          <p:nvPr/>
        </p:nvGraphicFramePr>
        <p:xfrm>
          <a:off x="311713" y="2361025"/>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783F04"/>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38761D"/>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13.1%</a:t>
                      </a:r>
                      <a:endParaRPr/>
                    </a:p>
                  </a:txBody>
                  <a:tcPr marT="91425" marB="91425" marR="91425" marL="91425" anchor="ctr"/>
                </a:tc>
                <a:tc>
                  <a:txBody>
                    <a:bodyPr/>
                    <a:lstStyle/>
                    <a:p>
                      <a:pPr indent="0" lvl="0" marL="0" rtl="0" algn="ctr">
                        <a:spcBef>
                          <a:spcPts val="0"/>
                        </a:spcBef>
                        <a:spcAft>
                          <a:spcPts val="0"/>
                        </a:spcAft>
                        <a:buNone/>
                      </a:pPr>
                      <a:r>
                        <a:rPr lang="en"/>
                        <a:t>13.5%</a:t>
                      </a:r>
                      <a:endParaRPr/>
                    </a:p>
                  </a:txBody>
                  <a:tcPr marT="91425" marB="91425" marR="91425" marL="91425" anchor="ctr"/>
                </a:tc>
                <a:tc>
                  <a:txBody>
                    <a:bodyPr/>
                    <a:lstStyle/>
                    <a:p>
                      <a:pPr indent="0" lvl="0" marL="0" rtl="0" algn="ctr">
                        <a:spcBef>
                          <a:spcPts val="0"/>
                        </a:spcBef>
                        <a:spcAft>
                          <a:spcPts val="0"/>
                        </a:spcAft>
                        <a:buNone/>
                      </a:pPr>
                      <a:r>
                        <a:rPr lang="en"/>
                        <a:t>19.8%</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r>
              <a:tr h="524875">
                <a:tc>
                  <a:txBody>
                    <a:bodyPr/>
                    <a:lstStyle/>
                    <a:p>
                      <a:pPr indent="0" lvl="0" marL="0" rtl="0" algn="r">
                        <a:spcBef>
                          <a:spcPts val="0"/>
                        </a:spcBef>
                        <a:spcAft>
                          <a:spcPts val="0"/>
                        </a:spcAft>
                        <a:buNone/>
                      </a:pPr>
                      <a:r>
                        <a:rPr lang="en"/>
                        <a:t>My Bag</a:t>
                      </a:r>
                      <a:endParaRPr/>
                    </a:p>
                  </a:txBody>
                  <a:tcPr marT="91425" marB="91425" marR="91425" marL="91425" anchor="ctr"/>
                </a:tc>
                <a:tc>
                  <a:txBody>
                    <a:bodyPr/>
                    <a:lstStyle/>
                    <a:p>
                      <a:pPr indent="0" lvl="0" marL="0" rtl="0" algn="ctr">
                        <a:spcBef>
                          <a:spcPts val="0"/>
                        </a:spcBef>
                        <a:spcAft>
                          <a:spcPts val="0"/>
                        </a:spcAft>
                        <a:buNone/>
                      </a:pPr>
                      <a:r>
                        <a:rPr lang="en"/>
                        <a:t>87</a:t>
                      </a:r>
                      <a:endParaRPr/>
                    </a:p>
                  </a:txBody>
                  <a:tcPr marT="91425" marB="91425" marR="91425" marL="91425" anchor="ctr"/>
                </a:tc>
                <a:tc>
                  <a:txBody>
                    <a:bodyPr/>
                    <a:lstStyle/>
                    <a:p>
                      <a:pPr indent="0" lvl="0" marL="0" rtl="0" algn="ctr">
                        <a:spcBef>
                          <a:spcPts val="0"/>
                        </a:spcBef>
                        <a:spcAft>
                          <a:spcPts val="0"/>
                        </a:spcAft>
                        <a:buNone/>
                      </a:pPr>
                      <a:r>
                        <a:rPr lang="en"/>
                        <a:t>69</a:t>
                      </a:r>
                      <a:endParaRPr/>
                    </a:p>
                  </a:txBody>
                  <a:tcPr marT="91425" marB="91425" marR="91425" marL="91425" anchor="ctr"/>
                </a:tc>
                <a:tc>
                  <a:txBody>
                    <a:bodyPr/>
                    <a:lstStyle/>
                    <a:p>
                      <a:pPr indent="0" lvl="0" marL="0" rtl="0" algn="ctr">
                        <a:spcBef>
                          <a:spcPts val="0"/>
                        </a:spcBef>
                        <a:spcAft>
                          <a:spcPts val="0"/>
                        </a:spcAft>
                        <a:buNone/>
                      </a:pPr>
                      <a:r>
                        <a:rPr lang="en"/>
                        <a:t>93</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136</a:t>
                      </a:r>
                      <a:endParaRPr/>
                    </a:p>
                  </a:txBody>
                  <a:tcPr marT="91425" marB="91425" marR="91425" marL="91425" anchor="ctr"/>
                </a:tc>
                <a:tc>
                  <a:txBody>
                    <a:bodyPr/>
                    <a:lstStyle/>
                    <a:p>
                      <a:pPr indent="0" lvl="0" marL="0" rtl="0" algn="ctr">
                        <a:spcBef>
                          <a:spcPts val="0"/>
                        </a:spcBef>
                        <a:spcAft>
                          <a:spcPts val="0"/>
                        </a:spcAft>
                        <a:buNone/>
                      </a:pPr>
                      <a:r>
                        <a:rPr lang="en"/>
                        <a:t>96</a:t>
                      </a:r>
                      <a:endParaRPr/>
                    </a:p>
                  </a:txBody>
                  <a:tcPr marT="91425" marB="91425" marR="91425" marL="91425" anchor="ctr"/>
                </a:tc>
              </a:tr>
            </a:tbl>
          </a:graphicData>
        </a:graphic>
      </p:graphicFrame>
      <p:sp>
        <p:nvSpPr>
          <p:cNvPr id="1180" name="Google Shape;1180;p119"/>
          <p:cNvSpPr txBox="1"/>
          <p:nvPr/>
        </p:nvSpPr>
        <p:spPr>
          <a:xfrm>
            <a:off x="437400" y="1357325"/>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M&amp;M Bag is from NJ.</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M&amp;M Bag is from TN.</a:t>
            </a:r>
            <a:endParaRPr sz="2400">
              <a:latin typeface="Google Sans"/>
              <a:ea typeface="Google Sans"/>
              <a:cs typeface="Google Sans"/>
              <a:sym typeface="Google Sans"/>
            </a:endParaRPr>
          </a:p>
        </p:txBody>
      </p:sp>
      <p:pic>
        <p:nvPicPr>
          <p:cNvPr id="1181" name="Google Shape;1181;p119"/>
          <p:cNvPicPr preferRelativeResize="0"/>
          <p:nvPr/>
        </p:nvPicPr>
        <p:blipFill>
          <a:blip r:embed="rId3">
            <a:alphaModFix/>
          </a:blip>
          <a:stretch>
            <a:fillRect/>
          </a:stretch>
        </p:blipFill>
        <p:spPr>
          <a:xfrm>
            <a:off x="5860500" y="1518975"/>
            <a:ext cx="2971800" cy="600075"/>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12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M&amp;M Analysis</a:t>
            </a:r>
            <a:endParaRPr/>
          </a:p>
        </p:txBody>
      </p:sp>
      <p:graphicFrame>
        <p:nvGraphicFramePr>
          <p:cNvPr id="1187" name="Google Shape;1187;p120"/>
          <p:cNvGraphicFramePr/>
          <p:nvPr/>
        </p:nvGraphicFramePr>
        <p:xfrm>
          <a:off x="311713" y="2361025"/>
          <a:ext cx="3000000" cy="3000000"/>
        </p:xfrm>
        <a:graphic>
          <a:graphicData uri="http://schemas.openxmlformats.org/drawingml/2006/table">
            <a:tbl>
              <a:tblPr>
                <a:noFill/>
                <a:tableStyleId>{22C7768D-37AC-4C37-B4E8-91D0278590BF}</a:tableStyleId>
              </a:tblPr>
              <a:tblGrid>
                <a:gridCol w="1718750"/>
                <a:gridCol w="1147225"/>
                <a:gridCol w="1030625"/>
                <a:gridCol w="1042275"/>
                <a:gridCol w="1147250"/>
                <a:gridCol w="1217225"/>
                <a:gridCol w="1217225"/>
              </a:tblGrid>
              <a:tr h="5458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solidFill>
                            <a:srgbClr val="783F04"/>
                          </a:solidFill>
                        </a:rPr>
                        <a:t>⬤</a:t>
                      </a:r>
                      <a:endParaRPr>
                        <a:solidFill>
                          <a:srgbClr val="783F04"/>
                        </a:solidFill>
                      </a:endParaRPr>
                    </a:p>
                  </a:txBody>
                  <a:tcPr marT="91425" marB="91425" marR="91425" marL="91425" anchor="ctr"/>
                </a:tc>
                <a:tc>
                  <a:txBody>
                    <a:bodyPr/>
                    <a:lstStyle/>
                    <a:p>
                      <a:pPr indent="0" lvl="0" marL="0" rtl="0" algn="ctr">
                        <a:spcBef>
                          <a:spcPts val="0"/>
                        </a:spcBef>
                        <a:spcAft>
                          <a:spcPts val="0"/>
                        </a:spcAft>
                        <a:buNone/>
                      </a:pPr>
                      <a:r>
                        <a:rPr lang="en">
                          <a:solidFill>
                            <a:srgbClr val="FF0000"/>
                          </a:solidFill>
                        </a:rPr>
                        <a:t>⬤</a:t>
                      </a:r>
                      <a:endParaRPr>
                        <a:solidFill>
                          <a:srgbClr val="FF0000"/>
                        </a:solidFill>
                      </a:endParaRPr>
                    </a:p>
                  </a:txBody>
                  <a:tcPr marT="91425" marB="91425" marR="91425" marL="91425" anchor="ctr"/>
                </a:tc>
                <a:tc>
                  <a:txBody>
                    <a:bodyPr/>
                    <a:lstStyle/>
                    <a:p>
                      <a:pPr indent="0" lvl="0" marL="0" rtl="0" algn="ctr">
                        <a:spcBef>
                          <a:spcPts val="0"/>
                        </a:spcBef>
                        <a:spcAft>
                          <a:spcPts val="0"/>
                        </a:spcAft>
                        <a:buNone/>
                      </a:pPr>
                      <a:r>
                        <a:rPr lang="en">
                          <a:solidFill>
                            <a:srgbClr val="FFD966"/>
                          </a:solidFill>
                        </a:rPr>
                        <a:t>⬤</a:t>
                      </a:r>
                      <a:endParaRPr>
                        <a:solidFill>
                          <a:srgbClr val="FFD966"/>
                        </a:solidFill>
                      </a:endParaRPr>
                    </a:p>
                  </a:txBody>
                  <a:tcPr marT="91425" marB="91425" marR="91425" marL="91425" anchor="ctr"/>
                </a:tc>
                <a:tc>
                  <a:txBody>
                    <a:bodyPr/>
                    <a:lstStyle/>
                    <a:p>
                      <a:pPr indent="0" lvl="0" marL="0" rtl="0" algn="ctr">
                        <a:spcBef>
                          <a:spcPts val="0"/>
                        </a:spcBef>
                        <a:spcAft>
                          <a:spcPts val="0"/>
                        </a:spcAft>
                        <a:buNone/>
                      </a:pPr>
                      <a:r>
                        <a:rPr lang="en">
                          <a:solidFill>
                            <a:srgbClr val="38761D"/>
                          </a:solidFill>
                        </a:rPr>
                        <a:t>⬤</a:t>
                      </a:r>
                      <a:endParaRPr>
                        <a:solidFill>
                          <a:srgbClr val="38761D"/>
                        </a:solidFill>
                      </a:endParaRPr>
                    </a:p>
                  </a:txBody>
                  <a:tcPr marT="91425" marB="91425" marR="91425" marL="91425" anchor="ctr"/>
                </a:tc>
                <a:tc>
                  <a:txBody>
                    <a:bodyPr/>
                    <a:lstStyle/>
                    <a:p>
                      <a:pPr indent="0" lvl="0" marL="0" rtl="0" algn="ctr">
                        <a:spcBef>
                          <a:spcPts val="0"/>
                        </a:spcBef>
                        <a:spcAft>
                          <a:spcPts val="0"/>
                        </a:spcAft>
                        <a:buNone/>
                      </a:pPr>
                      <a:r>
                        <a:rPr lang="en">
                          <a:solidFill>
                            <a:srgbClr val="E69138"/>
                          </a:solidFill>
                        </a:rPr>
                        <a:t>⬤</a:t>
                      </a:r>
                      <a:endParaRPr>
                        <a:solidFill>
                          <a:srgbClr val="E69138"/>
                        </a:solidFill>
                      </a:endParaRPr>
                    </a:p>
                  </a:txBody>
                  <a:tcPr marT="91425" marB="91425" marR="91425" marL="91425" anchor="ctr"/>
                </a:tc>
                <a:tc>
                  <a:txBody>
                    <a:bodyPr/>
                    <a:lstStyle/>
                    <a:p>
                      <a:pPr indent="0" lvl="0" marL="0" rtl="0" algn="ctr">
                        <a:spcBef>
                          <a:spcPts val="0"/>
                        </a:spcBef>
                        <a:spcAft>
                          <a:spcPts val="0"/>
                        </a:spcAft>
                        <a:buNone/>
                      </a:pPr>
                      <a:r>
                        <a:rPr lang="en">
                          <a:solidFill>
                            <a:srgbClr val="1155CC"/>
                          </a:solidFill>
                        </a:rPr>
                        <a:t>⬤</a:t>
                      </a:r>
                      <a:endParaRPr>
                        <a:solidFill>
                          <a:srgbClr val="1155CC"/>
                        </a:solidFill>
                      </a:endParaRPr>
                    </a:p>
                  </a:txBody>
                  <a:tcPr marT="91425" marB="91425" marR="91425" marL="91425" anchor="ctr"/>
                </a:tc>
              </a:tr>
              <a:tr h="524875">
                <a:tc>
                  <a:txBody>
                    <a:bodyPr/>
                    <a:lstStyle/>
                    <a:p>
                      <a:pPr indent="0" lvl="0" marL="0" rtl="0" algn="r">
                        <a:spcBef>
                          <a:spcPts val="0"/>
                        </a:spcBef>
                        <a:spcAft>
                          <a:spcPts val="0"/>
                        </a:spcAft>
                        <a:buNone/>
                      </a:pPr>
                      <a:r>
                        <a:rPr lang="en"/>
                        <a:t>Hackettstown, NJ</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12.5%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c>
                  <a:txBody>
                    <a:bodyPr/>
                    <a:lstStyle/>
                    <a:p>
                      <a:pPr indent="0" lvl="0" marL="0" rtl="0" algn="ctr">
                        <a:spcBef>
                          <a:spcPts val="0"/>
                        </a:spcBef>
                        <a:spcAft>
                          <a:spcPts val="0"/>
                        </a:spcAft>
                        <a:buNone/>
                      </a:pPr>
                      <a:r>
                        <a:rPr lang="en"/>
                        <a:t>25%</a:t>
                      </a:r>
                      <a:endParaRPr/>
                    </a:p>
                  </a:txBody>
                  <a:tcPr marT="91425" marB="91425" marR="91425" marL="91425" anchor="ctr"/>
                </a:tc>
              </a:tr>
              <a:tr h="524875">
                <a:tc>
                  <a:txBody>
                    <a:bodyPr/>
                    <a:lstStyle/>
                    <a:p>
                      <a:pPr indent="0" lvl="0" marL="0" rtl="0" algn="r">
                        <a:spcBef>
                          <a:spcPts val="0"/>
                        </a:spcBef>
                        <a:spcAft>
                          <a:spcPts val="0"/>
                        </a:spcAft>
                        <a:buNone/>
                      </a:pPr>
                      <a:r>
                        <a:rPr lang="en"/>
                        <a:t>Cleveland, TN</a:t>
                      </a:r>
                      <a:endParaRPr/>
                    </a:p>
                  </a:txBody>
                  <a:tcPr marT="91425" marB="91425" marR="91425" marL="91425" anchor="ctr"/>
                </a:tc>
                <a:tc>
                  <a:txBody>
                    <a:bodyPr/>
                    <a:lstStyle/>
                    <a:p>
                      <a:pPr indent="0" lvl="0" marL="0" rtl="0" algn="ctr">
                        <a:spcBef>
                          <a:spcPts val="0"/>
                        </a:spcBef>
                        <a:spcAft>
                          <a:spcPts val="0"/>
                        </a:spcAft>
                        <a:buNone/>
                      </a:pPr>
                      <a:r>
                        <a:rPr lang="en"/>
                        <a:t>12.4%</a:t>
                      </a:r>
                      <a:endParaRPr/>
                    </a:p>
                  </a:txBody>
                  <a:tcPr marT="91425" marB="91425" marR="91425" marL="91425" anchor="ctr"/>
                </a:tc>
                <a:tc>
                  <a:txBody>
                    <a:bodyPr/>
                    <a:lstStyle/>
                    <a:p>
                      <a:pPr indent="0" lvl="0" marL="0" rtl="0" algn="ctr">
                        <a:spcBef>
                          <a:spcPts val="0"/>
                        </a:spcBef>
                        <a:spcAft>
                          <a:spcPts val="0"/>
                        </a:spcAft>
                        <a:buNone/>
                      </a:pPr>
                      <a:r>
                        <a:rPr lang="en"/>
                        <a:t>13.1%</a:t>
                      </a:r>
                      <a:endParaRPr/>
                    </a:p>
                  </a:txBody>
                  <a:tcPr marT="91425" marB="91425" marR="91425" marL="91425" anchor="ctr"/>
                </a:tc>
                <a:tc>
                  <a:txBody>
                    <a:bodyPr/>
                    <a:lstStyle/>
                    <a:p>
                      <a:pPr indent="0" lvl="0" marL="0" rtl="0" algn="ctr">
                        <a:spcBef>
                          <a:spcPts val="0"/>
                        </a:spcBef>
                        <a:spcAft>
                          <a:spcPts val="0"/>
                        </a:spcAft>
                        <a:buNone/>
                      </a:pPr>
                      <a:r>
                        <a:rPr lang="en"/>
                        <a:t>13.5%</a:t>
                      </a:r>
                      <a:endParaRPr/>
                    </a:p>
                  </a:txBody>
                  <a:tcPr marT="91425" marB="91425" marR="91425" marL="91425" anchor="ctr"/>
                </a:tc>
                <a:tc>
                  <a:txBody>
                    <a:bodyPr/>
                    <a:lstStyle/>
                    <a:p>
                      <a:pPr indent="0" lvl="0" marL="0" rtl="0" algn="ctr">
                        <a:spcBef>
                          <a:spcPts val="0"/>
                        </a:spcBef>
                        <a:spcAft>
                          <a:spcPts val="0"/>
                        </a:spcAft>
                        <a:buNone/>
                      </a:pPr>
                      <a:r>
                        <a:rPr lang="en"/>
                        <a:t>19.8%</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20.7%</a:t>
                      </a:r>
                      <a:endParaRPr/>
                    </a:p>
                  </a:txBody>
                  <a:tcPr marT="91425" marB="91425" marR="91425" marL="91425" anchor="ctr"/>
                </a:tc>
              </a:tr>
              <a:tr h="524875">
                <a:tc>
                  <a:txBody>
                    <a:bodyPr/>
                    <a:lstStyle/>
                    <a:p>
                      <a:pPr indent="0" lvl="0" marL="0" rtl="0" algn="r">
                        <a:spcBef>
                          <a:spcPts val="0"/>
                        </a:spcBef>
                        <a:spcAft>
                          <a:spcPts val="0"/>
                        </a:spcAft>
                        <a:buNone/>
                      </a:pPr>
                      <a:r>
                        <a:rPr lang="en"/>
                        <a:t>db</a:t>
                      </a:r>
                      <a:endParaRPr/>
                    </a:p>
                  </a:txBody>
                  <a:tcPr marT="91425" marB="91425" marR="91425" marL="91425" anchor="ctr"/>
                </a:tc>
                <a:tc>
                  <a:txBody>
                    <a:bodyPr/>
                    <a:lstStyle/>
                    <a:p>
                      <a:pPr indent="0" lvl="0" marL="0" rtl="0" algn="ctr">
                        <a:spcBef>
                          <a:spcPts val="0"/>
                        </a:spcBef>
                        <a:spcAft>
                          <a:spcPts val="0"/>
                        </a:spcAft>
                        <a:buNone/>
                      </a:pPr>
                      <a:r>
                        <a:rPr lang="en"/>
                        <a:t>0.035</a:t>
                      </a:r>
                      <a:endParaRPr/>
                    </a:p>
                  </a:txBody>
                  <a:tcPr marT="91425" marB="91425" marR="91425" marL="91425" anchor="ctr"/>
                </a:tc>
                <a:tc>
                  <a:txBody>
                    <a:bodyPr/>
                    <a:lstStyle/>
                    <a:p>
                      <a:pPr indent="0" lvl="0" marL="0" rtl="0" algn="ctr">
                        <a:spcBef>
                          <a:spcPts val="0"/>
                        </a:spcBef>
                        <a:spcAft>
                          <a:spcPts val="0"/>
                        </a:spcAft>
                        <a:buNone/>
                      </a:pPr>
                      <a:r>
                        <a:rPr lang="en"/>
                        <a:t>-0.20</a:t>
                      </a:r>
                      <a:endParaRPr/>
                    </a:p>
                  </a:txBody>
                  <a:tcPr marT="91425" marB="91425" marR="91425" marL="91425" anchor="ctr"/>
                </a:tc>
                <a:tc>
                  <a:txBody>
                    <a:bodyPr/>
                    <a:lstStyle/>
                    <a:p>
                      <a:pPr indent="0" lvl="0" marL="0" rtl="0" algn="ctr">
                        <a:spcBef>
                          <a:spcPts val="0"/>
                        </a:spcBef>
                        <a:spcAft>
                          <a:spcPts val="0"/>
                        </a:spcAft>
                        <a:buNone/>
                      </a:pPr>
                      <a:r>
                        <a:rPr lang="en"/>
                        <a:t>-0.33</a:t>
                      </a:r>
                      <a:endParaRPr/>
                    </a:p>
                  </a:txBody>
                  <a:tcPr marT="91425" marB="91425" marR="91425" marL="91425" anchor="ctr"/>
                </a:tc>
                <a:tc>
                  <a:txBody>
                    <a:bodyPr/>
                    <a:lstStyle/>
                    <a:p>
                      <a:pPr indent="0" lvl="0" marL="0" rtl="0" algn="ctr">
                        <a:spcBef>
                          <a:spcPts val="0"/>
                        </a:spcBef>
                        <a:spcAft>
                          <a:spcPts val="0"/>
                        </a:spcAft>
                        <a:buNone/>
                      </a:pPr>
                      <a:r>
                        <a:rPr lang="en"/>
                        <a:t>-2.0</a:t>
                      </a:r>
                      <a:endParaRPr/>
                    </a:p>
                  </a:txBody>
                  <a:tcPr marT="91425" marB="91425" marR="91425" marL="91425" anchor="ctr"/>
                </a:tc>
                <a:tc>
                  <a:txBody>
                    <a:bodyPr/>
                    <a:lstStyle/>
                    <a:p>
                      <a:pPr indent="0" lvl="0" marL="0" rtl="0" algn="ctr">
                        <a:spcBef>
                          <a:spcPts val="0"/>
                        </a:spcBef>
                        <a:spcAft>
                          <a:spcPts val="0"/>
                        </a:spcAft>
                        <a:buNone/>
                      </a:pPr>
                      <a:r>
                        <a:rPr lang="en"/>
                        <a:t>0.86</a:t>
                      </a:r>
                      <a:endParaRPr/>
                    </a:p>
                  </a:txBody>
                  <a:tcPr marT="91425" marB="91425" marR="91425" marL="91425" anchor="ctr"/>
                </a:tc>
                <a:tc>
                  <a:txBody>
                    <a:bodyPr/>
                    <a:lstStyle/>
                    <a:p>
                      <a:pPr indent="0" lvl="0" marL="0" rtl="0" algn="ctr">
                        <a:spcBef>
                          <a:spcPts val="0"/>
                        </a:spcBef>
                        <a:spcAft>
                          <a:spcPts val="0"/>
                        </a:spcAft>
                        <a:buNone/>
                      </a:pPr>
                      <a:r>
                        <a:rPr lang="en"/>
                        <a:t>0.82</a:t>
                      </a:r>
                      <a:endParaRPr/>
                    </a:p>
                  </a:txBody>
                  <a:tcPr marT="91425" marB="91425" marR="91425" marL="91425" anchor="ctr"/>
                </a:tc>
              </a:tr>
              <a:tr h="524875">
                <a:tc>
                  <a:txBody>
                    <a:bodyPr/>
                    <a:lstStyle/>
                    <a:p>
                      <a:pPr indent="0" lvl="0" marL="0" rtl="0" algn="r">
                        <a:spcBef>
                          <a:spcPts val="0"/>
                        </a:spcBef>
                        <a:spcAft>
                          <a:spcPts val="0"/>
                        </a:spcAft>
                        <a:buNone/>
                      </a:pPr>
                      <a:r>
                        <a:rPr lang="en"/>
                        <a:t>My Bag</a:t>
                      </a:r>
                      <a:endParaRPr/>
                    </a:p>
                  </a:txBody>
                  <a:tcPr marT="91425" marB="91425" marR="91425" marL="91425" anchor="ctr"/>
                </a:tc>
                <a:tc>
                  <a:txBody>
                    <a:bodyPr/>
                    <a:lstStyle/>
                    <a:p>
                      <a:pPr indent="0" lvl="0" marL="0" rtl="0" algn="ctr">
                        <a:spcBef>
                          <a:spcPts val="0"/>
                        </a:spcBef>
                        <a:spcAft>
                          <a:spcPts val="0"/>
                        </a:spcAft>
                        <a:buNone/>
                      </a:pPr>
                      <a:r>
                        <a:rPr lang="en"/>
                        <a:t>14.4%</a:t>
                      </a:r>
                      <a:endParaRPr/>
                    </a:p>
                  </a:txBody>
                  <a:tcPr marT="91425" marB="91425" marR="91425" marL="91425" anchor="ctr"/>
                </a:tc>
                <a:tc>
                  <a:txBody>
                    <a:bodyPr/>
                    <a:lstStyle/>
                    <a:p>
                      <a:pPr indent="0" lvl="0" marL="0" rtl="0" algn="ctr">
                        <a:spcBef>
                          <a:spcPts val="0"/>
                        </a:spcBef>
                        <a:spcAft>
                          <a:spcPts val="0"/>
                        </a:spcAft>
                        <a:buNone/>
                      </a:pPr>
                      <a:r>
                        <a:rPr lang="en"/>
                        <a:t>11.4%</a:t>
                      </a:r>
                      <a:endParaRPr/>
                    </a:p>
                  </a:txBody>
                  <a:tcPr marT="91425" marB="91425" marR="91425" marL="91425" anchor="ctr"/>
                </a:tc>
                <a:tc>
                  <a:txBody>
                    <a:bodyPr/>
                    <a:lstStyle/>
                    <a:p>
                      <a:pPr indent="0" lvl="0" marL="0" rtl="0" algn="ctr">
                        <a:spcBef>
                          <a:spcPts val="0"/>
                        </a:spcBef>
                        <a:spcAft>
                          <a:spcPts val="0"/>
                        </a:spcAft>
                        <a:buNone/>
                      </a:pPr>
                      <a:r>
                        <a:rPr lang="en"/>
                        <a:t>15.4%</a:t>
                      </a:r>
                      <a:endParaRPr/>
                    </a:p>
                  </a:txBody>
                  <a:tcPr marT="91425" marB="91425" marR="91425" marL="91425" anchor="ctr"/>
                </a:tc>
                <a:tc>
                  <a:txBody>
                    <a:bodyPr/>
                    <a:lstStyle/>
                    <a:p>
                      <a:pPr indent="0" lvl="0" marL="0" rtl="0" algn="ctr">
                        <a:spcBef>
                          <a:spcPts val="0"/>
                        </a:spcBef>
                        <a:spcAft>
                          <a:spcPts val="0"/>
                        </a:spcAft>
                        <a:buNone/>
                      </a:pPr>
                      <a:r>
                        <a:rPr lang="en"/>
                        <a:t>20.5%</a:t>
                      </a:r>
                      <a:endParaRPr/>
                    </a:p>
                  </a:txBody>
                  <a:tcPr marT="91425" marB="91425" marR="91425" marL="91425" anchor="ctr"/>
                </a:tc>
                <a:tc>
                  <a:txBody>
                    <a:bodyPr/>
                    <a:lstStyle/>
                    <a:p>
                      <a:pPr indent="0" lvl="0" marL="0" rtl="0" algn="ctr">
                        <a:spcBef>
                          <a:spcPts val="0"/>
                        </a:spcBef>
                        <a:spcAft>
                          <a:spcPts val="0"/>
                        </a:spcAft>
                        <a:buNone/>
                      </a:pPr>
                      <a:r>
                        <a:rPr lang="en"/>
                        <a:t>22.5%</a:t>
                      </a:r>
                      <a:endParaRPr/>
                    </a:p>
                  </a:txBody>
                  <a:tcPr marT="91425" marB="91425" marR="91425" marL="91425" anchor="ctr"/>
                </a:tc>
                <a:tc>
                  <a:txBody>
                    <a:bodyPr/>
                    <a:lstStyle/>
                    <a:p>
                      <a:pPr indent="0" lvl="0" marL="0" rtl="0" algn="ctr">
                        <a:spcBef>
                          <a:spcPts val="0"/>
                        </a:spcBef>
                        <a:spcAft>
                          <a:spcPts val="0"/>
                        </a:spcAft>
                        <a:buNone/>
                      </a:pPr>
                      <a:r>
                        <a:rPr lang="en"/>
                        <a:t>15.8%</a:t>
                      </a:r>
                      <a:endParaRPr/>
                    </a:p>
                  </a:txBody>
                  <a:tcPr marT="91425" marB="91425" marR="91425" marL="91425" anchor="ctr"/>
                </a:tc>
              </a:tr>
            </a:tbl>
          </a:graphicData>
        </a:graphic>
      </p:graphicFrame>
      <p:sp>
        <p:nvSpPr>
          <p:cNvPr id="1188" name="Google Shape;1188;p120"/>
          <p:cNvSpPr txBox="1"/>
          <p:nvPr/>
        </p:nvSpPr>
        <p:spPr>
          <a:xfrm>
            <a:off x="437400" y="1357325"/>
            <a:ext cx="82692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M&amp;M Bag is from NJ.</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M&amp;M Bag is from TN.</a:t>
            </a:r>
            <a:endParaRPr sz="2400">
              <a:latin typeface="Google Sans"/>
              <a:ea typeface="Google Sans"/>
              <a:cs typeface="Google Sans"/>
              <a:sym typeface="Google Sans"/>
            </a:endParaRPr>
          </a:p>
        </p:txBody>
      </p:sp>
      <p:pic>
        <p:nvPicPr>
          <p:cNvPr id="1189" name="Google Shape;1189;p120"/>
          <p:cNvPicPr preferRelativeResize="0"/>
          <p:nvPr/>
        </p:nvPicPr>
        <p:blipFill>
          <a:blip r:embed="rId3">
            <a:alphaModFix/>
          </a:blip>
          <a:stretch>
            <a:fillRect/>
          </a:stretch>
        </p:blipFill>
        <p:spPr>
          <a:xfrm>
            <a:off x="5860525" y="1518975"/>
            <a:ext cx="2971800" cy="600075"/>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2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Smoking Gun</a:t>
            </a:r>
            <a:endParaRPr/>
          </a:p>
        </p:txBody>
      </p:sp>
      <p:pic>
        <p:nvPicPr>
          <p:cNvPr id="1195" name="Google Shape;1195;p121"/>
          <p:cNvPicPr preferRelativeResize="0"/>
          <p:nvPr/>
        </p:nvPicPr>
        <p:blipFill>
          <a:blip r:embed="rId3">
            <a:alphaModFix/>
          </a:blip>
          <a:stretch>
            <a:fillRect/>
          </a:stretch>
        </p:blipFill>
        <p:spPr>
          <a:xfrm>
            <a:off x="3764550" y="1323800"/>
            <a:ext cx="4953795" cy="3714076"/>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12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M&amp;M Analysis</a:t>
            </a:r>
            <a:endParaRPr/>
          </a:p>
        </p:txBody>
      </p:sp>
      <p:pic>
        <p:nvPicPr>
          <p:cNvPr id="1201" name="Google Shape;1201;p122"/>
          <p:cNvPicPr preferRelativeResize="0"/>
          <p:nvPr/>
        </p:nvPicPr>
        <p:blipFill>
          <a:blip r:embed="rId3">
            <a:alphaModFix/>
          </a:blip>
          <a:stretch>
            <a:fillRect/>
          </a:stretch>
        </p:blipFill>
        <p:spPr>
          <a:xfrm>
            <a:off x="3565825" y="1429425"/>
            <a:ext cx="5519046" cy="3714075"/>
          </a:xfrm>
          <a:prstGeom prst="rect">
            <a:avLst/>
          </a:prstGeom>
          <a:noFill/>
          <a:ln>
            <a:noFill/>
          </a:ln>
        </p:spPr>
      </p:pic>
      <p:sp>
        <p:nvSpPr>
          <p:cNvPr id="1202" name="Google Shape;1202;p122"/>
          <p:cNvSpPr txBox="1"/>
          <p:nvPr/>
        </p:nvSpPr>
        <p:spPr>
          <a:xfrm>
            <a:off x="327325" y="1753475"/>
            <a:ext cx="3121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Deviation as large as the one observed from NJ happened 0 out of a million trials,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For TN it was 1 out of 48, ~2%</a:t>
            </a:r>
            <a:endParaRPr>
              <a:latin typeface="Google Sans"/>
              <a:ea typeface="Google Sans"/>
              <a:cs typeface="Google Sans"/>
              <a:sym typeface="Google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Unhelpful</a:t>
            </a:r>
            <a:endParaRPr/>
          </a:p>
        </p:txBody>
      </p:sp>
      <p:pic>
        <p:nvPicPr>
          <p:cNvPr id="1208" name="Google Shape;1208;p123"/>
          <p:cNvPicPr preferRelativeResize="0"/>
          <p:nvPr/>
        </p:nvPicPr>
        <p:blipFill>
          <a:blip r:embed="rId3">
            <a:alphaModFix/>
          </a:blip>
          <a:stretch>
            <a:fillRect/>
          </a:stretch>
        </p:blipFill>
        <p:spPr>
          <a:xfrm>
            <a:off x="1558400" y="1656950"/>
            <a:ext cx="6027249" cy="2866975"/>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Ends</a:t>
            </a:r>
            <a:endParaRPr/>
          </a:p>
        </p:txBody>
      </p:sp>
      <p:cxnSp>
        <p:nvCxnSpPr>
          <p:cNvPr id="1214" name="Google Shape;1214;p124"/>
          <p:cNvCxnSpPr/>
          <p:nvPr/>
        </p:nvCxnSpPr>
        <p:spPr>
          <a:xfrm>
            <a:off x="475700" y="2159575"/>
            <a:ext cx="7959900" cy="0"/>
          </a:xfrm>
          <a:prstGeom prst="straightConnector1">
            <a:avLst/>
          </a:prstGeom>
          <a:noFill/>
          <a:ln cap="flat" cmpd="sng" w="28575">
            <a:solidFill>
              <a:schemeClr val="dk2"/>
            </a:solidFill>
            <a:prstDash val="solid"/>
            <a:round/>
            <a:headEnd len="med" w="med" type="stealth"/>
            <a:tailEnd len="med" w="med" type="stealth"/>
          </a:ln>
        </p:spPr>
      </p:cxnSp>
      <p:cxnSp>
        <p:nvCxnSpPr>
          <p:cNvPr id="1215" name="Google Shape;1215;p124"/>
          <p:cNvCxnSpPr/>
          <p:nvPr/>
        </p:nvCxnSpPr>
        <p:spPr>
          <a:xfrm>
            <a:off x="509616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16" name="Google Shape;1216;p124"/>
          <p:cNvCxnSpPr/>
          <p:nvPr/>
        </p:nvCxnSpPr>
        <p:spPr>
          <a:xfrm>
            <a:off x="5694308"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17" name="Google Shape;1217;p124"/>
          <p:cNvCxnSpPr/>
          <p:nvPr/>
        </p:nvCxnSpPr>
        <p:spPr>
          <a:xfrm>
            <a:off x="6292456"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18" name="Google Shape;1218;p124"/>
          <p:cNvCxnSpPr/>
          <p:nvPr/>
        </p:nvCxnSpPr>
        <p:spPr>
          <a:xfrm>
            <a:off x="6890604"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19" name="Google Shape;1219;p124"/>
          <p:cNvCxnSpPr/>
          <p:nvPr/>
        </p:nvCxnSpPr>
        <p:spPr>
          <a:xfrm>
            <a:off x="7488752"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0" name="Google Shape;1220;p124"/>
          <p:cNvCxnSpPr/>
          <p:nvPr/>
        </p:nvCxnSpPr>
        <p:spPr>
          <a:xfrm>
            <a:off x="808690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1" name="Google Shape;1221;p124"/>
          <p:cNvCxnSpPr/>
          <p:nvPr/>
        </p:nvCxnSpPr>
        <p:spPr>
          <a:xfrm>
            <a:off x="2105421"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2" name="Google Shape;1222;p124"/>
          <p:cNvCxnSpPr/>
          <p:nvPr/>
        </p:nvCxnSpPr>
        <p:spPr>
          <a:xfrm>
            <a:off x="2703569"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3" name="Google Shape;1223;p124"/>
          <p:cNvCxnSpPr/>
          <p:nvPr/>
        </p:nvCxnSpPr>
        <p:spPr>
          <a:xfrm>
            <a:off x="3301717"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4" name="Google Shape;1224;p124"/>
          <p:cNvCxnSpPr/>
          <p:nvPr/>
        </p:nvCxnSpPr>
        <p:spPr>
          <a:xfrm>
            <a:off x="389986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5" name="Google Shape;1225;p124"/>
          <p:cNvCxnSpPr/>
          <p:nvPr/>
        </p:nvCxnSpPr>
        <p:spPr>
          <a:xfrm>
            <a:off x="4498013"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6" name="Google Shape;1226;p124"/>
          <p:cNvCxnSpPr/>
          <p:nvPr/>
        </p:nvCxnSpPr>
        <p:spPr>
          <a:xfrm>
            <a:off x="90912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27" name="Google Shape;1227;p124"/>
          <p:cNvCxnSpPr/>
          <p:nvPr/>
        </p:nvCxnSpPr>
        <p:spPr>
          <a:xfrm>
            <a:off x="1507273" y="1985125"/>
            <a:ext cx="0" cy="348900"/>
          </a:xfrm>
          <a:prstGeom prst="straightConnector1">
            <a:avLst/>
          </a:prstGeom>
          <a:noFill/>
          <a:ln cap="flat" cmpd="sng" w="9525">
            <a:solidFill>
              <a:schemeClr val="dk2"/>
            </a:solidFill>
            <a:prstDash val="solid"/>
            <a:round/>
            <a:headEnd len="med" w="med" type="none"/>
            <a:tailEnd len="med" w="med" type="none"/>
          </a:ln>
        </p:spPr>
      </p:cxnSp>
      <p:sp>
        <p:nvSpPr>
          <p:cNvPr id="1228" name="Google Shape;1228;p124"/>
          <p:cNvSpPr txBox="1"/>
          <p:nvPr/>
        </p:nvSpPr>
        <p:spPr>
          <a:xfrm>
            <a:off x="6424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1229" name="Google Shape;1229;p124"/>
          <p:cNvSpPr txBox="1"/>
          <p:nvPr/>
        </p:nvSpPr>
        <p:spPr>
          <a:xfrm>
            <a:off x="12405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230" name="Google Shape;1230;p124"/>
          <p:cNvSpPr txBox="1"/>
          <p:nvPr/>
        </p:nvSpPr>
        <p:spPr>
          <a:xfrm>
            <a:off x="18387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231" name="Google Shape;1231;p124"/>
          <p:cNvSpPr txBox="1"/>
          <p:nvPr/>
        </p:nvSpPr>
        <p:spPr>
          <a:xfrm>
            <a:off x="24368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232" name="Google Shape;1232;p124"/>
          <p:cNvSpPr txBox="1"/>
          <p:nvPr/>
        </p:nvSpPr>
        <p:spPr>
          <a:xfrm>
            <a:off x="30350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233" name="Google Shape;1233;p124"/>
          <p:cNvSpPr txBox="1"/>
          <p:nvPr/>
        </p:nvSpPr>
        <p:spPr>
          <a:xfrm>
            <a:off x="36331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234" name="Google Shape;1234;p124"/>
          <p:cNvSpPr txBox="1"/>
          <p:nvPr/>
        </p:nvSpPr>
        <p:spPr>
          <a:xfrm>
            <a:off x="42313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1235" name="Google Shape;1235;p124"/>
          <p:cNvSpPr txBox="1"/>
          <p:nvPr/>
        </p:nvSpPr>
        <p:spPr>
          <a:xfrm>
            <a:off x="48294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236" name="Google Shape;1236;p124"/>
          <p:cNvSpPr txBox="1"/>
          <p:nvPr/>
        </p:nvSpPr>
        <p:spPr>
          <a:xfrm>
            <a:off x="54276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237" name="Google Shape;1237;p124"/>
          <p:cNvSpPr txBox="1"/>
          <p:nvPr/>
        </p:nvSpPr>
        <p:spPr>
          <a:xfrm>
            <a:off x="60257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238" name="Google Shape;1238;p124"/>
          <p:cNvSpPr txBox="1"/>
          <p:nvPr/>
        </p:nvSpPr>
        <p:spPr>
          <a:xfrm>
            <a:off x="66239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239" name="Google Shape;1239;p124"/>
          <p:cNvSpPr txBox="1"/>
          <p:nvPr/>
        </p:nvSpPr>
        <p:spPr>
          <a:xfrm>
            <a:off x="72220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240" name="Google Shape;1240;p124"/>
          <p:cNvSpPr txBox="1"/>
          <p:nvPr/>
        </p:nvSpPr>
        <p:spPr>
          <a:xfrm>
            <a:off x="78202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1241" name="Google Shape;1241;p124"/>
          <p:cNvCxnSpPr/>
          <p:nvPr/>
        </p:nvCxnSpPr>
        <p:spPr>
          <a:xfrm flipH="1" rot="10800000">
            <a:off x="12040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2" name="Google Shape;1242;p124"/>
          <p:cNvCxnSpPr/>
          <p:nvPr/>
        </p:nvCxnSpPr>
        <p:spPr>
          <a:xfrm flipH="1" rot="10800000">
            <a:off x="18021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3" name="Google Shape;1243;p124"/>
          <p:cNvCxnSpPr/>
          <p:nvPr/>
        </p:nvCxnSpPr>
        <p:spPr>
          <a:xfrm flipH="1" rot="10800000">
            <a:off x="24003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4" name="Google Shape;1244;p124"/>
          <p:cNvCxnSpPr/>
          <p:nvPr/>
        </p:nvCxnSpPr>
        <p:spPr>
          <a:xfrm flipH="1" rot="10800000">
            <a:off x="29984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5" name="Google Shape;1245;p124"/>
          <p:cNvCxnSpPr/>
          <p:nvPr/>
        </p:nvCxnSpPr>
        <p:spPr>
          <a:xfrm flipH="1" rot="10800000">
            <a:off x="35965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6" name="Google Shape;1246;p124"/>
          <p:cNvCxnSpPr/>
          <p:nvPr/>
        </p:nvCxnSpPr>
        <p:spPr>
          <a:xfrm flipH="1" rot="10800000">
            <a:off x="41947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7" name="Google Shape;1247;p124"/>
          <p:cNvCxnSpPr/>
          <p:nvPr/>
        </p:nvCxnSpPr>
        <p:spPr>
          <a:xfrm flipH="1" rot="10800000">
            <a:off x="47928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8" name="Google Shape;1248;p124"/>
          <p:cNvCxnSpPr/>
          <p:nvPr/>
        </p:nvCxnSpPr>
        <p:spPr>
          <a:xfrm flipH="1" rot="10800000">
            <a:off x="53910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49" name="Google Shape;1249;p124"/>
          <p:cNvCxnSpPr/>
          <p:nvPr/>
        </p:nvCxnSpPr>
        <p:spPr>
          <a:xfrm flipH="1" rot="10800000">
            <a:off x="59891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50" name="Google Shape;1250;p124"/>
          <p:cNvCxnSpPr/>
          <p:nvPr/>
        </p:nvCxnSpPr>
        <p:spPr>
          <a:xfrm flipH="1" rot="10800000">
            <a:off x="658732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51" name="Google Shape;1251;p124"/>
          <p:cNvCxnSpPr/>
          <p:nvPr/>
        </p:nvCxnSpPr>
        <p:spPr>
          <a:xfrm flipH="1" rot="10800000">
            <a:off x="71854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52" name="Google Shape;1252;p124"/>
          <p:cNvCxnSpPr/>
          <p:nvPr/>
        </p:nvCxnSpPr>
        <p:spPr>
          <a:xfrm flipH="1" rot="10800000">
            <a:off x="7783625" y="2019625"/>
            <a:ext cx="8400" cy="279900"/>
          </a:xfrm>
          <a:prstGeom prst="straightConnector1">
            <a:avLst/>
          </a:prstGeom>
          <a:noFill/>
          <a:ln cap="flat" cmpd="sng" w="9525">
            <a:solidFill>
              <a:schemeClr val="dk2"/>
            </a:solidFill>
            <a:prstDash val="solid"/>
            <a:round/>
            <a:headEnd len="med" w="med" type="none"/>
            <a:tailEnd len="med" w="med" type="none"/>
          </a:ln>
        </p:spPr>
      </p:cxnSp>
      <p:sp>
        <p:nvSpPr>
          <p:cNvPr id="1253" name="Google Shape;1253;p124"/>
          <p:cNvSpPr txBox="1"/>
          <p:nvPr/>
        </p:nvSpPr>
        <p:spPr>
          <a:xfrm>
            <a:off x="5665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1254" name="Google Shape;1254;p124"/>
          <p:cNvSpPr txBox="1"/>
          <p:nvPr/>
        </p:nvSpPr>
        <p:spPr>
          <a:xfrm>
            <a:off x="77443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1255" name="Google Shape;1255;p124"/>
          <p:cNvSpPr txBox="1"/>
          <p:nvPr/>
        </p:nvSpPr>
        <p:spPr>
          <a:xfrm>
            <a:off x="41554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1256" name="Google Shape;1256;p124"/>
          <p:cNvSpPr txBox="1"/>
          <p:nvPr/>
        </p:nvSpPr>
        <p:spPr>
          <a:xfrm>
            <a:off x="505265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1257" name="Google Shape;1257;p124"/>
          <p:cNvSpPr txBox="1"/>
          <p:nvPr/>
        </p:nvSpPr>
        <p:spPr>
          <a:xfrm>
            <a:off x="325820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1258" name="Google Shape;1258;p124"/>
          <p:cNvSpPr txBox="1"/>
          <p:nvPr/>
        </p:nvSpPr>
        <p:spPr>
          <a:xfrm>
            <a:off x="71461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1259" name="Google Shape;1259;p124"/>
          <p:cNvSpPr txBox="1"/>
          <p:nvPr/>
        </p:nvSpPr>
        <p:spPr>
          <a:xfrm>
            <a:off x="11646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1260" name="Google Shape;1260;p124"/>
          <p:cNvSpPr txBox="1"/>
          <p:nvPr/>
        </p:nvSpPr>
        <p:spPr>
          <a:xfrm>
            <a:off x="6248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1261" name="Google Shape;1261;p124"/>
          <p:cNvSpPr txBox="1"/>
          <p:nvPr/>
        </p:nvSpPr>
        <p:spPr>
          <a:xfrm>
            <a:off x="2061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1262" name="Google Shape;1262;p124"/>
          <p:cNvSpPr/>
          <p:nvPr/>
        </p:nvSpPr>
        <p:spPr>
          <a:xfrm>
            <a:off x="5554363" y="20196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124"/>
          <p:cNvSpPr txBox="1"/>
          <p:nvPr/>
        </p:nvSpPr>
        <p:spPr>
          <a:xfrm>
            <a:off x="7621975" y="2853075"/>
            <a:ext cx="142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Your Bag of M&amp;Ms came from NJ</a:t>
            </a:r>
            <a:endParaRPr>
              <a:solidFill>
                <a:schemeClr val="accent5"/>
              </a:solidFill>
              <a:latin typeface="Roboto"/>
              <a:ea typeface="Roboto"/>
              <a:cs typeface="Roboto"/>
              <a:sym typeface="Roboto"/>
            </a:endParaRPr>
          </a:p>
        </p:txBody>
      </p:sp>
      <p:sp>
        <p:nvSpPr>
          <p:cNvPr id="1264" name="Google Shape;1264;p124"/>
          <p:cNvSpPr txBox="1"/>
          <p:nvPr/>
        </p:nvSpPr>
        <p:spPr>
          <a:xfrm>
            <a:off x="198425" y="2993025"/>
            <a:ext cx="142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Your Bag of M&amp;Ms came from TN</a:t>
            </a:r>
            <a:endParaRPr>
              <a:solidFill>
                <a:schemeClr val="accent5"/>
              </a:solidFill>
              <a:latin typeface="Roboto"/>
              <a:ea typeface="Roboto"/>
              <a:cs typeface="Roboto"/>
              <a:sym typeface="Roboto"/>
            </a:endParaRPr>
          </a:p>
        </p:txBody>
      </p:sp>
      <p:pic>
        <p:nvPicPr>
          <p:cNvPr id="1265" name="Google Shape;1265;p124"/>
          <p:cNvPicPr preferRelativeResize="0"/>
          <p:nvPr/>
        </p:nvPicPr>
        <p:blipFill>
          <a:blip r:embed="rId3">
            <a:alphaModFix/>
          </a:blip>
          <a:stretch>
            <a:fillRect/>
          </a:stretch>
        </p:blipFill>
        <p:spPr>
          <a:xfrm>
            <a:off x="3360726" y="3302922"/>
            <a:ext cx="2274599" cy="147400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9" name="Shape 1269"/>
        <p:cNvGrpSpPr/>
        <p:nvPr/>
      </p:nvGrpSpPr>
      <p:grpSpPr>
        <a:xfrm>
          <a:off x="0" y="0"/>
          <a:ext cx="0" cy="0"/>
          <a:chOff x="0" y="0"/>
          <a:chExt cx="0" cy="0"/>
        </a:xfrm>
      </p:grpSpPr>
      <p:sp>
        <p:nvSpPr>
          <p:cNvPr id="1270" name="Google Shape;1270;p12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Ends</a:t>
            </a:r>
            <a:endParaRPr/>
          </a:p>
        </p:txBody>
      </p:sp>
      <p:cxnSp>
        <p:nvCxnSpPr>
          <p:cNvPr id="1271" name="Google Shape;1271;p125"/>
          <p:cNvCxnSpPr/>
          <p:nvPr/>
        </p:nvCxnSpPr>
        <p:spPr>
          <a:xfrm>
            <a:off x="475700" y="2159575"/>
            <a:ext cx="7959900" cy="0"/>
          </a:xfrm>
          <a:prstGeom prst="straightConnector1">
            <a:avLst/>
          </a:prstGeom>
          <a:noFill/>
          <a:ln cap="flat" cmpd="sng" w="28575">
            <a:solidFill>
              <a:schemeClr val="dk2"/>
            </a:solidFill>
            <a:prstDash val="solid"/>
            <a:round/>
            <a:headEnd len="med" w="med" type="stealth"/>
            <a:tailEnd len="med" w="med" type="stealth"/>
          </a:ln>
        </p:spPr>
      </p:cxnSp>
      <p:cxnSp>
        <p:nvCxnSpPr>
          <p:cNvPr id="1272" name="Google Shape;1272;p125"/>
          <p:cNvCxnSpPr/>
          <p:nvPr/>
        </p:nvCxnSpPr>
        <p:spPr>
          <a:xfrm>
            <a:off x="509616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3" name="Google Shape;1273;p125"/>
          <p:cNvCxnSpPr/>
          <p:nvPr/>
        </p:nvCxnSpPr>
        <p:spPr>
          <a:xfrm>
            <a:off x="5694308"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4" name="Google Shape;1274;p125"/>
          <p:cNvCxnSpPr/>
          <p:nvPr/>
        </p:nvCxnSpPr>
        <p:spPr>
          <a:xfrm>
            <a:off x="6292456"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5" name="Google Shape;1275;p125"/>
          <p:cNvCxnSpPr/>
          <p:nvPr/>
        </p:nvCxnSpPr>
        <p:spPr>
          <a:xfrm>
            <a:off x="6890604"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6" name="Google Shape;1276;p125"/>
          <p:cNvCxnSpPr/>
          <p:nvPr/>
        </p:nvCxnSpPr>
        <p:spPr>
          <a:xfrm>
            <a:off x="7488752"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7" name="Google Shape;1277;p125"/>
          <p:cNvCxnSpPr/>
          <p:nvPr/>
        </p:nvCxnSpPr>
        <p:spPr>
          <a:xfrm>
            <a:off x="808690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8" name="Google Shape;1278;p125"/>
          <p:cNvCxnSpPr/>
          <p:nvPr/>
        </p:nvCxnSpPr>
        <p:spPr>
          <a:xfrm>
            <a:off x="2105421"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79" name="Google Shape;1279;p125"/>
          <p:cNvCxnSpPr/>
          <p:nvPr/>
        </p:nvCxnSpPr>
        <p:spPr>
          <a:xfrm>
            <a:off x="2703569"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80" name="Google Shape;1280;p125"/>
          <p:cNvCxnSpPr/>
          <p:nvPr/>
        </p:nvCxnSpPr>
        <p:spPr>
          <a:xfrm>
            <a:off x="3301717"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81" name="Google Shape;1281;p125"/>
          <p:cNvCxnSpPr/>
          <p:nvPr/>
        </p:nvCxnSpPr>
        <p:spPr>
          <a:xfrm>
            <a:off x="389986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82" name="Google Shape;1282;p125"/>
          <p:cNvCxnSpPr/>
          <p:nvPr/>
        </p:nvCxnSpPr>
        <p:spPr>
          <a:xfrm>
            <a:off x="4498013"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125"/>
          <p:cNvCxnSpPr/>
          <p:nvPr/>
        </p:nvCxnSpPr>
        <p:spPr>
          <a:xfrm>
            <a:off x="90912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125"/>
          <p:cNvCxnSpPr/>
          <p:nvPr/>
        </p:nvCxnSpPr>
        <p:spPr>
          <a:xfrm>
            <a:off x="1507273" y="1985125"/>
            <a:ext cx="0" cy="348900"/>
          </a:xfrm>
          <a:prstGeom prst="straightConnector1">
            <a:avLst/>
          </a:prstGeom>
          <a:noFill/>
          <a:ln cap="flat" cmpd="sng" w="9525">
            <a:solidFill>
              <a:schemeClr val="dk2"/>
            </a:solidFill>
            <a:prstDash val="solid"/>
            <a:round/>
            <a:headEnd len="med" w="med" type="none"/>
            <a:tailEnd len="med" w="med" type="none"/>
          </a:ln>
        </p:spPr>
      </p:cxnSp>
      <p:sp>
        <p:nvSpPr>
          <p:cNvPr id="1285" name="Google Shape;1285;p125"/>
          <p:cNvSpPr txBox="1"/>
          <p:nvPr/>
        </p:nvSpPr>
        <p:spPr>
          <a:xfrm>
            <a:off x="6424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1286" name="Google Shape;1286;p125"/>
          <p:cNvSpPr txBox="1"/>
          <p:nvPr/>
        </p:nvSpPr>
        <p:spPr>
          <a:xfrm>
            <a:off x="12405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287" name="Google Shape;1287;p125"/>
          <p:cNvSpPr txBox="1"/>
          <p:nvPr/>
        </p:nvSpPr>
        <p:spPr>
          <a:xfrm>
            <a:off x="18387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288" name="Google Shape;1288;p125"/>
          <p:cNvSpPr txBox="1"/>
          <p:nvPr/>
        </p:nvSpPr>
        <p:spPr>
          <a:xfrm>
            <a:off x="24368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289" name="Google Shape;1289;p125"/>
          <p:cNvSpPr txBox="1"/>
          <p:nvPr/>
        </p:nvSpPr>
        <p:spPr>
          <a:xfrm>
            <a:off x="30350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290" name="Google Shape;1290;p125"/>
          <p:cNvSpPr txBox="1"/>
          <p:nvPr/>
        </p:nvSpPr>
        <p:spPr>
          <a:xfrm>
            <a:off x="36331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291" name="Google Shape;1291;p125"/>
          <p:cNvSpPr txBox="1"/>
          <p:nvPr/>
        </p:nvSpPr>
        <p:spPr>
          <a:xfrm>
            <a:off x="42313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1292" name="Google Shape;1292;p125"/>
          <p:cNvSpPr txBox="1"/>
          <p:nvPr/>
        </p:nvSpPr>
        <p:spPr>
          <a:xfrm>
            <a:off x="48294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293" name="Google Shape;1293;p125"/>
          <p:cNvSpPr txBox="1"/>
          <p:nvPr/>
        </p:nvSpPr>
        <p:spPr>
          <a:xfrm>
            <a:off x="54276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294" name="Google Shape;1294;p125"/>
          <p:cNvSpPr txBox="1"/>
          <p:nvPr/>
        </p:nvSpPr>
        <p:spPr>
          <a:xfrm>
            <a:off x="60257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295" name="Google Shape;1295;p125"/>
          <p:cNvSpPr txBox="1"/>
          <p:nvPr/>
        </p:nvSpPr>
        <p:spPr>
          <a:xfrm>
            <a:off x="66239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296" name="Google Shape;1296;p125"/>
          <p:cNvSpPr txBox="1"/>
          <p:nvPr/>
        </p:nvSpPr>
        <p:spPr>
          <a:xfrm>
            <a:off x="72220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297" name="Google Shape;1297;p125"/>
          <p:cNvSpPr txBox="1"/>
          <p:nvPr/>
        </p:nvSpPr>
        <p:spPr>
          <a:xfrm>
            <a:off x="78202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1298" name="Google Shape;1298;p125"/>
          <p:cNvCxnSpPr/>
          <p:nvPr/>
        </p:nvCxnSpPr>
        <p:spPr>
          <a:xfrm flipH="1" rot="10800000">
            <a:off x="12040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299" name="Google Shape;1299;p125"/>
          <p:cNvCxnSpPr/>
          <p:nvPr/>
        </p:nvCxnSpPr>
        <p:spPr>
          <a:xfrm flipH="1" rot="10800000">
            <a:off x="18021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0" name="Google Shape;1300;p125"/>
          <p:cNvCxnSpPr/>
          <p:nvPr/>
        </p:nvCxnSpPr>
        <p:spPr>
          <a:xfrm flipH="1" rot="10800000">
            <a:off x="24003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125"/>
          <p:cNvCxnSpPr/>
          <p:nvPr/>
        </p:nvCxnSpPr>
        <p:spPr>
          <a:xfrm flipH="1" rot="10800000">
            <a:off x="29984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125"/>
          <p:cNvCxnSpPr/>
          <p:nvPr/>
        </p:nvCxnSpPr>
        <p:spPr>
          <a:xfrm flipH="1" rot="10800000">
            <a:off x="35965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3" name="Google Shape;1303;p125"/>
          <p:cNvCxnSpPr/>
          <p:nvPr/>
        </p:nvCxnSpPr>
        <p:spPr>
          <a:xfrm flipH="1" rot="10800000">
            <a:off x="41947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4" name="Google Shape;1304;p125"/>
          <p:cNvCxnSpPr/>
          <p:nvPr/>
        </p:nvCxnSpPr>
        <p:spPr>
          <a:xfrm flipH="1" rot="10800000">
            <a:off x="47928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5" name="Google Shape;1305;p125"/>
          <p:cNvCxnSpPr/>
          <p:nvPr/>
        </p:nvCxnSpPr>
        <p:spPr>
          <a:xfrm flipH="1" rot="10800000">
            <a:off x="53910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6" name="Google Shape;1306;p125"/>
          <p:cNvCxnSpPr/>
          <p:nvPr/>
        </p:nvCxnSpPr>
        <p:spPr>
          <a:xfrm flipH="1" rot="10800000">
            <a:off x="59891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7" name="Google Shape;1307;p125"/>
          <p:cNvCxnSpPr/>
          <p:nvPr/>
        </p:nvCxnSpPr>
        <p:spPr>
          <a:xfrm flipH="1" rot="10800000">
            <a:off x="658732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8" name="Google Shape;1308;p125"/>
          <p:cNvCxnSpPr/>
          <p:nvPr/>
        </p:nvCxnSpPr>
        <p:spPr>
          <a:xfrm flipH="1" rot="10800000">
            <a:off x="71854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09" name="Google Shape;1309;p125"/>
          <p:cNvCxnSpPr/>
          <p:nvPr/>
        </p:nvCxnSpPr>
        <p:spPr>
          <a:xfrm flipH="1" rot="10800000">
            <a:off x="7783625" y="2019625"/>
            <a:ext cx="8400" cy="279900"/>
          </a:xfrm>
          <a:prstGeom prst="straightConnector1">
            <a:avLst/>
          </a:prstGeom>
          <a:noFill/>
          <a:ln cap="flat" cmpd="sng" w="9525">
            <a:solidFill>
              <a:schemeClr val="dk2"/>
            </a:solidFill>
            <a:prstDash val="solid"/>
            <a:round/>
            <a:headEnd len="med" w="med" type="none"/>
            <a:tailEnd len="med" w="med" type="none"/>
          </a:ln>
        </p:spPr>
      </p:cxnSp>
      <p:sp>
        <p:nvSpPr>
          <p:cNvPr id="1310" name="Google Shape;1310;p125"/>
          <p:cNvSpPr txBox="1"/>
          <p:nvPr/>
        </p:nvSpPr>
        <p:spPr>
          <a:xfrm>
            <a:off x="5665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1311" name="Google Shape;1311;p125"/>
          <p:cNvSpPr txBox="1"/>
          <p:nvPr/>
        </p:nvSpPr>
        <p:spPr>
          <a:xfrm>
            <a:off x="77443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1312" name="Google Shape;1312;p125"/>
          <p:cNvSpPr txBox="1"/>
          <p:nvPr/>
        </p:nvSpPr>
        <p:spPr>
          <a:xfrm>
            <a:off x="41554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1313" name="Google Shape;1313;p125"/>
          <p:cNvSpPr txBox="1"/>
          <p:nvPr/>
        </p:nvSpPr>
        <p:spPr>
          <a:xfrm>
            <a:off x="505265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1314" name="Google Shape;1314;p125"/>
          <p:cNvSpPr txBox="1"/>
          <p:nvPr/>
        </p:nvSpPr>
        <p:spPr>
          <a:xfrm>
            <a:off x="325820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1315" name="Google Shape;1315;p125"/>
          <p:cNvSpPr txBox="1"/>
          <p:nvPr/>
        </p:nvSpPr>
        <p:spPr>
          <a:xfrm>
            <a:off x="71461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1316" name="Google Shape;1316;p125"/>
          <p:cNvSpPr txBox="1"/>
          <p:nvPr/>
        </p:nvSpPr>
        <p:spPr>
          <a:xfrm>
            <a:off x="11646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1317" name="Google Shape;1317;p125"/>
          <p:cNvSpPr txBox="1"/>
          <p:nvPr/>
        </p:nvSpPr>
        <p:spPr>
          <a:xfrm>
            <a:off x="6248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1318" name="Google Shape;1318;p125"/>
          <p:cNvSpPr txBox="1"/>
          <p:nvPr/>
        </p:nvSpPr>
        <p:spPr>
          <a:xfrm>
            <a:off x="2061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1319" name="Google Shape;1319;p125"/>
          <p:cNvSpPr/>
          <p:nvPr/>
        </p:nvSpPr>
        <p:spPr>
          <a:xfrm>
            <a:off x="5554363" y="20196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125"/>
          <p:cNvSpPr txBox="1"/>
          <p:nvPr/>
        </p:nvSpPr>
        <p:spPr>
          <a:xfrm>
            <a:off x="7621975" y="2853075"/>
            <a:ext cx="142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It'll rain tomorrow</a:t>
            </a:r>
            <a:endParaRPr>
              <a:solidFill>
                <a:schemeClr val="accent5"/>
              </a:solidFill>
              <a:latin typeface="Roboto"/>
              <a:ea typeface="Roboto"/>
              <a:cs typeface="Roboto"/>
              <a:sym typeface="Roboto"/>
            </a:endParaRPr>
          </a:p>
        </p:txBody>
      </p:sp>
      <p:sp>
        <p:nvSpPr>
          <p:cNvPr id="1321" name="Google Shape;1321;p125"/>
          <p:cNvSpPr txBox="1"/>
          <p:nvPr/>
        </p:nvSpPr>
        <p:spPr>
          <a:xfrm>
            <a:off x="198425" y="2993025"/>
            <a:ext cx="142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It'll snow tomorrow</a:t>
            </a:r>
            <a:endParaRPr>
              <a:solidFill>
                <a:schemeClr val="accent5"/>
              </a:solidFill>
              <a:latin typeface="Roboto"/>
              <a:ea typeface="Roboto"/>
              <a:cs typeface="Roboto"/>
              <a:sym typeface="Roboto"/>
            </a:endParaRPr>
          </a:p>
        </p:txBody>
      </p:sp>
      <p:pic>
        <p:nvPicPr>
          <p:cNvPr id="1322" name="Google Shape;1322;p125"/>
          <p:cNvPicPr preferRelativeResize="0"/>
          <p:nvPr/>
        </p:nvPicPr>
        <p:blipFill>
          <a:blip r:embed="rId3">
            <a:alphaModFix/>
          </a:blip>
          <a:stretch>
            <a:fillRect/>
          </a:stretch>
        </p:blipFill>
        <p:spPr>
          <a:xfrm>
            <a:off x="3360726" y="3302922"/>
            <a:ext cx="2274599" cy="147400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12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Two Ends</a:t>
            </a:r>
            <a:endParaRPr/>
          </a:p>
        </p:txBody>
      </p:sp>
      <p:cxnSp>
        <p:nvCxnSpPr>
          <p:cNvPr id="1328" name="Google Shape;1328;p126"/>
          <p:cNvCxnSpPr/>
          <p:nvPr/>
        </p:nvCxnSpPr>
        <p:spPr>
          <a:xfrm>
            <a:off x="475700" y="2159575"/>
            <a:ext cx="7959900" cy="0"/>
          </a:xfrm>
          <a:prstGeom prst="straightConnector1">
            <a:avLst/>
          </a:prstGeom>
          <a:noFill/>
          <a:ln cap="flat" cmpd="sng" w="28575">
            <a:solidFill>
              <a:schemeClr val="dk2"/>
            </a:solidFill>
            <a:prstDash val="solid"/>
            <a:round/>
            <a:headEnd len="med" w="med" type="stealth"/>
            <a:tailEnd len="med" w="med" type="stealth"/>
          </a:ln>
        </p:spPr>
      </p:cxnSp>
      <p:cxnSp>
        <p:nvCxnSpPr>
          <p:cNvPr id="1329" name="Google Shape;1329;p126"/>
          <p:cNvCxnSpPr/>
          <p:nvPr/>
        </p:nvCxnSpPr>
        <p:spPr>
          <a:xfrm>
            <a:off x="509616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0" name="Google Shape;1330;p126"/>
          <p:cNvCxnSpPr/>
          <p:nvPr/>
        </p:nvCxnSpPr>
        <p:spPr>
          <a:xfrm>
            <a:off x="5694308"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1" name="Google Shape;1331;p126"/>
          <p:cNvCxnSpPr/>
          <p:nvPr/>
        </p:nvCxnSpPr>
        <p:spPr>
          <a:xfrm>
            <a:off x="6292456"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2" name="Google Shape;1332;p126"/>
          <p:cNvCxnSpPr/>
          <p:nvPr/>
        </p:nvCxnSpPr>
        <p:spPr>
          <a:xfrm>
            <a:off x="6890604"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3" name="Google Shape;1333;p126"/>
          <p:cNvCxnSpPr/>
          <p:nvPr/>
        </p:nvCxnSpPr>
        <p:spPr>
          <a:xfrm>
            <a:off x="7488752"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4" name="Google Shape;1334;p126"/>
          <p:cNvCxnSpPr/>
          <p:nvPr/>
        </p:nvCxnSpPr>
        <p:spPr>
          <a:xfrm>
            <a:off x="8086900"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5" name="Google Shape;1335;p126"/>
          <p:cNvCxnSpPr/>
          <p:nvPr/>
        </p:nvCxnSpPr>
        <p:spPr>
          <a:xfrm>
            <a:off x="2105421"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6" name="Google Shape;1336;p126"/>
          <p:cNvCxnSpPr/>
          <p:nvPr/>
        </p:nvCxnSpPr>
        <p:spPr>
          <a:xfrm>
            <a:off x="2703569"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7" name="Google Shape;1337;p126"/>
          <p:cNvCxnSpPr/>
          <p:nvPr/>
        </p:nvCxnSpPr>
        <p:spPr>
          <a:xfrm>
            <a:off x="3301717"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8" name="Google Shape;1338;p126"/>
          <p:cNvCxnSpPr/>
          <p:nvPr/>
        </p:nvCxnSpPr>
        <p:spPr>
          <a:xfrm>
            <a:off x="389986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39" name="Google Shape;1339;p126"/>
          <p:cNvCxnSpPr/>
          <p:nvPr/>
        </p:nvCxnSpPr>
        <p:spPr>
          <a:xfrm>
            <a:off x="4498013"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40" name="Google Shape;1340;p126"/>
          <p:cNvCxnSpPr/>
          <p:nvPr/>
        </p:nvCxnSpPr>
        <p:spPr>
          <a:xfrm>
            <a:off x="909125" y="1985125"/>
            <a:ext cx="0" cy="348900"/>
          </a:xfrm>
          <a:prstGeom prst="straightConnector1">
            <a:avLst/>
          </a:prstGeom>
          <a:noFill/>
          <a:ln cap="flat" cmpd="sng" w="9525">
            <a:solidFill>
              <a:schemeClr val="dk2"/>
            </a:solidFill>
            <a:prstDash val="solid"/>
            <a:round/>
            <a:headEnd len="med" w="med" type="none"/>
            <a:tailEnd len="med" w="med" type="none"/>
          </a:ln>
        </p:spPr>
      </p:cxnSp>
      <p:cxnSp>
        <p:nvCxnSpPr>
          <p:cNvPr id="1341" name="Google Shape;1341;p126"/>
          <p:cNvCxnSpPr/>
          <p:nvPr/>
        </p:nvCxnSpPr>
        <p:spPr>
          <a:xfrm>
            <a:off x="1507273" y="1985125"/>
            <a:ext cx="0" cy="348900"/>
          </a:xfrm>
          <a:prstGeom prst="straightConnector1">
            <a:avLst/>
          </a:prstGeom>
          <a:noFill/>
          <a:ln cap="flat" cmpd="sng" w="9525">
            <a:solidFill>
              <a:schemeClr val="dk2"/>
            </a:solidFill>
            <a:prstDash val="solid"/>
            <a:round/>
            <a:headEnd len="med" w="med" type="none"/>
            <a:tailEnd len="med" w="med" type="none"/>
          </a:ln>
        </p:spPr>
      </p:cxnSp>
      <p:sp>
        <p:nvSpPr>
          <p:cNvPr id="1342" name="Google Shape;1342;p126"/>
          <p:cNvSpPr txBox="1"/>
          <p:nvPr/>
        </p:nvSpPr>
        <p:spPr>
          <a:xfrm>
            <a:off x="6424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sp>
        <p:nvSpPr>
          <p:cNvPr id="1343" name="Google Shape;1343;p126"/>
          <p:cNvSpPr txBox="1"/>
          <p:nvPr/>
        </p:nvSpPr>
        <p:spPr>
          <a:xfrm>
            <a:off x="12405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344" name="Google Shape;1344;p126"/>
          <p:cNvSpPr txBox="1"/>
          <p:nvPr/>
        </p:nvSpPr>
        <p:spPr>
          <a:xfrm>
            <a:off x="18387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345" name="Google Shape;1345;p126"/>
          <p:cNvSpPr txBox="1"/>
          <p:nvPr/>
        </p:nvSpPr>
        <p:spPr>
          <a:xfrm>
            <a:off x="24368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346" name="Google Shape;1346;p126"/>
          <p:cNvSpPr txBox="1"/>
          <p:nvPr/>
        </p:nvSpPr>
        <p:spPr>
          <a:xfrm>
            <a:off x="30350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347" name="Google Shape;1347;p126"/>
          <p:cNvSpPr txBox="1"/>
          <p:nvPr/>
        </p:nvSpPr>
        <p:spPr>
          <a:xfrm>
            <a:off x="36331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348" name="Google Shape;1348;p126"/>
          <p:cNvSpPr txBox="1"/>
          <p:nvPr/>
        </p:nvSpPr>
        <p:spPr>
          <a:xfrm>
            <a:off x="42313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0</a:t>
            </a:r>
            <a:endParaRPr sz="1000">
              <a:latin typeface="Source Code Pro"/>
              <a:ea typeface="Source Code Pro"/>
              <a:cs typeface="Source Code Pro"/>
              <a:sym typeface="Source Code Pro"/>
            </a:endParaRPr>
          </a:p>
        </p:txBody>
      </p:sp>
      <p:sp>
        <p:nvSpPr>
          <p:cNvPr id="1349" name="Google Shape;1349;p126"/>
          <p:cNvSpPr txBox="1"/>
          <p:nvPr/>
        </p:nvSpPr>
        <p:spPr>
          <a:xfrm>
            <a:off x="48294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+2</a:t>
            </a:r>
            <a:endParaRPr sz="1000">
              <a:latin typeface="Source Code Pro"/>
              <a:ea typeface="Source Code Pro"/>
              <a:cs typeface="Source Code Pro"/>
              <a:sym typeface="Source Code Pro"/>
            </a:endParaRPr>
          </a:p>
        </p:txBody>
      </p:sp>
      <p:sp>
        <p:nvSpPr>
          <p:cNvPr id="1350" name="Google Shape;1350;p126"/>
          <p:cNvSpPr txBox="1"/>
          <p:nvPr/>
        </p:nvSpPr>
        <p:spPr>
          <a:xfrm>
            <a:off x="54276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+4</a:t>
            </a:r>
            <a:endParaRPr sz="1000">
              <a:latin typeface="Source Code Pro"/>
              <a:ea typeface="Source Code Pro"/>
              <a:cs typeface="Source Code Pro"/>
              <a:sym typeface="Source Code Pro"/>
            </a:endParaRPr>
          </a:p>
        </p:txBody>
      </p:sp>
      <p:sp>
        <p:nvSpPr>
          <p:cNvPr id="1351" name="Google Shape;1351;p126"/>
          <p:cNvSpPr txBox="1"/>
          <p:nvPr/>
        </p:nvSpPr>
        <p:spPr>
          <a:xfrm>
            <a:off x="60257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+6</a:t>
            </a:r>
            <a:endParaRPr sz="1000">
              <a:latin typeface="Source Code Pro"/>
              <a:ea typeface="Source Code Pro"/>
              <a:cs typeface="Source Code Pro"/>
              <a:sym typeface="Source Code Pro"/>
            </a:endParaRPr>
          </a:p>
        </p:txBody>
      </p:sp>
      <p:sp>
        <p:nvSpPr>
          <p:cNvPr id="1352" name="Google Shape;1352;p126"/>
          <p:cNvSpPr txBox="1"/>
          <p:nvPr/>
        </p:nvSpPr>
        <p:spPr>
          <a:xfrm>
            <a:off x="66239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+8</a:t>
            </a:r>
            <a:endParaRPr sz="1000">
              <a:latin typeface="Source Code Pro"/>
              <a:ea typeface="Source Code Pro"/>
              <a:cs typeface="Source Code Pro"/>
              <a:sym typeface="Source Code Pro"/>
            </a:endParaRPr>
          </a:p>
        </p:txBody>
      </p:sp>
      <p:sp>
        <p:nvSpPr>
          <p:cNvPr id="1353" name="Google Shape;1353;p126"/>
          <p:cNvSpPr txBox="1"/>
          <p:nvPr/>
        </p:nvSpPr>
        <p:spPr>
          <a:xfrm>
            <a:off x="722207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+10</a:t>
            </a:r>
            <a:endParaRPr sz="1000">
              <a:latin typeface="Source Code Pro"/>
              <a:ea typeface="Source Code Pro"/>
              <a:cs typeface="Source Code Pro"/>
              <a:sym typeface="Source Code Pro"/>
            </a:endParaRPr>
          </a:p>
        </p:txBody>
      </p:sp>
      <p:sp>
        <p:nvSpPr>
          <p:cNvPr id="1354" name="Google Shape;1354;p126"/>
          <p:cNvSpPr txBox="1"/>
          <p:nvPr/>
        </p:nvSpPr>
        <p:spPr>
          <a:xfrm>
            <a:off x="7820225" y="1581150"/>
            <a:ext cx="5334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latin typeface="Source Code Pro"/>
                <a:ea typeface="Source Code Pro"/>
                <a:cs typeface="Source Code Pro"/>
                <a:sym typeface="Source Code Pro"/>
              </a:rPr>
              <a:t>+12</a:t>
            </a:r>
            <a:endParaRPr sz="1000">
              <a:latin typeface="Source Code Pro"/>
              <a:ea typeface="Source Code Pro"/>
              <a:cs typeface="Source Code Pro"/>
              <a:sym typeface="Source Code Pro"/>
            </a:endParaRPr>
          </a:p>
        </p:txBody>
      </p:sp>
      <p:cxnSp>
        <p:nvCxnSpPr>
          <p:cNvPr id="1355" name="Google Shape;1355;p126"/>
          <p:cNvCxnSpPr/>
          <p:nvPr/>
        </p:nvCxnSpPr>
        <p:spPr>
          <a:xfrm flipH="1" rot="10800000">
            <a:off x="12040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56" name="Google Shape;1356;p126"/>
          <p:cNvCxnSpPr/>
          <p:nvPr/>
        </p:nvCxnSpPr>
        <p:spPr>
          <a:xfrm flipH="1" rot="10800000">
            <a:off x="18021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57" name="Google Shape;1357;p126"/>
          <p:cNvCxnSpPr/>
          <p:nvPr/>
        </p:nvCxnSpPr>
        <p:spPr>
          <a:xfrm flipH="1" rot="10800000">
            <a:off x="240030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58" name="Google Shape;1358;p126"/>
          <p:cNvCxnSpPr/>
          <p:nvPr/>
        </p:nvCxnSpPr>
        <p:spPr>
          <a:xfrm flipH="1" rot="10800000">
            <a:off x="2998450"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59" name="Google Shape;1359;p126"/>
          <p:cNvCxnSpPr/>
          <p:nvPr/>
        </p:nvCxnSpPr>
        <p:spPr>
          <a:xfrm flipH="1" rot="10800000">
            <a:off x="35965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0" name="Google Shape;1360;p126"/>
          <p:cNvCxnSpPr/>
          <p:nvPr/>
        </p:nvCxnSpPr>
        <p:spPr>
          <a:xfrm flipH="1" rot="10800000">
            <a:off x="41947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1" name="Google Shape;1361;p126"/>
          <p:cNvCxnSpPr/>
          <p:nvPr/>
        </p:nvCxnSpPr>
        <p:spPr>
          <a:xfrm flipH="1" rot="10800000">
            <a:off x="479288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2" name="Google Shape;1362;p126"/>
          <p:cNvCxnSpPr/>
          <p:nvPr/>
        </p:nvCxnSpPr>
        <p:spPr>
          <a:xfrm flipH="1" rot="10800000">
            <a:off x="5391038"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3" name="Google Shape;1363;p126"/>
          <p:cNvCxnSpPr/>
          <p:nvPr/>
        </p:nvCxnSpPr>
        <p:spPr>
          <a:xfrm flipH="1" rot="10800000">
            <a:off x="59891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4" name="Google Shape;1364;p126"/>
          <p:cNvCxnSpPr/>
          <p:nvPr/>
        </p:nvCxnSpPr>
        <p:spPr>
          <a:xfrm flipH="1" rot="10800000">
            <a:off x="658732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5" name="Google Shape;1365;p126"/>
          <p:cNvCxnSpPr/>
          <p:nvPr/>
        </p:nvCxnSpPr>
        <p:spPr>
          <a:xfrm flipH="1" rot="10800000">
            <a:off x="7185475" y="2019625"/>
            <a:ext cx="8400" cy="279900"/>
          </a:xfrm>
          <a:prstGeom prst="straightConnector1">
            <a:avLst/>
          </a:prstGeom>
          <a:noFill/>
          <a:ln cap="flat" cmpd="sng" w="9525">
            <a:solidFill>
              <a:schemeClr val="dk2"/>
            </a:solidFill>
            <a:prstDash val="solid"/>
            <a:round/>
            <a:headEnd len="med" w="med" type="none"/>
            <a:tailEnd len="med" w="med" type="none"/>
          </a:ln>
        </p:spPr>
      </p:cxnSp>
      <p:cxnSp>
        <p:nvCxnSpPr>
          <p:cNvPr id="1366" name="Google Shape;1366;p126"/>
          <p:cNvCxnSpPr/>
          <p:nvPr/>
        </p:nvCxnSpPr>
        <p:spPr>
          <a:xfrm flipH="1" rot="10800000">
            <a:off x="7783625" y="2019625"/>
            <a:ext cx="8400" cy="279900"/>
          </a:xfrm>
          <a:prstGeom prst="straightConnector1">
            <a:avLst/>
          </a:prstGeom>
          <a:noFill/>
          <a:ln cap="flat" cmpd="sng" w="9525">
            <a:solidFill>
              <a:schemeClr val="dk2"/>
            </a:solidFill>
            <a:prstDash val="solid"/>
            <a:round/>
            <a:headEnd len="med" w="med" type="none"/>
            <a:tailEnd len="med" w="med" type="none"/>
          </a:ln>
        </p:spPr>
      </p:cxnSp>
      <p:sp>
        <p:nvSpPr>
          <p:cNvPr id="1367" name="Google Shape;1367;p126"/>
          <p:cNvSpPr txBox="1"/>
          <p:nvPr/>
        </p:nvSpPr>
        <p:spPr>
          <a:xfrm>
            <a:off x="5665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1:20</a:t>
            </a:r>
            <a:endParaRPr sz="1100">
              <a:latin typeface="Source Code Pro"/>
              <a:ea typeface="Source Code Pro"/>
              <a:cs typeface="Source Code Pro"/>
              <a:sym typeface="Source Code Pro"/>
            </a:endParaRPr>
          </a:p>
        </p:txBody>
      </p:sp>
      <p:sp>
        <p:nvSpPr>
          <p:cNvPr id="1368" name="Google Shape;1368;p126"/>
          <p:cNvSpPr txBox="1"/>
          <p:nvPr/>
        </p:nvSpPr>
        <p:spPr>
          <a:xfrm>
            <a:off x="77443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20:1</a:t>
            </a:r>
            <a:endParaRPr sz="1100">
              <a:latin typeface="Source Code Pro"/>
              <a:ea typeface="Source Code Pro"/>
              <a:cs typeface="Source Code Pro"/>
              <a:sym typeface="Source Code Pro"/>
            </a:endParaRPr>
          </a:p>
        </p:txBody>
      </p:sp>
      <p:sp>
        <p:nvSpPr>
          <p:cNvPr id="1369" name="Google Shape;1369;p126"/>
          <p:cNvSpPr txBox="1"/>
          <p:nvPr/>
        </p:nvSpPr>
        <p:spPr>
          <a:xfrm>
            <a:off x="41554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a:t>
            </a:r>
            <a:endParaRPr sz="1100">
              <a:latin typeface="Source Code Pro"/>
              <a:ea typeface="Source Code Pro"/>
              <a:cs typeface="Source Code Pro"/>
              <a:sym typeface="Source Code Pro"/>
            </a:endParaRPr>
          </a:p>
        </p:txBody>
      </p:sp>
      <p:sp>
        <p:nvSpPr>
          <p:cNvPr id="1370" name="Google Shape;1370;p126"/>
          <p:cNvSpPr txBox="1"/>
          <p:nvPr/>
        </p:nvSpPr>
        <p:spPr>
          <a:xfrm>
            <a:off x="505265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2:1</a:t>
            </a:r>
            <a:endParaRPr sz="1100">
              <a:latin typeface="Source Code Pro"/>
              <a:ea typeface="Source Code Pro"/>
              <a:cs typeface="Source Code Pro"/>
              <a:sym typeface="Source Code Pro"/>
            </a:endParaRPr>
          </a:p>
        </p:txBody>
      </p:sp>
      <p:sp>
        <p:nvSpPr>
          <p:cNvPr id="1371" name="Google Shape;1371;p126"/>
          <p:cNvSpPr txBox="1"/>
          <p:nvPr/>
        </p:nvSpPr>
        <p:spPr>
          <a:xfrm>
            <a:off x="3258200"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1:2</a:t>
            </a:r>
            <a:endParaRPr sz="1100">
              <a:latin typeface="Source Code Pro"/>
              <a:ea typeface="Source Code Pro"/>
              <a:cs typeface="Source Code Pro"/>
              <a:sym typeface="Source Code Pro"/>
            </a:endParaRPr>
          </a:p>
        </p:txBody>
      </p:sp>
      <p:sp>
        <p:nvSpPr>
          <p:cNvPr id="1372" name="Google Shape;1372;p126"/>
          <p:cNvSpPr txBox="1"/>
          <p:nvPr/>
        </p:nvSpPr>
        <p:spPr>
          <a:xfrm>
            <a:off x="71461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10:1</a:t>
            </a:r>
            <a:endParaRPr sz="1100">
              <a:latin typeface="Source Code Pro"/>
              <a:ea typeface="Source Code Pro"/>
              <a:cs typeface="Source Code Pro"/>
              <a:sym typeface="Source Code Pro"/>
            </a:endParaRPr>
          </a:p>
        </p:txBody>
      </p:sp>
      <p:sp>
        <p:nvSpPr>
          <p:cNvPr id="1373" name="Google Shape;1373;p126"/>
          <p:cNvSpPr txBox="1"/>
          <p:nvPr/>
        </p:nvSpPr>
        <p:spPr>
          <a:xfrm>
            <a:off x="116467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1:10</a:t>
            </a:r>
            <a:endParaRPr sz="1100">
              <a:latin typeface="Source Code Pro"/>
              <a:ea typeface="Source Code Pro"/>
              <a:cs typeface="Source Code Pro"/>
              <a:sym typeface="Source Code Pro"/>
            </a:endParaRPr>
          </a:p>
        </p:txBody>
      </p:sp>
      <p:sp>
        <p:nvSpPr>
          <p:cNvPr id="1374" name="Google Shape;1374;p126"/>
          <p:cNvSpPr txBox="1"/>
          <p:nvPr/>
        </p:nvSpPr>
        <p:spPr>
          <a:xfrm>
            <a:off x="6248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5:1</a:t>
            </a:r>
            <a:endParaRPr sz="1100">
              <a:latin typeface="Source Code Pro"/>
              <a:ea typeface="Source Code Pro"/>
              <a:cs typeface="Source Code Pro"/>
              <a:sym typeface="Source Code Pro"/>
            </a:endParaRPr>
          </a:p>
        </p:txBody>
      </p:sp>
      <p:sp>
        <p:nvSpPr>
          <p:cNvPr id="1375" name="Google Shape;1375;p126"/>
          <p:cNvSpPr txBox="1"/>
          <p:nvPr/>
        </p:nvSpPr>
        <p:spPr>
          <a:xfrm>
            <a:off x="2061925" y="2399300"/>
            <a:ext cx="685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Source Code Pro"/>
                <a:ea typeface="Source Code Pro"/>
                <a:cs typeface="Source Code Pro"/>
                <a:sym typeface="Source Code Pro"/>
              </a:rPr>
              <a:t>1:5</a:t>
            </a:r>
            <a:endParaRPr sz="1100">
              <a:latin typeface="Source Code Pro"/>
              <a:ea typeface="Source Code Pro"/>
              <a:cs typeface="Source Code Pro"/>
              <a:sym typeface="Source Code Pro"/>
            </a:endParaRPr>
          </a:p>
        </p:txBody>
      </p:sp>
      <p:sp>
        <p:nvSpPr>
          <p:cNvPr id="1376" name="Google Shape;1376;p126"/>
          <p:cNvSpPr/>
          <p:nvPr/>
        </p:nvSpPr>
        <p:spPr>
          <a:xfrm>
            <a:off x="5554363" y="2019625"/>
            <a:ext cx="279900" cy="279900"/>
          </a:xfrm>
          <a:prstGeom prst="ellipse">
            <a:avLst/>
          </a:prstGeom>
          <a:solidFill>
            <a:schemeClr val="accent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126"/>
          <p:cNvSpPr txBox="1"/>
          <p:nvPr/>
        </p:nvSpPr>
        <p:spPr>
          <a:xfrm>
            <a:off x="7621975" y="2853075"/>
            <a:ext cx="142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You win the lottery</a:t>
            </a:r>
            <a:endParaRPr>
              <a:solidFill>
                <a:schemeClr val="accent5"/>
              </a:solidFill>
              <a:latin typeface="Roboto"/>
              <a:ea typeface="Roboto"/>
              <a:cs typeface="Roboto"/>
              <a:sym typeface="Roboto"/>
            </a:endParaRPr>
          </a:p>
        </p:txBody>
      </p:sp>
      <p:sp>
        <p:nvSpPr>
          <p:cNvPr id="1378" name="Google Shape;1378;p126"/>
          <p:cNvSpPr txBox="1"/>
          <p:nvPr/>
        </p:nvSpPr>
        <p:spPr>
          <a:xfrm>
            <a:off x="198425" y="2993025"/>
            <a:ext cx="1421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5"/>
                </a:solidFill>
                <a:latin typeface="Roboto"/>
                <a:ea typeface="Roboto"/>
                <a:cs typeface="Roboto"/>
                <a:sym typeface="Roboto"/>
              </a:rPr>
              <a:t>You don't win the lottery</a:t>
            </a:r>
            <a:endParaRPr>
              <a:solidFill>
                <a:schemeClr val="accent5"/>
              </a:solidFill>
              <a:latin typeface="Roboto"/>
              <a:ea typeface="Roboto"/>
              <a:cs typeface="Roboto"/>
              <a:sym typeface="Roboto"/>
            </a:endParaRPr>
          </a:p>
        </p:txBody>
      </p:sp>
      <p:pic>
        <p:nvPicPr>
          <p:cNvPr id="1379" name="Google Shape;1379;p126"/>
          <p:cNvPicPr preferRelativeResize="0"/>
          <p:nvPr/>
        </p:nvPicPr>
        <p:blipFill>
          <a:blip r:embed="rId3">
            <a:alphaModFix/>
          </a:blip>
          <a:stretch>
            <a:fillRect/>
          </a:stretch>
        </p:blipFill>
        <p:spPr>
          <a:xfrm>
            <a:off x="2981325" y="3350450"/>
            <a:ext cx="3181350" cy="1409700"/>
          </a:xfrm>
          <a:prstGeom prst="rect">
            <a:avLst/>
          </a:prstGeom>
          <a:noFill/>
          <a:ln>
            <a:noFill/>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12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Recap</a:t>
            </a:r>
            <a:endParaRPr/>
          </a:p>
        </p:txBody>
      </p:sp>
      <p:pic>
        <p:nvPicPr>
          <p:cNvPr id="1385" name="Google Shape;1385;p127"/>
          <p:cNvPicPr preferRelativeResize="0"/>
          <p:nvPr/>
        </p:nvPicPr>
        <p:blipFill>
          <a:blip r:embed="rId3">
            <a:alphaModFix/>
          </a:blip>
          <a:stretch>
            <a:fillRect/>
          </a:stretch>
        </p:blipFill>
        <p:spPr>
          <a:xfrm>
            <a:off x="5974401" y="1357447"/>
            <a:ext cx="2274599" cy="1474000"/>
          </a:xfrm>
          <a:prstGeom prst="rect">
            <a:avLst/>
          </a:prstGeom>
          <a:noFill/>
          <a:ln>
            <a:noFill/>
          </a:ln>
        </p:spPr>
      </p:pic>
      <p:pic>
        <p:nvPicPr>
          <p:cNvPr id="1386" name="Google Shape;1386;p127"/>
          <p:cNvPicPr preferRelativeResize="0"/>
          <p:nvPr/>
        </p:nvPicPr>
        <p:blipFill>
          <a:blip r:embed="rId4">
            <a:alphaModFix/>
          </a:blip>
          <a:stretch>
            <a:fillRect/>
          </a:stretch>
        </p:blipFill>
        <p:spPr>
          <a:xfrm>
            <a:off x="3456300" y="3140472"/>
            <a:ext cx="5448875" cy="1474000"/>
          </a:xfrm>
          <a:prstGeom prst="rect">
            <a:avLst/>
          </a:prstGeom>
          <a:noFill/>
          <a:ln>
            <a:noFill/>
          </a:ln>
        </p:spPr>
      </p:pic>
      <p:sp>
        <p:nvSpPr>
          <p:cNvPr id="1387" name="Google Shape;1387;p127"/>
          <p:cNvSpPr txBox="1"/>
          <p:nvPr/>
        </p:nvSpPr>
        <p:spPr>
          <a:xfrm>
            <a:off x="463850" y="1793525"/>
            <a:ext cx="3587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weight of evidence</a:t>
            </a:r>
            <a:endParaRPr sz="2400">
              <a:latin typeface="Google Sans"/>
              <a:ea typeface="Google Sans"/>
              <a:cs typeface="Google Sans"/>
              <a:sym typeface="Google Sans"/>
            </a:endParaRPr>
          </a:p>
        </p:txBody>
      </p:sp>
      <p:sp>
        <p:nvSpPr>
          <p:cNvPr id="1388" name="Google Shape;1388;p127"/>
          <p:cNvSpPr txBox="1"/>
          <p:nvPr/>
        </p:nvSpPr>
        <p:spPr>
          <a:xfrm>
            <a:off x="463850" y="3600425"/>
            <a:ext cx="3587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relative entropy</a:t>
            </a:r>
            <a:endParaRPr sz="2400">
              <a:latin typeface="Google Sans"/>
              <a:ea typeface="Google Sans"/>
              <a:cs typeface="Google Sans"/>
              <a:sym typeface="Google Sans"/>
            </a:endParaRPr>
          </a:p>
        </p:txBody>
      </p:sp>
      <p:sp>
        <p:nvSpPr>
          <p:cNvPr id="1389" name="Google Shape;1389;p127"/>
          <p:cNvSpPr txBox="1"/>
          <p:nvPr/>
        </p:nvSpPr>
        <p:spPr>
          <a:xfrm>
            <a:off x="608150" y="4648725"/>
            <a:ext cx="791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expected weight of evidence | magnitude of belief update</a:t>
            </a:r>
            <a:endParaRPr>
              <a:latin typeface="Google Sans"/>
              <a:ea typeface="Google Sans"/>
              <a:cs typeface="Google Sans"/>
              <a:sym typeface="Google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3" name="Shape 1393"/>
        <p:cNvGrpSpPr/>
        <p:nvPr/>
      </p:nvGrpSpPr>
      <p:grpSpPr>
        <a:xfrm>
          <a:off x="0" y="0"/>
          <a:ext cx="0" cy="0"/>
          <a:chOff x="0" y="0"/>
          <a:chExt cx="0" cy="0"/>
        </a:xfrm>
      </p:grpSpPr>
      <p:sp>
        <p:nvSpPr>
          <p:cNvPr id="1394" name="Google Shape;1394;p128"/>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Multiple Hypotheses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8" name="Shape 1398"/>
        <p:cNvGrpSpPr/>
        <p:nvPr/>
      </p:nvGrpSpPr>
      <p:grpSpPr>
        <a:xfrm>
          <a:off x="0" y="0"/>
          <a:ext cx="0" cy="0"/>
          <a:chOff x="0" y="0"/>
          <a:chExt cx="0" cy="0"/>
        </a:xfrm>
      </p:grpSpPr>
      <p:sp>
        <p:nvSpPr>
          <p:cNvPr id="1399" name="Google Shape;1399;p12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Exhaustive Set</a:t>
            </a:r>
            <a:endParaRPr/>
          </a:p>
        </p:txBody>
      </p:sp>
      <p:sp>
        <p:nvSpPr>
          <p:cNvPr id="1400" name="Google Shape;1400;p129"/>
          <p:cNvSpPr txBox="1"/>
          <p:nvPr/>
        </p:nvSpPr>
        <p:spPr>
          <a:xfrm>
            <a:off x="166000" y="28868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Log Odds</a:t>
            </a:r>
            <a:endParaRPr>
              <a:solidFill>
                <a:schemeClr val="accent5"/>
              </a:solidFill>
              <a:latin typeface="Google Sans"/>
              <a:ea typeface="Google Sans"/>
              <a:cs typeface="Google Sans"/>
              <a:sym typeface="Google Sans"/>
            </a:endParaRPr>
          </a:p>
        </p:txBody>
      </p:sp>
      <p:sp>
        <p:nvSpPr>
          <p:cNvPr id="1401" name="Google Shape;1401;p129"/>
          <p:cNvSpPr txBox="1"/>
          <p:nvPr/>
        </p:nvSpPr>
        <p:spPr>
          <a:xfrm>
            <a:off x="3839825" y="28868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Weight of Evidence</a:t>
            </a:r>
            <a:endParaRPr>
              <a:solidFill>
                <a:schemeClr val="accent4"/>
              </a:solidFill>
              <a:latin typeface="Google Sans"/>
              <a:ea typeface="Google Sans"/>
              <a:cs typeface="Google Sans"/>
              <a:sym typeface="Google Sans"/>
            </a:endParaRPr>
          </a:p>
        </p:txBody>
      </p:sp>
      <p:sp>
        <p:nvSpPr>
          <p:cNvPr id="1402" name="Google Shape;1402;p129"/>
          <p:cNvSpPr txBox="1"/>
          <p:nvPr/>
        </p:nvSpPr>
        <p:spPr>
          <a:xfrm>
            <a:off x="7084525" y="28868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Log Odds</a:t>
            </a:r>
            <a:endParaRPr>
              <a:solidFill>
                <a:schemeClr val="accent1"/>
              </a:solidFill>
              <a:latin typeface="Google Sans"/>
              <a:ea typeface="Google Sans"/>
              <a:cs typeface="Google Sans"/>
              <a:sym typeface="Google Sans"/>
            </a:endParaRPr>
          </a:p>
        </p:txBody>
      </p:sp>
      <p:pic>
        <p:nvPicPr>
          <p:cNvPr id="1403" name="Google Shape;1403;p129"/>
          <p:cNvPicPr preferRelativeResize="0"/>
          <p:nvPr/>
        </p:nvPicPr>
        <p:blipFill>
          <a:blip r:embed="rId3">
            <a:alphaModFix/>
          </a:blip>
          <a:stretch>
            <a:fillRect/>
          </a:stretch>
        </p:blipFill>
        <p:spPr>
          <a:xfrm>
            <a:off x="152400" y="3439475"/>
            <a:ext cx="8839202" cy="1086290"/>
          </a:xfrm>
          <a:prstGeom prst="rect">
            <a:avLst/>
          </a:prstGeom>
          <a:noFill/>
          <a:ln>
            <a:noFill/>
          </a:ln>
        </p:spPr>
      </p:pic>
      <p:sp>
        <p:nvSpPr>
          <p:cNvPr id="1404" name="Google Shape;1404;p129"/>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The dice landed ⚀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The dice landed ⚀|⚁|⚂|⚃|⚄|⚅</a:t>
            </a:r>
            <a:endParaRPr/>
          </a:p>
        </p:txBody>
      </p:sp>
      <p:pic>
        <p:nvPicPr>
          <p:cNvPr id="1405" name="Google Shape;1405;p129"/>
          <p:cNvPicPr preferRelativeResize="0"/>
          <p:nvPr/>
        </p:nvPicPr>
        <p:blipFill>
          <a:blip r:embed="rId4">
            <a:alphaModFix/>
          </a:blip>
          <a:stretch>
            <a:fillRect/>
          </a:stretch>
        </p:blipFill>
        <p:spPr>
          <a:xfrm>
            <a:off x="5834250" y="2353640"/>
            <a:ext cx="3072919" cy="312935"/>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9" name="Shape 1409"/>
        <p:cNvGrpSpPr/>
        <p:nvPr/>
      </p:nvGrpSpPr>
      <p:grpSpPr>
        <a:xfrm>
          <a:off x="0" y="0"/>
          <a:ext cx="0" cy="0"/>
          <a:chOff x="0" y="0"/>
          <a:chExt cx="0" cy="0"/>
        </a:xfrm>
      </p:grpSpPr>
      <p:sp>
        <p:nvSpPr>
          <p:cNvPr id="1410" name="Google Shape;1410;p13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Exhaustive Set</a:t>
            </a:r>
            <a:endParaRPr/>
          </a:p>
        </p:txBody>
      </p:sp>
      <p:sp>
        <p:nvSpPr>
          <p:cNvPr id="1411" name="Google Shape;1411;p130"/>
          <p:cNvSpPr txBox="1"/>
          <p:nvPr/>
        </p:nvSpPr>
        <p:spPr>
          <a:xfrm>
            <a:off x="166000" y="28868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Posterior Log Odds</a:t>
            </a:r>
            <a:endParaRPr>
              <a:solidFill>
                <a:schemeClr val="accent5"/>
              </a:solidFill>
              <a:latin typeface="Google Sans"/>
              <a:ea typeface="Google Sans"/>
              <a:cs typeface="Google Sans"/>
              <a:sym typeface="Google Sans"/>
            </a:endParaRPr>
          </a:p>
        </p:txBody>
      </p:sp>
      <p:sp>
        <p:nvSpPr>
          <p:cNvPr id="1412" name="Google Shape;1412;p130"/>
          <p:cNvSpPr txBox="1"/>
          <p:nvPr/>
        </p:nvSpPr>
        <p:spPr>
          <a:xfrm>
            <a:off x="3839825" y="2886875"/>
            <a:ext cx="2967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Weight of Evidence</a:t>
            </a:r>
            <a:endParaRPr>
              <a:solidFill>
                <a:schemeClr val="accent4"/>
              </a:solidFill>
              <a:latin typeface="Google Sans"/>
              <a:ea typeface="Google Sans"/>
              <a:cs typeface="Google Sans"/>
              <a:sym typeface="Google Sans"/>
            </a:endParaRPr>
          </a:p>
        </p:txBody>
      </p:sp>
      <p:sp>
        <p:nvSpPr>
          <p:cNvPr id="1413" name="Google Shape;1413;p130"/>
          <p:cNvSpPr txBox="1"/>
          <p:nvPr/>
        </p:nvSpPr>
        <p:spPr>
          <a:xfrm>
            <a:off x="7084525" y="2886875"/>
            <a:ext cx="1645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1"/>
                </a:solidFill>
                <a:latin typeface="Google Sans"/>
                <a:ea typeface="Google Sans"/>
                <a:cs typeface="Google Sans"/>
                <a:sym typeface="Google Sans"/>
              </a:rPr>
              <a:t>Prior Log Odds</a:t>
            </a:r>
            <a:endParaRPr>
              <a:solidFill>
                <a:schemeClr val="accent1"/>
              </a:solidFill>
              <a:latin typeface="Google Sans"/>
              <a:ea typeface="Google Sans"/>
              <a:cs typeface="Google Sans"/>
              <a:sym typeface="Google Sans"/>
            </a:endParaRPr>
          </a:p>
        </p:txBody>
      </p:sp>
      <p:pic>
        <p:nvPicPr>
          <p:cNvPr id="1414" name="Google Shape;1414;p130"/>
          <p:cNvPicPr preferRelativeResize="0"/>
          <p:nvPr/>
        </p:nvPicPr>
        <p:blipFill>
          <a:blip r:embed="rId3">
            <a:alphaModFix/>
          </a:blip>
          <a:stretch>
            <a:fillRect/>
          </a:stretch>
        </p:blipFill>
        <p:spPr>
          <a:xfrm>
            <a:off x="152400" y="3439475"/>
            <a:ext cx="8839202" cy="1086290"/>
          </a:xfrm>
          <a:prstGeom prst="rect">
            <a:avLst/>
          </a:prstGeom>
          <a:noFill/>
          <a:ln>
            <a:noFill/>
          </a:ln>
        </p:spPr>
      </p:pic>
      <p:sp>
        <p:nvSpPr>
          <p:cNvPr id="1415" name="Google Shape;1415;p130"/>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The dice landed ⚀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The dice landed ⚀|⚁|⚂|⚃|⚄|⚅</a:t>
            </a:r>
            <a:endParaRPr/>
          </a:p>
        </p:txBody>
      </p:sp>
      <p:pic>
        <p:nvPicPr>
          <p:cNvPr id="1416" name="Google Shape;1416;p130"/>
          <p:cNvPicPr preferRelativeResize="0"/>
          <p:nvPr/>
        </p:nvPicPr>
        <p:blipFill>
          <a:blip r:embed="rId4">
            <a:alphaModFix/>
          </a:blip>
          <a:stretch>
            <a:fillRect/>
          </a:stretch>
        </p:blipFill>
        <p:spPr>
          <a:xfrm>
            <a:off x="5834250" y="2353640"/>
            <a:ext cx="3072919" cy="312935"/>
          </a:xfrm>
          <a:prstGeom prst="rect">
            <a:avLst/>
          </a:prstGeom>
          <a:noFill/>
          <a:ln>
            <a:noFill/>
          </a:ln>
        </p:spPr>
      </p:pic>
      <p:cxnSp>
        <p:nvCxnSpPr>
          <p:cNvPr id="1417" name="Google Shape;1417;p130"/>
          <p:cNvCxnSpPr/>
          <p:nvPr/>
        </p:nvCxnSpPr>
        <p:spPr>
          <a:xfrm>
            <a:off x="791300" y="4294650"/>
            <a:ext cx="2187000" cy="0"/>
          </a:xfrm>
          <a:prstGeom prst="straightConnector1">
            <a:avLst/>
          </a:prstGeom>
          <a:noFill/>
          <a:ln cap="flat" cmpd="sng" w="76200">
            <a:solidFill>
              <a:srgbClr val="FF0000"/>
            </a:solidFill>
            <a:prstDash val="solid"/>
            <a:round/>
            <a:headEnd len="med" w="med" type="none"/>
            <a:tailEnd len="med" w="med" type="none"/>
          </a:ln>
        </p:spPr>
      </p:cxnSp>
      <p:cxnSp>
        <p:nvCxnSpPr>
          <p:cNvPr id="1418" name="Google Shape;1418;p130"/>
          <p:cNvCxnSpPr/>
          <p:nvPr/>
        </p:nvCxnSpPr>
        <p:spPr>
          <a:xfrm flipH="1" rot="10800000">
            <a:off x="7307525" y="3647325"/>
            <a:ext cx="1641600" cy="37200"/>
          </a:xfrm>
          <a:prstGeom prst="straightConnector1">
            <a:avLst/>
          </a:prstGeom>
          <a:noFill/>
          <a:ln cap="flat" cmpd="sng" w="76200">
            <a:solidFill>
              <a:srgbClr val="FF0000"/>
            </a:solidFill>
            <a:prstDash val="solid"/>
            <a:round/>
            <a:headEnd len="med" w="med" type="none"/>
            <a:tailEnd len="med" w="med" type="none"/>
          </a:ln>
        </p:spPr>
      </p:cxn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2" name="Shape 1422"/>
        <p:cNvGrpSpPr/>
        <p:nvPr/>
      </p:nvGrpSpPr>
      <p:grpSpPr>
        <a:xfrm>
          <a:off x="0" y="0"/>
          <a:ext cx="0" cy="0"/>
          <a:chOff x="0" y="0"/>
          <a:chExt cx="0" cy="0"/>
        </a:xfrm>
      </p:grpSpPr>
      <p:sp>
        <p:nvSpPr>
          <p:cNvPr id="1423" name="Google Shape;1423;p1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in Data for outcome</a:t>
            </a:r>
            <a:endParaRPr/>
          </a:p>
        </p:txBody>
      </p:sp>
      <p:sp>
        <p:nvSpPr>
          <p:cNvPr id="1424" name="Google Shape;1424;p131"/>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The dice landed ⚀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The dice landed ⚀|⚁|⚂|⚃|⚄|⚅</a:t>
            </a:r>
            <a:endParaRPr/>
          </a:p>
        </p:txBody>
      </p:sp>
      <p:pic>
        <p:nvPicPr>
          <p:cNvPr id="1425" name="Google Shape;1425;p131"/>
          <p:cNvPicPr preferRelativeResize="0"/>
          <p:nvPr/>
        </p:nvPicPr>
        <p:blipFill>
          <a:blip r:embed="rId3">
            <a:alphaModFix/>
          </a:blip>
          <a:stretch>
            <a:fillRect/>
          </a:stretch>
        </p:blipFill>
        <p:spPr>
          <a:xfrm>
            <a:off x="5834250" y="2353640"/>
            <a:ext cx="3072919" cy="312935"/>
          </a:xfrm>
          <a:prstGeom prst="rect">
            <a:avLst/>
          </a:prstGeom>
          <a:noFill/>
          <a:ln>
            <a:noFill/>
          </a:ln>
        </p:spPr>
      </p:pic>
      <p:pic>
        <p:nvPicPr>
          <p:cNvPr id="1426" name="Google Shape;1426;p131"/>
          <p:cNvPicPr preferRelativeResize="0"/>
          <p:nvPr/>
        </p:nvPicPr>
        <p:blipFill>
          <a:blip r:embed="rId4">
            <a:alphaModFix/>
          </a:blip>
          <a:stretch>
            <a:fillRect/>
          </a:stretch>
        </p:blipFill>
        <p:spPr>
          <a:xfrm>
            <a:off x="1781200" y="3010750"/>
            <a:ext cx="5581650" cy="1409700"/>
          </a:xfrm>
          <a:prstGeom prst="rect">
            <a:avLst/>
          </a:prstGeom>
          <a:noFill/>
          <a:ln>
            <a:noFill/>
          </a:ln>
        </p:spPr>
      </p:pic>
      <p:sp>
        <p:nvSpPr>
          <p:cNvPr id="1427" name="Google Shape;1427;p131"/>
          <p:cNvSpPr txBox="1"/>
          <p:nvPr/>
        </p:nvSpPr>
        <p:spPr>
          <a:xfrm>
            <a:off x="485000" y="4589400"/>
            <a:ext cx="5349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Data: the dice is showing </a:t>
            </a:r>
            <a:r>
              <a:rPr lang="en" sz="2400">
                <a:latin typeface="Google Sans"/>
                <a:ea typeface="Google Sans"/>
                <a:cs typeface="Google Sans"/>
                <a:sym typeface="Google Sans"/>
              </a:rPr>
              <a:t>⚀</a:t>
            </a:r>
            <a:endParaRPr>
              <a:latin typeface="Google Sans"/>
              <a:ea typeface="Google Sans"/>
              <a:cs typeface="Google Sans"/>
              <a:sym typeface="Google Sans"/>
            </a:endParaRPr>
          </a:p>
        </p:txBody>
      </p:sp>
      <p:pic>
        <p:nvPicPr>
          <p:cNvPr id="1428" name="Google Shape;1428;p131"/>
          <p:cNvPicPr preferRelativeResize="0"/>
          <p:nvPr/>
        </p:nvPicPr>
        <p:blipFill>
          <a:blip r:embed="rId5">
            <a:alphaModFix/>
          </a:blip>
          <a:stretch>
            <a:fillRect/>
          </a:stretch>
        </p:blipFill>
        <p:spPr>
          <a:xfrm>
            <a:off x="6897325" y="4690300"/>
            <a:ext cx="2009843" cy="352300"/>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13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in Data for outcome</a:t>
            </a:r>
            <a:endParaRPr/>
          </a:p>
        </p:txBody>
      </p:sp>
      <p:sp>
        <p:nvSpPr>
          <p:cNvPr id="1434" name="Google Shape;1434;p132"/>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The dice landed ⚀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The dice landed ⚀|⚁|⚂|⚃|⚄|⚅</a:t>
            </a:r>
            <a:endParaRPr/>
          </a:p>
        </p:txBody>
      </p:sp>
      <p:pic>
        <p:nvPicPr>
          <p:cNvPr id="1435" name="Google Shape;1435;p132"/>
          <p:cNvPicPr preferRelativeResize="0"/>
          <p:nvPr/>
        </p:nvPicPr>
        <p:blipFill>
          <a:blip r:embed="rId3">
            <a:alphaModFix/>
          </a:blip>
          <a:stretch>
            <a:fillRect/>
          </a:stretch>
        </p:blipFill>
        <p:spPr>
          <a:xfrm>
            <a:off x="5834250" y="2353640"/>
            <a:ext cx="3072919" cy="312935"/>
          </a:xfrm>
          <a:prstGeom prst="rect">
            <a:avLst/>
          </a:prstGeom>
          <a:noFill/>
          <a:ln>
            <a:noFill/>
          </a:ln>
        </p:spPr>
      </p:pic>
      <p:pic>
        <p:nvPicPr>
          <p:cNvPr id="1436" name="Google Shape;1436;p132"/>
          <p:cNvPicPr preferRelativeResize="0"/>
          <p:nvPr/>
        </p:nvPicPr>
        <p:blipFill>
          <a:blip r:embed="rId4">
            <a:alphaModFix/>
          </a:blip>
          <a:stretch>
            <a:fillRect/>
          </a:stretch>
        </p:blipFill>
        <p:spPr>
          <a:xfrm>
            <a:off x="1781200" y="3010750"/>
            <a:ext cx="5581650" cy="1409700"/>
          </a:xfrm>
          <a:prstGeom prst="rect">
            <a:avLst/>
          </a:prstGeom>
          <a:noFill/>
          <a:ln>
            <a:noFill/>
          </a:ln>
        </p:spPr>
      </p:pic>
      <p:sp>
        <p:nvSpPr>
          <p:cNvPr id="1437" name="Google Shape;1437;p132"/>
          <p:cNvSpPr txBox="1"/>
          <p:nvPr/>
        </p:nvSpPr>
        <p:spPr>
          <a:xfrm>
            <a:off x="485000" y="4589400"/>
            <a:ext cx="5349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Data: the dice is showing </a:t>
            </a:r>
            <a:r>
              <a:rPr lang="en" sz="2400">
                <a:latin typeface="Google Sans"/>
                <a:ea typeface="Google Sans"/>
                <a:cs typeface="Google Sans"/>
                <a:sym typeface="Google Sans"/>
              </a:rPr>
              <a:t>⚀</a:t>
            </a:r>
            <a:endParaRPr>
              <a:latin typeface="Google Sans"/>
              <a:ea typeface="Google Sans"/>
              <a:cs typeface="Google Sans"/>
              <a:sym typeface="Google Sans"/>
            </a:endParaRPr>
          </a:p>
        </p:txBody>
      </p:sp>
      <p:pic>
        <p:nvPicPr>
          <p:cNvPr id="1438" name="Google Shape;1438;p132"/>
          <p:cNvPicPr preferRelativeResize="0"/>
          <p:nvPr/>
        </p:nvPicPr>
        <p:blipFill>
          <a:blip r:embed="rId5">
            <a:alphaModFix/>
          </a:blip>
          <a:stretch>
            <a:fillRect/>
          </a:stretch>
        </p:blipFill>
        <p:spPr>
          <a:xfrm>
            <a:off x="6897325" y="4690300"/>
            <a:ext cx="2009843" cy="352300"/>
          </a:xfrm>
          <a:prstGeom prst="rect">
            <a:avLst/>
          </a:prstGeom>
          <a:noFill/>
          <a:ln>
            <a:noFill/>
          </a:ln>
        </p:spPr>
      </p:pic>
      <p:cxnSp>
        <p:nvCxnSpPr>
          <p:cNvPr id="1439" name="Google Shape;1439;p132"/>
          <p:cNvCxnSpPr/>
          <p:nvPr/>
        </p:nvCxnSpPr>
        <p:spPr>
          <a:xfrm flipH="1" rot="10800000">
            <a:off x="4927700" y="3309075"/>
            <a:ext cx="2467500" cy="28800"/>
          </a:xfrm>
          <a:prstGeom prst="straightConnector1">
            <a:avLst/>
          </a:prstGeom>
          <a:noFill/>
          <a:ln cap="flat" cmpd="sng" w="76200">
            <a:solidFill>
              <a:srgbClr val="FF0000"/>
            </a:solidFill>
            <a:prstDash val="solid"/>
            <a:round/>
            <a:headEnd len="med" w="med" type="none"/>
            <a:tailEnd len="med" w="med" type="none"/>
          </a:ln>
        </p:spPr>
      </p:cxn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3" name="Shape 1443"/>
        <p:cNvGrpSpPr/>
        <p:nvPr/>
      </p:nvGrpSpPr>
      <p:grpSpPr>
        <a:xfrm>
          <a:off x="0" y="0"/>
          <a:ext cx="0" cy="0"/>
          <a:chOff x="0" y="0"/>
          <a:chExt cx="0" cy="0"/>
        </a:xfrm>
      </p:grpSpPr>
      <p:sp>
        <p:nvSpPr>
          <p:cNvPr id="1444" name="Google Shape;1444;p13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in Discerning Data</a:t>
            </a:r>
            <a:endParaRPr/>
          </a:p>
        </p:txBody>
      </p:sp>
      <p:sp>
        <p:nvSpPr>
          <p:cNvPr id="1445" name="Google Shape;1445;p133"/>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The dice landed ⚀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The dice landed ⚀|⚁|⚂|⚃|⚄|⚅</a:t>
            </a:r>
            <a:endParaRPr/>
          </a:p>
        </p:txBody>
      </p:sp>
      <p:sp>
        <p:nvSpPr>
          <p:cNvPr id="1446" name="Google Shape;1446;p133"/>
          <p:cNvSpPr txBox="1"/>
          <p:nvPr/>
        </p:nvSpPr>
        <p:spPr>
          <a:xfrm>
            <a:off x="426750" y="4600675"/>
            <a:ext cx="829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Information in the discerning observation of a hypothesis amongst a set of exhaustive alternatives</a:t>
            </a:r>
            <a:endParaRPr>
              <a:latin typeface="Google Sans"/>
              <a:ea typeface="Google Sans"/>
              <a:cs typeface="Google Sans"/>
              <a:sym typeface="Google Sans"/>
            </a:endParaRPr>
          </a:p>
        </p:txBody>
      </p:sp>
      <p:pic>
        <p:nvPicPr>
          <p:cNvPr id="1447" name="Google Shape;1447;p133"/>
          <p:cNvPicPr preferRelativeResize="0"/>
          <p:nvPr/>
        </p:nvPicPr>
        <p:blipFill>
          <a:blip r:embed="rId3">
            <a:alphaModFix/>
          </a:blip>
          <a:stretch>
            <a:fillRect/>
          </a:stretch>
        </p:blipFill>
        <p:spPr>
          <a:xfrm>
            <a:off x="2185988" y="2956475"/>
            <a:ext cx="4772025" cy="1343025"/>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13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Observations of a Random Variable</a:t>
            </a:r>
            <a:endParaRPr/>
          </a:p>
        </p:txBody>
      </p:sp>
      <p:sp>
        <p:nvSpPr>
          <p:cNvPr id="1453" name="Google Shape;1453;p134"/>
          <p:cNvSpPr txBox="1"/>
          <p:nvPr/>
        </p:nvSpPr>
        <p:spPr>
          <a:xfrm>
            <a:off x="236875" y="1430250"/>
            <a:ext cx="8670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Hypothesis 1: </a:t>
            </a:r>
            <a:endParaRPr sz="2400">
              <a:latin typeface="Google Sans"/>
              <a:ea typeface="Google Sans"/>
              <a:cs typeface="Google Sans"/>
              <a:sym typeface="Google Sans"/>
            </a:endParaRPr>
          </a:p>
          <a:p>
            <a:pPr indent="0" lvl="0" marL="0" rtl="0" algn="l">
              <a:spcBef>
                <a:spcPts val="0"/>
              </a:spcBef>
              <a:spcAft>
                <a:spcPts val="0"/>
              </a:spcAft>
              <a:buNone/>
            </a:pPr>
            <a:r>
              <a:rPr lang="en" sz="2400">
                <a:latin typeface="Google Sans"/>
                <a:ea typeface="Google Sans"/>
                <a:cs typeface="Google Sans"/>
                <a:sym typeface="Google Sans"/>
              </a:rPr>
              <a:t>Hypothesis 2: </a:t>
            </a:r>
            <a:endParaRPr/>
          </a:p>
        </p:txBody>
      </p:sp>
      <p:sp>
        <p:nvSpPr>
          <p:cNvPr id="1454" name="Google Shape;1454;p134"/>
          <p:cNvSpPr txBox="1"/>
          <p:nvPr/>
        </p:nvSpPr>
        <p:spPr>
          <a:xfrm>
            <a:off x="426750" y="4600675"/>
            <a:ext cx="829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Information in the observation of a particular value of a random variable.</a:t>
            </a:r>
            <a:endParaRPr>
              <a:latin typeface="Google Sans"/>
              <a:ea typeface="Google Sans"/>
              <a:cs typeface="Google Sans"/>
              <a:sym typeface="Google Sans"/>
            </a:endParaRPr>
          </a:p>
        </p:txBody>
      </p:sp>
      <p:pic>
        <p:nvPicPr>
          <p:cNvPr id="1455" name="Google Shape;1455;p134"/>
          <p:cNvPicPr preferRelativeResize="0"/>
          <p:nvPr/>
        </p:nvPicPr>
        <p:blipFill>
          <a:blip r:embed="rId3">
            <a:alphaModFix/>
          </a:blip>
          <a:stretch>
            <a:fillRect/>
          </a:stretch>
        </p:blipFill>
        <p:spPr>
          <a:xfrm>
            <a:off x="2306825" y="1547275"/>
            <a:ext cx="1065281" cy="298025"/>
          </a:xfrm>
          <a:prstGeom prst="rect">
            <a:avLst/>
          </a:prstGeom>
          <a:noFill/>
          <a:ln>
            <a:noFill/>
          </a:ln>
        </p:spPr>
      </p:pic>
      <p:pic>
        <p:nvPicPr>
          <p:cNvPr id="1456" name="Google Shape;1456;p134"/>
          <p:cNvPicPr preferRelativeResize="0"/>
          <p:nvPr/>
        </p:nvPicPr>
        <p:blipFill>
          <a:blip r:embed="rId4">
            <a:alphaModFix/>
          </a:blip>
          <a:stretch>
            <a:fillRect/>
          </a:stretch>
        </p:blipFill>
        <p:spPr>
          <a:xfrm>
            <a:off x="2354638" y="1891538"/>
            <a:ext cx="1076954" cy="298025"/>
          </a:xfrm>
          <a:prstGeom prst="rect">
            <a:avLst/>
          </a:prstGeom>
          <a:noFill/>
          <a:ln>
            <a:noFill/>
          </a:ln>
        </p:spPr>
      </p:pic>
      <p:pic>
        <p:nvPicPr>
          <p:cNvPr id="1457" name="Google Shape;1457;p134"/>
          <p:cNvPicPr preferRelativeResize="0"/>
          <p:nvPr/>
        </p:nvPicPr>
        <p:blipFill>
          <a:blip r:embed="rId5">
            <a:alphaModFix/>
          </a:blip>
          <a:stretch>
            <a:fillRect/>
          </a:stretch>
        </p:blipFill>
        <p:spPr>
          <a:xfrm>
            <a:off x="3486150" y="2805638"/>
            <a:ext cx="2171700" cy="1343025"/>
          </a:xfrm>
          <a:prstGeom prst="rect">
            <a:avLst/>
          </a:prstGeom>
          <a:noFill/>
          <a:ln>
            <a:noFill/>
          </a:ln>
        </p:spPr>
      </p:pic>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13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"Surprise"</a:t>
            </a:r>
            <a:endParaRPr/>
          </a:p>
        </p:txBody>
      </p:sp>
      <p:sp>
        <p:nvSpPr>
          <p:cNvPr id="1463" name="Google Shape;1463;p135"/>
          <p:cNvSpPr txBox="1"/>
          <p:nvPr/>
        </p:nvSpPr>
        <p:spPr>
          <a:xfrm>
            <a:off x="426750" y="4018900"/>
            <a:ext cx="8290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Small probability -&gt; Large Surprise</a:t>
            </a:r>
            <a:endParaRPr>
              <a:latin typeface="Google Sans"/>
              <a:ea typeface="Google Sans"/>
              <a:cs typeface="Google Sans"/>
              <a:sym typeface="Google Sans"/>
            </a:endParaRPr>
          </a:p>
          <a:p>
            <a:pPr indent="0" lvl="0" marL="0" rtl="0" algn="ctr">
              <a:spcBef>
                <a:spcPts val="0"/>
              </a:spcBef>
              <a:spcAft>
                <a:spcPts val="0"/>
              </a:spcAft>
              <a:buNone/>
            </a:pPr>
            <a:r>
              <a:rPr lang="en">
                <a:latin typeface="Google Sans"/>
                <a:ea typeface="Google Sans"/>
                <a:cs typeface="Google Sans"/>
                <a:sym typeface="Google Sans"/>
              </a:rPr>
              <a:t>Large Probability -&gt; Small Surprise</a:t>
            </a:r>
            <a:endParaRPr>
              <a:latin typeface="Google Sans"/>
              <a:ea typeface="Google Sans"/>
              <a:cs typeface="Google Sans"/>
              <a:sym typeface="Google Sans"/>
            </a:endParaRPr>
          </a:p>
        </p:txBody>
      </p:sp>
      <p:pic>
        <p:nvPicPr>
          <p:cNvPr id="1464" name="Google Shape;1464;p135"/>
          <p:cNvPicPr preferRelativeResize="0"/>
          <p:nvPr/>
        </p:nvPicPr>
        <p:blipFill>
          <a:blip r:embed="rId3">
            <a:alphaModFix/>
          </a:blip>
          <a:stretch>
            <a:fillRect/>
          </a:stretch>
        </p:blipFill>
        <p:spPr>
          <a:xfrm>
            <a:off x="2924175" y="2571750"/>
            <a:ext cx="3295650" cy="771525"/>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13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"Surprise"</a:t>
            </a:r>
            <a:endParaRPr/>
          </a:p>
        </p:txBody>
      </p:sp>
      <p:sp>
        <p:nvSpPr>
          <p:cNvPr id="1470" name="Google Shape;1470;p136"/>
          <p:cNvSpPr txBox="1"/>
          <p:nvPr/>
        </p:nvSpPr>
        <p:spPr>
          <a:xfrm>
            <a:off x="426750" y="4018900"/>
            <a:ext cx="82905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Small probability -&gt; Large Surprise</a:t>
            </a:r>
            <a:endParaRPr>
              <a:latin typeface="Google Sans"/>
              <a:ea typeface="Google Sans"/>
              <a:cs typeface="Google Sans"/>
              <a:sym typeface="Google Sans"/>
            </a:endParaRPr>
          </a:p>
          <a:p>
            <a:pPr indent="0" lvl="0" marL="0" rtl="0" algn="ctr">
              <a:spcBef>
                <a:spcPts val="0"/>
              </a:spcBef>
              <a:spcAft>
                <a:spcPts val="0"/>
              </a:spcAft>
              <a:buNone/>
            </a:pPr>
            <a:r>
              <a:rPr lang="en">
                <a:latin typeface="Google Sans"/>
                <a:ea typeface="Google Sans"/>
                <a:cs typeface="Google Sans"/>
                <a:sym typeface="Google Sans"/>
              </a:rPr>
              <a:t>Large Probability -&gt; Small Surprise</a:t>
            </a:r>
            <a:endParaRPr>
              <a:latin typeface="Google Sans"/>
              <a:ea typeface="Google Sans"/>
              <a:cs typeface="Google Sans"/>
              <a:sym typeface="Google Sans"/>
            </a:endParaRPr>
          </a:p>
        </p:txBody>
      </p:sp>
      <p:pic>
        <p:nvPicPr>
          <p:cNvPr id="1471" name="Google Shape;1471;p136"/>
          <p:cNvPicPr preferRelativeResize="0"/>
          <p:nvPr/>
        </p:nvPicPr>
        <p:blipFill>
          <a:blip r:embed="rId3">
            <a:alphaModFix/>
          </a:blip>
          <a:stretch>
            <a:fillRect/>
          </a:stretch>
        </p:blipFill>
        <p:spPr>
          <a:xfrm>
            <a:off x="3486175" y="2052638"/>
            <a:ext cx="2171700" cy="1343025"/>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37"/>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0" name="Shape 1480"/>
        <p:cNvGrpSpPr/>
        <p:nvPr/>
      </p:nvGrpSpPr>
      <p:grpSpPr>
        <a:xfrm>
          <a:off x="0" y="0"/>
          <a:ext cx="0" cy="0"/>
          <a:chOff x="0" y="0"/>
          <a:chExt cx="0" cy="0"/>
        </a:xfrm>
      </p:grpSpPr>
      <p:sp>
        <p:nvSpPr>
          <p:cNvPr id="1481" name="Google Shape;1481;p13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 is Expected "Surprise"</a:t>
            </a:r>
            <a:endParaRPr/>
          </a:p>
        </p:txBody>
      </p:sp>
      <p:sp>
        <p:nvSpPr>
          <p:cNvPr id="1482" name="Google Shape;1482;p138"/>
          <p:cNvSpPr txBox="1"/>
          <p:nvPr/>
        </p:nvSpPr>
        <p:spPr>
          <a:xfrm>
            <a:off x="314100" y="4368050"/>
            <a:ext cx="867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Entropy </a:t>
            </a:r>
            <a:r>
              <a:rPr lang="en">
                <a:latin typeface="Google Sans"/>
                <a:ea typeface="Google Sans"/>
                <a:cs typeface="Google Sans"/>
                <a:sym typeface="Google Sans"/>
              </a:rPr>
              <a:t>is the expected "information content" of an observation of a random variable.</a:t>
            </a:r>
            <a:endParaRPr>
              <a:latin typeface="Google Sans"/>
              <a:ea typeface="Google Sans"/>
              <a:cs typeface="Google Sans"/>
              <a:sym typeface="Google Sans"/>
            </a:endParaRPr>
          </a:p>
        </p:txBody>
      </p:sp>
      <p:pic>
        <p:nvPicPr>
          <p:cNvPr id="1483" name="Google Shape;1483;p138"/>
          <p:cNvPicPr preferRelativeResize="0"/>
          <p:nvPr/>
        </p:nvPicPr>
        <p:blipFill>
          <a:blip r:embed="rId3">
            <a:alphaModFix/>
          </a:blip>
          <a:stretch>
            <a:fillRect/>
          </a:stretch>
        </p:blipFill>
        <p:spPr>
          <a:xfrm>
            <a:off x="1760138" y="3084975"/>
            <a:ext cx="5623728" cy="1000962"/>
          </a:xfrm>
          <a:prstGeom prst="rect">
            <a:avLst/>
          </a:prstGeom>
          <a:noFill/>
          <a:ln>
            <a:noFill/>
          </a:ln>
        </p:spPr>
      </p:pic>
      <p:pic>
        <p:nvPicPr>
          <p:cNvPr id="1484" name="Google Shape;1484;p138"/>
          <p:cNvPicPr preferRelativeResize="0"/>
          <p:nvPr/>
        </p:nvPicPr>
        <p:blipFill>
          <a:blip r:embed="rId4">
            <a:alphaModFix/>
          </a:blip>
          <a:stretch>
            <a:fillRect/>
          </a:stretch>
        </p:blipFill>
        <p:spPr>
          <a:xfrm>
            <a:off x="1311063" y="1370075"/>
            <a:ext cx="6683571" cy="1469438"/>
          </a:xfrm>
          <a:prstGeom prst="rect">
            <a:avLst/>
          </a:prstGeom>
          <a:noFill/>
          <a:ln>
            <a:noFill/>
          </a:ln>
        </p:spPr>
      </p:pic>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sp>
        <p:nvSpPr>
          <p:cNvPr id="1489" name="Google Shape;1489;p13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Shannon's Axioms of Entropy</a:t>
            </a:r>
            <a:endParaRPr/>
          </a:p>
        </p:txBody>
      </p:sp>
      <p:sp>
        <p:nvSpPr>
          <p:cNvPr id="1490" name="Google Shape;1490;p139"/>
          <p:cNvSpPr txBox="1"/>
          <p:nvPr/>
        </p:nvSpPr>
        <p:spPr>
          <a:xfrm>
            <a:off x="320250" y="1494525"/>
            <a:ext cx="8520600" cy="281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Entropy is the unique measure of "surprise" satisfying some simple axioms.  (from Shannon)</a:t>
            </a:r>
            <a:endParaRPr sz="1900">
              <a:latin typeface="Google Sans"/>
              <a:ea typeface="Google Sans"/>
              <a:cs typeface="Google Sans"/>
              <a:sym typeface="Google Sans"/>
            </a:endParaRPr>
          </a:p>
          <a:p>
            <a:pPr indent="0" lvl="0" marL="0" rtl="0" algn="l">
              <a:spcBef>
                <a:spcPts val="0"/>
              </a:spcBef>
              <a:spcAft>
                <a:spcPts val="0"/>
              </a:spcAft>
              <a:buNone/>
            </a:pPr>
            <a:r>
              <a:t/>
            </a:r>
            <a:endParaRPr sz="1900">
              <a:latin typeface="Google Sans"/>
              <a:ea typeface="Google Sans"/>
              <a:cs typeface="Google Sans"/>
              <a:sym typeface="Google Sans"/>
            </a:endParaRPr>
          </a:p>
          <a:p>
            <a:pPr indent="-349250" lvl="0" marL="457200" rtl="0" algn="l">
              <a:spcBef>
                <a:spcPts val="0"/>
              </a:spcBef>
              <a:spcAft>
                <a:spcPts val="0"/>
              </a:spcAft>
              <a:buSzPts val="1900"/>
              <a:buFont typeface="Google Sans"/>
              <a:buAutoNum type="arabicPeriod"/>
            </a:pPr>
            <a:r>
              <a:rPr i="1" lang="en" sz="1900">
                <a:latin typeface="Google Sans"/>
                <a:ea typeface="Google Sans"/>
                <a:cs typeface="Google Sans"/>
                <a:sym typeface="Google Sans"/>
              </a:rPr>
              <a:t>Continuous</a:t>
            </a:r>
            <a:r>
              <a:rPr lang="en" sz="1900">
                <a:latin typeface="Google Sans"/>
                <a:ea typeface="Google Sans"/>
                <a:cs typeface="Google Sans"/>
                <a:sym typeface="Google Sans"/>
              </a:rPr>
              <a:t>.  Small changes in the probabilities should correspond to small changes in the entropy.</a:t>
            </a:r>
            <a:endParaRPr sz="1900">
              <a:latin typeface="Google Sans"/>
              <a:ea typeface="Google Sans"/>
              <a:cs typeface="Google Sans"/>
              <a:sym typeface="Google Sans"/>
            </a:endParaRPr>
          </a:p>
          <a:p>
            <a:pPr indent="-349250" lvl="0" marL="457200" rtl="0" algn="l">
              <a:spcBef>
                <a:spcPts val="0"/>
              </a:spcBef>
              <a:spcAft>
                <a:spcPts val="0"/>
              </a:spcAft>
              <a:buSzPts val="1900"/>
              <a:buFont typeface="Google Sans"/>
              <a:buAutoNum type="arabicPeriod"/>
            </a:pPr>
            <a:r>
              <a:rPr i="1" lang="en" sz="1900">
                <a:latin typeface="Google Sans"/>
                <a:ea typeface="Google Sans"/>
                <a:cs typeface="Google Sans"/>
                <a:sym typeface="Google Sans"/>
              </a:rPr>
              <a:t>Monotonic.  </a:t>
            </a:r>
            <a:r>
              <a:rPr lang="en" sz="1900">
                <a:latin typeface="Google Sans"/>
                <a:ea typeface="Google Sans"/>
                <a:cs typeface="Google Sans"/>
                <a:sym typeface="Google Sans"/>
              </a:rPr>
              <a:t>For uniform distributions, entropy should be an increasing function of N.</a:t>
            </a:r>
            <a:endParaRPr sz="1900">
              <a:latin typeface="Google Sans"/>
              <a:ea typeface="Google Sans"/>
              <a:cs typeface="Google Sans"/>
              <a:sym typeface="Google Sans"/>
            </a:endParaRPr>
          </a:p>
          <a:p>
            <a:pPr indent="-349250" lvl="0" marL="457200" rtl="0" algn="l">
              <a:spcBef>
                <a:spcPts val="0"/>
              </a:spcBef>
              <a:spcAft>
                <a:spcPts val="0"/>
              </a:spcAft>
              <a:buSzPts val="1900"/>
              <a:buFont typeface="Google Sans"/>
              <a:buAutoNum type="arabicPeriod"/>
            </a:pPr>
            <a:r>
              <a:rPr i="1" lang="en" sz="1900">
                <a:latin typeface="Google Sans"/>
                <a:ea typeface="Google Sans"/>
                <a:cs typeface="Google Sans"/>
                <a:sym typeface="Google Sans"/>
              </a:rPr>
              <a:t>Satisfy a natural chain rule.</a:t>
            </a:r>
            <a:r>
              <a:rPr lang="en" sz="1900">
                <a:latin typeface="Google Sans"/>
                <a:ea typeface="Google Sans"/>
                <a:cs typeface="Google Sans"/>
                <a:sym typeface="Google Sans"/>
              </a:rPr>
              <a:t>  If a choice is decomposed into a series of choices, the entropy would be the weighted sum of the pieces.</a:t>
            </a:r>
            <a:endParaRPr sz="1900">
              <a:latin typeface="Google Sans"/>
              <a:ea typeface="Google Sans"/>
              <a:cs typeface="Google Sans"/>
              <a:sym typeface="Google Sans"/>
            </a:endParaRPr>
          </a:p>
        </p:txBody>
      </p:sp>
      <p:sp>
        <p:nvSpPr>
          <p:cNvPr id="1491" name="Google Shape;1491;p139"/>
          <p:cNvSpPr txBox="1"/>
          <p:nvPr/>
        </p:nvSpPr>
        <p:spPr>
          <a:xfrm>
            <a:off x="274850" y="4603625"/>
            <a:ext cx="8520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latin typeface="Google Sans"/>
                <a:ea typeface="Google Sans"/>
                <a:cs typeface="Google Sans"/>
                <a:sym typeface="Google Sans"/>
              </a:rPr>
              <a:t>The Entropy is the only function to satisfy all of these requirements.</a:t>
            </a:r>
            <a:endParaRPr i="1" sz="1600">
              <a:latin typeface="Google Sans"/>
              <a:ea typeface="Google Sans"/>
              <a:cs typeface="Google Sans"/>
              <a:sym typeface="Google San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14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 to a Uniform Distribution</a:t>
            </a:r>
            <a:endParaRPr/>
          </a:p>
        </p:txBody>
      </p:sp>
      <p:pic>
        <p:nvPicPr>
          <p:cNvPr id="1497" name="Google Shape;1497;p140"/>
          <p:cNvPicPr preferRelativeResize="0"/>
          <p:nvPr/>
        </p:nvPicPr>
        <p:blipFill>
          <a:blip r:embed="rId3">
            <a:alphaModFix/>
          </a:blip>
          <a:stretch>
            <a:fillRect/>
          </a:stretch>
        </p:blipFill>
        <p:spPr>
          <a:xfrm>
            <a:off x="152400" y="2030000"/>
            <a:ext cx="8839200" cy="957506"/>
          </a:xfrm>
          <a:prstGeom prst="rect">
            <a:avLst/>
          </a:prstGeom>
          <a:noFill/>
          <a:ln>
            <a:noFill/>
          </a:ln>
        </p:spPr>
      </p:pic>
      <p:sp>
        <p:nvSpPr>
          <p:cNvPr id="1498" name="Google Shape;1498;p140"/>
          <p:cNvSpPr txBox="1"/>
          <p:nvPr/>
        </p:nvSpPr>
        <p:spPr>
          <a:xfrm>
            <a:off x="107975" y="1423300"/>
            <a:ext cx="8839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The uniform distribution is special, the Relative entropy with respect to the uniform distribution is special.</a:t>
            </a:r>
            <a:endParaRPr>
              <a:latin typeface="Google Sans"/>
              <a:ea typeface="Google Sans"/>
              <a:cs typeface="Google Sans"/>
              <a:sym typeface="Google Sans"/>
            </a:endParaRPr>
          </a:p>
        </p:txBody>
      </p:sp>
      <p:sp>
        <p:nvSpPr>
          <p:cNvPr id="1499" name="Google Shape;1499;p140"/>
          <p:cNvSpPr txBox="1"/>
          <p:nvPr/>
        </p:nvSpPr>
        <p:spPr>
          <a:xfrm>
            <a:off x="196325" y="3435550"/>
            <a:ext cx="32196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Entropy is a measure of how un-uniform a distribution is.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How easy it is is to distinguish it from a uniform distribution.</a:t>
            </a:r>
            <a:endParaRPr>
              <a:latin typeface="Google Sans"/>
              <a:ea typeface="Google Sans"/>
              <a:cs typeface="Google Sans"/>
              <a:sym typeface="Google Sans"/>
            </a:endParaRPr>
          </a:p>
        </p:txBody>
      </p:sp>
      <p:pic>
        <p:nvPicPr>
          <p:cNvPr id="1500" name="Google Shape;1500;p140"/>
          <p:cNvPicPr preferRelativeResize="0"/>
          <p:nvPr/>
        </p:nvPicPr>
        <p:blipFill>
          <a:blip r:embed="rId4">
            <a:alphaModFix/>
          </a:blip>
          <a:stretch>
            <a:fillRect/>
          </a:stretch>
        </p:blipFill>
        <p:spPr>
          <a:xfrm>
            <a:off x="4176713" y="3342556"/>
            <a:ext cx="3686175" cy="390525"/>
          </a:xfrm>
          <a:prstGeom prst="rect">
            <a:avLst/>
          </a:prstGeom>
          <a:noFill/>
          <a:ln>
            <a:noFill/>
          </a:ln>
        </p:spPr>
      </p:pic>
      <p:pic>
        <p:nvPicPr>
          <p:cNvPr id="1501" name="Google Shape;1501;p140"/>
          <p:cNvPicPr preferRelativeResize="0"/>
          <p:nvPr/>
        </p:nvPicPr>
        <p:blipFill>
          <a:blip r:embed="rId5">
            <a:alphaModFix/>
          </a:blip>
          <a:stretch>
            <a:fillRect/>
          </a:stretch>
        </p:blipFill>
        <p:spPr>
          <a:xfrm>
            <a:off x="3752863" y="4088131"/>
            <a:ext cx="4533900" cy="828675"/>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5" name="Shape 1505"/>
        <p:cNvGrpSpPr/>
        <p:nvPr/>
      </p:nvGrpSpPr>
      <p:grpSpPr>
        <a:xfrm>
          <a:off x="0" y="0"/>
          <a:ext cx="0" cy="0"/>
          <a:chOff x="0" y="0"/>
          <a:chExt cx="0" cy="0"/>
        </a:xfrm>
      </p:grpSpPr>
      <p:sp>
        <p:nvSpPr>
          <p:cNvPr id="1506" name="Google Shape;1506;p14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 and Cross Entropy</a:t>
            </a:r>
            <a:endParaRPr/>
          </a:p>
        </p:txBody>
      </p:sp>
      <p:pic>
        <p:nvPicPr>
          <p:cNvPr id="1507" name="Google Shape;1507;p141"/>
          <p:cNvPicPr preferRelativeResize="0"/>
          <p:nvPr/>
        </p:nvPicPr>
        <p:blipFill>
          <a:blip r:embed="rId3">
            <a:alphaModFix/>
          </a:blip>
          <a:stretch>
            <a:fillRect/>
          </a:stretch>
        </p:blipFill>
        <p:spPr>
          <a:xfrm>
            <a:off x="152425" y="2215163"/>
            <a:ext cx="8839201" cy="713187"/>
          </a:xfrm>
          <a:prstGeom prst="rect">
            <a:avLst/>
          </a:prstGeom>
          <a:noFill/>
          <a:ln>
            <a:noFill/>
          </a:ln>
        </p:spPr>
      </p:pic>
      <p:pic>
        <p:nvPicPr>
          <p:cNvPr id="1508" name="Google Shape;1508;p141"/>
          <p:cNvPicPr preferRelativeResize="0"/>
          <p:nvPr/>
        </p:nvPicPr>
        <p:blipFill>
          <a:blip r:embed="rId4">
            <a:alphaModFix/>
          </a:blip>
          <a:stretch>
            <a:fillRect/>
          </a:stretch>
        </p:blipFill>
        <p:spPr>
          <a:xfrm>
            <a:off x="2657500" y="3443925"/>
            <a:ext cx="3829050" cy="390525"/>
          </a:xfrm>
          <a:prstGeom prst="rect">
            <a:avLst/>
          </a:prstGeom>
          <a:noFill/>
          <a:ln>
            <a:noFill/>
          </a:ln>
        </p:spPr>
      </p:pic>
      <p:sp>
        <p:nvSpPr>
          <p:cNvPr id="1509" name="Google Shape;1509;p141"/>
          <p:cNvSpPr txBox="1"/>
          <p:nvPr/>
        </p:nvSpPr>
        <p:spPr>
          <a:xfrm>
            <a:off x="314100" y="4368050"/>
            <a:ext cx="8677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Google Sans"/>
                <a:ea typeface="Google Sans"/>
                <a:cs typeface="Google Sans"/>
                <a:sym typeface="Google Sans"/>
              </a:rPr>
              <a:t>Relative Entropy is Cross Entropy minus Entropy</a:t>
            </a:r>
            <a:endParaRPr>
              <a:latin typeface="Google Sans"/>
              <a:ea typeface="Google Sans"/>
              <a:cs typeface="Google Sans"/>
              <a:sym typeface="Google Sans"/>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142"/>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Entropy is a measure of ignorance</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14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 of a Biased Coin</a:t>
            </a:r>
            <a:endParaRPr/>
          </a:p>
        </p:txBody>
      </p:sp>
      <p:pic>
        <p:nvPicPr>
          <p:cNvPr id="1520" name="Google Shape;1520;p143"/>
          <p:cNvPicPr preferRelativeResize="0"/>
          <p:nvPr/>
        </p:nvPicPr>
        <p:blipFill>
          <a:blip r:embed="rId3">
            <a:alphaModFix/>
          </a:blip>
          <a:stretch>
            <a:fillRect/>
          </a:stretch>
        </p:blipFill>
        <p:spPr>
          <a:xfrm>
            <a:off x="3794075" y="1375175"/>
            <a:ext cx="5282240" cy="3714075"/>
          </a:xfrm>
          <a:prstGeom prst="rect">
            <a:avLst/>
          </a:prstGeom>
          <a:noFill/>
          <a:ln>
            <a:noFill/>
          </a:ln>
        </p:spPr>
      </p:pic>
      <p:sp>
        <p:nvSpPr>
          <p:cNvPr id="1521" name="Google Shape;1521;p143"/>
          <p:cNvSpPr txBox="1"/>
          <p:nvPr/>
        </p:nvSpPr>
        <p:spPr>
          <a:xfrm>
            <a:off x="245400" y="1619625"/>
            <a:ext cx="32589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For a biased coin, entropy is maximal when the coin is fair, and is 1 bit for a single coin.</a:t>
            </a:r>
            <a:endParaRPr>
              <a:latin typeface="Google Sans"/>
              <a:ea typeface="Google Sans"/>
              <a:cs typeface="Google Sans"/>
              <a:sym typeface="Google San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p14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Uniform Distributions</a:t>
            </a:r>
            <a:endParaRPr/>
          </a:p>
        </p:txBody>
      </p:sp>
      <p:pic>
        <p:nvPicPr>
          <p:cNvPr id="1527" name="Google Shape;1527;p144"/>
          <p:cNvPicPr preferRelativeResize="0"/>
          <p:nvPr/>
        </p:nvPicPr>
        <p:blipFill>
          <a:blip r:embed="rId3">
            <a:alphaModFix/>
          </a:blip>
          <a:stretch>
            <a:fillRect/>
          </a:stretch>
        </p:blipFill>
        <p:spPr>
          <a:xfrm>
            <a:off x="2897700" y="1567725"/>
            <a:ext cx="3348603" cy="623700"/>
          </a:xfrm>
          <a:prstGeom prst="rect">
            <a:avLst/>
          </a:prstGeom>
          <a:noFill/>
          <a:ln>
            <a:noFill/>
          </a:ln>
        </p:spPr>
      </p:pic>
      <p:pic>
        <p:nvPicPr>
          <p:cNvPr id="1528" name="Google Shape;1528;p144"/>
          <p:cNvPicPr preferRelativeResize="0"/>
          <p:nvPr/>
        </p:nvPicPr>
        <p:blipFill>
          <a:blip r:embed="rId4">
            <a:alphaModFix/>
          </a:blip>
          <a:stretch>
            <a:fillRect/>
          </a:stretch>
        </p:blipFill>
        <p:spPr>
          <a:xfrm>
            <a:off x="3210613" y="2416525"/>
            <a:ext cx="2447925" cy="390525"/>
          </a:xfrm>
          <a:prstGeom prst="rect">
            <a:avLst/>
          </a:prstGeom>
          <a:noFill/>
          <a:ln>
            <a:noFill/>
          </a:ln>
        </p:spPr>
      </p:pic>
      <p:sp>
        <p:nvSpPr>
          <p:cNvPr id="1529" name="Google Shape;1529;p144"/>
          <p:cNvSpPr txBox="1"/>
          <p:nvPr/>
        </p:nvSpPr>
        <p:spPr>
          <a:xfrm>
            <a:off x="675925" y="3065075"/>
            <a:ext cx="77922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Google Sans"/>
                <a:ea typeface="Google Sans"/>
                <a:cs typeface="Google Sans"/>
                <a:sym typeface="Google Sans"/>
              </a:rPr>
              <a:t>Number of yes-no questions to identify an element.</a:t>
            </a:r>
            <a:endParaRPr sz="1700">
              <a:latin typeface="Google Sans"/>
              <a:ea typeface="Google Sans"/>
              <a:cs typeface="Google Sans"/>
              <a:sym typeface="Google Sans"/>
            </a:endParaRPr>
          </a:p>
          <a:p>
            <a:pPr indent="0" lvl="0" marL="0" rtl="0" algn="l">
              <a:spcBef>
                <a:spcPts val="0"/>
              </a:spcBef>
              <a:spcAft>
                <a:spcPts val="0"/>
              </a:spcAft>
              <a:buNone/>
            </a:pPr>
            <a:r>
              <a:t/>
            </a:r>
            <a:endParaRPr sz="1700">
              <a:latin typeface="Google Sans"/>
              <a:ea typeface="Google Sans"/>
              <a:cs typeface="Google Sans"/>
              <a:sym typeface="Google Sans"/>
            </a:endParaRPr>
          </a:p>
          <a:p>
            <a:pPr indent="0" lvl="0" marL="0" rtl="0" algn="l">
              <a:spcBef>
                <a:spcPts val="0"/>
              </a:spcBef>
              <a:spcAft>
                <a:spcPts val="0"/>
              </a:spcAft>
              <a:buNone/>
            </a:pPr>
            <a:r>
              <a:rPr lang="en" sz="1700">
                <a:latin typeface="Google Sans"/>
                <a:ea typeface="Google Sans"/>
                <a:cs typeface="Google Sans"/>
                <a:sym typeface="Google Sans"/>
              </a:rPr>
              <a:t>20 questions =&gt; 1 in a million</a:t>
            </a:r>
            <a:endParaRPr sz="1700">
              <a:latin typeface="Google Sans"/>
              <a:ea typeface="Google Sans"/>
              <a:cs typeface="Google Sans"/>
              <a:sym typeface="Google Sans"/>
            </a:endParaRPr>
          </a:p>
        </p:txBody>
      </p:sp>
      <p:pic>
        <p:nvPicPr>
          <p:cNvPr id="1530" name="Google Shape;1530;p144"/>
          <p:cNvPicPr preferRelativeResize="0"/>
          <p:nvPr/>
        </p:nvPicPr>
        <p:blipFill>
          <a:blip r:embed="rId5">
            <a:alphaModFix/>
          </a:blip>
          <a:stretch>
            <a:fillRect/>
          </a:stretch>
        </p:blipFill>
        <p:spPr>
          <a:xfrm>
            <a:off x="1051644" y="4292703"/>
            <a:ext cx="6765881" cy="623700"/>
          </a:xfrm>
          <a:prstGeom prst="rect">
            <a:avLst/>
          </a:prstGeom>
          <a:noFill/>
          <a:ln>
            <a:noFill/>
          </a:ln>
        </p:spPr>
      </p:pic>
      <p:pic>
        <p:nvPicPr>
          <p:cNvPr id="1531" name="Google Shape;1531;p144"/>
          <p:cNvPicPr preferRelativeResize="0"/>
          <p:nvPr/>
        </p:nvPicPr>
        <p:blipFill>
          <a:blip r:embed="rId6">
            <a:alphaModFix/>
          </a:blip>
          <a:stretch>
            <a:fillRect/>
          </a:stretch>
        </p:blipFill>
        <p:spPr>
          <a:xfrm>
            <a:off x="6997400" y="3079375"/>
            <a:ext cx="1834932" cy="417800"/>
          </a:xfrm>
          <a:prstGeom prst="rect">
            <a:avLst/>
          </a:prstGeom>
          <a:noFill/>
          <a:ln>
            <a:noFill/>
          </a:ln>
        </p:spPr>
      </p:pic>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5" name="Shape 1535"/>
        <p:cNvGrpSpPr/>
        <p:nvPr/>
      </p:nvGrpSpPr>
      <p:grpSpPr>
        <a:xfrm>
          <a:off x="0" y="0"/>
          <a:ext cx="0" cy="0"/>
          <a:chOff x="0" y="0"/>
          <a:chExt cx="0" cy="0"/>
        </a:xfrm>
      </p:grpSpPr>
      <p:sp>
        <p:nvSpPr>
          <p:cNvPr id="1536" name="Google Shape;1536;p14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 is the Data Compression Limit</a:t>
            </a:r>
            <a:endParaRPr/>
          </a:p>
        </p:txBody>
      </p:sp>
      <p:sp>
        <p:nvSpPr>
          <p:cNvPr id="1537" name="Google Shape;1537;p145"/>
          <p:cNvSpPr txBox="1"/>
          <p:nvPr/>
        </p:nvSpPr>
        <p:spPr>
          <a:xfrm>
            <a:off x="245400" y="1619625"/>
            <a:ext cx="7950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latin typeface="Google Sans"/>
                <a:ea typeface="Google Sans"/>
                <a:cs typeface="Google Sans"/>
                <a:sym typeface="Google Sans"/>
              </a:rPr>
              <a:t>In order to represent a sample from a discrete distribution, the entropy tells how many bits it takes to represent a sample from the distribution, on average.</a:t>
            </a:r>
            <a:endParaRPr sz="2000">
              <a:latin typeface="Google Sans"/>
              <a:ea typeface="Google Sans"/>
              <a:cs typeface="Google Sans"/>
              <a:sym typeface="Google Sans"/>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1" name="Shape 1541"/>
        <p:cNvGrpSpPr/>
        <p:nvPr/>
      </p:nvGrpSpPr>
      <p:grpSpPr>
        <a:xfrm>
          <a:off x="0" y="0"/>
          <a:ext cx="0" cy="0"/>
          <a:chOff x="0" y="0"/>
          <a:chExt cx="0" cy="0"/>
        </a:xfrm>
      </p:grpSpPr>
      <p:sp>
        <p:nvSpPr>
          <p:cNvPr id="1542" name="Google Shape;1542;p14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Cards</a:t>
            </a:r>
            <a:endParaRPr/>
          </a:p>
        </p:txBody>
      </p:sp>
      <p:sp>
        <p:nvSpPr>
          <p:cNvPr id="1543" name="Google Shape;1543;p146"/>
          <p:cNvSpPr txBox="1"/>
          <p:nvPr/>
        </p:nvSpPr>
        <p:spPr>
          <a:xfrm>
            <a:off x="461350" y="1707950"/>
            <a:ext cx="1570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diamonds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clubs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diamonds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diamonds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spades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spades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hearts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clubs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diamonds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clubs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pic>
        <p:nvPicPr>
          <p:cNvPr id="1544" name="Google Shape;1544;p146"/>
          <p:cNvPicPr preferRelativeResize="0"/>
          <p:nvPr/>
        </p:nvPicPr>
        <p:blipFill>
          <a:blip r:embed="rId3">
            <a:alphaModFix/>
          </a:blip>
          <a:stretch>
            <a:fillRect/>
          </a:stretch>
        </p:blipFill>
        <p:spPr>
          <a:xfrm>
            <a:off x="2422000" y="1781175"/>
            <a:ext cx="6410325" cy="790575"/>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sp>
        <p:nvSpPr>
          <p:cNvPr id="1549" name="Google Shape;1549;p14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Cards</a:t>
            </a:r>
            <a:endParaRPr/>
          </a:p>
        </p:txBody>
      </p:sp>
      <p:sp>
        <p:nvSpPr>
          <p:cNvPr id="1550" name="Google Shape;1550;p147"/>
          <p:cNvSpPr txBox="1"/>
          <p:nvPr/>
        </p:nvSpPr>
        <p:spPr>
          <a:xfrm>
            <a:off x="461350" y="1707950"/>
            <a:ext cx="1570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pic>
        <p:nvPicPr>
          <p:cNvPr id="1551" name="Google Shape;1551;p147"/>
          <p:cNvPicPr preferRelativeResize="0"/>
          <p:nvPr/>
        </p:nvPicPr>
        <p:blipFill>
          <a:blip r:embed="rId3">
            <a:alphaModFix/>
          </a:blip>
          <a:stretch>
            <a:fillRect/>
          </a:stretch>
        </p:blipFill>
        <p:spPr>
          <a:xfrm>
            <a:off x="2321675" y="1846350"/>
            <a:ext cx="6410325" cy="790575"/>
          </a:xfrm>
          <a:prstGeom prst="rect">
            <a:avLst/>
          </a:prstGeom>
          <a:noFill/>
          <a:ln>
            <a:noFill/>
          </a:ln>
        </p:spPr>
      </p:pic>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5" name="Shape 1555"/>
        <p:cNvGrpSpPr/>
        <p:nvPr/>
      </p:nvGrpSpPr>
      <p:grpSpPr>
        <a:xfrm>
          <a:off x="0" y="0"/>
          <a:ext cx="0" cy="0"/>
          <a:chOff x="0" y="0"/>
          <a:chExt cx="0" cy="0"/>
        </a:xfrm>
      </p:grpSpPr>
      <p:sp>
        <p:nvSpPr>
          <p:cNvPr id="1556" name="Google Shape;1556;p14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Cards</a:t>
            </a:r>
            <a:endParaRPr/>
          </a:p>
        </p:txBody>
      </p:sp>
      <p:sp>
        <p:nvSpPr>
          <p:cNvPr id="1557" name="Google Shape;1557;p148"/>
          <p:cNvSpPr txBox="1"/>
          <p:nvPr/>
        </p:nvSpPr>
        <p:spPr>
          <a:xfrm>
            <a:off x="461350" y="1707950"/>
            <a:ext cx="1570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d</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s</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h</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d</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c</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pic>
        <p:nvPicPr>
          <p:cNvPr id="1558" name="Google Shape;1558;p148"/>
          <p:cNvPicPr preferRelativeResize="0"/>
          <p:nvPr/>
        </p:nvPicPr>
        <p:blipFill>
          <a:blip r:embed="rId3">
            <a:alphaModFix/>
          </a:blip>
          <a:stretch>
            <a:fillRect/>
          </a:stretch>
        </p:blipFill>
        <p:spPr>
          <a:xfrm>
            <a:off x="3214925" y="1856175"/>
            <a:ext cx="4314825" cy="790575"/>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14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Cards</a:t>
            </a:r>
            <a:endParaRPr/>
          </a:p>
        </p:txBody>
      </p:sp>
      <p:sp>
        <p:nvSpPr>
          <p:cNvPr id="1564" name="Google Shape;1564;p149"/>
          <p:cNvSpPr txBox="1"/>
          <p:nvPr/>
        </p:nvSpPr>
        <p:spPr>
          <a:xfrm>
            <a:off x="461350" y="1707950"/>
            <a:ext cx="1570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pic>
        <p:nvPicPr>
          <p:cNvPr id="1565" name="Google Shape;1565;p149"/>
          <p:cNvPicPr preferRelativeResize="0"/>
          <p:nvPr/>
        </p:nvPicPr>
        <p:blipFill>
          <a:blip r:embed="rId3">
            <a:alphaModFix/>
          </a:blip>
          <a:stretch>
            <a:fillRect/>
          </a:stretch>
        </p:blipFill>
        <p:spPr>
          <a:xfrm>
            <a:off x="4572000" y="1404650"/>
            <a:ext cx="4314825" cy="790575"/>
          </a:xfrm>
          <a:prstGeom prst="rect">
            <a:avLst/>
          </a:prstGeom>
          <a:noFill/>
          <a:ln>
            <a:noFill/>
          </a:ln>
        </p:spPr>
      </p:pic>
      <p:sp>
        <p:nvSpPr>
          <p:cNvPr id="1566" name="Google Shape;1566;p149"/>
          <p:cNvSpPr txBox="1"/>
          <p:nvPr/>
        </p:nvSpPr>
        <p:spPr>
          <a:xfrm>
            <a:off x="5959620" y="3517925"/>
            <a:ext cx="2829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This is the best we can do.</a:t>
            </a:r>
            <a:endParaRPr>
              <a:latin typeface="Google Sans"/>
              <a:ea typeface="Google Sans"/>
              <a:cs typeface="Google Sans"/>
              <a:sym typeface="Google Sans"/>
            </a:endParaRPr>
          </a:p>
        </p:txBody>
      </p:sp>
      <p:pic>
        <p:nvPicPr>
          <p:cNvPr id="1567" name="Google Shape;1567;p149"/>
          <p:cNvPicPr preferRelativeResize="0"/>
          <p:nvPr/>
        </p:nvPicPr>
        <p:blipFill>
          <a:blip r:embed="rId4">
            <a:alphaModFix/>
          </a:blip>
          <a:stretch>
            <a:fillRect/>
          </a:stretch>
        </p:blipFill>
        <p:spPr>
          <a:xfrm>
            <a:off x="5576900" y="4263050"/>
            <a:ext cx="2305050" cy="390525"/>
          </a:xfrm>
          <a:prstGeom prst="rect">
            <a:avLst/>
          </a:prstGeom>
          <a:noFill/>
          <a:ln>
            <a:noFill/>
          </a:ln>
        </p:spPr>
      </p:pic>
      <p:sp>
        <p:nvSpPr>
          <p:cNvPr id="1568" name="Google Shape;1568;p149"/>
          <p:cNvSpPr/>
          <p:nvPr/>
        </p:nvSpPr>
        <p:spPr>
          <a:xfrm>
            <a:off x="3109700" y="3073300"/>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149"/>
          <p:cNvSpPr/>
          <p:nvPr/>
        </p:nvSpPr>
        <p:spPr>
          <a:xfrm>
            <a:off x="2221600" y="3765550"/>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149"/>
          <p:cNvSpPr/>
          <p:nvPr/>
        </p:nvSpPr>
        <p:spPr>
          <a:xfrm>
            <a:off x="3974000" y="3765550"/>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149"/>
          <p:cNvSpPr/>
          <p:nvPr/>
        </p:nvSpPr>
        <p:spPr>
          <a:xfrm>
            <a:off x="1588250" y="4172675"/>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572" name="Google Shape;1572;p149"/>
          <p:cNvSpPr/>
          <p:nvPr/>
        </p:nvSpPr>
        <p:spPr>
          <a:xfrm>
            <a:off x="2457213" y="4172675"/>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573" name="Google Shape;1573;p149"/>
          <p:cNvSpPr/>
          <p:nvPr/>
        </p:nvSpPr>
        <p:spPr>
          <a:xfrm>
            <a:off x="3326175" y="4172675"/>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574" name="Google Shape;1574;p149"/>
          <p:cNvSpPr/>
          <p:nvPr/>
        </p:nvSpPr>
        <p:spPr>
          <a:xfrm>
            <a:off x="4259125" y="4172675"/>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cxnSp>
        <p:nvCxnSpPr>
          <p:cNvPr id="1575" name="Google Shape;1575;p149"/>
          <p:cNvCxnSpPr>
            <a:endCxn id="1569" idx="7"/>
          </p:cNvCxnSpPr>
          <p:nvPr/>
        </p:nvCxnSpPr>
        <p:spPr>
          <a:xfrm flipH="1">
            <a:off x="2355779" y="3207471"/>
            <a:ext cx="777000" cy="581100"/>
          </a:xfrm>
          <a:prstGeom prst="straightConnector1">
            <a:avLst/>
          </a:prstGeom>
          <a:noFill/>
          <a:ln cap="flat" cmpd="sng" w="9525">
            <a:solidFill>
              <a:schemeClr val="dk2"/>
            </a:solidFill>
            <a:prstDash val="solid"/>
            <a:round/>
            <a:headEnd len="med" w="med" type="none"/>
            <a:tailEnd len="med" w="med" type="triangle"/>
          </a:ln>
        </p:spPr>
      </p:cxnSp>
      <p:cxnSp>
        <p:nvCxnSpPr>
          <p:cNvPr id="1576" name="Google Shape;1576;p149"/>
          <p:cNvCxnSpPr>
            <a:stCxn id="1569" idx="3"/>
            <a:endCxn id="1571" idx="7"/>
          </p:cNvCxnSpPr>
          <p:nvPr/>
        </p:nvCxnSpPr>
        <p:spPr>
          <a:xfrm flipH="1">
            <a:off x="1998621" y="3899729"/>
            <a:ext cx="246000" cy="343500"/>
          </a:xfrm>
          <a:prstGeom prst="straightConnector1">
            <a:avLst/>
          </a:prstGeom>
          <a:noFill/>
          <a:ln cap="flat" cmpd="sng" w="9525">
            <a:solidFill>
              <a:schemeClr val="dk2"/>
            </a:solidFill>
            <a:prstDash val="solid"/>
            <a:round/>
            <a:headEnd len="med" w="med" type="none"/>
            <a:tailEnd len="med" w="med" type="triangle"/>
          </a:ln>
        </p:spPr>
      </p:cxnSp>
      <p:cxnSp>
        <p:nvCxnSpPr>
          <p:cNvPr id="1577" name="Google Shape;1577;p149"/>
          <p:cNvCxnSpPr>
            <a:endCxn id="1572" idx="1"/>
          </p:cNvCxnSpPr>
          <p:nvPr/>
        </p:nvCxnSpPr>
        <p:spPr>
          <a:xfrm>
            <a:off x="2355739" y="3899601"/>
            <a:ext cx="171900" cy="343500"/>
          </a:xfrm>
          <a:prstGeom prst="straightConnector1">
            <a:avLst/>
          </a:prstGeom>
          <a:noFill/>
          <a:ln cap="flat" cmpd="sng" w="9525">
            <a:solidFill>
              <a:schemeClr val="dk2"/>
            </a:solidFill>
            <a:prstDash val="solid"/>
            <a:round/>
            <a:headEnd len="med" w="med" type="none"/>
            <a:tailEnd len="med" w="med" type="triangle"/>
          </a:ln>
        </p:spPr>
      </p:cxnSp>
      <p:cxnSp>
        <p:nvCxnSpPr>
          <p:cNvPr id="1578" name="Google Shape;1578;p149"/>
          <p:cNvCxnSpPr>
            <a:stCxn id="1570" idx="3"/>
            <a:endCxn id="1573" idx="7"/>
          </p:cNvCxnSpPr>
          <p:nvPr/>
        </p:nvCxnSpPr>
        <p:spPr>
          <a:xfrm flipH="1">
            <a:off x="3736621" y="3899729"/>
            <a:ext cx="260400" cy="343500"/>
          </a:xfrm>
          <a:prstGeom prst="straightConnector1">
            <a:avLst/>
          </a:prstGeom>
          <a:noFill/>
          <a:ln cap="flat" cmpd="sng" w="9525">
            <a:solidFill>
              <a:schemeClr val="dk2"/>
            </a:solidFill>
            <a:prstDash val="solid"/>
            <a:round/>
            <a:headEnd len="med" w="med" type="none"/>
            <a:tailEnd len="med" w="med" type="triangle"/>
          </a:ln>
        </p:spPr>
      </p:cxnSp>
      <p:cxnSp>
        <p:nvCxnSpPr>
          <p:cNvPr id="1579" name="Google Shape;1579;p149"/>
          <p:cNvCxnSpPr>
            <a:stCxn id="1570" idx="5"/>
            <a:endCxn id="1574" idx="1"/>
          </p:cNvCxnSpPr>
          <p:nvPr/>
        </p:nvCxnSpPr>
        <p:spPr>
          <a:xfrm>
            <a:off x="4108179" y="3899729"/>
            <a:ext cx="221400" cy="343500"/>
          </a:xfrm>
          <a:prstGeom prst="straightConnector1">
            <a:avLst/>
          </a:prstGeom>
          <a:noFill/>
          <a:ln cap="flat" cmpd="sng" w="9525">
            <a:solidFill>
              <a:schemeClr val="dk2"/>
            </a:solidFill>
            <a:prstDash val="solid"/>
            <a:round/>
            <a:headEnd len="med" w="med" type="none"/>
            <a:tailEnd len="med" w="med" type="triangle"/>
          </a:ln>
        </p:spPr>
      </p:cxnSp>
      <p:cxnSp>
        <p:nvCxnSpPr>
          <p:cNvPr id="1580" name="Google Shape;1580;p149"/>
          <p:cNvCxnSpPr>
            <a:stCxn id="1568" idx="5"/>
            <a:endCxn id="1570" idx="1"/>
          </p:cNvCxnSpPr>
          <p:nvPr/>
        </p:nvCxnSpPr>
        <p:spPr>
          <a:xfrm>
            <a:off x="3243879" y="3207479"/>
            <a:ext cx="753000" cy="581100"/>
          </a:xfrm>
          <a:prstGeom prst="straightConnector1">
            <a:avLst/>
          </a:prstGeom>
          <a:noFill/>
          <a:ln cap="flat" cmpd="sng" w="9525">
            <a:solidFill>
              <a:schemeClr val="dk2"/>
            </a:solidFill>
            <a:prstDash val="solid"/>
            <a:round/>
            <a:headEnd len="med" w="med" type="none"/>
            <a:tailEnd len="med" w="med" type="triangle"/>
          </a:ln>
        </p:spPr>
      </p:cxnSp>
      <p:sp>
        <p:nvSpPr>
          <p:cNvPr id="1581" name="Google Shape;1581;p149"/>
          <p:cNvSpPr txBox="1"/>
          <p:nvPr/>
        </p:nvSpPr>
        <p:spPr>
          <a:xfrm>
            <a:off x="2378800" y="3073300"/>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582" name="Google Shape;1582;p149"/>
          <p:cNvSpPr txBox="1"/>
          <p:nvPr/>
        </p:nvSpPr>
        <p:spPr>
          <a:xfrm>
            <a:off x="3669875" y="3117725"/>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3" name="Google Shape;1583;p149"/>
          <p:cNvSpPr txBox="1"/>
          <p:nvPr/>
        </p:nvSpPr>
        <p:spPr>
          <a:xfrm>
            <a:off x="2547300" y="3711825"/>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4" name="Google Shape;1584;p149"/>
          <p:cNvSpPr txBox="1"/>
          <p:nvPr/>
        </p:nvSpPr>
        <p:spPr>
          <a:xfrm>
            <a:off x="4299550" y="3711825"/>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585" name="Google Shape;1585;p149"/>
          <p:cNvSpPr txBox="1"/>
          <p:nvPr/>
        </p:nvSpPr>
        <p:spPr>
          <a:xfrm>
            <a:off x="1751675" y="3711825"/>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586" name="Google Shape;1586;p149"/>
          <p:cNvSpPr txBox="1"/>
          <p:nvPr/>
        </p:nvSpPr>
        <p:spPr>
          <a:xfrm>
            <a:off x="3519213" y="3765550"/>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15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Biased Cards</a:t>
            </a:r>
            <a:endParaRPr/>
          </a:p>
        </p:txBody>
      </p:sp>
      <p:sp>
        <p:nvSpPr>
          <p:cNvPr id="1592" name="Google Shape;1592;p150"/>
          <p:cNvSpPr txBox="1"/>
          <p:nvPr/>
        </p:nvSpPr>
        <p:spPr>
          <a:xfrm>
            <a:off x="461350" y="1707950"/>
            <a:ext cx="15705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sp>
        <p:nvSpPr>
          <p:cNvPr id="1593" name="Google Shape;1593;p150"/>
          <p:cNvSpPr/>
          <p:nvPr/>
        </p:nvSpPr>
        <p:spPr>
          <a:xfrm>
            <a:off x="4210975" y="1619600"/>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594" name="Google Shape;1594;p150"/>
          <p:cNvSpPr/>
          <p:nvPr/>
        </p:nvSpPr>
        <p:spPr>
          <a:xfrm>
            <a:off x="5079938" y="1619600"/>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595" name="Google Shape;1595;p150"/>
          <p:cNvSpPr/>
          <p:nvPr/>
        </p:nvSpPr>
        <p:spPr>
          <a:xfrm>
            <a:off x="5948900" y="1619600"/>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596" name="Google Shape;1596;p150"/>
          <p:cNvSpPr/>
          <p:nvPr/>
        </p:nvSpPr>
        <p:spPr>
          <a:xfrm>
            <a:off x="6881850" y="1619600"/>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sp>
        <p:nvSpPr>
          <p:cNvPr id="1597" name="Google Shape;1597;p150"/>
          <p:cNvSpPr txBox="1"/>
          <p:nvPr/>
        </p:nvSpPr>
        <p:spPr>
          <a:xfrm>
            <a:off x="4127575" y="2228200"/>
            <a:ext cx="64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Source Code Pro"/>
                <a:ea typeface="Source Code Pro"/>
                <a:cs typeface="Source Code Pro"/>
                <a:sym typeface="Source Code Pro"/>
              </a:rPr>
              <a:t>1/2</a:t>
            </a:r>
            <a:endParaRPr>
              <a:latin typeface="Source Code Pro"/>
              <a:ea typeface="Source Code Pro"/>
              <a:cs typeface="Source Code Pro"/>
              <a:sym typeface="Source Code Pro"/>
            </a:endParaRPr>
          </a:p>
        </p:txBody>
      </p:sp>
      <p:sp>
        <p:nvSpPr>
          <p:cNvPr id="1598" name="Google Shape;1598;p150"/>
          <p:cNvSpPr txBox="1"/>
          <p:nvPr/>
        </p:nvSpPr>
        <p:spPr>
          <a:xfrm>
            <a:off x="4996550" y="2228200"/>
            <a:ext cx="64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Source Code Pro"/>
                <a:ea typeface="Source Code Pro"/>
                <a:cs typeface="Source Code Pro"/>
                <a:sym typeface="Source Code Pro"/>
              </a:rPr>
              <a:t>1/4</a:t>
            </a:r>
            <a:endParaRPr>
              <a:latin typeface="Source Code Pro"/>
              <a:ea typeface="Source Code Pro"/>
              <a:cs typeface="Source Code Pro"/>
              <a:sym typeface="Source Code Pro"/>
            </a:endParaRPr>
          </a:p>
        </p:txBody>
      </p:sp>
      <p:sp>
        <p:nvSpPr>
          <p:cNvPr id="1599" name="Google Shape;1599;p150"/>
          <p:cNvSpPr txBox="1"/>
          <p:nvPr/>
        </p:nvSpPr>
        <p:spPr>
          <a:xfrm>
            <a:off x="5865525" y="2228200"/>
            <a:ext cx="64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Source Code Pro"/>
                <a:ea typeface="Source Code Pro"/>
                <a:cs typeface="Source Code Pro"/>
                <a:sym typeface="Source Code Pro"/>
              </a:rPr>
              <a:t>1/8</a:t>
            </a:r>
            <a:endParaRPr>
              <a:latin typeface="Source Code Pro"/>
              <a:ea typeface="Source Code Pro"/>
              <a:cs typeface="Source Code Pro"/>
              <a:sym typeface="Source Code Pro"/>
            </a:endParaRPr>
          </a:p>
        </p:txBody>
      </p:sp>
      <p:sp>
        <p:nvSpPr>
          <p:cNvPr id="1600" name="Google Shape;1600;p150"/>
          <p:cNvSpPr txBox="1"/>
          <p:nvPr/>
        </p:nvSpPr>
        <p:spPr>
          <a:xfrm>
            <a:off x="6798450" y="2228200"/>
            <a:ext cx="6477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latin typeface="Source Code Pro"/>
                <a:ea typeface="Source Code Pro"/>
                <a:cs typeface="Source Code Pro"/>
                <a:sym typeface="Source Code Pro"/>
              </a:rPr>
              <a:t>1/8</a:t>
            </a:r>
            <a:endParaRPr>
              <a:latin typeface="Source Code Pro"/>
              <a:ea typeface="Source Code Pro"/>
              <a:cs typeface="Source Code Pro"/>
              <a:sym typeface="Source Code Pro"/>
            </a:endParaRPr>
          </a:p>
        </p:txBody>
      </p:sp>
      <p:pic>
        <p:nvPicPr>
          <p:cNvPr id="1601" name="Google Shape;1601;p150"/>
          <p:cNvPicPr preferRelativeResize="0"/>
          <p:nvPr/>
        </p:nvPicPr>
        <p:blipFill>
          <a:blip r:embed="rId3">
            <a:alphaModFix/>
          </a:blip>
          <a:stretch>
            <a:fillRect/>
          </a:stretch>
        </p:blipFill>
        <p:spPr>
          <a:xfrm>
            <a:off x="4031938" y="3006575"/>
            <a:ext cx="4314825" cy="790575"/>
          </a:xfrm>
          <a:prstGeom prst="rect">
            <a:avLst/>
          </a:prstGeom>
          <a:noFill/>
          <a:ln>
            <a:noFill/>
          </a:ln>
        </p:spPr>
      </p:pic>
      <p:pic>
        <p:nvPicPr>
          <p:cNvPr id="1602" name="Google Shape;1602;p150"/>
          <p:cNvPicPr preferRelativeResize="0"/>
          <p:nvPr/>
        </p:nvPicPr>
        <p:blipFill>
          <a:blip r:embed="rId4">
            <a:alphaModFix/>
          </a:blip>
          <a:stretch>
            <a:fillRect/>
          </a:stretch>
        </p:blipFill>
        <p:spPr>
          <a:xfrm>
            <a:off x="1909025" y="4352250"/>
            <a:ext cx="7031154" cy="575650"/>
          </a:xfrm>
          <a:prstGeom prst="rect">
            <a:avLst/>
          </a:prstGeom>
          <a:noFill/>
          <a:ln>
            <a:noFill/>
          </a:ln>
        </p:spPr>
      </p:pic>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sp>
        <p:nvSpPr>
          <p:cNvPr id="1607" name="Google Shape;1607;p15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Biased Cards</a:t>
            </a:r>
            <a:endParaRPr/>
          </a:p>
        </p:txBody>
      </p:sp>
      <p:sp>
        <p:nvSpPr>
          <p:cNvPr id="1608" name="Google Shape;1608;p151"/>
          <p:cNvSpPr txBox="1"/>
          <p:nvPr/>
        </p:nvSpPr>
        <p:spPr>
          <a:xfrm>
            <a:off x="461350" y="1707950"/>
            <a:ext cx="15705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a:p>
            <a:pPr indent="0" lvl="0" marL="0" rtl="0" algn="l">
              <a:spcBef>
                <a:spcPts val="0"/>
              </a:spcBef>
              <a:spcAft>
                <a:spcPts val="0"/>
              </a:spcAft>
              <a:buNone/>
            </a:pPr>
            <a:r>
              <a:rPr lang="en">
                <a:latin typeface="Source Code Pro"/>
                <a:ea typeface="Source Code Pro"/>
                <a:cs typeface="Source Code Pro"/>
                <a:sym typeface="Source Code Pro"/>
              </a:rPr>
              <a:t>...</a:t>
            </a:r>
            <a:endParaRPr>
              <a:latin typeface="Source Code Pro"/>
              <a:ea typeface="Source Code Pro"/>
              <a:cs typeface="Source Code Pro"/>
              <a:sym typeface="Source Code Pro"/>
            </a:endParaRPr>
          </a:p>
        </p:txBody>
      </p:sp>
      <p:pic>
        <p:nvPicPr>
          <p:cNvPr id="1609" name="Google Shape;1609;p151"/>
          <p:cNvPicPr preferRelativeResize="0"/>
          <p:nvPr/>
        </p:nvPicPr>
        <p:blipFill>
          <a:blip r:embed="rId3">
            <a:alphaModFix/>
          </a:blip>
          <a:stretch>
            <a:fillRect/>
          </a:stretch>
        </p:blipFill>
        <p:spPr>
          <a:xfrm>
            <a:off x="1909025" y="4352250"/>
            <a:ext cx="7031154" cy="575650"/>
          </a:xfrm>
          <a:prstGeom prst="rect">
            <a:avLst/>
          </a:prstGeom>
          <a:noFill/>
          <a:ln>
            <a:noFill/>
          </a:ln>
        </p:spPr>
      </p:pic>
      <p:sp>
        <p:nvSpPr>
          <p:cNvPr id="1610" name="Google Shape;1610;p151"/>
          <p:cNvSpPr txBox="1"/>
          <p:nvPr/>
        </p:nvSpPr>
        <p:spPr>
          <a:xfrm>
            <a:off x="4233600" y="1326950"/>
            <a:ext cx="480900" cy="139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611" name="Google Shape;1611;p151"/>
          <p:cNvSpPr/>
          <p:nvPr/>
        </p:nvSpPr>
        <p:spPr>
          <a:xfrm>
            <a:off x="6488400" y="1423838"/>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51"/>
          <p:cNvSpPr/>
          <p:nvPr/>
        </p:nvSpPr>
        <p:spPr>
          <a:xfrm>
            <a:off x="7442475" y="225026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151"/>
          <p:cNvSpPr/>
          <p:nvPr/>
        </p:nvSpPr>
        <p:spPr>
          <a:xfrm>
            <a:off x="8174150" y="316501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151"/>
          <p:cNvSpPr/>
          <p:nvPr/>
        </p:nvSpPr>
        <p:spPr>
          <a:xfrm>
            <a:off x="5832975" y="1868463"/>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615" name="Google Shape;1615;p151"/>
          <p:cNvSpPr/>
          <p:nvPr/>
        </p:nvSpPr>
        <p:spPr>
          <a:xfrm>
            <a:off x="6809013" y="263038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616" name="Google Shape;1616;p151"/>
          <p:cNvSpPr/>
          <p:nvPr/>
        </p:nvSpPr>
        <p:spPr>
          <a:xfrm>
            <a:off x="752632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617" name="Google Shape;1617;p151"/>
          <p:cNvSpPr/>
          <p:nvPr/>
        </p:nvSpPr>
        <p:spPr>
          <a:xfrm>
            <a:off x="845927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cxnSp>
        <p:nvCxnSpPr>
          <p:cNvPr id="1618" name="Google Shape;1618;p151"/>
          <p:cNvCxnSpPr>
            <a:stCxn id="1613" idx="3"/>
            <a:endCxn id="1616" idx="7"/>
          </p:cNvCxnSpPr>
          <p:nvPr/>
        </p:nvCxnSpPr>
        <p:spPr>
          <a:xfrm flipH="1">
            <a:off x="7936771" y="3299191"/>
            <a:ext cx="260400" cy="343500"/>
          </a:xfrm>
          <a:prstGeom prst="straightConnector1">
            <a:avLst/>
          </a:prstGeom>
          <a:noFill/>
          <a:ln cap="flat" cmpd="sng" w="9525">
            <a:solidFill>
              <a:schemeClr val="dk2"/>
            </a:solidFill>
            <a:prstDash val="solid"/>
            <a:round/>
            <a:headEnd len="med" w="med" type="none"/>
            <a:tailEnd len="med" w="med" type="triangle"/>
          </a:ln>
        </p:spPr>
      </p:cxnSp>
      <p:cxnSp>
        <p:nvCxnSpPr>
          <p:cNvPr id="1619" name="Google Shape;1619;p151"/>
          <p:cNvCxnSpPr>
            <a:stCxn id="1613" idx="5"/>
            <a:endCxn id="1617" idx="1"/>
          </p:cNvCxnSpPr>
          <p:nvPr/>
        </p:nvCxnSpPr>
        <p:spPr>
          <a:xfrm>
            <a:off x="8308329" y="3299191"/>
            <a:ext cx="221400" cy="343500"/>
          </a:xfrm>
          <a:prstGeom prst="straightConnector1">
            <a:avLst/>
          </a:prstGeom>
          <a:noFill/>
          <a:ln cap="flat" cmpd="sng" w="9525">
            <a:solidFill>
              <a:schemeClr val="dk2"/>
            </a:solidFill>
            <a:prstDash val="solid"/>
            <a:round/>
            <a:headEnd len="med" w="med" type="none"/>
            <a:tailEnd len="med" w="med" type="triangle"/>
          </a:ln>
        </p:spPr>
      </p:cxnSp>
      <p:sp>
        <p:nvSpPr>
          <p:cNvPr id="1620" name="Google Shape;1620;p151"/>
          <p:cNvSpPr txBox="1"/>
          <p:nvPr/>
        </p:nvSpPr>
        <p:spPr>
          <a:xfrm>
            <a:off x="6987888" y="22301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21" name="Google Shape;1621;p151"/>
          <p:cNvSpPr txBox="1"/>
          <p:nvPr/>
        </p:nvSpPr>
        <p:spPr>
          <a:xfrm>
            <a:off x="704857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22" name="Google Shape;1622;p151"/>
          <p:cNvSpPr txBox="1"/>
          <p:nvPr/>
        </p:nvSpPr>
        <p:spPr>
          <a:xfrm>
            <a:off x="8055800" y="23024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23" name="Google Shape;1623;p151"/>
          <p:cNvSpPr txBox="1"/>
          <p:nvPr/>
        </p:nvSpPr>
        <p:spPr>
          <a:xfrm>
            <a:off x="8499700" y="31112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24" name="Google Shape;1624;p151"/>
          <p:cNvSpPr txBox="1"/>
          <p:nvPr/>
        </p:nvSpPr>
        <p:spPr>
          <a:xfrm>
            <a:off x="598972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25" name="Google Shape;1625;p151"/>
          <p:cNvSpPr txBox="1"/>
          <p:nvPr/>
        </p:nvSpPr>
        <p:spPr>
          <a:xfrm>
            <a:off x="7719363" y="316501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cxnSp>
        <p:nvCxnSpPr>
          <p:cNvPr id="1626" name="Google Shape;1626;p151"/>
          <p:cNvCxnSpPr>
            <a:stCxn id="1612" idx="5"/>
            <a:endCxn id="1613" idx="0"/>
          </p:cNvCxnSpPr>
          <p:nvPr/>
        </p:nvCxnSpPr>
        <p:spPr>
          <a:xfrm>
            <a:off x="7576654" y="2384441"/>
            <a:ext cx="676200" cy="780600"/>
          </a:xfrm>
          <a:prstGeom prst="straightConnector1">
            <a:avLst/>
          </a:prstGeom>
          <a:noFill/>
          <a:ln cap="flat" cmpd="sng" w="9525">
            <a:solidFill>
              <a:schemeClr val="dk2"/>
            </a:solidFill>
            <a:prstDash val="solid"/>
            <a:round/>
            <a:headEnd len="med" w="med" type="none"/>
            <a:tailEnd len="med" w="med" type="triangle"/>
          </a:ln>
        </p:spPr>
      </p:cxnSp>
      <p:cxnSp>
        <p:nvCxnSpPr>
          <p:cNvPr id="1627" name="Google Shape;1627;p151"/>
          <p:cNvCxnSpPr>
            <a:stCxn id="1611" idx="5"/>
            <a:endCxn id="1612" idx="1"/>
          </p:cNvCxnSpPr>
          <p:nvPr/>
        </p:nvCxnSpPr>
        <p:spPr>
          <a:xfrm>
            <a:off x="6622579" y="1558016"/>
            <a:ext cx="843000" cy="715200"/>
          </a:xfrm>
          <a:prstGeom prst="straightConnector1">
            <a:avLst/>
          </a:prstGeom>
          <a:noFill/>
          <a:ln cap="flat" cmpd="sng" w="9525">
            <a:solidFill>
              <a:schemeClr val="dk2"/>
            </a:solidFill>
            <a:prstDash val="solid"/>
            <a:round/>
            <a:headEnd len="med" w="med" type="none"/>
            <a:tailEnd len="med" w="med" type="triangle"/>
          </a:ln>
        </p:spPr>
      </p:cxnSp>
      <p:cxnSp>
        <p:nvCxnSpPr>
          <p:cNvPr id="1628" name="Google Shape;1628;p151"/>
          <p:cNvCxnSpPr>
            <a:endCxn id="1614" idx="7"/>
          </p:cNvCxnSpPr>
          <p:nvPr/>
        </p:nvCxnSpPr>
        <p:spPr>
          <a:xfrm flipH="1">
            <a:off x="6243449" y="1558189"/>
            <a:ext cx="267900" cy="380700"/>
          </a:xfrm>
          <a:prstGeom prst="straightConnector1">
            <a:avLst/>
          </a:prstGeom>
          <a:noFill/>
          <a:ln cap="flat" cmpd="sng" w="9525">
            <a:solidFill>
              <a:schemeClr val="dk2"/>
            </a:solidFill>
            <a:prstDash val="solid"/>
            <a:round/>
            <a:headEnd len="med" w="med" type="none"/>
            <a:tailEnd len="med" w="med" type="triangle"/>
          </a:ln>
        </p:spPr>
      </p:cxnSp>
      <p:cxnSp>
        <p:nvCxnSpPr>
          <p:cNvPr id="1629" name="Google Shape;1629;p151"/>
          <p:cNvCxnSpPr>
            <a:stCxn id="1612" idx="3"/>
            <a:endCxn id="1615" idx="7"/>
          </p:cNvCxnSpPr>
          <p:nvPr/>
        </p:nvCxnSpPr>
        <p:spPr>
          <a:xfrm flipH="1">
            <a:off x="7219496" y="2384441"/>
            <a:ext cx="246000" cy="316500"/>
          </a:xfrm>
          <a:prstGeom prst="straightConnector1">
            <a:avLst/>
          </a:prstGeom>
          <a:noFill/>
          <a:ln cap="flat" cmpd="sng" w="9525">
            <a:solidFill>
              <a:schemeClr val="dk2"/>
            </a:solidFill>
            <a:prstDash val="solid"/>
            <a:round/>
            <a:headEnd len="med" w="med" type="none"/>
            <a:tailEnd len="med" w="med" type="triangle"/>
          </a:ln>
        </p:spPr>
      </p:cxnSp>
      <p:sp>
        <p:nvSpPr>
          <p:cNvPr id="1630" name="Google Shape;1630;p151"/>
          <p:cNvSpPr txBox="1"/>
          <p:nvPr/>
        </p:nvSpPr>
        <p:spPr>
          <a:xfrm>
            <a:off x="5490900" y="24074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31" name="Google Shape;1631;p151"/>
          <p:cNvSpPr txBox="1"/>
          <p:nvPr/>
        </p:nvSpPr>
        <p:spPr>
          <a:xfrm>
            <a:off x="6488400" y="316502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632" name="Google Shape;1632;p151"/>
          <p:cNvSpPr txBox="1"/>
          <p:nvPr/>
        </p:nvSpPr>
        <p:spPr>
          <a:xfrm>
            <a:off x="7428675" y="40599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110</a:t>
            </a:r>
            <a:endParaRPr>
              <a:latin typeface="Source Code Pro"/>
              <a:ea typeface="Source Code Pro"/>
              <a:cs typeface="Source Code Pro"/>
              <a:sym typeface="Source Code Pro"/>
            </a:endParaRPr>
          </a:p>
        </p:txBody>
      </p:sp>
      <p:sp>
        <p:nvSpPr>
          <p:cNvPr id="1633" name="Google Shape;1633;p151"/>
          <p:cNvSpPr txBox="1"/>
          <p:nvPr/>
        </p:nvSpPr>
        <p:spPr>
          <a:xfrm>
            <a:off x="8361625" y="411370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p:txBody>
      </p:sp>
      <p:pic>
        <p:nvPicPr>
          <p:cNvPr id="1634" name="Google Shape;1634;p151"/>
          <p:cNvPicPr preferRelativeResize="0"/>
          <p:nvPr/>
        </p:nvPicPr>
        <p:blipFill>
          <a:blip r:embed="rId4">
            <a:alphaModFix/>
          </a:blip>
          <a:stretch>
            <a:fillRect/>
          </a:stretch>
        </p:blipFill>
        <p:spPr>
          <a:xfrm>
            <a:off x="1650847" y="3377871"/>
            <a:ext cx="3502449" cy="5756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15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Biased Cards</a:t>
            </a:r>
            <a:endParaRPr/>
          </a:p>
        </p:txBody>
      </p:sp>
      <p:sp>
        <p:nvSpPr>
          <p:cNvPr id="1640" name="Google Shape;1640;p152"/>
          <p:cNvSpPr txBox="1"/>
          <p:nvPr/>
        </p:nvSpPr>
        <p:spPr>
          <a:xfrm>
            <a:off x="461350" y="1707950"/>
            <a:ext cx="3977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1110111111101011001110</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pic>
        <p:nvPicPr>
          <p:cNvPr id="1641" name="Google Shape;1641;p152"/>
          <p:cNvPicPr preferRelativeResize="0"/>
          <p:nvPr/>
        </p:nvPicPr>
        <p:blipFill>
          <a:blip r:embed="rId3">
            <a:alphaModFix/>
          </a:blip>
          <a:stretch>
            <a:fillRect/>
          </a:stretch>
        </p:blipFill>
        <p:spPr>
          <a:xfrm>
            <a:off x="1909025" y="4352250"/>
            <a:ext cx="7031154" cy="575650"/>
          </a:xfrm>
          <a:prstGeom prst="rect">
            <a:avLst/>
          </a:prstGeom>
          <a:noFill/>
          <a:ln>
            <a:noFill/>
          </a:ln>
        </p:spPr>
      </p:pic>
      <p:sp>
        <p:nvSpPr>
          <p:cNvPr id="1642" name="Google Shape;1642;p152"/>
          <p:cNvSpPr txBox="1"/>
          <p:nvPr/>
        </p:nvSpPr>
        <p:spPr>
          <a:xfrm>
            <a:off x="4233600" y="1326950"/>
            <a:ext cx="4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643" name="Google Shape;1643;p152"/>
          <p:cNvSpPr/>
          <p:nvPr/>
        </p:nvSpPr>
        <p:spPr>
          <a:xfrm>
            <a:off x="6488400" y="1423838"/>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52"/>
          <p:cNvSpPr/>
          <p:nvPr/>
        </p:nvSpPr>
        <p:spPr>
          <a:xfrm>
            <a:off x="7442475" y="225026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52"/>
          <p:cNvSpPr/>
          <p:nvPr/>
        </p:nvSpPr>
        <p:spPr>
          <a:xfrm>
            <a:off x="8174150" y="316501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52"/>
          <p:cNvSpPr/>
          <p:nvPr/>
        </p:nvSpPr>
        <p:spPr>
          <a:xfrm>
            <a:off x="5832975" y="1868463"/>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647" name="Google Shape;1647;p152"/>
          <p:cNvSpPr/>
          <p:nvPr/>
        </p:nvSpPr>
        <p:spPr>
          <a:xfrm>
            <a:off x="6809013" y="263038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648" name="Google Shape;1648;p152"/>
          <p:cNvSpPr/>
          <p:nvPr/>
        </p:nvSpPr>
        <p:spPr>
          <a:xfrm>
            <a:off x="752632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649" name="Google Shape;1649;p152"/>
          <p:cNvSpPr/>
          <p:nvPr/>
        </p:nvSpPr>
        <p:spPr>
          <a:xfrm>
            <a:off x="845927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cxnSp>
        <p:nvCxnSpPr>
          <p:cNvPr id="1650" name="Google Shape;1650;p152"/>
          <p:cNvCxnSpPr>
            <a:stCxn id="1645" idx="3"/>
            <a:endCxn id="1648" idx="7"/>
          </p:cNvCxnSpPr>
          <p:nvPr/>
        </p:nvCxnSpPr>
        <p:spPr>
          <a:xfrm flipH="1">
            <a:off x="7936771" y="3299191"/>
            <a:ext cx="260400" cy="343500"/>
          </a:xfrm>
          <a:prstGeom prst="straightConnector1">
            <a:avLst/>
          </a:prstGeom>
          <a:noFill/>
          <a:ln cap="flat" cmpd="sng" w="9525">
            <a:solidFill>
              <a:schemeClr val="dk2"/>
            </a:solidFill>
            <a:prstDash val="solid"/>
            <a:round/>
            <a:headEnd len="med" w="med" type="none"/>
            <a:tailEnd len="med" w="med" type="triangle"/>
          </a:ln>
        </p:spPr>
      </p:cxnSp>
      <p:cxnSp>
        <p:nvCxnSpPr>
          <p:cNvPr id="1651" name="Google Shape;1651;p152"/>
          <p:cNvCxnSpPr>
            <a:stCxn id="1645" idx="5"/>
            <a:endCxn id="1649" idx="1"/>
          </p:cNvCxnSpPr>
          <p:nvPr/>
        </p:nvCxnSpPr>
        <p:spPr>
          <a:xfrm>
            <a:off x="8308329" y="3299191"/>
            <a:ext cx="221400" cy="343500"/>
          </a:xfrm>
          <a:prstGeom prst="straightConnector1">
            <a:avLst/>
          </a:prstGeom>
          <a:noFill/>
          <a:ln cap="flat" cmpd="sng" w="9525">
            <a:solidFill>
              <a:schemeClr val="dk2"/>
            </a:solidFill>
            <a:prstDash val="solid"/>
            <a:round/>
            <a:headEnd len="med" w="med" type="none"/>
            <a:tailEnd len="med" w="med" type="triangle"/>
          </a:ln>
        </p:spPr>
      </p:cxnSp>
      <p:sp>
        <p:nvSpPr>
          <p:cNvPr id="1652" name="Google Shape;1652;p152"/>
          <p:cNvSpPr txBox="1"/>
          <p:nvPr/>
        </p:nvSpPr>
        <p:spPr>
          <a:xfrm>
            <a:off x="6987888" y="22301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53" name="Google Shape;1653;p152"/>
          <p:cNvSpPr txBox="1"/>
          <p:nvPr/>
        </p:nvSpPr>
        <p:spPr>
          <a:xfrm>
            <a:off x="704857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54" name="Google Shape;1654;p152"/>
          <p:cNvSpPr txBox="1"/>
          <p:nvPr/>
        </p:nvSpPr>
        <p:spPr>
          <a:xfrm>
            <a:off x="8055800" y="23024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55" name="Google Shape;1655;p152"/>
          <p:cNvSpPr txBox="1"/>
          <p:nvPr/>
        </p:nvSpPr>
        <p:spPr>
          <a:xfrm>
            <a:off x="8499700" y="31112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56" name="Google Shape;1656;p152"/>
          <p:cNvSpPr txBox="1"/>
          <p:nvPr/>
        </p:nvSpPr>
        <p:spPr>
          <a:xfrm>
            <a:off x="598972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57" name="Google Shape;1657;p152"/>
          <p:cNvSpPr txBox="1"/>
          <p:nvPr/>
        </p:nvSpPr>
        <p:spPr>
          <a:xfrm>
            <a:off x="7719363" y="316501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cxnSp>
        <p:nvCxnSpPr>
          <p:cNvPr id="1658" name="Google Shape;1658;p152"/>
          <p:cNvCxnSpPr>
            <a:stCxn id="1644" idx="5"/>
            <a:endCxn id="1645" idx="0"/>
          </p:cNvCxnSpPr>
          <p:nvPr/>
        </p:nvCxnSpPr>
        <p:spPr>
          <a:xfrm>
            <a:off x="7576654" y="2384441"/>
            <a:ext cx="676200" cy="780600"/>
          </a:xfrm>
          <a:prstGeom prst="straightConnector1">
            <a:avLst/>
          </a:prstGeom>
          <a:noFill/>
          <a:ln cap="flat" cmpd="sng" w="9525">
            <a:solidFill>
              <a:schemeClr val="dk2"/>
            </a:solidFill>
            <a:prstDash val="solid"/>
            <a:round/>
            <a:headEnd len="med" w="med" type="none"/>
            <a:tailEnd len="med" w="med" type="triangle"/>
          </a:ln>
        </p:spPr>
      </p:cxnSp>
      <p:cxnSp>
        <p:nvCxnSpPr>
          <p:cNvPr id="1659" name="Google Shape;1659;p152"/>
          <p:cNvCxnSpPr>
            <a:stCxn id="1643" idx="5"/>
            <a:endCxn id="1644" idx="1"/>
          </p:cNvCxnSpPr>
          <p:nvPr/>
        </p:nvCxnSpPr>
        <p:spPr>
          <a:xfrm>
            <a:off x="6622579" y="1558016"/>
            <a:ext cx="843000" cy="715200"/>
          </a:xfrm>
          <a:prstGeom prst="straightConnector1">
            <a:avLst/>
          </a:prstGeom>
          <a:noFill/>
          <a:ln cap="flat" cmpd="sng" w="9525">
            <a:solidFill>
              <a:schemeClr val="dk2"/>
            </a:solidFill>
            <a:prstDash val="solid"/>
            <a:round/>
            <a:headEnd len="med" w="med" type="none"/>
            <a:tailEnd len="med" w="med" type="triangle"/>
          </a:ln>
        </p:spPr>
      </p:cxnSp>
      <p:cxnSp>
        <p:nvCxnSpPr>
          <p:cNvPr id="1660" name="Google Shape;1660;p152"/>
          <p:cNvCxnSpPr>
            <a:endCxn id="1646" idx="7"/>
          </p:cNvCxnSpPr>
          <p:nvPr/>
        </p:nvCxnSpPr>
        <p:spPr>
          <a:xfrm flipH="1">
            <a:off x="6243449" y="1558189"/>
            <a:ext cx="267900" cy="380700"/>
          </a:xfrm>
          <a:prstGeom prst="straightConnector1">
            <a:avLst/>
          </a:prstGeom>
          <a:noFill/>
          <a:ln cap="flat" cmpd="sng" w="9525">
            <a:solidFill>
              <a:schemeClr val="dk2"/>
            </a:solidFill>
            <a:prstDash val="solid"/>
            <a:round/>
            <a:headEnd len="med" w="med" type="none"/>
            <a:tailEnd len="med" w="med" type="triangle"/>
          </a:ln>
        </p:spPr>
      </p:cxnSp>
      <p:cxnSp>
        <p:nvCxnSpPr>
          <p:cNvPr id="1661" name="Google Shape;1661;p152"/>
          <p:cNvCxnSpPr>
            <a:stCxn id="1644" idx="3"/>
            <a:endCxn id="1647" idx="7"/>
          </p:cNvCxnSpPr>
          <p:nvPr/>
        </p:nvCxnSpPr>
        <p:spPr>
          <a:xfrm flipH="1">
            <a:off x="7219496" y="2384441"/>
            <a:ext cx="246000" cy="316500"/>
          </a:xfrm>
          <a:prstGeom prst="straightConnector1">
            <a:avLst/>
          </a:prstGeom>
          <a:noFill/>
          <a:ln cap="flat" cmpd="sng" w="9525">
            <a:solidFill>
              <a:schemeClr val="dk2"/>
            </a:solidFill>
            <a:prstDash val="solid"/>
            <a:round/>
            <a:headEnd len="med" w="med" type="none"/>
            <a:tailEnd len="med" w="med" type="triangle"/>
          </a:ln>
        </p:spPr>
      </p:cxnSp>
      <p:sp>
        <p:nvSpPr>
          <p:cNvPr id="1662" name="Google Shape;1662;p152"/>
          <p:cNvSpPr txBox="1"/>
          <p:nvPr/>
        </p:nvSpPr>
        <p:spPr>
          <a:xfrm>
            <a:off x="5490900" y="24074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63" name="Google Shape;1663;p152"/>
          <p:cNvSpPr txBox="1"/>
          <p:nvPr/>
        </p:nvSpPr>
        <p:spPr>
          <a:xfrm>
            <a:off x="6488400" y="316502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664" name="Google Shape;1664;p152"/>
          <p:cNvSpPr txBox="1"/>
          <p:nvPr/>
        </p:nvSpPr>
        <p:spPr>
          <a:xfrm>
            <a:off x="7428675" y="40599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110</a:t>
            </a:r>
            <a:endParaRPr>
              <a:latin typeface="Source Code Pro"/>
              <a:ea typeface="Source Code Pro"/>
              <a:cs typeface="Source Code Pro"/>
              <a:sym typeface="Source Code Pro"/>
            </a:endParaRPr>
          </a:p>
        </p:txBody>
      </p:sp>
      <p:sp>
        <p:nvSpPr>
          <p:cNvPr id="1665" name="Google Shape;1665;p152"/>
          <p:cNvSpPr txBox="1"/>
          <p:nvPr/>
        </p:nvSpPr>
        <p:spPr>
          <a:xfrm>
            <a:off x="8361625" y="411370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p:txBody>
      </p:sp>
      <p:pic>
        <p:nvPicPr>
          <p:cNvPr id="1666" name="Google Shape;1666;p152"/>
          <p:cNvPicPr preferRelativeResize="0"/>
          <p:nvPr/>
        </p:nvPicPr>
        <p:blipFill>
          <a:blip r:embed="rId4">
            <a:alphaModFix/>
          </a:blip>
          <a:stretch>
            <a:fillRect/>
          </a:stretch>
        </p:blipFill>
        <p:spPr>
          <a:xfrm>
            <a:off x="1650847" y="3377871"/>
            <a:ext cx="3502449" cy="575650"/>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sp>
        <p:nvSpPr>
          <p:cNvPr id="1671" name="Google Shape;1671;p15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Sampling</a:t>
            </a:r>
            <a:r>
              <a:rPr lang="en"/>
              <a:t> Biased Cards</a:t>
            </a:r>
            <a:endParaRPr/>
          </a:p>
        </p:txBody>
      </p:sp>
      <p:sp>
        <p:nvSpPr>
          <p:cNvPr id="1672" name="Google Shape;1672;p153"/>
          <p:cNvSpPr txBox="1"/>
          <p:nvPr/>
        </p:nvSpPr>
        <p:spPr>
          <a:xfrm>
            <a:off x="461350" y="1707950"/>
            <a:ext cx="3977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1110111111101011001110</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p:txBody>
      </p:sp>
      <p:pic>
        <p:nvPicPr>
          <p:cNvPr id="1673" name="Google Shape;1673;p153"/>
          <p:cNvPicPr preferRelativeResize="0"/>
          <p:nvPr/>
        </p:nvPicPr>
        <p:blipFill>
          <a:blip r:embed="rId3">
            <a:alphaModFix/>
          </a:blip>
          <a:stretch>
            <a:fillRect/>
          </a:stretch>
        </p:blipFill>
        <p:spPr>
          <a:xfrm>
            <a:off x="1909025" y="4352250"/>
            <a:ext cx="7031154" cy="575650"/>
          </a:xfrm>
          <a:prstGeom prst="rect">
            <a:avLst/>
          </a:prstGeom>
          <a:noFill/>
          <a:ln>
            <a:noFill/>
          </a:ln>
        </p:spPr>
      </p:pic>
      <p:sp>
        <p:nvSpPr>
          <p:cNvPr id="1674" name="Google Shape;1674;p153"/>
          <p:cNvSpPr txBox="1"/>
          <p:nvPr/>
        </p:nvSpPr>
        <p:spPr>
          <a:xfrm>
            <a:off x="4233600" y="1326950"/>
            <a:ext cx="48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675" name="Google Shape;1675;p153"/>
          <p:cNvSpPr/>
          <p:nvPr/>
        </p:nvSpPr>
        <p:spPr>
          <a:xfrm>
            <a:off x="6488400" y="1423838"/>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153"/>
          <p:cNvSpPr/>
          <p:nvPr/>
        </p:nvSpPr>
        <p:spPr>
          <a:xfrm>
            <a:off x="7442475" y="225026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153"/>
          <p:cNvSpPr/>
          <p:nvPr/>
        </p:nvSpPr>
        <p:spPr>
          <a:xfrm>
            <a:off x="8174150" y="316501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153"/>
          <p:cNvSpPr/>
          <p:nvPr/>
        </p:nvSpPr>
        <p:spPr>
          <a:xfrm>
            <a:off x="5832975" y="1868463"/>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679" name="Google Shape;1679;p153"/>
          <p:cNvSpPr/>
          <p:nvPr/>
        </p:nvSpPr>
        <p:spPr>
          <a:xfrm>
            <a:off x="6809013" y="263038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680" name="Google Shape;1680;p153"/>
          <p:cNvSpPr/>
          <p:nvPr/>
        </p:nvSpPr>
        <p:spPr>
          <a:xfrm>
            <a:off x="752632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681" name="Google Shape;1681;p153"/>
          <p:cNvSpPr/>
          <p:nvPr/>
        </p:nvSpPr>
        <p:spPr>
          <a:xfrm>
            <a:off x="8459275" y="35721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cxnSp>
        <p:nvCxnSpPr>
          <p:cNvPr id="1682" name="Google Shape;1682;p153"/>
          <p:cNvCxnSpPr>
            <a:stCxn id="1677" idx="3"/>
            <a:endCxn id="1680" idx="7"/>
          </p:cNvCxnSpPr>
          <p:nvPr/>
        </p:nvCxnSpPr>
        <p:spPr>
          <a:xfrm flipH="1">
            <a:off x="7936771" y="3299191"/>
            <a:ext cx="260400" cy="343500"/>
          </a:xfrm>
          <a:prstGeom prst="straightConnector1">
            <a:avLst/>
          </a:prstGeom>
          <a:noFill/>
          <a:ln cap="flat" cmpd="sng" w="9525">
            <a:solidFill>
              <a:schemeClr val="dk2"/>
            </a:solidFill>
            <a:prstDash val="solid"/>
            <a:round/>
            <a:headEnd len="med" w="med" type="none"/>
            <a:tailEnd len="med" w="med" type="triangle"/>
          </a:ln>
        </p:spPr>
      </p:cxnSp>
      <p:cxnSp>
        <p:nvCxnSpPr>
          <p:cNvPr id="1683" name="Google Shape;1683;p153"/>
          <p:cNvCxnSpPr>
            <a:stCxn id="1677" idx="5"/>
            <a:endCxn id="1681" idx="1"/>
          </p:cNvCxnSpPr>
          <p:nvPr/>
        </p:nvCxnSpPr>
        <p:spPr>
          <a:xfrm>
            <a:off x="8308329" y="3299191"/>
            <a:ext cx="221400" cy="343500"/>
          </a:xfrm>
          <a:prstGeom prst="straightConnector1">
            <a:avLst/>
          </a:prstGeom>
          <a:noFill/>
          <a:ln cap="flat" cmpd="sng" w="9525">
            <a:solidFill>
              <a:schemeClr val="dk2"/>
            </a:solidFill>
            <a:prstDash val="solid"/>
            <a:round/>
            <a:headEnd len="med" w="med" type="none"/>
            <a:tailEnd len="med" w="med" type="triangle"/>
          </a:ln>
        </p:spPr>
      </p:cxnSp>
      <p:sp>
        <p:nvSpPr>
          <p:cNvPr id="1684" name="Google Shape;1684;p153"/>
          <p:cNvSpPr txBox="1"/>
          <p:nvPr/>
        </p:nvSpPr>
        <p:spPr>
          <a:xfrm>
            <a:off x="6987888" y="22301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85" name="Google Shape;1685;p153"/>
          <p:cNvSpPr txBox="1"/>
          <p:nvPr/>
        </p:nvSpPr>
        <p:spPr>
          <a:xfrm>
            <a:off x="704857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86" name="Google Shape;1686;p153"/>
          <p:cNvSpPr txBox="1"/>
          <p:nvPr/>
        </p:nvSpPr>
        <p:spPr>
          <a:xfrm>
            <a:off x="8055800" y="23024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87" name="Google Shape;1687;p153"/>
          <p:cNvSpPr txBox="1"/>
          <p:nvPr/>
        </p:nvSpPr>
        <p:spPr>
          <a:xfrm>
            <a:off x="8499700" y="31112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688" name="Google Shape;1688;p153"/>
          <p:cNvSpPr txBox="1"/>
          <p:nvPr/>
        </p:nvSpPr>
        <p:spPr>
          <a:xfrm>
            <a:off x="5989725" y="14682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89" name="Google Shape;1689;p153"/>
          <p:cNvSpPr txBox="1"/>
          <p:nvPr/>
        </p:nvSpPr>
        <p:spPr>
          <a:xfrm>
            <a:off x="7719363" y="316501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cxnSp>
        <p:nvCxnSpPr>
          <p:cNvPr id="1690" name="Google Shape;1690;p153"/>
          <p:cNvCxnSpPr>
            <a:stCxn id="1676" idx="5"/>
            <a:endCxn id="1677" idx="0"/>
          </p:cNvCxnSpPr>
          <p:nvPr/>
        </p:nvCxnSpPr>
        <p:spPr>
          <a:xfrm>
            <a:off x="7576654" y="2384441"/>
            <a:ext cx="676200" cy="780600"/>
          </a:xfrm>
          <a:prstGeom prst="straightConnector1">
            <a:avLst/>
          </a:prstGeom>
          <a:noFill/>
          <a:ln cap="flat" cmpd="sng" w="9525">
            <a:solidFill>
              <a:schemeClr val="dk2"/>
            </a:solidFill>
            <a:prstDash val="solid"/>
            <a:round/>
            <a:headEnd len="med" w="med" type="none"/>
            <a:tailEnd len="med" w="med" type="triangle"/>
          </a:ln>
        </p:spPr>
      </p:cxnSp>
      <p:cxnSp>
        <p:nvCxnSpPr>
          <p:cNvPr id="1691" name="Google Shape;1691;p153"/>
          <p:cNvCxnSpPr>
            <a:stCxn id="1675" idx="5"/>
            <a:endCxn id="1676" idx="1"/>
          </p:cNvCxnSpPr>
          <p:nvPr/>
        </p:nvCxnSpPr>
        <p:spPr>
          <a:xfrm>
            <a:off x="6622579" y="1558016"/>
            <a:ext cx="843000" cy="715200"/>
          </a:xfrm>
          <a:prstGeom prst="straightConnector1">
            <a:avLst/>
          </a:prstGeom>
          <a:noFill/>
          <a:ln cap="flat" cmpd="sng" w="9525">
            <a:solidFill>
              <a:schemeClr val="dk2"/>
            </a:solidFill>
            <a:prstDash val="solid"/>
            <a:round/>
            <a:headEnd len="med" w="med" type="none"/>
            <a:tailEnd len="med" w="med" type="triangle"/>
          </a:ln>
        </p:spPr>
      </p:cxnSp>
      <p:cxnSp>
        <p:nvCxnSpPr>
          <p:cNvPr id="1692" name="Google Shape;1692;p153"/>
          <p:cNvCxnSpPr>
            <a:endCxn id="1678" idx="7"/>
          </p:cNvCxnSpPr>
          <p:nvPr/>
        </p:nvCxnSpPr>
        <p:spPr>
          <a:xfrm flipH="1">
            <a:off x="6243449" y="1558189"/>
            <a:ext cx="267900" cy="380700"/>
          </a:xfrm>
          <a:prstGeom prst="straightConnector1">
            <a:avLst/>
          </a:prstGeom>
          <a:noFill/>
          <a:ln cap="flat" cmpd="sng" w="9525">
            <a:solidFill>
              <a:schemeClr val="dk2"/>
            </a:solidFill>
            <a:prstDash val="solid"/>
            <a:round/>
            <a:headEnd len="med" w="med" type="none"/>
            <a:tailEnd len="med" w="med" type="triangle"/>
          </a:ln>
        </p:spPr>
      </p:cxnSp>
      <p:cxnSp>
        <p:nvCxnSpPr>
          <p:cNvPr id="1693" name="Google Shape;1693;p153"/>
          <p:cNvCxnSpPr>
            <a:stCxn id="1676" idx="3"/>
            <a:endCxn id="1679" idx="7"/>
          </p:cNvCxnSpPr>
          <p:nvPr/>
        </p:nvCxnSpPr>
        <p:spPr>
          <a:xfrm flipH="1">
            <a:off x="7219496" y="2384441"/>
            <a:ext cx="246000" cy="316500"/>
          </a:xfrm>
          <a:prstGeom prst="straightConnector1">
            <a:avLst/>
          </a:prstGeom>
          <a:noFill/>
          <a:ln cap="flat" cmpd="sng" w="9525">
            <a:solidFill>
              <a:schemeClr val="dk2"/>
            </a:solidFill>
            <a:prstDash val="solid"/>
            <a:round/>
            <a:headEnd len="med" w="med" type="none"/>
            <a:tailEnd len="med" w="med" type="triangle"/>
          </a:ln>
        </p:spPr>
      </p:cxnSp>
      <p:sp>
        <p:nvSpPr>
          <p:cNvPr id="1694" name="Google Shape;1694;p153"/>
          <p:cNvSpPr txBox="1"/>
          <p:nvPr/>
        </p:nvSpPr>
        <p:spPr>
          <a:xfrm>
            <a:off x="5490900" y="24074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695" name="Google Shape;1695;p153"/>
          <p:cNvSpPr txBox="1"/>
          <p:nvPr/>
        </p:nvSpPr>
        <p:spPr>
          <a:xfrm>
            <a:off x="6488400" y="316502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696" name="Google Shape;1696;p153"/>
          <p:cNvSpPr txBox="1"/>
          <p:nvPr/>
        </p:nvSpPr>
        <p:spPr>
          <a:xfrm>
            <a:off x="7428675" y="40599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110</a:t>
            </a:r>
            <a:endParaRPr>
              <a:latin typeface="Source Code Pro"/>
              <a:ea typeface="Source Code Pro"/>
              <a:cs typeface="Source Code Pro"/>
              <a:sym typeface="Source Code Pro"/>
            </a:endParaRPr>
          </a:p>
        </p:txBody>
      </p:sp>
      <p:sp>
        <p:nvSpPr>
          <p:cNvPr id="1697" name="Google Shape;1697;p153"/>
          <p:cNvSpPr txBox="1"/>
          <p:nvPr/>
        </p:nvSpPr>
        <p:spPr>
          <a:xfrm>
            <a:off x="8361625" y="411370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p:txBody>
      </p:sp>
      <p:pic>
        <p:nvPicPr>
          <p:cNvPr id="1698" name="Google Shape;1698;p153"/>
          <p:cNvPicPr preferRelativeResize="0"/>
          <p:nvPr/>
        </p:nvPicPr>
        <p:blipFill>
          <a:blip r:embed="rId4">
            <a:alphaModFix/>
          </a:blip>
          <a:stretch>
            <a:fillRect/>
          </a:stretch>
        </p:blipFill>
        <p:spPr>
          <a:xfrm>
            <a:off x="1650847" y="3377871"/>
            <a:ext cx="3502449" cy="575650"/>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2" name="Shape 1702"/>
        <p:cNvGrpSpPr/>
        <p:nvPr/>
      </p:nvGrpSpPr>
      <p:grpSpPr>
        <a:xfrm>
          <a:off x="0" y="0"/>
          <a:ext cx="0" cy="0"/>
          <a:chOff x="0" y="0"/>
          <a:chExt cx="0" cy="0"/>
        </a:xfrm>
      </p:grpSpPr>
      <p:sp>
        <p:nvSpPr>
          <p:cNvPr id="1703" name="Google Shape;1703;p15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Entropy is the Number of Coin Flips to Sample</a:t>
            </a:r>
            <a:endParaRPr/>
          </a:p>
        </p:txBody>
      </p:sp>
      <p:sp>
        <p:nvSpPr>
          <p:cNvPr id="1704" name="Google Shape;1704;p154"/>
          <p:cNvSpPr txBox="1"/>
          <p:nvPr/>
        </p:nvSpPr>
        <p:spPr>
          <a:xfrm>
            <a:off x="245400" y="1619625"/>
            <a:ext cx="44469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In order to generate a sample from a discrete distribution, on average it takes as many fair coin flips as the entropy of the distribution.</a:t>
            </a:r>
            <a:endParaRPr sz="1900">
              <a:latin typeface="Google Sans"/>
              <a:ea typeface="Google Sans"/>
              <a:cs typeface="Google Sans"/>
              <a:sym typeface="Google Sans"/>
            </a:endParaRPr>
          </a:p>
        </p:txBody>
      </p:sp>
      <p:sp>
        <p:nvSpPr>
          <p:cNvPr id="1705" name="Google Shape;1705;p154"/>
          <p:cNvSpPr/>
          <p:nvPr/>
        </p:nvSpPr>
        <p:spPr>
          <a:xfrm>
            <a:off x="6594575" y="2053438"/>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154"/>
          <p:cNvSpPr/>
          <p:nvPr/>
        </p:nvSpPr>
        <p:spPr>
          <a:xfrm>
            <a:off x="7548650" y="287986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154"/>
          <p:cNvSpPr/>
          <p:nvPr/>
        </p:nvSpPr>
        <p:spPr>
          <a:xfrm>
            <a:off x="8280325" y="3794613"/>
            <a:ext cx="157200" cy="157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154"/>
          <p:cNvSpPr/>
          <p:nvPr/>
        </p:nvSpPr>
        <p:spPr>
          <a:xfrm>
            <a:off x="5939150" y="2498063"/>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sz="2000">
              <a:latin typeface="Source Code Pro"/>
              <a:ea typeface="Source Code Pro"/>
              <a:cs typeface="Source Code Pro"/>
              <a:sym typeface="Source Code Pro"/>
            </a:endParaRPr>
          </a:p>
        </p:txBody>
      </p:sp>
      <p:sp>
        <p:nvSpPr>
          <p:cNvPr id="1709" name="Google Shape;1709;p154"/>
          <p:cNvSpPr/>
          <p:nvPr/>
        </p:nvSpPr>
        <p:spPr>
          <a:xfrm>
            <a:off x="6915188" y="325998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2000">
                <a:latin typeface="Source Code Pro"/>
                <a:ea typeface="Source Code Pro"/>
                <a:cs typeface="Source Code Pro"/>
                <a:sym typeface="Source Code Pro"/>
              </a:rPr>
              <a:t>♠</a:t>
            </a:r>
            <a:endParaRPr/>
          </a:p>
        </p:txBody>
      </p:sp>
      <p:sp>
        <p:nvSpPr>
          <p:cNvPr id="1710" name="Google Shape;1710;p154"/>
          <p:cNvSpPr/>
          <p:nvPr/>
        </p:nvSpPr>
        <p:spPr>
          <a:xfrm>
            <a:off x="7632500" y="42017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Source Code Pro"/>
                <a:ea typeface="Source Code Pro"/>
                <a:cs typeface="Source Code Pro"/>
                <a:sym typeface="Source Code Pro"/>
              </a:rPr>
              <a:t>♡</a:t>
            </a:r>
            <a:endParaRPr sz="800"/>
          </a:p>
        </p:txBody>
      </p:sp>
      <p:sp>
        <p:nvSpPr>
          <p:cNvPr id="1711" name="Google Shape;1711;p154"/>
          <p:cNvSpPr/>
          <p:nvPr/>
        </p:nvSpPr>
        <p:spPr>
          <a:xfrm>
            <a:off x="8565450" y="4201738"/>
            <a:ext cx="480900" cy="4809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600">
                <a:latin typeface="Source Code Pro"/>
                <a:ea typeface="Source Code Pro"/>
                <a:cs typeface="Source Code Pro"/>
                <a:sym typeface="Source Code Pro"/>
              </a:rPr>
              <a:t>♢</a:t>
            </a:r>
            <a:endParaRPr sz="1000"/>
          </a:p>
        </p:txBody>
      </p:sp>
      <p:cxnSp>
        <p:nvCxnSpPr>
          <p:cNvPr id="1712" name="Google Shape;1712;p154"/>
          <p:cNvCxnSpPr>
            <a:stCxn id="1707" idx="3"/>
            <a:endCxn id="1710" idx="7"/>
          </p:cNvCxnSpPr>
          <p:nvPr/>
        </p:nvCxnSpPr>
        <p:spPr>
          <a:xfrm flipH="1">
            <a:off x="8042946" y="3928791"/>
            <a:ext cx="260400" cy="343500"/>
          </a:xfrm>
          <a:prstGeom prst="straightConnector1">
            <a:avLst/>
          </a:prstGeom>
          <a:noFill/>
          <a:ln cap="flat" cmpd="sng" w="9525">
            <a:solidFill>
              <a:schemeClr val="dk2"/>
            </a:solidFill>
            <a:prstDash val="solid"/>
            <a:round/>
            <a:headEnd len="med" w="med" type="none"/>
            <a:tailEnd len="med" w="med" type="triangle"/>
          </a:ln>
        </p:spPr>
      </p:cxnSp>
      <p:cxnSp>
        <p:nvCxnSpPr>
          <p:cNvPr id="1713" name="Google Shape;1713;p154"/>
          <p:cNvCxnSpPr>
            <a:stCxn id="1707" idx="5"/>
            <a:endCxn id="1711" idx="1"/>
          </p:cNvCxnSpPr>
          <p:nvPr/>
        </p:nvCxnSpPr>
        <p:spPr>
          <a:xfrm>
            <a:off x="8414504" y="3928791"/>
            <a:ext cx="221400" cy="343500"/>
          </a:xfrm>
          <a:prstGeom prst="straightConnector1">
            <a:avLst/>
          </a:prstGeom>
          <a:noFill/>
          <a:ln cap="flat" cmpd="sng" w="9525">
            <a:solidFill>
              <a:schemeClr val="dk2"/>
            </a:solidFill>
            <a:prstDash val="solid"/>
            <a:round/>
            <a:headEnd len="med" w="med" type="none"/>
            <a:tailEnd len="med" w="med" type="triangle"/>
          </a:ln>
        </p:spPr>
      </p:cxnSp>
      <p:sp>
        <p:nvSpPr>
          <p:cNvPr id="1714" name="Google Shape;1714;p154"/>
          <p:cNvSpPr txBox="1"/>
          <p:nvPr/>
        </p:nvSpPr>
        <p:spPr>
          <a:xfrm>
            <a:off x="7094063" y="28597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715" name="Google Shape;1715;p154"/>
          <p:cNvSpPr txBox="1"/>
          <p:nvPr/>
        </p:nvSpPr>
        <p:spPr>
          <a:xfrm>
            <a:off x="7154750" y="20978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16" name="Google Shape;1716;p154"/>
          <p:cNvSpPr txBox="1"/>
          <p:nvPr/>
        </p:nvSpPr>
        <p:spPr>
          <a:xfrm>
            <a:off x="8161975" y="29320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17" name="Google Shape;1717;p154"/>
          <p:cNvSpPr txBox="1"/>
          <p:nvPr/>
        </p:nvSpPr>
        <p:spPr>
          <a:xfrm>
            <a:off x="8605875" y="3740888"/>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a:t>
            </a:r>
            <a:endParaRPr>
              <a:latin typeface="Source Code Pro"/>
              <a:ea typeface="Source Code Pro"/>
              <a:cs typeface="Source Code Pro"/>
              <a:sym typeface="Source Code Pro"/>
            </a:endParaRPr>
          </a:p>
        </p:txBody>
      </p:sp>
      <p:sp>
        <p:nvSpPr>
          <p:cNvPr id="1718" name="Google Shape;1718;p154"/>
          <p:cNvSpPr txBox="1"/>
          <p:nvPr/>
        </p:nvSpPr>
        <p:spPr>
          <a:xfrm>
            <a:off x="6095900" y="209786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719" name="Google Shape;1719;p154"/>
          <p:cNvSpPr txBox="1"/>
          <p:nvPr/>
        </p:nvSpPr>
        <p:spPr>
          <a:xfrm>
            <a:off x="7825538" y="3794613"/>
            <a:ext cx="393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cxnSp>
        <p:nvCxnSpPr>
          <p:cNvPr id="1720" name="Google Shape;1720;p154"/>
          <p:cNvCxnSpPr>
            <a:stCxn id="1706" idx="5"/>
            <a:endCxn id="1707" idx="0"/>
          </p:cNvCxnSpPr>
          <p:nvPr/>
        </p:nvCxnSpPr>
        <p:spPr>
          <a:xfrm>
            <a:off x="7682829" y="3014041"/>
            <a:ext cx="676200" cy="780600"/>
          </a:xfrm>
          <a:prstGeom prst="straightConnector1">
            <a:avLst/>
          </a:prstGeom>
          <a:noFill/>
          <a:ln cap="flat" cmpd="sng" w="9525">
            <a:solidFill>
              <a:schemeClr val="dk2"/>
            </a:solidFill>
            <a:prstDash val="solid"/>
            <a:round/>
            <a:headEnd len="med" w="med" type="none"/>
            <a:tailEnd len="med" w="med" type="triangle"/>
          </a:ln>
        </p:spPr>
      </p:cxnSp>
      <p:cxnSp>
        <p:nvCxnSpPr>
          <p:cNvPr id="1721" name="Google Shape;1721;p154"/>
          <p:cNvCxnSpPr>
            <a:stCxn id="1705" idx="5"/>
            <a:endCxn id="1706" idx="1"/>
          </p:cNvCxnSpPr>
          <p:nvPr/>
        </p:nvCxnSpPr>
        <p:spPr>
          <a:xfrm>
            <a:off x="6728754" y="2187616"/>
            <a:ext cx="843000" cy="715200"/>
          </a:xfrm>
          <a:prstGeom prst="straightConnector1">
            <a:avLst/>
          </a:prstGeom>
          <a:noFill/>
          <a:ln cap="flat" cmpd="sng" w="9525">
            <a:solidFill>
              <a:schemeClr val="dk2"/>
            </a:solidFill>
            <a:prstDash val="solid"/>
            <a:round/>
            <a:headEnd len="med" w="med" type="none"/>
            <a:tailEnd len="med" w="med" type="triangle"/>
          </a:ln>
        </p:spPr>
      </p:cxnSp>
      <p:cxnSp>
        <p:nvCxnSpPr>
          <p:cNvPr id="1722" name="Google Shape;1722;p154"/>
          <p:cNvCxnSpPr>
            <a:endCxn id="1708" idx="7"/>
          </p:cNvCxnSpPr>
          <p:nvPr/>
        </p:nvCxnSpPr>
        <p:spPr>
          <a:xfrm flipH="1">
            <a:off x="6349624" y="2187789"/>
            <a:ext cx="267900" cy="380700"/>
          </a:xfrm>
          <a:prstGeom prst="straightConnector1">
            <a:avLst/>
          </a:prstGeom>
          <a:noFill/>
          <a:ln cap="flat" cmpd="sng" w="9525">
            <a:solidFill>
              <a:schemeClr val="dk2"/>
            </a:solidFill>
            <a:prstDash val="solid"/>
            <a:round/>
            <a:headEnd len="med" w="med" type="none"/>
            <a:tailEnd len="med" w="med" type="triangle"/>
          </a:ln>
        </p:spPr>
      </p:cxnSp>
      <p:cxnSp>
        <p:nvCxnSpPr>
          <p:cNvPr id="1723" name="Google Shape;1723;p154"/>
          <p:cNvCxnSpPr>
            <a:stCxn id="1706" idx="3"/>
            <a:endCxn id="1709" idx="7"/>
          </p:cNvCxnSpPr>
          <p:nvPr/>
        </p:nvCxnSpPr>
        <p:spPr>
          <a:xfrm flipH="1">
            <a:off x="7325671" y="3014041"/>
            <a:ext cx="246000" cy="316500"/>
          </a:xfrm>
          <a:prstGeom prst="straightConnector1">
            <a:avLst/>
          </a:prstGeom>
          <a:noFill/>
          <a:ln cap="flat" cmpd="sng" w="9525">
            <a:solidFill>
              <a:schemeClr val="dk2"/>
            </a:solidFill>
            <a:prstDash val="solid"/>
            <a:round/>
            <a:headEnd len="med" w="med" type="none"/>
            <a:tailEnd len="med" w="med" type="triangle"/>
          </a:ln>
        </p:spPr>
      </p:cxnSp>
      <p:sp>
        <p:nvSpPr>
          <p:cNvPr id="1724" name="Google Shape;1724;p154"/>
          <p:cNvSpPr txBox="1"/>
          <p:nvPr/>
        </p:nvSpPr>
        <p:spPr>
          <a:xfrm>
            <a:off x="5597075" y="30370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0</a:t>
            </a:r>
            <a:endParaRPr>
              <a:latin typeface="Source Code Pro"/>
              <a:ea typeface="Source Code Pro"/>
              <a:cs typeface="Source Code Pro"/>
              <a:sym typeface="Source Code Pro"/>
            </a:endParaRPr>
          </a:p>
        </p:txBody>
      </p:sp>
      <p:sp>
        <p:nvSpPr>
          <p:cNvPr id="1725" name="Google Shape;1725;p154"/>
          <p:cNvSpPr txBox="1"/>
          <p:nvPr/>
        </p:nvSpPr>
        <p:spPr>
          <a:xfrm>
            <a:off x="6594575" y="379462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10</a:t>
            </a:r>
            <a:endParaRPr>
              <a:latin typeface="Source Code Pro"/>
              <a:ea typeface="Source Code Pro"/>
              <a:cs typeface="Source Code Pro"/>
              <a:sym typeface="Source Code Pro"/>
            </a:endParaRPr>
          </a:p>
        </p:txBody>
      </p:sp>
      <p:sp>
        <p:nvSpPr>
          <p:cNvPr id="1726" name="Google Shape;1726;p154"/>
          <p:cNvSpPr txBox="1"/>
          <p:nvPr/>
        </p:nvSpPr>
        <p:spPr>
          <a:xfrm>
            <a:off x="7534850" y="4689575"/>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110</a:t>
            </a:r>
            <a:endParaRPr>
              <a:latin typeface="Source Code Pro"/>
              <a:ea typeface="Source Code Pro"/>
              <a:cs typeface="Source Code Pro"/>
              <a:sym typeface="Source Code Pro"/>
            </a:endParaRPr>
          </a:p>
        </p:txBody>
      </p:sp>
      <p:sp>
        <p:nvSpPr>
          <p:cNvPr id="1727" name="Google Shape;1727;p154"/>
          <p:cNvSpPr txBox="1"/>
          <p:nvPr/>
        </p:nvSpPr>
        <p:spPr>
          <a:xfrm>
            <a:off x="8467800" y="4743300"/>
            <a:ext cx="676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Source Code Pro"/>
                <a:ea typeface="Source Code Pro"/>
                <a:cs typeface="Source Code Pro"/>
                <a:sym typeface="Source Code Pro"/>
              </a:rPr>
              <a:t>111</a:t>
            </a:r>
            <a:endParaRPr>
              <a:latin typeface="Source Code Pro"/>
              <a:ea typeface="Source Code Pro"/>
              <a:cs typeface="Source Code Pro"/>
              <a:sym typeface="Source Code Pro"/>
            </a:endParaRPr>
          </a:p>
        </p:txBody>
      </p:sp>
      <p:pic>
        <p:nvPicPr>
          <p:cNvPr id="1728" name="Google Shape;1728;p154"/>
          <p:cNvPicPr preferRelativeResize="0"/>
          <p:nvPr/>
        </p:nvPicPr>
        <p:blipFill>
          <a:blip r:embed="rId3">
            <a:alphaModFix/>
          </a:blip>
          <a:stretch>
            <a:fillRect/>
          </a:stretch>
        </p:blipFill>
        <p:spPr>
          <a:xfrm>
            <a:off x="0" y="4567850"/>
            <a:ext cx="7031154" cy="575650"/>
          </a:xfrm>
          <a:prstGeom prst="rect">
            <a:avLst/>
          </a:prstGeom>
          <a:noFill/>
          <a:ln>
            <a:noFill/>
          </a:ln>
        </p:spPr>
      </p:pic>
      <p:pic>
        <p:nvPicPr>
          <p:cNvPr id="1729" name="Google Shape;1729;p154"/>
          <p:cNvPicPr preferRelativeResize="0"/>
          <p:nvPr/>
        </p:nvPicPr>
        <p:blipFill>
          <a:blip r:embed="rId4">
            <a:alphaModFix/>
          </a:blip>
          <a:stretch>
            <a:fillRect/>
          </a:stretch>
        </p:blipFill>
        <p:spPr>
          <a:xfrm>
            <a:off x="1189847" y="3653171"/>
            <a:ext cx="3502449" cy="575650"/>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3" name="Shape 1733"/>
        <p:cNvGrpSpPr/>
        <p:nvPr/>
      </p:nvGrpSpPr>
      <p:grpSpPr>
        <a:xfrm>
          <a:off x="0" y="0"/>
          <a:ext cx="0" cy="0"/>
          <a:chOff x="0" y="0"/>
          <a:chExt cx="0" cy="0"/>
        </a:xfrm>
      </p:grpSpPr>
      <p:sp>
        <p:nvSpPr>
          <p:cNvPr id="1734" name="Google Shape;1734;p15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Relative Entropy is Excess Cost</a:t>
            </a:r>
            <a:endParaRPr/>
          </a:p>
        </p:txBody>
      </p:sp>
      <p:sp>
        <p:nvSpPr>
          <p:cNvPr id="1735" name="Google Shape;1735;p155"/>
          <p:cNvSpPr txBox="1"/>
          <p:nvPr/>
        </p:nvSpPr>
        <p:spPr>
          <a:xfrm>
            <a:off x="245400" y="1619625"/>
            <a:ext cx="77937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Relative entropy is how much more expensive it is to represent a sample from p if you use q to encode rather than p.</a:t>
            </a:r>
            <a:endParaRPr sz="1900">
              <a:latin typeface="Google Sans"/>
              <a:ea typeface="Google Sans"/>
              <a:cs typeface="Google Sans"/>
              <a:sym typeface="Google Sans"/>
            </a:endParaRPr>
          </a:p>
        </p:txBody>
      </p:sp>
      <p:pic>
        <p:nvPicPr>
          <p:cNvPr id="1736" name="Google Shape;1736;p155"/>
          <p:cNvPicPr preferRelativeResize="0"/>
          <p:nvPr/>
        </p:nvPicPr>
        <p:blipFill>
          <a:blip r:embed="rId3">
            <a:alphaModFix/>
          </a:blip>
          <a:stretch>
            <a:fillRect/>
          </a:stretch>
        </p:blipFill>
        <p:spPr>
          <a:xfrm>
            <a:off x="2071713" y="2929700"/>
            <a:ext cx="5000625" cy="933450"/>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0" name="Shape 1740"/>
        <p:cNvGrpSpPr/>
        <p:nvPr/>
      </p:nvGrpSpPr>
      <p:grpSpPr>
        <a:xfrm>
          <a:off x="0" y="0"/>
          <a:ext cx="0" cy="0"/>
          <a:chOff x="0" y="0"/>
          <a:chExt cx="0" cy="0"/>
        </a:xfrm>
      </p:grpSpPr>
      <p:sp>
        <p:nvSpPr>
          <p:cNvPr id="1741" name="Google Shape;1741;p156"/>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Asymptotic Equipartition Theorem</a:t>
            </a:r>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5" name="Shape 1745"/>
        <p:cNvGrpSpPr/>
        <p:nvPr/>
      </p:nvGrpSpPr>
      <p:grpSpPr>
        <a:xfrm>
          <a:off x="0" y="0"/>
          <a:ext cx="0" cy="0"/>
          <a:chOff x="0" y="0"/>
          <a:chExt cx="0" cy="0"/>
        </a:xfrm>
      </p:grpSpPr>
      <p:sp>
        <p:nvSpPr>
          <p:cNvPr id="1746" name="Google Shape;1746;p15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Weak Law of Large Numbers</a:t>
            </a:r>
            <a:endParaRPr/>
          </a:p>
        </p:txBody>
      </p:sp>
      <p:sp>
        <p:nvSpPr>
          <p:cNvPr id="1747" name="Google Shape;1747;p157"/>
          <p:cNvSpPr txBox="1"/>
          <p:nvPr/>
        </p:nvSpPr>
        <p:spPr>
          <a:xfrm>
            <a:off x="245400" y="1619625"/>
            <a:ext cx="7793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Averages tend to means</a:t>
            </a:r>
            <a:endParaRPr sz="1900">
              <a:latin typeface="Google Sans"/>
              <a:ea typeface="Google Sans"/>
              <a:cs typeface="Google Sans"/>
              <a:sym typeface="Google Sans"/>
            </a:endParaRPr>
          </a:p>
        </p:txBody>
      </p:sp>
      <p:pic>
        <p:nvPicPr>
          <p:cNvPr id="1748" name="Google Shape;1748;p157"/>
          <p:cNvPicPr preferRelativeResize="0"/>
          <p:nvPr/>
        </p:nvPicPr>
        <p:blipFill>
          <a:blip r:embed="rId3">
            <a:alphaModFix/>
          </a:blip>
          <a:stretch>
            <a:fillRect/>
          </a:stretch>
        </p:blipFill>
        <p:spPr>
          <a:xfrm>
            <a:off x="1238250" y="2284075"/>
            <a:ext cx="6667500" cy="1962150"/>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2" name="Shape 1752"/>
        <p:cNvGrpSpPr/>
        <p:nvPr/>
      </p:nvGrpSpPr>
      <p:grpSpPr>
        <a:xfrm>
          <a:off x="0" y="0"/>
          <a:ext cx="0" cy="0"/>
          <a:chOff x="0" y="0"/>
          <a:chExt cx="0" cy="0"/>
        </a:xfrm>
      </p:grpSpPr>
      <p:sp>
        <p:nvSpPr>
          <p:cNvPr id="1753" name="Google Shape;1753;p15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Weak Law of Large Numbers</a:t>
            </a:r>
            <a:endParaRPr/>
          </a:p>
        </p:txBody>
      </p:sp>
      <p:sp>
        <p:nvSpPr>
          <p:cNvPr id="1754" name="Google Shape;1754;p158"/>
          <p:cNvSpPr txBox="1"/>
          <p:nvPr/>
        </p:nvSpPr>
        <p:spPr>
          <a:xfrm>
            <a:off x="245400" y="1619625"/>
            <a:ext cx="7793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Joint likelihoods tend to entropies.</a:t>
            </a:r>
            <a:endParaRPr sz="1900">
              <a:latin typeface="Google Sans"/>
              <a:ea typeface="Google Sans"/>
              <a:cs typeface="Google Sans"/>
              <a:sym typeface="Google Sans"/>
            </a:endParaRPr>
          </a:p>
        </p:txBody>
      </p:sp>
      <p:pic>
        <p:nvPicPr>
          <p:cNvPr id="1755" name="Google Shape;1755;p158"/>
          <p:cNvPicPr preferRelativeResize="0"/>
          <p:nvPr/>
        </p:nvPicPr>
        <p:blipFill>
          <a:blip r:embed="rId3">
            <a:alphaModFix/>
          </a:blip>
          <a:stretch>
            <a:fillRect/>
          </a:stretch>
        </p:blipFill>
        <p:spPr>
          <a:xfrm>
            <a:off x="152400" y="2591625"/>
            <a:ext cx="8839200" cy="1060704"/>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sp>
        <p:nvSpPr>
          <p:cNvPr id="1760" name="Google Shape;1760;p15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Typical Sets</a:t>
            </a:r>
            <a:endParaRPr/>
          </a:p>
        </p:txBody>
      </p:sp>
      <p:sp>
        <p:nvSpPr>
          <p:cNvPr id="1761" name="Google Shape;1761;p159"/>
          <p:cNvSpPr txBox="1"/>
          <p:nvPr/>
        </p:nvSpPr>
        <p:spPr>
          <a:xfrm>
            <a:off x="245400" y="1619625"/>
            <a:ext cx="77937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Sequences with likelihoods ~ entropy</a:t>
            </a:r>
            <a:endParaRPr sz="1900">
              <a:latin typeface="Google Sans"/>
              <a:ea typeface="Google Sans"/>
              <a:cs typeface="Google Sans"/>
              <a:sym typeface="Google Sans"/>
            </a:endParaRPr>
          </a:p>
        </p:txBody>
      </p:sp>
      <p:pic>
        <p:nvPicPr>
          <p:cNvPr id="1762" name="Google Shape;1762;p159"/>
          <p:cNvPicPr preferRelativeResize="0"/>
          <p:nvPr/>
        </p:nvPicPr>
        <p:blipFill>
          <a:blip r:embed="rId3">
            <a:alphaModFix/>
          </a:blip>
          <a:stretch>
            <a:fillRect/>
          </a:stretch>
        </p:blipFill>
        <p:spPr>
          <a:xfrm>
            <a:off x="152425" y="2896425"/>
            <a:ext cx="8839199" cy="580503"/>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6" name="Shape 1766"/>
        <p:cNvGrpSpPr/>
        <p:nvPr/>
      </p:nvGrpSpPr>
      <p:grpSpPr>
        <a:xfrm>
          <a:off x="0" y="0"/>
          <a:ext cx="0" cy="0"/>
          <a:chOff x="0" y="0"/>
          <a:chExt cx="0" cy="0"/>
        </a:xfrm>
      </p:grpSpPr>
      <p:sp>
        <p:nvSpPr>
          <p:cNvPr id="1767" name="Google Shape;1767;p16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Asymptotic Equipartition Property</a:t>
            </a:r>
            <a:endParaRPr/>
          </a:p>
        </p:txBody>
      </p:sp>
      <p:sp>
        <p:nvSpPr>
          <p:cNvPr id="1768" name="Google Shape;1768;p160"/>
          <p:cNvSpPr txBox="1"/>
          <p:nvPr/>
        </p:nvSpPr>
        <p:spPr>
          <a:xfrm>
            <a:off x="245400" y="1619625"/>
            <a:ext cx="7793700" cy="24936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Font typeface="Google Sans"/>
              <a:buChar char="●"/>
            </a:pPr>
            <a:r>
              <a:rPr lang="en" sz="3000">
                <a:latin typeface="Google Sans"/>
                <a:ea typeface="Google Sans"/>
                <a:cs typeface="Google Sans"/>
                <a:sym typeface="Google Sans"/>
              </a:rPr>
              <a:t>The typical set has probability near 1</a:t>
            </a:r>
            <a:endParaRPr sz="3000">
              <a:latin typeface="Google Sans"/>
              <a:ea typeface="Google Sans"/>
              <a:cs typeface="Google Sans"/>
              <a:sym typeface="Google Sans"/>
            </a:endParaRPr>
          </a:p>
          <a:p>
            <a:pPr indent="-419100" lvl="0" marL="457200" rtl="0" algn="l">
              <a:spcBef>
                <a:spcPts val="0"/>
              </a:spcBef>
              <a:spcAft>
                <a:spcPts val="0"/>
              </a:spcAft>
              <a:buSzPts val="3000"/>
              <a:buFont typeface="Google Sans"/>
              <a:buChar char="●"/>
            </a:pPr>
            <a:r>
              <a:rPr lang="en" sz="3000">
                <a:latin typeface="Google Sans"/>
                <a:ea typeface="Google Sans"/>
                <a:cs typeface="Google Sans"/>
                <a:sym typeface="Google Sans"/>
              </a:rPr>
              <a:t>Elements of the typical set are nearly equiprobable</a:t>
            </a:r>
            <a:endParaRPr sz="3000">
              <a:latin typeface="Google Sans"/>
              <a:ea typeface="Google Sans"/>
              <a:cs typeface="Google Sans"/>
              <a:sym typeface="Google Sans"/>
            </a:endParaRPr>
          </a:p>
          <a:p>
            <a:pPr indent="-419100" lvl="0" marL="457200" rtl="0" algn="l">
              <a:spcBef>
                <a:spcPts val="0"/>
              </a:spcBef>
              <a:spcAft>
                <a:spcPts val="0"/>
              </a:spcAft>
              <a:buSzPts val="3000"/>
              <a:buFont typeface="Google Sans"/>
              <a:buChar char="●"/>
            </a:pPr>
            <a:r>
              <a:rPr lang="en" sz="3000">
                <a:latin typeface="Google Sans"/>
                <a:ea typeface="Google Sans"/>
                <a:cs typeface="Google Sans"/>
                <a:sym typeface="Google Sans"/>
              </a:rPr>
              <a:t>The number of elements in the typical set is nearly </a:t>
            </a:r>
            <a:endParaRPr sz="3000">
              <a:latin typeface="Google Sans"/>
              <a:ea typeface="Google Sans"/>
              <a:cs typeface="Google Sans"/>
              <a:sym typeface="Google Sans"/>
            </a:endParaRPr>
          </a:p>
        </p:txBody>
      </p:sp>
      <p:pic>
        <p:nvPicPr>
          <p:cNvPr id="1769" name="Google Shape;1769;p160"/>
          <p:cNvPicPr preferRelativeResize="0"/>
          <p:nvPr/>
        </p:nvPicPr>
        <p:blipFill>
          <a:blip r:embed="rId3">
            <a:alphaModFix/>
          </a:blip>
          <a:stretch>
            <a:fillRect/>
          </a:stretch>
        </p:blipFill>
        <p:spPr>
          <a:xfrm>
            <a:off x="2469900" y="3578950"/>
            <a:ext cx="1381125" cy="695325"/>
          </a:xfrm>
          <a:prstGeom prst="rect">
            <a:avLst/>
          </a:prstGeom>
          <a:noFill/>
          <a:ln>
            <a:noFill/>
          </a:ln>
        </p:spPr>
      </p:pic>
      <p:pic>
        <p:nvPicPr>
          <p:cNvPr id="1770" name="Google Shape;1770;p160"/>
          <p:cNvPicPr preferRelativeResize="0"/>
          <p:nvPr/>
        </p:nvPicPr>
        <p:blipFill>
          <a:blip r:embed="rId4">
            <a:alphaModFix/>
          </a:blip>
          <a:stretch>
            <a:fillRect/>
          </a:stretch>
        </p:blipFill>
        <p:spPr>
          <a:xfrm>
            <a:off x="4046575" y="3682950"/>
            <a:ext cx="2324641" cy="725475"/>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16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Biased Coin</a:t>
            </a:r>
            <a:endParaRPr/>
          </a:p>
        </p:txBody>
      </p:sp>
      <p:sp>
        <p:nvSpPr>
          <p:cNvPr id="1776" name="Google Shape;1776;p161"/>
          <p:cNvSpPr txBox="1"/>
          <p:nvPr/>
        </p:nvSpPr>
        <p:spPr>
          <a:xfrm>
            <a:off x="245400" y="1619625"/>
            <a:ext cx="5087400" cy="1108200"/>
          </a:xfrm>
          <a:prstGeom prst="rect">
            <a:avLst/>
          </a:prstGeom>
          <a:noFill/>
          <a:ln>
            <a:noFill/>
          </a:ln>
        </p:spPr>
        <p:txBody>
          <a:bodyPr anchorCtr="0" anchor="t" bIns="91425" lIns="91425" spcFirstLastPara="1" rIns="91425" wrap="square" tIns="91425">
            <a:spAutoFit/>
          </a:bodyPr>
          <a:lstStyle/>
          <a:p>
            <a:pPr indent="-419100" lvl="0" marL="457200" rtl="0" algn="l">
              <a:spcBef>
                <a:spcPts val="0"/>
              </a:spcBef>
              <a:spcAft>
                <a:spcPts val="0"/>
              </a:spcAft>
              <a:buSzPts val="3000"/>
              <a:buFont typeface="Google Sans"/>
              <a:buChar char="●"/>
            </a:pPr>
            <a:r>
              <a:rPr lang="en" sz="3000">
                <a:latin typeface="Google Sans"/>
                <a:ea typeface="Google Sans"/>
                <a:cs typeface="Google Sans"/>
                <a:sym typeface="Google Sans"/>
              </a:rPr>
              <a:t>Coin with p=0.11</a:t>
            </a:r>
            <a:endParaRPr sz="3000">
              <a:latin typeface="Google Sans"/>
              <a:ea typeface="Google Sans"/>
              <a:cs typeface="Google Sans"/>
              <a:sym typeface="Google Sans"/>
            </a:endParaRPr>
          </a:p>
          <a:p>
            <a:pPr indent="-419100" lvl="0" marL="457200" rtl="0" algn="l">
              <a:spcBef>
                <a:spcPts val="0"/>
              </a:spcBef>
              <a:spcAft>
                <a:spcPts val="0"/>
              </a:spcAft>
              <a:buSzPts val="3000"/>
              <a:buFont typeface="Google Sans"/>
              <a:buChar char="●"/>
            </a:pPr>
            <a:r>
              <a:rPr lang="en" sz="3000">
                <a:latin typeface="Google Sans"/>
                <a:ea typeface="Google Sans"/>
                <a:cs typeface="Google Sans"/>
                <a:sym typeface="Google Sans"/>
              </a:rPr>
              <a:t>300 flips</a:t>
            </a:r>
            <a:endParaRPr sz="3000">
              <a:latin typeface="Google Sans"/>
              <a:ea typeface="Google Sans"/>
              <a:cs typeface="Google Sans"/>
              <a:sym typeface="Google Sans"/>
            </a:endParaRPr>
          </a:p>
        </p:txBody>
      </p:sp>
      <p:pic>
        <p:nvPicPr>
          <p:cNvPr id="1777" name="Google Shape;1777;p161"/>
          <p:cNvPicPr preferRelativeResize="0"/>
          <p:nvPr/>
        </p:nvPicPr>
        <p:blipFill>
          <a:blip r:embed="rId3">
            <a:alphaModFix/>
          </a:blip>
          <a:stretch>
            <a:fillRect/>
          </a:stretch>
        </p:blipFill>
        <p:spPr>
          <a:xfrm>
            <a:off x="767250" y="4178875"/>
            <a:ext cx="3028650" cy="446850"/>
          </a:xfrm>
          <a:prstGeom prst="rect">
            <a:avLst/>
          </a:prstGeom>
          <a:noFill/>
          <a:ln>
            <a:noFill/>
          </a:ln>
        </p:spPr>
      </p:pic>
      <p:pic>
        <p:nvPicPr>
          <p:cNvPr id="1778" name="Google Shape;1778;p161"/>
          <p:cNvPicPr preferRelativeResize="0"/>
          <p:nvPr/>
        </p:nvPicPr>
        <p:blipFill>
          <a:blip r:embed="rId4">
            <a:alphaModFix/>
          </a:blip>
          <a:stretch>
            <a:fillRect/>
          </a:stretch>
        </p:blipFill>
        <p:spPr>
          <a:xfrm>
            <a:off x="3945378" y="1462594"/>
            <a:ext cx="5087401" cy="3469380"/>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2" name="Shape 1782"/>
        <p:cNvGrpSpPr/>
        <p:nvPr/>
      </p:nvGrpSpPr>
      <p:grpSpPr>
        <a:xfrm>
          <a:off x="0" y="0"/>
          <a:ext cx="0" cy="0"/>
          <a:chOff x="0" y="0"/>
          <a:chExt cx="0" cy="0"/>
        </a:xfrm>
      </p:grpSpPr>
      <p:sp>
        <p:nvSpPr>
          <p:cNvPr id="1783" name="Google Shape;1783;p16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Sketch</a:t>
            </a:r>
            <a:endParaRPr/>
          </a:p>
        </p:txBody>
      </p:sp>
      <p:sp>
        <p:nvSpPr>
          <p:cNvPr id="1784" name="Google Shape;1784;p162"/>
          <p:cNvSpPr txBox="1"/>
          <p:nvPr/>
        </p:nvSpPr>
        <p:spPr>
          <a:xfrm>
            <a:off x="245400" y="1619625"/>
            <a:ext cx="8746200" cy="17856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SzPts val="2600"/>
              <a:buFont typeface="Google Sans"/>
              <a:buChar char="●"/>
            </a:pPr>
            <a:r>
              <a:rPr lang="en" sz="2600">
                <a:latin typeface="Google Sans"/>
                <a:ea typeface="Google Sans"/>
                <a:cs typeface="Google Sans"/>
                <a:sym typeface="Google Sans"/>
              </a:rPr>
              <a:t>Separate all possible sequences into two groups, typical and atypical.  Prepend 0 if typical, 1 if atypical.</a:t>
            </a:r>
            <a:endParaRPr sz="2600">
              <a:latin typeface="Google Sans"/>
              <a:ea typeface="Google Sans"/>
              <a:cs typeface="Google Sans"/>
              <a:sym typeface="Google Sans"/>
            </a:endParaRPr>
          </a:p>
          <a:p>
            <a:pPr indent="-393700" lvl="0" marL="457200" rtl="0" algn="l">
              <a:spcBef>
                <a:spcPts val="0"/>
              </a:spcBef>
              <a:spcAft>
                <a:spcPts val="0"/>
              </a:spcAft>
              <a:buSzPts val="2600"/>
              <a:buFont typeface="Google Sans"/>
              <a:buChar char="●"/>
            </a:pPr>
            <a:r>
              <a:rPr lang="en" sz="2600">
                <a:latin typeface="Google Sans"/>
                <a:ea typeface="Google Sans"/>
                <a:cs typeface="Google Sans"/>
                <a:sym typeface="Google Sans"/>
              </a:rPr>
              <a:t>Index each of the typical examples</a:t>
            </a:r>
            <a:endParaRPr sz="2600">
              <a:latin typeface="Google Sans"/>
              <a:ea typeface="Google Sans"/>
              <a:cs typeface="Google Sans"/>
              <a:sym typeface="Google Sans"/>
            </a:endParaRPr>
          </a:p>
          <a:p>
            <a:pPr indent="-393700" lvl="0" marL="457200" rtl="0" algn="l">
              <a:spcBef>
                <a:spcPts val="0"/>
              </a:spcBef>
              <a:spcAft>
                <a:spcPts val="0"/>
              </a:spcAft>
              <a:buSzPts val="2600"/>
              <a:buFont typeface="Google Sans"/>
              <a:buChar char="●"/>
            </a:pPr>
            <a:r>
              <a:rPr lang="en" sz="2600">
                <a:latin typeface="Google Sans"/>
                <a:ea typeface="Google Sans"/>
                <a:cs typeface="Google Sans"/>
                <a:sym typeface="Google Sans"/>
              </a:rPr>
              <a:t>Index each of the atypical examples.</a:t>
            </a:r>
            <a:endParaRPr sz="2600">
              <a:latin typeface="Google Sans"/>
              <a:ea typeface="Google Sans"/>
              <a:cs typeface="Google Sans"/>
              <a:sym typeface="Google Sans"/>
            </a:endParaRPr>
          </a:p>
        </p:txBody>
      </p:sp>
      <p:pic>
        <p:nvPicPr>
          <p:cNvPr id="1785" name="Google Shape;1785;p162"/>
          <p:cNvPicPr preferRelativeResize="0"/>
          <p:nvPr/>
        </p:nvPicPr>
        <p:blipFill>
          <a:blip r:embed="rId3">
            <a:alphaModFix/>
          </a:blip>
          <a:stretch>
            <a:fillRect/>
          </a:stretch>
        </p:blipFill>
        <p:spPr>
          <a:xfrm>
            <a:off x="152400" y="3884625"/>
            <a:ext cx="8839196" cy="376037"/>
          </a:xfrm>
          <a:prstGeom prst="rect">
            <a:avLst/>
          </a:prstGeom>
          <a:noFill/>
          <a:ln>
            <a:noFill/>
          </a:ln>
        </p:spPr>
      </p:pic>
      <p:pic>
        <p:nvPicPr>
          <p:cNvPr id="1786" name="Google Shape;1786;p162"/>
          <p:cNvPicPr preferRelativeResize="0"/>
          <p:nvPr/>
        </p:nvPicPr>
        <p:blipFill>
          <a:blip r:embed="rId4">
            <a:alphaModFix/>
          </a:blip>
          <a:stretch>
            <a:fillRect/>
          </a:stretch>
        </p:blipFill>
        <p:spPr>
          <a:xfrm>
            <a:off x="5709750" y="4460362"/>
            <a:ext cx="3018641" cy="578038"/>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0" name="Shape 1790"/>
        <p:cNvGrpSpPr/>
        <p:nvPr/>
      </p:nvGrpSpPr>
      <p:grpSpPr>
        <a:xfrm>
          <a:off x="0" y="0"/>
          <a:ext cx="0" cy="0"/>
          <a:chOff x="0" y="0"/>
          <a:chExt cx="0" cy="0"/>
        </a:xfrm>
      </p:grpSpPr>
      <p:sp>
        <p:nvSpPr>
          <p:cNvPr id="1791" name="Google Shape;1791;p163"/>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Entropy is ~ how many things there are</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5" name="Shape 1795"/>
        <p:cNvGrpSpPr/>
        <p:nvPr/>
      </p:nvGrpSpPr>
      <p:grpSpPr>
        <a:xfrm>
          <a:off x="0" y="0"/>
          <a:ext cx="0" cy="0"/>
          <a:chOff x="0" y="0"/>
          <a:chExt cx="0" cy="0"/>
        </a:xfrm>
      </p:grpSpPr>
      <p:sp>
        <p:nvSpPr>
          <p:cNvPr id="1796" name="Google Shape;1796;p164"/>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Continuous entropy is silly.</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0" name="Shape 1800"/>
        <p:cNvGrpSpPr/>
        <p:nvPr/>
      </p:nvGrpSpPr>
      <p:grpSpPr>
        <a:xfrm>
          <a:off x="0" y="0"/>
          <a:ext cx="0" cy="0"/>
          <a:chOff x="0" y="0"/>
          <a:chExt cx="0" cy="0"/>
        </a:xfrm>
      </p:grpSpPr>
      <p:sp>
        <p:nvSpPr>
          <p:cNvPr id="1801" name="Google Shape;1801;p16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Continuous Entropy</a:t>
            </a:r>
            <a:endParaRPr/>
          </a:p>
        </p:txBody>
      </p:sp>
      <p:pic>
        <p:nvPicPr>
          <p:cNvPr id="1802" name="Google Shape;1802;p165"/>
          <p:cNvPicPr preferRelativeResize="0"/>
          <p:nvPr/>
        </p:nvPicPr>
        <p:blipFill>
          <a:blip r:embed="rId3">
            <a:alphaModFix/>
          </a:blip>
          <a:stretch>
            <a:fillRect/>
          </a:stretch>
        </p:blipFill>
        <p:spPr>
          <a:xfrm>
            <a:off x="230925" y="1404625"/>
            <a:ext cx="4619625" cy="857250"/>
          </a:xfrm>
          <a:prstGeom prst="rect">
            <a:avLst/>
          </a:prstGeom>
          <a:noFill/>
          <a:ln>
            <a:noFill/>
          </a:ln>
        </p:spPr>
      </p:pic>
      <p:pic>
        <p:nvPicPr>
          <p:cNvPr id="1803" name="Google Shape;1803;p165"/>
          <p:cNvPicPr preferRelativeResize="0"/>
          <p:nvPr/>
        </p:nvPicPr>
        <p:blipFill>
          <a:blip r:embed="rId4">
            <a:alphaModFix/>
          </a:blip>
          <a:stretch>
            <a:fillRect/>
          </a:stretch>
        </p:blipFill>
        <p:spPr>
          <a:xfrm>
            <a:off x="6326550" y="1599888"/>
            <a:ext cx="2371725" cy="466725"/>
          </a:xfrm>
          <a:prstGeom prst="rect">
            <a:avLst/>
          </a:prstGeom>
          <a:noFill/>
          <a:ln>
            <a:noFill/>
          </a:ln>
        </p:spPr>
      </p:pic>
      <p:pic>
        <p:nvPicPr>
          <p:cNvPr id="1804" name="Google Shape;1804;p165"/>
          <p:cNvPicPr preferRelativeResize="0"/>
          <p:nvPr/>
        </p:nvPicPr>
        <p:blipFill>
          <a:blip r:embed="rId5">
            <a:alphaModFix/>
          </a:blip>
          <a:stretch>
            <a:fillRect/>
          </a:stretch>
        </p:blipFill>
        <p:spPr>
          <a:xfrm>
            <a:off x="643200" y="2290800"/>
            <a:ext cx="3514725" cy="857250"/>
          </a:xfrm>
          <a:prstGeom prst="rect">
            <a:avLst/>
          </a:prstGeom>
          <a:noFill/>
          <a:ln>
            <a:noFill/>
          </a:ln>
        </p:spPr>
      </p:pic>
      <p:pic>
        <p:nvPicPr>
          <p:cNvPr id="1805" name="Google Shape;1805;p165"/>
          <p:cNvPicPr preferRelativeResize="0"/>
          <p:nvPr/>
        </p:nvPicPr>
        <p:blipFill>
          <a:blip r:embed="rId6">
            <a:alphaModFix/>
          </a:blip>
          <a:stretch>
            <a:fillRect/>
          </a:stretch>
        </p:blipFill>
        <p:spPr>
          <a:xfrm>
            <a:off x="854813" y="3323800"/>
            <a:ext cx="3371850" cy="857250"/>
          </a:xfrm>
          <a:prstGeom prst="rect">
            <a:avLst/>
          </a:prstGeom>
          <a:noFill/>
          <a:ln>
            <a:noFill/>
          </a:ln>
        </p:spPr>
      </p:pic>
      <p:sp>
        <p:nvSpPr>
          <p:cNvPr id="1806" name="Google Shape;1806;p165"/>
          <p:cNvSpPr txBox="1"/>
          <p:nvPr/>
        </p:nvSpPr>
        <p:spPr>
          <a:xfrm>
            <a:off x="4298650" y="2635450"/>
            <a:ext cx="1560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7200">
                <a:latin typeface="Google Sans"/>
                <a:ea typeface="Google Sans"/>
                <a:cs typeface="Google Sans"/>
                <a:sym typeface="Google Sans"/>
              </a:rPr>
              <a:t>?</a:t>
            </a:r>
            <a:endParaRPr sz="7200">
              <a:latin typeface="Google Sans"/>
              <a:ea typeface="Google Sans"/>
              <a:cs typeface="Google Sans"/>
              <a:sym typeface="Google Sans"/>
            </a:endParaRPr>
          </a:p>
        </p:txBody>
      </p:sp>
      <p:pic>
        <p:nvPicPr>
          <p:cNvPr id="1807" name="Google Shape;1807;p165"/>
          <p:cNvPicPr preferRelativeResize="0"/>
          <p:nvPr/>
        </p:nvPicPr>
        <p:blipFill>
          <a:blip r:embed="rId7">
            <a:alphaModFix/>
          </a:blip>
          <a:stretch>
            <a:fillRect/>
          </a:stretch>
        </p:blipFill>
        <p:spPr>
          <a:xfrm>
            <a:off x="-45125" y="4457139"/>
            <a:ext cx="9144000" cy="686372"/>
          </a:xfrm>
          <a:prstGeom prst="rect">
            <a:avLst/>
          </a:prstGeom>
          <a:noFill/>
          <a:ln>
            <a:noFill/>
          </a:ln>
        </p:spPr>
      </p:pic>
      <p:pic>
        <p:nvPicPr>
          <p:cNvPr id="1808" name="Google Shape;1808;p165"/>
          <p:cNvPicPr preferRelativeResize="0"/>
          <p:nvPr/>
        </p:nvPicPr>
        <p:blipFill>
          <a:blip r:embed="rId8">
            <a:alphaModFix/>
          </a:blip>
          <a:stretch>
            <a:fillRect/>
          </a:stretch>
        </p:blipFill>
        <p:spPr>
          <a:xfrm>
            <a:off x="7838950" y="4035038"/>
            <a:ext cx="1181100" cy="3048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2" name="Shape 1812"/>
        <p:cNvGrpSpPr/>
        <p:nvPr/>
      </p:nvGrpSpPr>
      <p:grpSpPr>
        <a:xfrm>
          <a:off x="0" y="0"/>
          <a:ext cx="0" cy="0"/>
          <a:chOff x="0" y="0"/>
          <a:chExt cx="0" cy="0"/>
        </a:xfrm>
      </p:grpSpPr>
      <p:pic>
        <p:nvPicPr>
          <p:cNvPr id="1813" name="Google Shape;1813;p166"/>
          <p:cNvPicPr preferRelativeResize="0"/>
          <p:nvPr/>
        </p:nvPicPr>
        <p:blipFill>
          <a:blip r:embed="rId3">
            <a:alphaModFix/>
          </a:blip>
          <a:stretch>
            <a:fillRect/>
          </a:stretch>
        </p:blipFill>
        <p:spPr>
          <a:xfrm>
            <a:off x="-19625" y="1296473"/>
            <a:ext cx="7315200" cy="3657600"/>
          </a:xfrm>
          <a:prstGeom prst="rect">
            <a:avLst/>
          </a:prstGeom>
          <a:noFill/>
          <a:ln>
            <a:noFill/>
          </a:ln>
        </p:spPr>
      </p:pic>
      <p:sp>
        <p:nvSpPr>
          <p:cNvPr id="1814" name="Google Shape;1814;p16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Continuous Entropy</a:t>
            </a:r>
            <a:endParaRPr/>
          </a:p>
        </p:txBody>
      </p:sp>
      <p:pic>
        <p:nvPicPr>
          <p:cNvPr id="1815" name="Google Shape;1815;p166"/>
          <p:cNvPicPr preferRelativeResize="0"/>
          <p:nvPr/>
        </p:nvPicPr>
        <p:blipFill>
          <a:blip r:embed="rId4">
            <a:alphaModFix/>
          </a:blip>
          <a:stretch>
            <a:fillRect/>
          </a:stretch>
        </p:blipFill>
        <p:spPr>
          <a:xfrm>
            <a:off x="4911800" y="2119675"/>
            <a:ext cx="3863751" cy="125745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16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Cautionary Tale: Images</a:t>
            </a:r>
            <a:endParaRPr/>
          </a:p>
        </p:txBody>
      </p:sp>
      <p:pic>
        <p:nvPicPr>
          <p:cNvPr id="1821" name="Google Shape;1821;p167"/>
          <p:cNvPicPr preferRelativeResize="0"/>
          <p:nvPr/>
        </p:nvPicPr>
        <p:blipFill>
          <a:blip r:embed="rId3">
            <a:alphaModFix/>
          </a:blip>
          <a:stretch>
            <a:fillRect/>
          </a:stretch>
        </p:blipFill>
        <p:spPr>
          <a:xfrm>
            <a:off x="776313" y="1719450"/>
            <a:ext cx="7591425" cy="771525"/>
          </a:xfrm>
          <a:prstGeom prst="rect">
            <a:avLst/>
          </a:prstGeom>
          <a:noFill/>
          <a:ln>
            <a:noFill/>
          </a:ln>
        </p:spPr>
      </p:pic>
      <p:pic>
        <p:nvPicPr>
          <p:cNvPr id="1822" name="Google Shape;1822;p167"/>
          <p:cNvPicPr preferRelativeResize="0"/>
          <p:nvPr/>
        </p:nvPicPr>
        <p:blipFill>
          <a:blip r:embed="rId4">
            <a:alphaModFix/>
          </a:blip>
          <a:stretch>
            <a:fillRect/>
          </a:stretch>
        </p:blipFill>
        <p:spPr>
          <a:xfrm>
            <a:off x="1036875" y="3196300"/>
            <a:ext cx="7324725" cy="771525"/>
          </a:xfrm>
          <a:prstGeom prst="rect">
            <a:avLst/>
          </a:prstGeom>
          <a:noFill/>
          <a:ln>
            <a:noFill/>
          </a:ln>
        </p:spPr>
      </p:pic>
      <p:pic>
        <p:nvPicPr>
          <p:cNvPr id="1823" name="Google Shape;1823;p167"/>
          <p:cNvPicPr preferRelativeResize="0"/>
          <p:nvPr/>
        </p:nvPicPr>
        <p:blipFill>
          <a:blip r:embed="rId5">
            <a:alphaModFix/>
          </a:blip>
          <a:stretch>
            <a:fillRect/>
          </a:stretch>
        </p:blipFill>
        <p:spPr>
          <a:xfrm>
            <a:off x="841613" y="4131500"/>
            <a:ext cx="7715250" cy="771525"/>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28" name="Google Shape;1828;p168"/>
          <p:cNvSpPr txBox="1"/>
          <p:nvPr>
            <p:ph type="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a:t>
            </a:r>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16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Front and Top of Die</a:t>
            </a:r>
            <a:endParaRPr/>
          </a:p>
        </p:txBody>
      </p:sp>
      <p:pic>
        <p:nvPicPr>
          <p:cNvPr id="1834" name="Google Shape;1834;p169"/>
          <p:cNvPicPr preferRelativeResize="0"/>
          <p:nvPr/>
        </p:nvPicPr>
        <p:blipFill>
          <a:blip r:embed="rId3">
            <a:alphaModFix/>
          </a:blip>
          <a:stretch>
            <a:fillRect/>
          </a:stretch>
        </p:blipFill>
        <p:spPr>
          <a:xfrm>
            <a:off x="5837325" y="1725775"/>
            <a:ext cx="2768925" cy="2768925"/>
          </a:xfrm>
          <a:prstGeom prst="rect">
            <a:avLst/>
          </a:prstGeom>
          <a:noFill/>
          <a:ln>
            <a:noFill/>
          </a:ln>
        </p:spPr>
      </p:pic>
      <p:sp>
        <p:nvSpPr>
          <p:cNvPr id="1835" name="Google Shape;1835;p169"/>
          <p:cNvSpPr txBox="1"/>
          <p:nvPr/>
        </p:nvSpPr>
        <p:spPr>
          <a:xfrm>
            <a:off x="5837325" y="1285850"/>
            <a:ext cx="2847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Google Sans"/>
                <a:ea typeface="Google Sans"/>
                <a:cs typeface="Google Sans"/>
                <a:sym typeface="Google Sans"/>
              </a:rPr>
              <a:t>⚀    ⚁    ⚂    ⚃    ⚄    ⚅</a:t>
            </a:r>
            <a:endParaRPr sz="2200">
              <a:latin typeface="Roboto"/>
              <a:ea typeface="Roboto"/>
              <a:cs typeface="Roboto"/>
              <a:sym typeface="Roboto"/>
            </a:endParaRPr>
          </a:p>
        </p:txBody>
      </p:sp>
      <p:sp>
        <p:nvSpPr>
          <p:cNvPr id="1836" name="Google Shape;1836;p169"/>
          <p:cNvSpPr txBox="1"/>
          <p:nvPr/>
        </p:nvSpPr>
        <p:spPr>
          <a:xfrm rot="5400000">
            <a:off x="4072250" y="2888125"/>
            <a:ext cx="2847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Google Sans"/>
                <a:ea typeface="Google Sans"/>
                <a:cs typeface="Google Sans"/>
                <a:sym typeface="Google Sans"/>
              </a:rPr>
              <a:t>⚀    ⚁    ⚂    ⚃    ⚄    ⚅</a:t>
            </a:r>
            <a:endParaRPr sz="2200">
              <a:latin typeface="Roboto"/>
              <a:ea typeface="Roboto"/>
              <a:cs typeface="Roboto"/>
              <a:sym typeface="Roboto"/>
            </a:endParaRPr>
          </a:p>
        </p:txBody>
      </p:sp>
      <p:sp>
        <p:nvSpPr>
          <p:cNvPr id="1837" name="Google Shape;1837;p169"/>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838" name="Google Shape;1838;p169"/>
          <p:cNvSpPr txBox="1"/>
          <p:nvPr/>
        </p:nvSpPr>
        <p:spPr>
          <a:xfrm>
            <a:off x="472975" y="1738150"/>
            <a:ext cx="43764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latin typeface="Google Sans"/>
                <a:ea typeface="Google Sans"/>
                <a:cs typeface="Google Sans"/>
                <a:sym typeface="Google Sans"/>
              </a:rPr>
              <a:t>If I tell you the front face of a die, how much does that reveal about the top?</a:t>
            </a:r>
            <a:endParaRPr sz="2100">
              <a:latin typeface="Google Sans"/>
              <a:ea typeface="Google Sans"/>
              <a:cs typeface="Google Sans"/>
              <a:sym typeface="Google Sans"/>
            </a:endParaRPr>
          </a:p>
        </p:txBody>
      </p:sp>
      <p:pic>
        <p:nvPicPr>
          <p:cNvPr id="1839" name="Google Shape;1839;p169"/>
          <p:cNvPicPr preferRelativeResize="0"/>
          <p:nvPr/>
        </p:nvPicPr>
        <p:blipFill>
          <a:blip r:embed="rId4">
            <a:alphaModFix/>
          </a:blip>
          <a:stretch>
            <a:fillRect/>
          </a:stretch>
        </p:blipFill>
        <p:spPr>
          <a:xfrm>
            <a:off x="387925" y="2949800"/>
            <a:ext cx="4351492" cy="523200"/>
          </a:xfrm>
          <a:prstGeom prst="rect">
            <a:avLst/>
          </a:prstGeom>
          <a:noFill/>
          <a:ln>
            <a:noFill/>
          </a:ln>
        </p:spPr>
      </p:pic>
      <p:pic>
        <p:nvPicPr>
          <p:cNvPr id="1840" name="Google Shape;1840;p169"/>
          <p:cNvPicPr preferRelativeResize="0"/>
          <p:nvPr/>
        </p:nvPicPr>
        <p:blipFill>
          <a:blip r:embed="rId5">
            <a:alphaModFix/>
          </a:blip>
          <a:stretch>
            <a:fillRect/>
          </a:stretch>
        </p:blipFill>
        <p:spPr>
          <a:xfrm>
            <a:off x="387436" y="3655625"/>
            <a:ext cx="4351486" cy="523200"/>
          </a:xfrm>
          <a:prstGeom prst="rect">
            <a:avLst/>
          </a:prstGeom>
          <a:noFill/>
          <a:ln>
            <a:noFill/>
          </a:ln>
        </p:spPr>
      </p:pic>
      <p:pic>
        <p:nvPicPr>
          <p:cNvPr id="1841" name="Google Shape;1841;p169"/>
          <p:cNvPicPr preferRelativeResize="0"/>
          <p:nvPr/>
        </p:nvPicPr>
        <p:blipFill>
          <a:blip r:embed="rId6">
            <a:alphaModFix/>
          </a:blip>
          <a:stretch>
            <a:fillRect/>
          </a:stretch>
        </p:blipFill>
        <p:spPr>
          <a:xfrm>
            <a:off x="6922" y="4570900"/>
            <a:ext cx="6252554" cy="5232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5" name="Shape 1845"/>
        <p:cNvGrpSpPr/>
        <p:nvPr/>
      </p:nvGrpSpPr>
      <p:grpSpPr>
        <a:xfrm>
          <a:off x="0" y="0"/>
          <a:ext cx="0" cy="0"/>
          <a:chOff x="0" y="0"/>
          <a:chExt cx="0" cy="0"/>
        </a:xfrm>
      </p:grpSpPr>
      <p:sp>
        <p:nvSpPr>
          <p:cNvPr id="1846" name="Google Shape;1846;p17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 is a reduction in Entropy</a:t>
            </a:r>
            <a:endParaRPr/>
          </a:p>
        </p:txBody>
      </p:sp>
      <p:pic>
        <p:nvPicPr>
          <p:cNvPr id="1847" name="Google Shape;1847;p170"/>
          <p:cNvPicPr preferRelativeResize="0"/>
          <p:nvPr/>
        </p:nvPicPr>
        <p:blipFill>
          <a:blip r:embed="rId3">
            <a:alphaModFix/>
          </a:blip>
          <a:stretch>
            <a:fillRect/>
          </a:stretch>
        </p:blipFill>
        <p:spPr>
          <a:xfrm>
            <a:off x="2376788" y="2297900"/>
            <a:ext cx="4410075" cy="390525"/>
          </a:xfrm>
          <a:prstGeom prst="rect">
            <a:avLst/>
          </a:prstGeom>
          <a:noFill/>
          <a:ln>
            <a:noFill/>
          </a:ln>
        </p:spPr>
      </p:pic>
      <p:sp>
        <p:nvSpPr>
          <p:cNvPr id="1848" name="Google Shape;1848;p170"/>
          <p:cNvSpPr txBox="1"/>
          <p:nvPr/>
        </p:nvSpPr>
        <p:spPr>
          <a:xfrm>
            <a:off x="4053925" y="2974225"/>
            <a:ext cx="136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Bits you need to represent an X sample</a:t>
            </a:r>
            <a:endParaRPr>
              <a:latin typeface="Google Sans"/>
              <a:ea typeface="Google Sans"/>
              <a:cs typeface="Google Sans"/>
              <a:sym typeface="Google Sans"/>
            </a:endParaRPr>
          </a:p>
        </p:txBody>
      </p:sp>
      <p:sp>
        <p:nvSpPr>
          <p:cNvPr id="1849" name="Google Shape;1849;p170"/>
          <p:cNvSpPr txBox="1"/>
          <p:nvPr/>
        </p:nvSpPr>
        <p:spPr>
          <a:xfrm>
            <a:off x="5796500" y="2974225"/>
            <a:ext cx="13644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Bits you need to represent an X sample, if you know Y</a:t>
            </a:r>
            <a:endParaRPr>
              <a:latin typeface="Google Sans"/>
              <a:ea typeface="Google Sans"/>
              <a:cs typeface="Google Sans"/>
              <a:sym typeface="Google Sans"/>
            </a:endParaRPr>
          </a:p>
        </p:txBody>
      </p:sp>
      <p:sp>
        <p:nvSpPr>
          <p:cNvPr id="1850" name="Google Shape;1850;p170"/>
          <p:cNvSpPr txBox="1"/>
          <p:nvPr/>
        </p:nvSpPr>
        <p:spPr>
          <a:xfrm>
            <a:off x="2311350" y="2974225"/>
            <a:ext cx="1364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Bits you learn about X after observing Y</a:t>
            </a:r>
            <a:endParaRPr>
              <a:latin typeface="Google Sans"/>
              <a:ea typeface="Google Sans"/>
              <a:cs typeface="Google Sans"/>
              <a:sym typeface="Google San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4" name="Shape 1854"/>
        <p:cNvGrpSpPr/>
        <p:nvPr/>
      </p:nvGrpSpPr>
      <p:grpSpPr>
        <a:xfrm>
          <a:off x="0" y="0"/>
          <a:ext cx="0" cy="0"/>
          <a:chOff x="0" y="0"/>
          <a:chExt cx="0" cy="0"/>
        </a:xfrm>
      </p:grpSpPr>
      <p:sp>
        <p:nvSpPr>
          <p:cNvPr id="1855" name="Google Shape;1855;p17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a:t>
            </a:r>
            <a:endParaRPr/>
          </a:p>
        </p:txBody>
      </p:sp>
      <p:pic>
        <p:nvPicPr>
          <p:cNvPr id="1856" name="Google Shape;1856;p171"/>
          <p:cNvPicPr preferRelativeResize="0"/>
          <p:nvPr/>
        </p:nvPicPr>
        <p:blipFill>
          <a:blip r:embed="rId3">
            <a:alphaModFix/>
          </a:blip>
          <a:stretch>
            <a:fillRect/>
          </a:stretch>
        </p:blipFill>
        <p:spPr>
          <a:xfrm>
            <a:off x="152425" y="2003400"/>
            <a:ext cx="8839202" cy="824770"/>
          </a:xfrm>
          <a:prstGeom prst="rect">
            <a:avLst/>
          </a:prstGeom>
          <a:noFill/>
          <a:ln>
            <a:noFill/>
          </a:ln>
        </p:spPr>
      </p:pic>
      <p:sp>
        <p:nvSpPr>
          <p:cNvPr id="1857" name="Google Shape;1857;p171"/>
          <p:cNvSpPr txBox="1"/>
          <p:nvPr/>
        </p:nvSpPr>
        <p:spPr>
          <a:xfrm>
            <a:off x="343550" y="3523875"/>
            <a:ext cx="8421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Mutual information is the relative entropy between a joint distribution and the product of its marginals.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It tests how easily we can discern whether there is a relationship between the two variables, rather than them being independent.</a:t>
            </a:r>
            <a:endParaRPr>
              <a:latin typeface="Google Sans"/>
              <a:ea typeface="Google Sans"/>
              <a:cs typeface="Google Sans"/>
              <a:sym typeface="Google San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1" name="Shape 1861"/>
        <p:cNvGrpSpPr/>
        <p:nvPr/>
      </p:nvGrpSpPr>
      <p:grpSpPr>
        <a:xfrm>
          <a:off x="0" y="0"/>
          <a:ext cx="0" cy="0"/>
          <a:chOff x="0" y="0"/>
          <a:chExt cx="0" cy="0"/>
        </a:xfrm>
      </p:grpSpPr>
      <p:sp>
        <p:nvSpPr>
          <p:cNvPr id="1862" name="Google Shape;1862;p17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a:t>
            </a:r>
            <a:endParaRPr/>
          </a:p>
        </p:txBody>
      </p:sp>
      <p:sp>
        <p:nvSpPr>
          <p:cNvPr id="1863" name="Google Shape;1863;p172"/>
          <p:cNvSpPr txBox="1"/>
          <p:nvPr/>
        </p:nvSpPr>
        <p:spPr>
          <a:xfrm>
            <a:off x="343550" y="3946875"/>
            <a:ext cx="8421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Mutual Information is symmetric.  It's also the relative entropy between the conditional distribution after observing a sample and the marginal.</a:t>
            </a:r>
            <a:endParaRPr>
              <a:latin typeface="Google Sans"/>
              <a:ea typeface="Google Sans"/>
              <a:cs typeface="Google Sans"/>
              <a:sym typeface="Google Sans"/>
            </a:endParaRPr>
          </a:p>
        </p:txBody>
      </p:sp>
      <p:pic>
        <p:nvPicPr>
          <p:cNvPr id="1864" name="Google Shape;1864;p172"/>
          <p:cNvPicPr preferRelativeResize="0"/>
          <p:nvPr/>
        </p:nvPicPr>
        <p:blipFill>
          <a:blip r:embed="rId3">
            <a:alphaModFix/>
          </a:blip>
          <a:stretch>
            <a:fillRect/>
          </a:stretch>
        </p:blipFill>
        <p:spPr>
          <a:xfrm>
            <a:off x="909988" y="1610750"/>
            <a:ext cx="7324031" cy="2094450"/>
          </a:xfrm>
          <a:prstGeom prst="rect">
            <a:avLst/>
          </a:prstGeom>
          <a:noFill/>
          <a:ln>
            <a:noFill/>
          </a:ln>
        </p:spPr>
      </p:pic>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8" name="Shape 1868"/>
        <p:cNvGrpSpPr/>
        <p:nvPr/>
      </p:nvGrpSpPr>
      <p:grpSpPr>
        <a:xfrm>
          <a:off x="0" y="0"/>
          <a:ext cx="0" cy="0"/>
          <a:chOff x="0" y="0"/>
          <a:chExt cx="0" cy="0"/>
        </a:xfrm>
      </p:grpSpPr>
      <p:sp>
        <p:nvSpPr>
          <p:cNvPr id="1869" name="Google Shape;1869;p17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 is Positive</a:t>
            </a:r>
            <a:endParaRPr/>
          </a:p>
        </p:txBody>
      </p:sp>
      <p:sp>
        <p:nvSpPr>
          <p:cNvPr id="1870" name="Google Shape;1870;p173"/>
          <p:cNvSpPr txBox="1"/>
          <p:nvPr/>
        </p:nvSpPr>
        <p:spPr>
          <a:xfrm>
            <a:off x="343550" y="3523875"/>
            <a:ext cx="842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Mutual information is positive because relative entropy is positive.</a:t>
            </a:r>
            <a:endParaRPr>
              <a:latin typeface="Google Sans"/>
              <a:ea typeface="Google Sans"/>
              <a:cs typeface="Google Sans"/>
              <a:sym typeface="Google Sans"/>
            </a:endParaRPr>
          </a:p>
        </p:txBody>
      </p:sp>
      <p:pic>
        <p:nvPicPr>
          <p:cNvPr id="1871" name="Google Shape;1871;p173"/>
          <p:cNvPicPr preferRelativeResize="0"/>
          <p:nvPr/>
        </p:nvPicPr>
        <p:blipFill>
          <a:blip r:embed="rId3">
            <a:alphaModFix/>
          </a:blip>
          <a:stretch>
            <a:fillRect/>
          </a:stretch>
        </p:blipFill>
        <p:spPr>
          <a:xfrm>
            <a:off x="1744625" y="2181225"/>
            <a:ext cx="5619750" cy="390525"/>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7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Venn Diagrams</a:t>
            </a:r>
            <a:endParaRPr/>
          </a:p>
        </p:txBody>
      </p:sp>
      <p:grpSp>
        <p:nvGrpSpPr>
          <p:cNvPr id="1877" name="Google Shape;1877;p174"/>
          <p:cNvGrpSpPr/>
          <p:nvPr/>
        </p:nvGrpSpPr>
        <p:grpSpPr>
          <a:xfrm>
            <a:off x="3338000" y="1399025"/>
            <a:ext cx="5727200" cy="3661900"/>
            <a:chOff x="1846000" y="1457900"/>
            <a:chExt cx="5727200" cy="3661900"/>
          </a:xfrm>
        </p:grpSpPr>
        <p:sp>
          <p:nvSpPr>
            <p:cNvPr id="1878" name="Google Shape;1878;p174"/>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174"/>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174"/>
            <p:cNvSpPr txBox="1"/>
            <p:nvPr/>
          </p:nvSpPr>
          <p:spPr>
            <a:xfrm>
              <a:off x="2758250" y="2797500"/>
              <a:ext cx="100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H(X|Y)</a:t>
              </a:r>
              <a:endParaRPr sz="1900">
                <a:latin typeface="Google Sans"/>
                <a:ea typeface="Google Sans"/>
                <a:cs typeface="Google Sans"/>
                <a:sym typeface="Google Sans"/>
              </a:endParaRPr>
            </a:p>
          </p:txBody>
        </p:sp>
        <p:sp>
          <p:nvSpPr>
            <p:cNvPr id="1881" name="Google Shape;1881;p174"/>
            <p:cNvSpPr txBox="1"/>
            <p:nvPr/>
          </p:nvSpPr>
          <p:spPr>
            <a:xfrm>
              <a:off x="5737625" y="2887800"/>
              <a:ext cx="10011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H(Y|X)</a:t>
              </a:r>
              <a:endParaRPr sz="1900">
                <a:latin typeface="Google Sans"/>
                <a:ea typeface="Google Sans"/>
                <a:cs typeface="Google Sans"/>
                <a:sym typeface="Google Sans"/>
              </a:endParaRPr>
            </a:p>
          </p:txBody>
        </p:sp>
        <p:sp>
          <p:nvSpPr>
            <p:cNvPr id="1882" name="Google Shape;1882;p174"/>
            <p:cNvSpPr txBox="1"/>
            <p:nvPr/>
          </p:nvSpPr>
          <p:spPr>
            <a:xfrm>
              <a:off x="4417250" y="2797500"/>
              <a:ext cx="795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I(X;Y)</a:t>
              </a:r>
              <a:endParaRPr sz="1900">
                <a:latin typeface="Google Sans"/>
                <a:ea typeface="Google Sans"/>
                <a:cs typeface="Google Sans"/>
                <a:sym typeface="Google Sans"/>
              </a:endParaRPr>
            </a:p>
          </p:txBody>
        </p:sp>
        <p:sp>
          <p:nvSpPr>
            <p:cNvPr id="1883" name="Google Shape;1883;p174"/>
            <p:cNvSpPr txBox="1"/>
            <p:nvPr/>
          </p:nvSpPr>
          <p:spPr>
            <a:xfrm>
              <a:off x="6778200" y="1457900"/>
              <a:ext cx="795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H(Y)</a:t>
              </a:r>
              <a:endParaRPr sz="1900">
                <a:latin typeface="Google Sans"/>
                <a:ea typeface="Google Sans"/>
                <a:cs typeface="Google Sans"/>
                <a:sym typeface="Google Sans"/>
              </a:endParaRPr>
            </a:p>
          </p:txBody>
        </p:sp>
        <p:sp>
          <p:nvSpPr>
            <p:cNvPr id="1884" name="Google Shape;1884;p174"/>
            <p:cNvSpPr txBox="1"/>
            <p:nvPr/>
          </p:nvSpPr>
          <p:spPr>
            <a:xfrm>
              <a:off x="1846000" y="1457900"/>
              <a:ext cx="7950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H(X)</a:t>
              </a:r>
              <a:endParaRPr sz="1900">
                <a:latin typeface="Google Sans"/>
                <a:ea typeface="Google Sans"/>
                <a:cs typeface="Google Sans"/>
                <a:sym typeface="Google Sans"/>
              </a:endParaRPr>
            </a:p>
          </p:txBody>
        </p:sp>
        <p:sp>
          <p:nvSpPr>
            <p:cNvPr id="1885" name="Google Shape;1885;p174"/>
            <p:cNvSpPr txBox="1"/>
            <p:nvPr/>
          </p:nvSpPr>
          <p:spPr>
            <a:xfrm>
              <a:off x="4334575" y="4642800"/>
              <a:ext cx="12015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latin typeface="Google Sans"/>
                  <a:ea typeface="Google Sans"/>
                  <a:cs typeface="Google Sans"/>
                  <a:sym typeface="Google Sans"/>
                </a:rPr>
                <a:t>H(X,Y)</a:t>
              </a:r>
              <a:endParaRPr sz="1900">
                <a:latin typeface="Google Sans"/>
                <a:ea typeface="Google Sans"/>
                <a:cs typeface="Google Sans"/>
                <a:sym typeface="Google Sans"/>
              </a:endParaRPr>
            </a:p>
          </p:txBody>
        </p:sp>
      </p:grpSp>
      <p:pic>
        <p:nvPicPr>
          <p:cNvPr id="1886" name="Google Shape;1886;p174"/>
          <p:cNvPicPr preferRelativeResize="0"/>
          <p:nvPr/>
        </p:nvPicPr>
        <p:blipFill>
          <a:blip r:embed="rId3">
            <a:alphaModFix/>
          </a:blip>
          <a:stretch>
            <a:fillRect/>
          </a:stretch>
        </p:blipFill>
        <p:spPr>
          <a:xfrm>
            <a:off x="147850" y="2737125"/>
            <a:ext cx="3190151" cy="916700"/>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0" name="Shape 1890"/>
        <p:cNvGrpSpPr/>
        <p:nvPr/>
      </p:nvGrpSpPr>
      <p:grpSpPr>
        <a:xfrm>
          <a:off x="0" y="0"/>
          <a:ext cx="0" cy="0"/>
          <a:chOff x="0" y="0"/>
          <a:chExt cx="0" cy="0"/>
        </a:xfrm>
      </p:grpSpPr>
      <p:sp>
        <p:nvSpPr>
          <p:cNvPr id="1891" name="Google Shape;1891;p17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Caution</a:t>
            </a:r>
            <a:endParaRPr/>
          </a:p>
        </p:txBody>
      </p:sp>
      <p:grpSp>
        <p:nvGrpSpPr>
          <p:cNvPr id="1892" name="Google Shape;1892;p175"/>
          <p:cNvGrpSpPr/>
          <p:nvPr/>
        </p:nvGrpSpPr>
        <p:grpSpPr>
          <a:xfrm>
            <a:off x="3671228" y="1550925"/>
            <a:ext cx="5102381" cy="3033000"/>
            <a:chOff x="2179228" y="1609800"/>
            <a:chExt cx="5102381" cy="3033000"/>
          </a:xfrm>
        </p:grpSpPr>
        <p:sp>
          <p:nvSpPr>
            <p:cNvPr id="1893" name="Google Shape;1893;p175"/>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175"/>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5" name="Google Shape;1895;p175"/>
          <p:cNvSpPr/>
          <p:nvPr/>
        </p:nvSpPr>
        <p:spPr>
          <a:xfrm>
            <a:off x="5084375" y="2648600"/>
            <a:ext cx="2341200" cy="23412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96" name="Google Shape;1896;p175"/>
          <p:cNvCxnSpPr/>
          <p:nvPr/>
        </p:nvCxnSpPr>
        <p:spPr>
          <a:xfrm>
            <a:off x="1939150" y="3287100"/>
            <a:ext cx="4032000" cy="11700"/>
          </a:xfrm>
          <a:prstGeom prst="straightConnector1">
            <a:avLst/>
          </a:prstGeom>
          <a:noFill/>
          <a:ln cap="flat" cmpd="sng" w="38100">
            <a:solidFill>
              <a:schemeClr val="dk2"/>
            </a:solidFill>
            <a:prstDash val="solid"/>
            <a:round/>
            <a:headEnd len="med" w="med" type="none"/>
            <a:tailEnd len="med" w="med" type="triangle"/>
          </a:ln>
        </p:spPr>
      </p:cxnSp>
      <p:sp>
        <p:nvSpPr>
          <p:cNvPr id="1897" name="Google Shape;1897;p175"/>
          <p:cNvSpPr txBox="1"/>
          <p:nvPr/>
        </p:nvSpPr>
        <p:spPr>
          <a:xfrm>
            <a:off x="260125" y="2240400"/>
            <a:ext cx="30387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Diagrams suggest all quantities positive, but the intersection of three random variables is not necessarily positive!</a:t>
            </a:r>
            <a:endParaRPr>
              <a:latin typeface="Google Sans"/>
              <a:ea typeface="Google Sans"/>
              <a:cs typeface="Google Sans"/>
              <a:sym typeface="Google San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17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Die</a:t>
            </a:r>
            <a:endParaRPr/>
          </a:p>
        </p:txBody>
      </p:sp>
      <p:grpSp>
        <p:nvGrpSpPr>
          <p:cNvPr id="1903" name="Google Shape;1903;p176"/>
          <p:cNvGrpSpPr/>
          <p:nvPr/>
        </p:nvGrpSpPr>
        <p:grpSpPr>
          <a:xfrm>
            <a:off x="3976028" y="2008125"/>
            <a:ext cx="5102381" cy="3033000"/>
            <a:chOff x="2179228" y="1609800"/>
            <a:chExt cx="5102381" cy="3033000"/>
          </a:xfrm>
        </p:grpSpPr>
        <p:sp>
          <p:nvSpPr>
            <p:cNvPr id="1904" name="Google Shape;1904;p176"/>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176"/>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906" name="Google Shape;1906;p176"/>
          <p:cNvPicPr preferRelativeResize="0"/>
          <p:nvPr/>
        </p:nvPicPr>
        <p:blipFill>
          <a:blip r:embed="rId3">
            <a:alphaModFix/>
          </a:blip>
          <a:stretch>
            <a:fillRect/>
          </a:stretch>
        </p:blipFill>
        <p:spPr>
          <a:xfrm>
            <a:off x="115963" y="2571750"/>
            <a:ext cx="3833275" cy="460900"/>
          </a:xfrm>
          <a:prstGeom prst="rect">
            <a:avLst/>
          </a:prstGeom>
          <a:noFill/>
          <a:ln>
            <a:noFill/>
          </a:ln>
        </p:spPr>
      </p:pic>
      <p:pic>
        <p:nvPicPr>
          <p:cNvPr id="1907" name="Google Shape;1907;p176"/>
          <p:cNvPicPr preferRelativeResize="0"/>
          <p:nvPr/>
        </p:nvPicPr>
        <p:blipFill>
          <a:blip r:embed="rId4">
            <a:alphaModFix/>
          </a:blip>
          <a:stretch>
            <a:fillRect/>
          </a:stretch>
        </p:blipFill>
        <p:spPr>
          <a:xfrm>
            <a:off x="115977" y="3386250"/>
            <a:ext cx="3833345" cy="460900"/>
          </a:xfrm>
          <a:prstGeom prst="rect">
            <a:avLst/>
          </a:prstGeom>
          <a:noFill/>
          <a:ln>
            <a:noFill/>
          </a:ln>
        </p:spPr>
      </p:pic>
      <p:pic>
        <p:nvPicPr>
          <p:cNvPr id="1908" name="Google Shape;1908;p176"/>
          <p:cNvPicPr preferRelativeResize="0"/>
          <p:nvPr/>
        </p:nvPicPr>
        <p:blipFill>
          <a:blip r:embed="rId5">
            <a:alphaModFix/>
          </a:blip>
          <a:stretch>
            <a:fillRect/>
          </a:stretch>
        </p:blipFill>
        <p:spPr>
          <a:xfrm>
            <a:off x="59124" y="4185888"/>
            <a:ext cx="3890200" cy="855237"/>
          </a:xfrm>
          <a:prstGeom prst="rect">
            <a:avLst/>
          </a:prstGeom>
          <a:noFill/>
          <a:ln>
            <a:noFill/>
          </a:ln>
        </p:spPr>
      </p:pic>
      <p:sp>
        <p:nvSpPr>
          <p:cNvPr id="1909" name="Google Shape;1909;p176"/>
          <p:cNvSpPr txBox="1"/>
          <p:nvPr/>
        </p:nvSpPr>
        <p:spPr>
          <a:xfrm>
            <a:off x="4670525" y="1513500"/>
            <a:ext cx="73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Front</a:t>
            </a:r>
            <a:endParaRPr>
              <a:latin typeface="Roboto"/>
              <a:ea typeface="Roboto"/>
              <a:cs typeface="Roboto"/>
              <a:sym typeface="Roboto"/>
            </a:endParaRPr>
          </a:p>
        </p:txBody>
      </p:sp>
      <p:sp>
        <p:nvSpPr>
          <p:cNvPr id="1910" name="Google Shape;1910;p176"/>
          <p:cNvSpPr txBox="1"/>
          <p:nvPr/>
        </p:nvSpPr>
        <p:spPr>
          <a:xfrm>
            <a:off x="7648900" y="1513500"/>
            <a:ext cx="733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Top</a:t>
            </a:r>
            <a:endParaRPr>
              <a:latin typeface="Roboto"/>
              <a:ea typeface="Roboto"/>
              <a:cs typeface="Roboto"/>
              <a:sym typeface="Roboto"/>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4" name="Shape 1914"/>
        <p:cNvGrpSpPr/>
        <p:nvPr/>
      </p:nvGrpSpPr>
      <p:grpSpPr>
        <a:xfrm>
          <a:off x="0" y="0"/>
          <a:ext cx="0" cy="0"/>
          <a:chOff x="0" y="0"/>
          <a:chExt cx="0" cy="0"/>
        </a:xfrm>
      </p:grpSpPr>
      <p:sp>
        <p:nvSpPr>
          <p:cNvPr id="1915" name="Google Shape;1915;p17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Cast of Characters</a:t>
            </a:r>
            <a:endParaRPr/>
          </a:p>
        </p:txBody>
      </p:sp>
      <p:sp>
        <p:nvSpPr>
          <p:cNvPr id="1916" name="Google Shape;1916;p177"/>
          <p:cNvSpPr txBox="1"/>
          <p:nvPr/>
        </p:nvSpPr>
        <p:spPr>
          <a:xfrm>
            <a:off x="259225" y="1483775"/>
            <a:ext cx="2466900" cy="3417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Google Sans"/>
                <a:ea typeface="Google Sans"/>
                <a:cs typeface="Google Sans"/>
                <a:sym typeface="Google Sans"/>
              </a:rPr>
              <a:t>weight of evidence</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relative 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mutual information</a:t>
            </a:r>
            <a:endParaRPr>
              <a:latin typeface="Google Sans"/>
              <a:ea typeface="Google Sans"/>
              <a:cs typeface="Google Sans"/>
              <a:sym typeface="Google Sans"/>
            </a:endParaRPr>
          </a:p>
        </p:txBody>
      </p:sp>
      <p:sp>
        <p:nvSpPr>
          <p:cNvPr id="1917" name="Google Shape;1917;p177"/>
          <p:cNvSpPr txBox="1"/>
          <p:nvPr/>
        </p:nvSpPr>
        <p:spPr>
          <a:xfrm>
            <a:off x="2915625" y="1452975"/>
            <a:ext cx="60735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measures the importance of data for distinguishing hypotheses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a "distance" between two distributions</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a "complexity" of a distribution</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a:p>
            <a:pPr indent="0" lvl="0" marL="0" rtl="0" algn="l">
              <a:spcBef>
                <a:spcPts val="0"/>
              </a:spcBef>
              <a:spcAft>
                <a:spcPts val="0"/>
              </a:spcAft>
              <a:buNone/>
            </a:pPr>
            <a:r>
              <a:rPr lang="en">
                <a:latin typeface="Roboto"/>
                <a:ea typeface="Roboto"/>
                <a:cs typeface="Roboto"/>
                <a:sym typeface="Roboto"/>
              </a:rPr>
              <a:t>measures the "complexity" of the interaction between two random variables.</a:t>
            </a:r>
            <a:endParaRPr>
              <a:latin typeface="Roboto"/>
              <a:ea typeface="Roboto"/>
              <a:cs typeface="Roboto"/>
              <a:sym typeface="Roboto"/>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1" name="Shape 1921"/>
        <p:cNvGrpSpPr/>
        <p:nvPr/>
      </p:nvGrpSpPr>
      <p:grpSpPr>
        <a:xfrm>
          <a:off x="0" y="0"/>
          <a:ext cx="0" cy="0"/>
          <a:chOff x="0" y="0"/>
          <a:chExt cx="0" cy="0"/>
        </a:xfrm>
      </p:grpSpPr>
      <p:sp>
        <p:nvSpPr>
          <p:cNvPr id="1922" name="Google Shape;1922;p17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a:t>
            </a:r>
            <a:endParaRPr/>
          </a:p>
        </p:txBody>
      </p:sp>
      <p:pic>
        <p:nvPicPr>
          <p:cNvPr id="1923" name="Google Shape;1923;p178"/>
          <p:cNvPicPr preferRelativeResize="0"/>
          <p:nvPr/>
        </p:nvPicPr>
        <p:blipFill>
          <a:blip r:embed="rId3">
            <a:alphaModFix/>
          </a:blip>
          <a:stretch>
            <a:fillRect/>
          </a:stretch>
        </p:blipFill>
        <p:spPr>
          <a:xfrm>
            <a:off x="3092711" y="2311071"/>
            <a:ext cx="4266985" cy="856859"/>
          </a:xfrm>
          <a:prstGeom prst="rect">
            <a:avLst/>
          </a:prstGeom>
          <a:noFill/>
          <a:ln>
            <a:noFill/>
          </a:ln>
        </p:spPr>
      </p:pic>
      <p:pic>
        <p:nvPicPr>
          <p:cNvPr id="1924" name="Google Shape;1924;p178"/>
          <p:cNvPicPr preferRelativeResize="0"/>
          <p:nvPr/>
        </p:nvPicPr>
        <p:blipFill>
          <a:blip r:embed="rId4">
            <a:alphaModFix/>
          </a:blip>
          <a:stretch>
            <a:fillRect/>
          </a:stretch>
        </p:blipFill>
        <p:spPr>
          <a:xfrm>
            <a:off x="3092700" y="3316181"/>
            <a:ext cx="4128503" cy="778963"/>
          </a:xfrm>
          <a:prstGeom prst="rect">
            <a:avLst/>
          </a:prstGeom>
          <a:noFill/>
          <a:ln>
            <a:noFill/>
          </a:ln>
        </p:spPr>
      </p:pic>
      <p:pic>
        <p:nvPicPr>
          <p:cNvPr id="1925" name="Google Shape;1925;p178"/>
          <p:cNvPicPr preferRelativeResize="0"/>
          <p:nvPr/>
        </p:nvPicPr>
        <p:blipFill>
          <a:blip r:embed="rId5">
            <a:alphaModFix/>
          </a:blip>
          <a:stretch>
            <a:fillRect/>
          </a:stretch>
        </p:blipFill>
        <p:spPr>
          <a:xfrm>
            <a:off x="3092711" y="4201141"/>
            <a:ext cx="5954738" cy="856859"/>
          </a:xfrm>
          <a:prstGeom prst="rect">
            <a:avLst/>
          </a:prstGeom>
          <a:noFill/>
          <a:ln>
            <a:noFill/>
          </a:ln>
        </p:spPr>
      </p:pic>
      <p:pic>
        <p:nvPicPr>
          <p:cNvPr id="1926" name="Google Shape;1926;p178"/>
          <p:cNvPicPr preferRelativeResize="0"/>
          <p:nvPr/>
        </p:nvPicPr>
        <p:blipFill>
          <a:blip r:embed="rId6">
            <a:alphaModFix/>
          </a:blip>
          <a:stretch>
            <a:fillRect/>
          </a:stretch>
        </p:blipFill>
        <p:spPr>
          <a:xfrm>
            <a:off x="3092700" y="1305950"/>
            <a:ext cx="3089886" cy="856859"/>
          </a:xfrm>
          <a:prstGeom prst="rect">
            <a:avLst/>
          </a:prstGeom>
          <a:noFill/>
          <a:ln>
            <a:noFill/>
          </a:ln>
        </p:spPr>
      </p:pic>
      <p:sp>
        <p:nvSpPr>
          <p:cNvPr id="1927" name="Google Shape;1927;p178"/>
          <p:cNvSpPr txBox="1"/>
          <p:nvPr/>
        </p:nvSpPr>
        <p:spPr>
          <a:xfrm>
            <a:off x="259225" y="1483775"/>
            <a:ext cx="2466900" cy="3417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Google Sans"/>
                <a:ea typeface="Google Sans"/>
                <a:cs typeface="Google Sans"/>
                <a:sym typeface="Google Sans"/>
              </a:rPr>
              <a:t>weight of evidence</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relative 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entropy</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t/>
            </a:r>
            <a:endParaRPr>
              <a:latin typeface="Google Sans"/>
              <a:ea typeface="Google Sans"/>
              <a:cs typeface="Google Sans"/>
              <a:sym typeface="Google Sans"/>
            </a:endParaRPr>
          </a:p>
          <a:p>
            <a:pPr indent="0" lvl="0" marL="0" rtl="0" algn="r">
              <a:spcBef>
                <a:spcPts val="0"/>
              </a:spcBef>
              <a:spcAft>
                <a:spcPts val="0"/>
              </a:spcAft>
              <a:buNone/>
            </a:pPr>
            <a:r>
              <a:rPr lang="en">
                <a:latin typeface="Google Sans"/>
                <a:ea typeface="Google Sans"/>
                <a:cs typeface="Google Sans"/>
                <a:sym typeface="Google Sans"/>
              </a:rPr>
              <a:t>mutual information</a:t>
            </a:r>
            <a:endParaRPr>
              <a:latin typeface="Google Sans"/>
              <a:ea typeface="Google Sans"/>
              <a:cs typeface="Google Sans"/>
              <a:sym typeface="Google San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sp>
        <p:nvSpPr>
          <p:cNvPr id="1932" name="Google Shape;1932;p179"/>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as a Principle for Learning</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6" name="Shape 1936"/>
        <p:cNvGrpSpPr/>
        <p:nvPr/>
      </p:nvGrpSpPr>
      <p:grpSpPr>
        <a:xfrm>
          <a:off x="0" y="0"/>
          <a:ext cx="0" cy="0"/>
          <a:chOff x="0" y="0"/>
          <a:chExt cx="0" cy="0"/>
        </a:xfrm>
      </p:grpSpPr>
      <p:sp>
        <p:nvSpPr>
          <p:cNvPr id="1937" name="Google Shape;1937;p18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Principle For Learning</a:t>
            </a:r>
            <a:endParaRPr/>
          </a:p>
        </p:txBody>
      </p:sp>
      <p:sp>
        <p:nvSpPr>
          <p:cNvPr id="1938" name="Google Shape;1938;p180"/>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Make it hard to tell the difference between the real world and your model.</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1939" name="Google Shape;1939;p180"/>
          <p:cNvPicPr preferRelativeResize="0"/>
          <p:nvPr/>
        </p:nvPicPr>
        <p:blipFill>
          <a:blip r:embed="rId3">
            <a:alphaModFix/>
          </a:blip>
          <a:stretch>
            <a:fillRect/>
          </a:stretch>
        </p:blipFill>
        <p:spPr>
          <a:xfrm>
            <a:off x="3085125" y="2056400"/>
            <a:ext cx="2990850" cy="390525"/>
          </a:xfrm>
          <a:prstGeom prst="rect">
            <a:avLst/>
          </a:prstGeom>
          <a:noFill/>
          <a:ln>
            <a:noFill/>
          </a:ln>
        </p:spPr>
      </p:pic>
      <p:pic>
        <p:nvPicPr>
          <p:cNvPr id="1940" name="Google Shape;1940;p180"/>
          <p:cNvPicPr preferRelativeResize="0"/>
          <p:nvPr/>
        </p:nvPicPr>
        <p:blipFill>
          <a:blip r:embed="rId4">
            <a:alphaModFix/>
          </a:blip>
          <a:stretch>
            <a:fillRect/>
          </a:stretch>
        </p:blipFill>
        <p:spPr>
          <a:xfrm>
            <a:off x="2642213" y="2628775"/>
            <a:ext cx="3876675" cy="942975"/>
          </a:xfrm>
          <a:prstGeom prst="rect">
            <a:avLst/>
          </a:prstGeom>
          <a:noFill/>
          <a:ln>
            <a:noFill/>
          </a:ln>
        </p:spPr>
      </p:pic>
      <p:pic>
        <p:nvPicPr>
          <p:cNvPr id="1941" name="Google Shape;1941;p180"/>
          <p:cNvPicPr preferRelativeResize="0"/>
          <p:nvPr/>
        </p:nvPicPr>
        <p:blipFill>
          <a:blip r:embed="rId5">
            <a:alphaModFix/>
          </a:blip>
          <a:stretch>
            <a:fillRect/>
          </a:stretch>
        </p:blipFill>
        <p:spPr>
          <a:xfrm>
            <a:off x="152400" y="3724150"/>
            <a:ext cx="8839201" cy="721419"/>
          </a:xfrm>
          <a:prstGeom prst="rect">
            <a:avLst/>
          </a:prstGeom>
          <a:noFill/>
          <a:ln>
            <a:noFill/>
          </a:ln>
        </p:spPr>
      </p:pic>
      <p:sp>
        <p:nvSpPr>
          <p:cNvPr id="1942" name="Google Shape;1942;p180"/>
          <p:cNvSpPr txBox="1"/>
          <p:nvPr/>
        </p:nvSpPr>
        <p:spPr>
          <a:xfrm>
            <a:off x="387725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-Data Entropy</a:t>
            </a:r>
            <a:endParaRPr>
              <a:solidFill>
                <a:schemeClr val="accent5"/>
              </a:solidFill>
              <a:latin typeface="Google Sans"/>
              <a:ea typeface="Google Sans"/>
              <a:cs typeface="Google Sans"/>
              <a:sym typeface="Google Sans"/>
            </a:endParaRPr>
          </a:p>
        </p:txBody>
      </p:sp>
      <p:sp>
        <p:nvSpPr>
          <p:cNvPr id="1943" name="Google Shape;1943;p180"/>
          <p:cNvSpPr txBox="1"/>
          <p:nvPr/>
        </p:nvSpPr>
        <p:spPr>
          <a:xfrm>
            <a:off x="690570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Cross Entropy</a:t>
            </a:r>
            <a:endParaRPr>
              <a:solidFill>
                <a:schemeClr val="accent4"/>
              </a:solidFill>
              <a:latin typeface="Google Sans"/>
              <a:ea typeface="Google Sans"/>
              <a:cs typeface="Google Sans"/>
              <a:sym typeface="Google San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18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Maximum Likelihood</a:t>
            </a:r>
            <a:endParaRPr/>
          </a:p>
        </p:txBody>
      </p:sp>
      <p:sp>
        <p:nvSpPr>
          <p:cNvPr id="1949" name="Google Shape;1949;p181"/>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We don't have access to the true distribution of data, only samples.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sp>
        <p:nvSpPr>
          <p:cNvPr id="1950" name="Google Shape;1950;p181"/>
          <p:cNvSpPr txBox="1"/>
          <p:nvPr/>
        </p:nvSpPr>
        <p:spPr>
          <a:xfrm>
            <a:off x="7203750" y="3447475"/>
            <a:ext cx="1796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Empirical Cross Entropy</a:t>
            </a:r>
            <a:endParaRPr>
              <a:solidFill>
                <a:schemeClr val="accent4"/>
              </a:solidFill>
              <a:latin typeface="Google Sans"/>
              <a:ea typeface="Google Sans"/>
              <a:cs typeface="Google Sans"/>
              <a:sym typeface="Google Sans"/>
            </a:endParaRPr>
          </a:p>
        </p:txBody>
      </p:sp>
      <p:pic>
        <p:nvPicPr>
          <p:cNvPr id="1951" name="Google Shape;1951;p181"/>
          <p:cNvPicPr preferRelativeResize="0"/>
          <p:nvPr/>
        </p:nvPicPr>
        <p:blipFill>
          <a:blip r:embed="rId3">
            <a:alphaModFix/>
          </a:blip>
          <a:stretch>
            <a:fillRect/>
          </a:stretch>
        </p:blipFill>
        <p:spPr>
          <a:xfrm>
            <a:off x="6193800" y="1408350"/>
            <a:ext cx="2847950" cy="701775"/>
          </a:xfrm>
          <a:prstGeom prst="rect">
            <a:avLst/>
          </a:prstGeom>
          <a:noFill/>
          <a:ln>
            <a:noFill/>
          </a:ln>
        </p:spPr>
      </p:pic>
      <p:pic>
        <p:nvPicPr>
          <p:cNvPr id="1952" name="Google Shape;1952;p181"/>
          <p:cNvPicPr preferRelativeResize="0"/>
          <p:nvPr/>
        </p:nvPicPr>
        <p:blipFill>
          <a:blip r:embed="rId4">
            <a:alphaModFix/>
          </a:blip>
          <a:stretch>
            <a:fillRect/>
          </a:stretch>
        </p:blipFill>
        <p:spPr>
          <a:xfrm>
            <a:off x="160950" y="2696225"/>
            <a:ext cx="8839199" cy="693271"/>
          </a:xfrm>
          <a:prstGeom prst="rect">
            <a:avLst/>
          </a:prstGeom>
          <a:noFill/>
          <a:ln>
            <a:noFill/>
          </a:ln>
        </p:spPr>
      </p:pic>
      <p:pic>
        <p:nvPicPr>
          <p:cNvPr id="1953" name="Google Shape;1953;p181"/>
          <p:cNvPicPr preferRelativeResize="0"/>
          <p:nvPr/>
        </p:nvPicPr>
        <p:blipFill>
          <a:blip r:embed="rId5">
            <a:alphaModFix/>
          </a:blip>
          <a:stretch>
            <a:fillRect/>
          </a:stretch>
        </p:blipFill>
        <p:spPr>
          <a:xfrm>
            <a:off x="3695700" y="4190621"/>
            <a:ext cx="1752600" cy="619125"/>
          </a:xfrm>
          <a:prstGeom prst="rect">
            <a:avLst/>
          </a:prstGeom>
          <a:noFill/>
          <a:ln>
            <a:noFill/>
          </a:ln>
        </p:spPr>
      </p:pic>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182"/>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Variational Autoencoders</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p183"/>
          <p:cNvSpPr txBox="1"/>
          <p:nvPr>
            <p:ph idx="2" type="title"/>
          </p:nvPr>
        </p:nvSpPr>
        <p:spPr>
          <a:xfrm>
            <a:off x="417675" y="341875"/>
            <a:ext cx="35028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World P</a:t>
            </a:r>
            <a:endParaRPr sz="3000"/>
          </a:p>
          <a:p>
            <a:pPr indent="0" lvl="0" marL="0" rtl="0" algn="l">
              <a:spcBef>
                <a:spcPts val="0"/>
              </a:spcBef>
              <a:spcAft>
                <a:spcPts val="0"/>
              </a:spcAft>
              <a:buNone/>
            </a:pPr>
            <a:r>
              <a:rPr b="0" lang="en" sz="2400"/>
              <a:t>world we have</a:t>
            </a:r>
            <a:endParaRPr b="0" sz="2400"/>
          </a:p>
        </p:txBody>
      </p:sp>
      <p:sp>
        <p:nvSpPr>
          <p:cNvPr id="1964" name="Google Shape;1964;p183"/>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1965" name="Google Shape;1965;p183"/>
          <p:cNvSpPr/>
          <p:nvPr/>
        </p:nvSpPr>
        <p:spPr>
          <a:xfrm>
            <a:off x="856125" y="2234938"/>
            <a:ext cx="26259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1966" name="Google Shape;1966;p183"/>
          <p:cNvSpPr/>
          <p:nvPr/>
        </p:nvSpPr>
        <p:spPr>
          <a:xfrm>
            <a:off x="1073290" y="243789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1967" name="Google Shape;1967;p183"/>
          <p:cNvSpPr/>
          <p:nvPr/>
        </p:nvSpPr>
        <p:spPr>
          <a:xfrm>
            <a:off x="2559594" y="243789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1968" name="Google Shape;1968;p183"/>
          <p:cNvCxnSpPr>
            <a:stCxn id="1967" idx="2"/>
            <a:endCxn id="1966" idx="6"/>
          </p:cNvCxnSpPr>
          <p:nvPr/>
        </p:nvCxnSpPr>
        <p:spPr>
          <a:xfrm rot="10800000">
            <a:off x="1778394" y="2790390"/>
            <a:ext cx="781200" cy="0"/>
          </a:xfrm>
          <a:prstGeom prst="straightConnector1">
            <a:avLst/>
          </a:prstGeom>
          <a:noFill/>
          <a:ln cap="flat" cmpd="sng" w="28575">
            <a:solidFill>
              <a:srgbClr val="595959"/>
            </a:solidFill>
            <a:prstDash val="solid"/>
            <a:round/>
            <a:headEnd len="med" w="med" type="none"/>
            <a:tailEnd len="med" w="med" type="triangle"/>
          </a:ln>
        </p:spPr>
      </p:cxnSp>
      <p:sp>
        <p:nvSpPr>
          <p:cNvPr id="1969" name="Google Shape;1969;p183"/>
          <p:cNvSpPr txBox="1"/>
          <p:nvPr>
            <p:ph idx="2" type="title"/>
          </p:nvPr>
        </p:nvSpPr>
        <p:spPr>
          <a:xfrm>
            <a:off x="4880100" y="341875"/>
            <a:ext cx="3502800" cy="4938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3000"/>
              <a:t>World Q</a:t>
            </a:r>
            <a:endParaRPr sz="3000"/>
          </a:p>
          <a:p>
            <a:pPr indent="0" lvl="0" marL="0" rtl="0" algn="r">
              <a:spcBef>
                <a:spcPts val="0"/>
              </a:spcBef>
              <a:spcAft>
                <a:spcPts val="0"/>
              </a:spcAft>
              <a:buNone/>
            </a:pPr>
            <a:r>
              <a:rPr b="0" lang="en" sz="2400"/>
              <a:t>world we want</a:t>
            </a:r>
            <a:endParaRPr b="0" sz="2400"/>
          </a:p>
        </p:txBody>
      </p:sp>
      <p:cxnSp>
        <p:nvCxnSpPr>
          <p:cNvPr id="1970" name="Google Shape;1970;p183"/>
          <p:cNvCxnSpPr/>
          <p:nvPr/>
        </p:nvCxnSpPr>
        <p:spPr>
          <a:xfrm>
            <a:off x="4594850" y="194300"/>
            <a:ext cx="0" cy="4812000"/>
          </a:xfrm>
          <a:prstGeom prst="straightConnector1">
            <a:avLst/>
          </a:prstGeom>
          <a:noFill/>
          <a:ln cap="flat" cmpd="sng" w="38100">
            <a:solidFill>
              <a:srgbClr val="9E9E9E"/>
            </a:solidFill>
            <a:prstDash val="solid"/>
            <a:round/>
            <a:headEnd len="med" w="med" type="none"/>
            <a:tailEnd len="med" w="med" type="none"/>
          </a:ln>
        </p:spPr>
      </p:cxnSp>
      <p:sp>
        <p:nvSpPr>
          <p:cNvPr id="1971" name="Google Shape;1971;p183"/>
          <p:cNvSpPr/>
          <p:nvPr/>
        </p:nvSpPr>
        <p:spPr>
          <a:xfrm>
            <a:off x="2501698" y="3505022"/>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1972" name="Google Shape;1972;p183"/>
          <p:cNvSpPr/>
          <p:nvPr/>
        </p:nvSpPr>
        <p:spPr>
          <a:xfrm>
            <a:off x="1015322" y="3505009"/>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1973" name="Google Shape;1973;p183"/>
          <p:cNvPicPr preferRelativeResize="0"/>
          <p:nvPr/>
        </p:nvPicPr>
        <p:blipFill rotWithShape="1">
          <a:blip r:embed="rId3">
            <a:alphaModFix/>
          </a:blip>
          <a:srcRect b="10466" l="9327" r="4711" t="0"/>
          <a:stretch/>
        </p:blipFill>
        <p:spPr>
          <a:xfrm>
            <a:off x="1150017" y="2594187"/>
            <a:ext cx="551416" cy="392401"/>
          </a:xfrm>
          <a:prstGeom prst="rect">
            <a:avLst/>
          </a:prstGeom>
          <a:noFill/>
          <a:ln>
            <a:noFill/>
          </a:ln>
        </p:spPr>
      </p:pic>
      <p:pic>
        <p:nvPicPr>
          <p:cNvPr id="1974" name="Google Shape;1974;p183"/>
          <p:cNvPicPr preferRelativeResize="0"/>
          <p:nvPr/>
        </p:nvPicPr>
        <p:blipFill>
          <a:blip r:embed="rId4">
            <a:alphaModFix/>
          </a:blip>
          <a:stretch>
            <a:fillRect/>
          </a:stretch>
        </p:blipFill>
        <p:spPr>
          <a:xfrm>
            <a:off x="511725" y="1685275"/>
            <a:ext cx="3314700" cy="390525"/>
          </a:xfrm>
          <a:prstGeom prst="rect">
            <a:avLst/>
          </a:prstGeom>
          <a:noFill/>
          <a:ln>
            <a:noFill/>
          </a:ln>
        </p:spPr>
      </p:pic>
      <p:sp>
        <p:nvSpPr>
          <p:cNvPr id="1975" name="Google Shape;1975;p183"/>
          <p:cNvSpPr/>
          <p:nvPr/>
        </p:nvSpPr>
        <p:spPr>
          <a:xfrm>
            <a:off x="5757000" y="2075788"/>
            <a:ext cx="26259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1976" name="Google Shape;1976;p183"/>
          <p:cNvSpPr/>
          <p:nvPr/>
        </p:nvSpPr>
        <p:spPr>
          <a:xfrm>
            <a:off x="5974165" y="227874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1977" name="Google Shape;1977;p183"/>
          <p:cNvSpPr/>
          <p:nvPr/>
        </p:nvSpPr>
        <p:spPr>
          <a:xfrm>
            <a:off x="7460469" y="227874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1978" name="Google Shape;1978;p183"/>
          <p:cNvCxnSpPr>
            <a:stCxn id="1977" idx="2"/>
            <a:endCxn id="1976" idx="6"/>
          </p:cNvCxnSpPr>
          <p:nvPr/>
        </p:nvCxnSpPr>
        <p:spPr>
          <a:xfrm rot="10800000">
            <a:off x="6679269" y="2631240"/>
            <a:ext cx="781200" cy="0"/>
          </a:xfrm>
          <a:prstGeom prst="straightConnector1">
            <a:avLst/>
          </a:prstGeom>
          <a:noFill/>
          <a:ln cap="flat" cmpd="sng" w="28575">
            <a:solidFill>
              <a:srgbClr val="595959"/>
            </a:solidFill>
            <a:prstDash val="solid"/>
            <a:round/>
            <a:headEnd len="med" w="med" type="triangle"/>
            <a:tailEnd len="med" w="med" type="none"/>
          </a:ln>
        </p:spPr>
      </p:cxnSp>
      <p:sp>
        <p:nvSpPr>
          <p:cNvPr id="1979" name="Google Shape;1979;p183"/>
          <p:cNvSpPr/>
          <p:nvPr/>
        </p:nvSpPr>
        <p:spPr>
          <a:xfrm>
            <a:off x="7402573" y="3345872"/>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1980" name="Google Shape;1980;p183"/>
          <p:cNvSpPr/>
          <p:nvPr/>
        </p:nvSpPr>
        <p:spPr>
          <a:xfrm>
            <a:off x="5916197" y="3345859"/>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1981" name="Google Shape;1981;p183"/>
          <p:cNvPicPr preferRelativeResize="0"/>
          <p:nvPr/>
        </p:nvPicPr>
        <p:blipFill rotWithShape="1">
          <a:blip r:embed="rId3">
            <a:alphaModFix/>
          </a:blip>
          <a:srcRect b="10466" l="9327" r="4711" t="0"/>
          <a:stretch/>
        </p:blipFill>
        <p:spPr>
          <a:xfrm>
            <a:off x="6050892" y="2435037"/>
            <a:ext cx="551416" cy="392401"/>
          </a:xfrm>
          <a:prstGeom prst="rect">
            <a:avLst/>
          </a:prstGeom>
          <a:noFill/>
          <a:ln>
            <a:noFill/>
          </a:ln>
        </p:spPr>
      </p:pic>
      <p:pic>
        <p:nvPicPr>
          <p:cNvPr id="1982" name="Google Shape;1982;p183"/>
          <p:cNvPicPr preferRelativeResize="0"/>
          <p:nvPr/>
        </p:nvPicPr>
        <p:blipFill>
          <a:blip r:embed="rId5">
            <a:alphaModFix/>
          </a:blip>
          <a:stretch>
            <a:fillRect/>
          </a:stretch>
        </p:blipFill>
        <p:spPr>
          <a:xfrm>
            <a:off x="5460150" y="1585697"/>
            <a:ext cx="3219450" cy="390525"/>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6" name="Shape 1986"/>
        <p:cNvGrpSpPr/>
        <p:nvPr/>
      </p:nvGrpSpPr>
      <p:grpSpPr>
        <a:xfrm>
          <a:off x="0" y="0"/>
          <a:ext cx="0" cy="0"/>
          <a:chOff x="0" y="0"/>
          <a:chExt cx="0" cy="0"/>
        </a:xfrm>
      </p:grpSpPr>
      <p:sp>
        <p:nvSpPr>
          <p:cNvPr id="1987" name="Google Shape;1987;p184"/>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88" name="Google Shape;1988;p184"/>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VAE</a:t>
            </a:r>
            <a:endParaRPr/>
          </a:p>
        </p:txBody>
      </p:sp>
      <p:pic>
        <p:nvPicPr>
          <p:cNvPr id="1989" name="Google Shape;1989;p184"/>
          <p:cNvPicPr preferRelativeResize="0"/>
          <p:nvPr/>
        </p:nvPicPr>
        <p:blipFill>
          <a:blip r:embed="rId3">
            <a:alphaModFix/>
          </a:blip>
          <a:stretch>
            <a:fillRect/>
          </a:stretch>
        </p:blipFill>
        <p:spPr>
          <a:xfrm>
            <a:off x="844938" y="835675"/>
            <a:ext cx="7454123" cy="361963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93" name="Shape 1993"/>
        <p:cNvGrpSpPr/>
        <p:nvPr/>
      </p:nvGrpSpPr>
      <p:grpSpPr>
        <a:xfrm>
          <a:off x="0" y="0"/>
          <a:ext cx="0" cy="0"/>
          <a:chOff x="0" y="0"/>
          <a:chExt cx="0" cy="0"/>
        </a:xfrm>
      </p:grpSpPr>
      <p:sp>
        <p:nvSpPr>
          <p:cNvPr id="1994" name="Google Shape;1994;p185"/>
          <p:cNvSpPr txBox="1"/>
          <p:nvPr>
            <p:ph type="title"/>
          </p:nvPr>
        </p:nvSpPr>
        <p:spPr>
          <a:xfrm>
            <a:off x="490250" y="450150"/>
            <a:ext cx="83094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chemeClr val="lt1"/>
                </a:solidFill>
              </a:rPr>
              <a:t>FIN</a:t>
            </a:r>
            <a:endParaRPr b="1" sz="6000">
              <a:solidFill>
                <a:schemeClr val="lt1"/>
              </a:solidFill>
            </a:endParaRPr>
          </a:p>
          <a:p>
            <a:pPr indent="0" lvl="0" marL="0" rtl="0" algn="ctr">
              <a:spcBef>
                <a:spcPts val="0"/>
              </a:spcBef>
              <a:spcAft>
                <a:spcPts val="0"/>
              </a:spcAft>
              <a:buNone/>
            </a:pPr>
            <a:r>
              <a:rPr i="1" lang="en" sz="1800">
                <a:solidFill>
                  <a:schemeClr val="lt1"/>
                </a:solidFill>
              </a:rPr>
              <a:t>(THE END)</a:t>
            </a:r>
            <a:endParaRPr i="1" sz="1800">
              <a:solidFill>
                <a:schemeClr val="lt1"/>
              </a:solidFill>
            </a:endParaRPr>
          </a:p>
          <a:p>
            <a:pPr indent="0" lvl="0" marL="0" rtl="0" algn="ctr">
              <a:spcBef>
                <a:spcPts val="0"/>
              </a:spcBef>
              <a:spcAft>
                <a:spcPts val="0"/>
              </a:spcAft>
              <a:buNone/>
            </a:pPr>
            <a:r>
              <a:t/>
            </a:r>
            <a:endParaRPr i="1" sz="1800">
              <a:solidFill>
                <a:schemeClr val="lt1"/>
              </a:solidFill>
            </a:endParaRPr>
          </a:p>
          <a:p>
            <a:pPr indent="0" lvl="0" marL="0" rtl="0" algn="ctr">
              <a:spcBef>
                <a:spcPts val="0"/>
              </a:spcBef>
              <a:spcAft>
                <a:spcPts val="0"/>
              </a:spcAft>
              <a:buNone/>
            </a:pPr>
            <a:r>
              <a:rPr i="1" lang="en" sz="1400">
                <a:solidFill>
                  <a:schemeClr val="lt1"/>
                </a:solidFill>
              </a:rPr>
              <a:t>Please check out the Problem Set </a:t>
            </a:r>
            <a:r>
              <a:rPr i="1" lang="en" sz="1400" u="sng">
                <a:solidFill>
                  <a:schemeClr val="hlink"/>
                </a:solidFill>
                <a:hlinkClick r:id="rId3"/>
              </a:rPr>
              <a:t>here</a:t>
            </a:r>
            <a:endParaRPr i="1" sz="1400">
              <a:solidFill>
                <a:schemeClr val="lt1"/>
              </a:solidFill>
            </a:endParaRPr>
          </a:p>
          <a:p>
            <a:pPr indent="0" lvl="0" marL="0" rtl="0" algn="ctr">
              <a:spcBef>
                <a:spcPts val="0"/>
              </a:spcBef>
              <a:spcAft>
                <a:spcPts val="0"/>
              </a:spcAft>
              <a:buNone/>
            </a:pPr>
            <a:r>
              <a:rPr i="1" lang="en" sz="1400">
                <a:solidFill>
                  <a:schemeClr val="lt1"/>
                </a:solidFill>
              </a:rPr>
              <a:t>Solutions </a:t>
            </a:r>
            <a:r>
              <a:rPr i="1" lang="en" sz="1400" u="sng">
                <a:solidFill>
                  <a:schemeClr val="hlink"/>
                </a:solidFill>
                <a:hlinkClick r:id="rId4"/>
              </a:rPr>
              <a:t>here</a:t>
            </a:r>
            <a:endParaRPr i="1" sz="1400">
              <a:solidFill>
                <a:schemeClr val="lt1"/>
              </a:solidFill>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8" name="Shape 1998"/>
        <p:cNvGrpSpPr/>
        <p:nvPr/>
      </p:nvGrpSpPr>
      <p:grpSpPr>
        <a:xfrm>
          <a:off x="0" y="0"/>
          <a:ext cx="0" cy="0"/>
          <a:chOff x="0" y="0"/>
          <a:chExt cx="0" cy="0"/>
        </a:xfrm>
      </p:grpSpPr>
      <p:sp>
        <p:nvSpPr>
          <p:cNvPr id="1999" name="Google Shape;1999;p186"/>
          <p:cNvSpPr txBox="1"/>
          <p:nvPr>
            <p:ph type="ctrTitle"/>
          </p:nvPr>
        </p:nvSpPr>
        <p:spPr>
          <a:xfrm>
            <a:off x="311700" y="539725"/>
            <a:ext cx="8520600" cy="128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Information Theory Part III</a:t>
            </a:r>
            <a:endParaRPr/>
          </a:p>
        </p:txBody>
      </p:sp>
      <p:sp>
        <p:nvSpPr>
          <p:cNvPr id="2000" name="Google Shape;2000;p186"/>
          <p:cNvSpPr txBox="1"/>
          <p:nvPr>
            <p:ph idx="1" type="subTitle"/>
          </p:nvPr>
        </p:nvSpPr>
        <p:spPr>
          <a:xfrm>
            <a:off x="311700" y="1878560"/>
            <a:ext cx="4242600" cy="73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u="sng">
                <a:solidFill>
                  <a:schemeClr val="hlink"/>
                </a:solidFill>
                <a:hlinkClick r:id="rId3"/>
              </a:rPr>
              <a:t>Alex Alemi</a:t>
            </a:r>
            <a:endParaRPr/>
          </a:p>
          <a:p>
            <a:pPr indent="0" lvl="0" marL="0" rtl="0" algn="l">
              <a:spcBef>
                <a:spcPts val="0"/>
              </a:spcBef>
              <a:spcAft>
                <a:spcPts val="0"/>
              </a:spcAft>
              <a:buNone/>
            </a:pPr>
            <a:r>
              <a:rPr lang="en"/>
              <a:t>2021-03-30</a:t>
            </a:r>
            <a:endParaRPr/>
          </a:p>
        </p:txBody>
      </p:sp>
      <p:sp>
        <p:nvSpPr>
          <p:cNvPr id="2001" name="Google Shape;2001;p186"/>
          <p:cNvSpPr txBox="1"/>
          <p:nvPr/>
        </p:nvSpPr>
        <p:spPr>
          <a:xfrm>
            <a:off x="2303250" y="1999150"/>
            <a:ext cx="36102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4"/>
              </a:rPr>
              <a:t>Part 1</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5"/>
              </a:rPr>
              <a:t>Part 2</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6"/>
              </a:rPr>
              <a:t>Part 3</a:t>
            </a:r>
            <a:endParaRPr>
              <a:latin typeface="Source Code Pro"/>
              <a:ea typeface="Source Code Pro"/>
              <a:cs typeface="Source Code Pro"/>
              <a:sym typeface="Source Code Pro"/>
            </a:endParaRPr>
          </a:p>
          <a:p>
            <a:pPr indent="0" lvl="0" marL="0" rtl="0" algn="l">
              <a:spcBef>
                <a:spcPts val="0"/>
              </a:spcBef>
              <a:spcAft>
                <a:spcPts val="0"/>
              </a:spcAft>
              <a:buNone/>
            </a:pPr>
            <a:r>
              <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7"/>
              </a:rPr>
              <a:t>Problem Set</a:t>
            </a:r>
            <a:endParaRPr>
              <a:latin typeface="Source Code Pro"/>
              <a:ea typeface="Source Code Pro"/>
              <a:cs typeface="Source Code Pro"/>
              <a:sym typeface="Source Code Pro"/>
            </a:endParaRPr>
          </a:p>
          <a:p>
            <a:pPr indent="0" lvl="0" marL="0" rtl="0" algn="l">
              <a:spcBef>
                <a:spcPts val="0"/>
              </a:spcBef>
              <a:spcAft>
                <a:spcPts val="0"/>
              </a:spcAft>
              <a:buNone/>
            </a:pPr>
            <a:r>
              <a:rPr lang="en" u="sng">
                <a:solidFill>
                  <a:schemeClr val="hlink"/>
                </a:solidFill>
                <a:latin typeface="Source Code Pro"/>
                <a:ea typeface="Source Code Pro"/>
                <a:cs typeface="Source Code Pro"/>
                <a:sym typeface="Source Code Pro"/>
                <a:hlinkClick r:id="rId8"/>
              </a:rPr>
              <a:t>Solutions</a:t>
            </a:r>
            <a:endParaRPr>
              <a:latin typeface="Source Code Pro"/>
              <a:ea typeface="Source Code Pro"/>
              <a:cs typeface="Source Code Pro"/>
              <a:sym typeface="Source Code Pro"/>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187"/>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Skipped Example</a:t>
            </a:r>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id="2011" name="Google Shape;2011;p18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Population</a:t>
            </a:r>
            <a:endParaRPr/>
          </a:p>
        </p:txBody>
      </p:sp>
      <p:sp>
        <p:nvSpPr>
          <p:cNvPr id="2012" name="Google Shape;2012;p188"/>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2013" name="Google Shape;2013;p188"/>
          <p:cNvPicPr preferRelativeResize="0"/>
          <p:nvPr/>
        </p:nvPicPr>
        <p:blipFill>
          <a:blip r:embed="rId3">
            <a:alphaModFix/>
          </a:blip>
          <a:stretch>
            <a:fillRect/>
          </a:stretch>
        </p:blipFill>
        <p:spPr>
          <a:xfrm>
            <a:off x="1228725" y="2304775"/>
            <a:ext cx="6686550" cy="1295400"/>
          </a:xfrm>
          <a:prstGeom prst="rect">
            <a:avLst/>
          </a:prstGeom>
          <a:noFill/>
          <a:ln>
            <a:noFill/>
          </a:ln>
        </p:spPr>
      </p:pic>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7" name="Shape 2017"/>
        <p:cNvGrpSpPr/>
        <p:nvPr/>
      </p:nvGrpSpPr>
      <p:grpSpPr>
        <a:xfrm>
          <a:off x="0" y="0"/>
          <a:ext cx="0" cy="0"/>
          <a:chOff x="0" y="0"/>
          <a:chExt cx="0" cy="0"/>
        </a:xfrm>
      </p:grpSpPr>
      <p:sp>
        <p:nvSpPr>
          <p:cNvPr id="2018" name="Google Shape;2018;p18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Birthday</a:t>
            </a:r>
            <a:endParaRPr/>
          </a:p>
        </p:txBody>
      </p:sp>
      <p:pic>
        <p:nvPicPr>
          <p:cNvPr id="2019" name="Google Shape;2019;p189"/>
          <p:cNvPicPr preferRelativeResize="0"/>
          <p:nvPr/>
        </p:nvPicPr>
        <p:blipFill>
          <a:blip r:embed="rId3">
            <a:alphaModFix/>
          </a:blip>
          <a:stretch>
            <a:fillRect/>
          </a:stretch>
        </p:blipFill>
        <p:spPr>
          <a:xfrm>
            <a:off x="4774013" y="2965825"/>
            <a:ext cx="3829050" cy="390525"/>
          </a:xfrm>
          <a:prstGeom prst="rect">
            <a:avLst/>
          </a:prstGeom>
          <a:noFill/>
          <a:ln>
            <a:noFill/>
          </a:ln>
        </p:spPr>
      </p:pic>
      <p:pic>
        <p:nvPicPr>
          <p:cNvPr id="2020" name="Google Shape;2020;p189"/>
          <p:cNvPicPr preferRelativeResize="0"/>
          <p:nvPr/>
        </p:nvPicPr>
        <p:blipFill>
          <a:blip r:embed="rId4">
            <a:alphaModFix/>
          </a:blip>
          <a:stretch>
            <a:fillRect/>
          </a:stretch>
        </p:blipFill>
        <p:spPr>
          <a:xfrm>
            <a:off x="188550" y="1385425"/>
            <a:ext cx="3343275" cy="647700"/>
          </a:xfrm>
          <a:prstGeom prst="rect">
            <a:avLst/>
          </a:prstGeom>
          <a:noFill/>
          <a:ln>
            <a:noFill/>
          </a:ln>
        </p:spPr>
      </p:pic>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4" name="Shape 2024"/>
        <p:cNvGrpSpPr/>
        <p:nvPr/>
      </p:nvGrpSpPr>
      <p:grpSpPr>
        <a:xfrm>
          <a:off x="0" y="0"/>
          <a:ext cx="0" cy="0"/>
          <a:chOff x="0" y="0"/>
          <a:chExt cx="0" cy="0"/>
        </a:xfrm>
      </p:grpSpPr>
      <p:sp>
        <p:nvSpPr>
          <p:cNvPr id="2025" name="Google Shape;2025;p19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Age</a:t>
            </a:r>
            <a:endParaRPr/>
          </a:p>
        </p:txBody>
      </p:sp>
      <p:sp>
        <p:nvSpPr>
          <p:cNvPr id="2026" name="Google Shape;2026;p190"/>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2027" name="Google Shape;2027;p190"/>
          <p:cNvPicPr preferRelativeResize="0"/>
          <p:nvPr/>
        </p:nvPicPr>
        <p:blipFill>
          <a:blip r:embed="rId3">
            <a:alphaModFix/>
          </a:blip>
          <a:stretch>
            <a:fillRect/>
          </a:stretch>
        </p:blipFill>
        <p:spPr>
          <a:xfrm>
            <a:off x="5690325" y="3263475"/>
            <a:ext cx="2256550" cy="264350"/>
          </a:xfrm>
          <a:prstGeom prst="rect">
            <a:avLst/>
          </a:prstGeom>
          <a:noFill/>
          <a:ln>
            <a:noFill/>
          </a:ln>
        </p:spPr>
      </p:pic>
      <p:pic>
        <p:nvPicPr>
          <p:cNvPr id="2028" name="Google Shape;2028;p190"/>
          <p:cNvPicPr preferRelativeResize="0"/>
          <p:nvPr/>
        </p:nvPicPr>
        <p:blipFill>
          <a:blip r:embed="rId4">
            <a:alphaModFix/>
          </a:blip>
          <a:stretch>
            <a:fillRect/>
          </a:stretch>
        </p:blipFill>
        <p:spPr>
          <a:xfrm>
            <a:off x="5066025" y="2641663"/>
            <a:ext cx="3505200" cy="390525"/>
          </a:xfrm>
          <a:prstGeom prst="rect">
            <a:avLst/>
          </a:prstGeom>
          <a:noFill/>
          <a:ln>
            <a:noFill/>
          </a:ln>
        </p:spPr>
      </p:pic>
      <p:pic>
        <p:nvPicPr>
          <p:cNvPr id="2029" name="Google Shape;2029;p190"/>
          <p:cNvPicPr preferRelativeResize="0"/>
          <p:nvPr/>
        </p:nvPicPr>
        <p:blipFill>
          <a:blip r:embed="rId5">
            <a:alphaModFix/>
          </a:blip>
          <a:stretch>
            <a:fillRect/>
          </a:stretch>
        </p:blipFill>
        <p:spPr>
          <a:xfrm>
            <a:off x="311713" y="2069738"/>
            <a:ext cx="3829050" cy="390525"/>
          </a:xfrm>
          <a:prstGeom prst="rect">
            <a:avLst/>
          </a:prstGeom>
          <a:noFill/>
          <a:ln>
            <a:noFill/>
          </a:ln>
        </p:spPr>
      </p:pic>
      <p:pic>
        <p:nvPicPr>
          <p:cNvPr id="2030" name="Google Shape;2030;p190"/>
          <p:cNvPicPr preferRelativeResize="0"/>
          <p:nvPr/>
        </p:nvPicPr>
        <p:blipFill>
          <a:blip r:embed="rId6">
            <a:alphaModFix/>
          </a:blip>
          <a:stretch>
            <a:fillRect/>
          </a:stretch>
        </p:blipFill>
        <p:spPr>
          <a:xfrm>
            <a:off x="311725" y="1331300"/>
            <a:ext cx="3343275" cy="647700"/>
          </a:xfrm>
          <a:prstGeom prst="rect">
            <a:avLst/>
          </a:prstGeom>
          <a:noFill/>
          <a:ln>
            <a:noFill/>
          </a:ln>
        </p:spPr>
      </p:pic>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19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Zip Code</a:t>
            </a:r>
            <a:endParaRPr/>
          </a:p>
        </p:txBody>
      </p:sp>
      <p:sp>
        <p:nvSpPr>
          <p:cNvPr id="2036" name="Google Shape;2036;p191"/>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2037" name="Google Shape;2037;p191"/>
          <p:cNvPicPr preferRelativeResize="0"/>
          <p:nvPr/>
        </p:nvPicPr>
        <p:blipFill>
          <a:blip r:embed="rId3">
            <a:alphaModFix/>
          </a:blip>
          <a:stretch>
            <a:fillRect/>
          </a:stretch>
        </p:blipFill>
        <p:spPr>
          <a:xfrm>
            <a:off x="311713" y="2226325"/>
            <a:ext cx="3829050" cy="390525"/>
          </a:xfrm>
          <a:prstGeom prst="rect">
            <a:avLst/>
          </a:prstGeom>
          <a:noFill/>
          <a:ln>
            <a:noFill/>
          </a:ln>
        </p:spPr>
      </p:pic>
      <p:pic>
        <p:nvPicPr>
          <p:cNvPr id="2038" name="Google Shape;2038;p191"/>
          <p:cNvPicPr preferRelativeResize="0"/>
          <p:nvPr/>
        </p:nvPicPr>
        <p:blipFill>
          <a:blip r:embed="rId4">
            <a:alphaModFix/>
          </a:blip>
          <a:stretch>
            <a:fillRect/>
          </a:stretch>
        </p:blipFill>
        <p:spPr>
          <a:xfrm>
            <a:off x="311725" y="2751013"/>
            <a:ext cx="3505200" cy="390525"/>
          </a:xfrm>
          <a:prstGeom prst="rect">
            <a:avLst/>
          </a:prstGeom>
          <a:noFill/>
          <a:ln>
            <a:noFill/>
          </a:ln>
        </p:spPr>
      </p:pic>
      <p:pic>
        <p:nvPicPr>
          <p:cNvPr id="2039" name="Google Shape;2039;p191"/>
          <p:cNvPicPr preferRelativeResize="0"/>
          <p:nvPr/>
        </p:nvPicPr>
        <p:blipFill>
          <a:blip r:embed="rId5">
            <a:alphaModFix/>
          </a:blip>
          <a:stretch>
            <a:fillRect/>
          </a:stretch>
        </p:blipFill>
        <p:spPr>
          <a:xfrm>
            <a:off x="6409766" y="3452675"/>
            <a:ext cx="2517484" cy="286055"/>
          </a:xfrm>
          <a:prstGeom prst="rect">
            <a:avLst/>
          </a:prstGeom>
          <a:noFill/>
          <a:ln>
            <a:noFill/>
          </a:ln>
        </p:spPr>
      </p:pic>
      <p:pic>
        <p:nvPicPr>
          <p:cNvPr id="2040" name="Google Shape;2040;p191"/>
          <p:cNvPicPr preferRelativeResize="0"/>
          <p:nvPr/>
        </p:nvPicPr>
        <p:blipFill>
          <a:blip r:embed="rId6">
            <a:alphaModFix/>
          </a:blip>
          <a:stretch>
            <a:fillRect/>
          </a:stretch>
        </p:blipFill>
        <p:spPr>
          <a:xfrm>
            <a:off x="6030300" y="3800051"/>
            <a:ext cx="2896950" cy="276324"/>
          </a:xfrm>
          <a:prstGeom prst="rect">
            <a:avLst/>
          </a:prstGeom>
          <a:noFill/>
          <a:ln>
            <a:noFill/>
          </a:ln>
        </p:spPr>
      </p:pic>
      <p:pic>
        <p:nvPicPr>
          <p:cNvPr id="2041" name="Google Shape;2041;p191"/>
          <p:cNvPicPr preferRelativeResize="0"/>
          <p:nvPr/>
        </p:nvPicPr>
        <p:blipFill>
          <a:blip r:embed="rId7">
            <a:alphaModFix/>
          </a:blip>
          <a:stretch>
            <a:fillRect/>
          </a:stretch>
        </p:blipFill>
        <p:spPr>
          <a:xfrm>
            <a:off x="5049775" y="2751025"/>
            <a:ext cx="3743325" cy="390525"/>
          </a:xfrm>
          <a:prstGeom prst="rect">
            <a:avLst/>
          </a:prstGeom>
          <a:noFill/>
          <a:ln>
            <a:noFill/>
          </a:ln>
        </p:spPr>
      </p:pic>
      <p:pic>
        <p:nvPicPr>
          <p:cNvPr id="2042" name="Google Shape;2042;p191"/>
          <p:cNvPicPr preferRelativeResize="0"/>
          <p:nvPr/>
        </p:nvPicPr>
        <p:blipFill>
          <a:blip r:embed="rId8">
            <a:alphaModFix/>
          </a:blip>
          <a:stretch>
            <a:fillRect/>
          </a:stretch>
        </p:blipFill>
        <p:spPr>
          <a:xfrm>
            <a:off x="311725" y="1444438"/>
            <a:ext cx="3343275" cy="64770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6" name="Shape 2046"/>
        <p:cNvGrpSpPr/>
        <p:nvPr/>
      </p:nvGrpSpPr>
      <p:grpSpPr>
        <a:xfrm>
          <a:off x="0" y="0"/>
          <a:ext cx="0" cy="0"/>
          <a:chOff x="0" y="0"/>
          <a:chExt cx="0" cy="0"/>
        </a:xfrm>
      </p:grpSpPr>
      <p:sp>
        <p:nvSpPr>
          <p:cNvPr id="2047" name="Google Shape;2047;p19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Gender</a:t>
            </a:r>
            <a:endParaRPr/>
          </a:p>
        </p:txBody>
      </p:sp>
      <p:sp>
        <p:nvSpPr>
          <p:cNvPr id="2048" name="Google Shape;2048;p192"/>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2049" name="Google Shape;2049;p192"/>
          <p:cNvPicPr preferRelativeResize="0"/>
          <p:nvPr/>
        </p:nvPicPr>
        <p:blipFill>
          <a:blip r:embed="rId3">
            <a:alphaModFix/>
          </a:blip>
          <a:stretch>
            <a:fillRect/>
          </a:stretch>
        </p:blipFill>
        <p:spPr>
          <a:xfrm>
            <a:off x="311713" y="2226325"/>
            <a:ext cx="3829050" cy="390525"/>
          </a:xfrm>
          <a:prstGeom prst="rect">
            <a:avLst/>
          </a:prstGeom>
          <a:noFill/>
          <a:ln>
            <a:noFill/>
          </a:ln>
        </p:spPr>
      </p:pic>
      <p:pic>
        <p:nvPicPr>
          <p:cNvPr id="2050" name="Google Shape;2050;p192"/>
          <p:cNvPicPr preferRelativeResize="0"/>
          <p:nvPr/>
        </p:nvPicPr>
        <p:blipFill>
          <a:blip r:embed="rId4">
            <a:alphaModFix/>
          </a:blip>
          <a:stretch>
            <a:fillRect/>
          </a:stretch>
        </p:blipFill>
        <p:spPr>
          <a:xfrm>
            <a:off x="311725" y="2751013"/>
            <a:ext cx="3505200" cy="390525"/>
          </a:xfrm>
          <a:prstGeom prst="rect">
            <a:avLst/>
          </a:prstGeom>
          <a:noFill/>
          <a:ln>
            <a:noFill/>
          </a:ln>
        </p:spPr>
      </p:pic>
      <p:pic>
        <p:nvPicPr>
          <p:cNvPr id="2051" name="Google Shape;2051;p192"/>
          <p:cNvPicPr preferRelativeResize="0"/>
          <p:nvPr/>
        </p:nvPicPr>
        <p:blipFill>
          <a:blip r:embed="rId5">
            <a:alphaModFix/>
          </a:blip>
          <a:stretch>
            <a:fillRect/>
          </a:stretch>
        </p:blipFill>
        <p:spPr>
          <a:xfrm>
            <a:off x="5579675" y="2891913"/>
            <a:ext cx="2943225" cy="390525"/>
          </a:xfrm>
          <a:prstGeom prst="rect">
            <a:avLst/>
          </a:prstGeom>
          <a:noFill/>
          <a:ln>
            <a:noFill/>
          </a:ln>
        </p:spPr>
      </p:pic>
      <p:pic>
        <p:nvPicPr>
          <p:cNvPr id="2052" name="Google Shape;2052;p192"/>
          <p:cNvPicPr preferRelativeResize="0"/>
          <p:nvPr/>
        </p:nvPicPr>
        <p:blipFill>
          <a:blip r:embed="rId6">
            <a:alphaModFix/>
          </a:blip>
          <a:stretch>
            <a:fillRect/>
          </a:stretch>
        </p:blipFill>
        <p:spPr>
          <a:xfrm>
            <a:off x="311725" y="3275725"/>
            <a:ext cx="3743325" cy="390525"/>
          </a:xfrm>
          <a:prstGeom prst="rect">
            <a:avLst/>
          </a:prstGeom>
          <a:noFill/>
          <a:ln>
            <a:noFill/>
          </a:ln>
        </p:spPr>
      </p:pic>
      <p:pic>
        <p:nvPicPr>
          <p:cNvPr id="2053" name="Google Shape;2053;p192"/>
          <p:cNvPicPr preferRelativeResize="0"/>
          <p:nvPr/>
        </p:nvPicPr>
        <p:blipFill>
          <a:blip r:embed="rId7">
            <a:alphaModFix/>
          </a:blip>
          <a:stretch>
            <a:fillRect/>
          </a:stretch>
        </p:blipFill>
        <p:spPr>
          <a:xfrm>
            <a:off x="311725" y="1444450"/>
            <a:ext cx="3343275" cy="647700"/>
          </a:xfrm>
          <a:prstGeom prst="rect">
            <a:avLst/>
          </a:prstGeom>
          <a:noFill/>
          <a:ln>
            <a:noFill/>
          </a:ln>
        </p:spPr>
      </p:pic>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19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PII ~ Birthday + Age + Zip Code + Gender</a:t>
            </a:r>
            <a:endParaRPr/>
          </a:p>
        </p:txBody>
      </p:sp>
      <p:sp>
        <p:nvSpPr>
          <p:cNvPr id="2059" name="Google Shape;2059;p193"/>
          <p:cNvSpPr txBox="1"/>
          <p:nvPr/>
        </p:nvSpPr>
        <p:spPr>
          <a:xfrm>
            <a:off x="451175" y="1691950"/>
            <a:ext cx="43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2060" name="Google Shape;2060;p193"/>
          <p:cNvPicPr preferRelativeResize="0"/>
          <p:nvPr/>
        </p:nvPicPr>
        <p:blipFill>
          <a:blip r:embed="rId3">
            <a:alphaModFix/>
          </a:blip>
          <a:stretch>
            <a:fillRect/>
          </a:stretch>
        </p:blipFill>
        <p:spPr>
          <a:xfrm>
            <a:off x="311725" y="1594225"/>
            <a:ext cx="4219575" cy="390525"/>
          </a:xfrm>
          <a:prstGeom prst="rect">
            <a:avLst/>
          </a:prstGeom>
          <a:noFill/>
          <a:ln>
            <a:noFill/>
          </a:ln>
        </p:spPr>
      </p:pic>
      <p:pic>
        <p:nvPicPr>
          <p:cNvPr id="2061" name="Google Shape;2061;p193"/>
          <p:cNvPicPr preferRelativeResize="0"/>
          <p:nvPr/>
        </p:nvPicPr>
        <p:blipFill>
          <a:blip r:embed="rId4">
            <a:alphaModFix/>
          </a:blip>
          <a:stretch>
            <a:fillRect/>
          </a:stretch>
        </p:blipFill>
        <p:spPr>
          <a:xfrm>
            <a:off x="311713" y="2226325"/>
            <a:ext cx="3829050" cy="390525"/>
          </a:xfrm>
          <a:prstGeom prst="rect">
            <a:avLst/>
          </a:prstGeom>
          <a:noFill/>
          <a:ln>
            <a:noFill/>
          </a:ln>
        </p:spPr>
      </p:pic>
      <p:pic>
        <p:nvPicPr>
          <p:cNvPr id="2062" name="Google Shape;2062;p193"/>
          <p:cNvPicPr preferRelativeResize="0"/>
          <p:nvPr/>
        </p:nvPicPr>
        <p:blipFill>
          <a:blip r:embed="rId5">
            <a:alphaModFix/>
          </a:blip>
          <a:stretch>
            <a:fillRect/>
          </a:stretch>
        </p:blipFill>
        <p:spPr>
          <a:xfrm>
            <a:off x="311725" y="2751013"/>
            <a:ext cx="3505200" cy="390525"/>
          </a:xfrm>
          <a:prstGeom prst="rect">
            <a:avLst/>
          </a:prstGeom>
          <a:noFill/>
          <a:ln>
            <a:noFill/>
          </a:ln>
        </p:spPr>
      </p:pic>
      <p:pic>
        <p:nvPicPr>
          <p:cNvPr id="2063" name="Google Shape;2063;p193"/>
          <p:cNvPicPr preferRelativeResize="0"/>
          <p:nvPr/>
        </p:nvPicPr>
        <p:blipFill>
          <a:blip r:embed="rId6">
            <a:alphaModFix/>
          </a:blip>
          <a:stretch>
            <a:fillRect/>
          </a:stretch>
        </p:blipFill>
        <p:spPr>
          <a:xfrm>
            <a:off x="311725" y="3275725"/>
            <a:ext cx="3743325" cy="390525"/>
          </a:xfrm>
          <a:prstGeom prst="rect">
            <a:avLst/>
          </a:prstGeom>
          <a:noFill/>
          <a:ln>
            <a:noFill/>
          </a:ln>
        </p:spPr>
      </p:pic>
      <p:pic>
        <p:nvPicPr>
          <p:cNvPr id="2064" name="Google Shape;2064;p193"/>
          <p:cNvPicPr preferRelativeResize="0"/>
          <p:nvPr/>
        </p:nvPicPr>
        <p:blipFill>
          <a:blip r:embed="rId7">
            <a:alphaModFix/>
          </a:blip>
          <a:stretch>
            <a:fillRect/>
          </a:stretch>
        </p:blipFill>
        <p:spPr>
          <a:xfrm>
            <a:off x="311725" y="3718550"/>
            <a:ext cx="2943225" cy="390525"/>
          </a:xfrm>
          <a:prstGeom prst="rect">
            <a:avLst/>
          </a:prstGeom>
          <a:noFill/>
          <a:ln>
            <a:noFill/>
          </a:ln>
        </p:spPr>
      </p:pic>
      <p:sp>
        <p:nvSpPr>
          <p:cNvPr id="2065" name="Google Shape;2065;p193"/>
          <p:cNvSpPr txBox="1"/>
          <p:nvPr/>
        </p:nvSpPr>
        <p:spPr>
          <a:xfrm>
            <a:off x="5415450" y="2258400"/>
            <a:ext cx="30270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latin typeface="Google Sans"/>
                <a:ea typeface="Google Sans"/>
                <a:cs typeface="Google Sans"/>
                <a:sym typeface="Google Sans"/>
              </a:rPr>
              <a:t>87% of American are uniquely identified by DOB + Age + Zip Code + Gender</a:t>
            </a:r>
            <a:endParaRPr i="1" sz="2200">
              <a:latin typeface="Google Sans"/>
              <a:ea typeface="Google Sans"/>
              <a:cs typeface="Google Sans"/>
              <a:sym typeface="Google Sans"/>
            </a:endParaRPr>
          </a:p>
        </p:txBody>
      </p:sp>
      <p:sp>
        <p:nvSpPr>
          <p:cNvPr id="2066" name="Google Shape;2066;p193"/>
          <p:cNvSpPr txBox="1"/>
          <p:nvPr/>
        </p:nvSpPr>
        <p:spPr>
          <a:xfrm>
            <a:off x="5249900" y="4396075"/>
            <a:ext cx="3829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latin typeface="Google Sans"/>
                <a:ea typeface="Google Sans"/>
                <a:cs typeface="Google Sans"/>
                <a:sym typeface="Google Sans"/>
              </a:rPr>
              <a:t>Simple Demographics Often Identify People Uniquely</a:t>
            </a:r>
            <a:r>
              <a:rPr lang="en">
                <a:latin typeface="Google Sans"/>
                <a:ea typeface="Google Sans"/>
                <a:cs typeface="Google Sans"/>
                <a:sym typeface="Google Sans"/>
              </a:rPr>
              <a:t> - Sweeney 2000</a:t>
            </a:r>
            <a:endParaRPr>
              <a:latin typeface="Google Sans"/>
              <a:ea typeface="Google Sans"/>
              <a:cs typeface="Google Sans"/>
              <a:sym typeface="Google Sans"/>
            </a:endParaRPr>
          </a:p>
        </p:txBody>
      </p:sp>
      <p:pic>
        <p:nvPicPr>
          <p:cNvPr id="2067" name="Google Shape;2067;p193"/>
          <p:cNvPicPr preferRelativeResize="0"/>
          <p:nvPr/>
        </p:nvPicPr>
        <p:blipFill>
          <a:blip r:embed="rId8">
            <a:alphaModFix/>
          </a:blip>
          <a:stretch>
            <a:fillRect/>
          </a:stretch>
        </p:blipFill>
        <p:spPr>
          <a:xfrm>
            <a:off x="2404950" y="4325125"/>
            <a:ext cx="1038225" cy="419100"/>
          </a:xfrm>
          <a:prstGeom prst="rect">
            <a:avLst/>
          </a:prstGeom>
          <a:noFill/>
          <a:ln>
            <a:noFill/>
          </a:ln>
        </p:spPr>
      </p:pic>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1" name="Shape 2071"/>
        <p:cNvGrpSpPr/>
        <p:nvPr/>
      </p:nvGrpSpPr>
      <p:grpSpPr>
        <a:xfrm>
          <a:off x="0" y="0"/>
          <a:ext cx="0" cy="0"/>
          <a:chOff x="0" y="0"/>
          <a:chExt cx="0" cy="0"/>
        </a:xfrm>
      </p:grpSpPr>
      <p:sp>
        <p:nvSpPr>
          <p:cNvPr id="2072" name="Google Shape;2072;p19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Continuous and Deterministic</a:t>
            </a:r>
            <a:endParaRPr/>
          </a:p>
        </p:txBody>
      </p:sp>
      <p:pic>
        <p:nvPicPr>
          <p:cNvPr id="2073" name="Google Shape;2073;p194"/>
          <p:cNvPicPr preferRelativeResize="0"/>
          <p:nvPr/>
        </p:nvPicPr>
        <p:blipFill>
          <a:blip r:embed="rId3">
            <a:alphaModFix/>
          </a:blip>
          <a:stretch>
            <a:fillRect/>
          </a:stretch>
        </p:blipFill>
        <p:spPr>
          <a:xfrm>
            <a:off x="3978075" y="2978200"/>
            <a:ext cx="4888476" cy="552250"/>
          </a:xfrm>
          <a:prstGeom prst="rect">
            <a:avLst/>
          </a:prstGeom>
          <a:noFill/>
          <a:ln>
            <a:noFill/>
          </a:ln>
        </p:spPr>
      </p:pic>
      <p:pic>
        <p:nvPicPr>
          <p:cNvPr id="2074" name="Google Shape;2074;p194"/>
          <p:cNvPicPr preferRelativeResize="0"/>
          <p:nvPr/>
        </p:nvPicPr>
        <p:blipFill>
          <a:blip r:embed="rId4">
            <a:alphaModFix/>
          </a:blip>
          <a:stretch>
            <a:fillRect/>
          </a:stretch>
        </p:blipFill>
        <p:spPr>
          <a:xfrm>
            <a:off x="3978063" y="1938850"/>
            <a:ext cx="4622536" cy="552250"/>
          </a:xfrm>
          <a:prstGeom prst="rect">
            <a:avLst/>
          </a:prstGeom>
          <a:noFill/>
          <a:ln>
            <a:noFill/>
          </a:ln>
        </p:spPr>
      </p:pic>
      <p:sp>
        <p:nvSpPr>
          <p:cNvPr id="2075" name="Google Shape;2075;p194"/>
          <p:cNvSpPr txBox="1"/>
          <p:nvPr/>
        </p:nvSpPr>
        <p:spPr>
          <a:xfrm>
            <a:off x="251775" y="1553850"/>
            <a:ext cx="36255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For continuous random variables, invertible transformations contain infinite information.</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Deterministic =/= Invertible.</a:t>
            </a:r>
            <a:endParaRPr>
              <a:latin typeface="Google Sans"/>
              <a:ea typeface="Google Sans"/>
              <a:cs typeface="Google Sans"/>
              <a:sym typeface="Google San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9" name="Shape 2079"/>
        <p:cNvGrpSpPr/>
        <p:nvPr/>
      </p:nvGrpSpPr>
      <p:grpSpPr>
        <a:xfrm>
          <a:off x="0" y="0"/>
          <a:ext cx="0" cy="0"/>
          <a:chOff x="0" y="0"/>
          <a:chExt cx="0" cy="0"/>
        </a:xfrm>
      </p:grpSpPr>
      <p:sp>
        <p:nvSpPr>
          <p:cNvPr id="2080" name="Google Shape;2080;p19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Tubes</a:t>
            </a:r>
            <a:endParaRPr/>
          </a:p>
        </p:txBody>
      </p:sp>
      <p:sp>
        <p:nvSpPr>
          <p:cNvPr id="2081" name="Google Shape;2081;p195"/>
          <p:cNvSpPr txBox="1"/>
          <p:nvPr/>
        </p:nvSpPr>
        <p:spPr>
          <a:xfrm>
            <a:off x="251775" y="1553850"/>
            <a:ext cx="843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Joint AEP -&gt;  Mutual information is the number of "tubes" between X and Y</a:t>
            </a:r>
            <a:endParaRPr>
              <a:latin typeface="Google Sans"/>
              <a:ea typeface="Google Sans"/>
              <a:cs typeface="Google Sans"/>
              <a:sym typeface="Google Sans"/>
            </a:endParaRPr>
          </a:p>
        </p:txBody>
      </p:sp>
      <p:sp>
        <p:nvSpPr>
          <p:cNvPr id="2082" name="Google Shape;2082;p195"/>
          <p:cNvSpPr/>
          <p:nvPr/>
        </p:nvSpPr>
        <p:spPr>
          <a:xfrm>
            <a:off x="275839" y="2275015"/>
            <a:ext cx="2685400" cy="2556500"/>
          </a:xfrm>
          <a:custGeom>
            <a:rect b="b" l="l" r="r" t="t"/>
            <a:pathLst>
              <a:path extrusionOk="0" h="102260" w="107416">
                <a:moveTo>
                  <a:pt x="47667" y="9423"/>
                </a:moveTo>
                <a:cubicBezTo>
                  <a:pt x="35006" y="13116"/>
                  <a:pt x="13233" y="18871"/>
                  <a:pt x="5368" y="23523"/>
                </a:cubicBezTo>
                <a:cubicBezTo>
                  <a:pt x="-2497" y="28175"/>
                  <a:pt x="812" y="32204"/>
                  <a:pt x="476" y="37335"/>
                </a:cubicBezTo>
                <a:cubicBezTo>
                  <a:pt x="140" y="42467"/>
                  <a:pt x="-436" y="44145"/>
                  <a:pt x="3353" y="54312"/>
                </a:cubicBezTo>
                <a:cubicBezTo>
                  <a:pt x="7142" y="64479"/>
                  <a:pt x="6423" y="91863"/>
                  <a:pt x="23208" y="98337"/>
                </a:cubicBezTo>
                <a:cubicBezTo>
                  <a:pt x="39993" y="104811"/>
                  <a:pt x="92795" y="103277"/>
                  <a:pt x="104065" y="93158"/>
                </a:cubicBezTo>
                <a:cubicBezTo>
                  <a:pt x="115335" y="83039"/>
                  <a:pt x="94618" y="52921"/>
                  <a:pt x="90829" y="37622"/>
                </a:cubicBezTo>
                <a:cubicBezTo>
                  <a:pt x="87040" y="22323"/>
                  <a:pt x="88527" y="6066"/>
                  <a:pt x="81333" y="1366"/>
                </a:cubicBezTo>
                <a:cubicBezTo>
                  <a:pt x="74139" y="-3334"/>
                  <a:pt x="60328" y="5730"/>
                  <a:pt x="47667" y="9423"/>
                </a:cubicBezTo>
                <a:close/>
              </a:path>
            </a:pathLst>
          </a:custGeom>
          <a:solidFill>
            <a:srgbClr val="D2E3FC"/>
          </a:solidFill>
          <a:ln cap="flat" cmpd="sng" w="9525">
            <a:solidFill>
              <a:schemeClr val="dk2"/>
            </a:solidFill>
            <a:prstDash val="solid"/>
            <a:round/>
            <a:headEnd len="med" w="med" type="none"/>
            <a:tailEnd len="med" w="med" type="none"/>
          </a:ln>
        </p:spPr>
      </p:sp>
      <p:sp>
        <p:nvSpPr>
          <p:cNvPr id="2083" name="Google Shape;2083;p195"/>
          <p:cNvSpPr/>
          <p:nvPr/>
        </p:nvSpPr>
        <p:spPr>
          <a:xfrm>
            <a:off x="5675600" y="2501751"/>
            <a:ext cx="2201725" cy="1541950"/>
          </a:xfrm>
          <a:custGeom>
            <a:rect b="b" l="l" r="r" t="t"/>
            <a:pathLst>
              <a:path extrusionOk="0" h="61678" w="88069">
                <a:moveTo>
                  <a:pt x="41445" y="66"/>
                </a:moveTo>
                <a:cubicBezTo>
                  <a:pt x="26770" y="-462"/>
                  <a:pt x="153" y="17139"/>
                  <a:pt x="9" y="27402"/>
                </a:cubicBezTo>
                <a:cubicBezTo>
                  <a:pt x="-135" y="37665"/>
                  <a:pt x="25907" y="61117"/>
                  <a:pt x="40582" y="61645"/>
                </a:cubicBezTo>
                <a:cubicBezTo>
                  <a:pt x="55257" y="62173"/>
                  <a:pt x="87916" y="40831"/>
                  <a:pt x="88060" y="30568"/>
                </a:cubicBezTo>
                <a:cubicBezTo>
                  <a:pt x="88204" y="20305"/>
                  <a:pt x="56120" y="594"/>
                  <a:pt x="41445" y="66"/>
                </a:cubicBezTo>
                <a:close/>
              </a:path>
            </a:pathLst>
          </a:custGeom>
          <a:solidFill>
            <a:srgbClr val="FAD2CF"/>
          </a:solidFill>
          <a:ln cap="flat" cmpd="sng" w="9525">
            <a:solidFill>
              <a:schemeClr val="dk2"/>
            </a:solidFill>
            <a:prstDash val="solid"/>
            <a:round/>
            <a:headEnd len="med" w="med" type="none"/>
            <a:tailEnd len="med" w="med" type="none"/>
          </a:ln>
        </p:spPr>
      </p:sp>
      <p:sp>
        <p:nvSpPr>
          <p:cNvPr id="2084" name="Google Shape;2084;p195"/>
          <p:cNvSpPr txBox="1"/>
          <p:nvPr/>
        </p:nvSpPr>
        <p:spPr>
          <a:xfrm>
            <a:off x="453225" y="2179700"/>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X</a:t>
            </a:r>
            <a:endParaRPr sz="1600">
              <a:latin typeface="Google Sans"/>
              <a:ea typeface="Google Sans"/>
              <a:cs typeface="Google Sans"/>
              <a:sym typeface="Google Sans"/>
            </a:endParaRPr>
          </a:p>
        </p:txBody>
      </p:sp>
      <p:sp>
        <p:nvSpPr>
          <p:cNvPr id="2085" name="Google Shape;2085;p195"/>
          <p:cNvSpPr txBox="1"/>
          <p:nvPr/>
        </p:nvSpPr>
        <p:spPr>
          <a:xfrm>
            <a:off x="7475625" y="2275025"/>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Y</a:t>
            </a:r>
            <a:endParaRPr sz="1600">
              <a:latin typeface="Google Sans"/>
              <a:ea typeface="Google Sans"/>
              <a:cs typeface="Google Sans"/>
              <a:sym typeface="Google Sans"/>
            </a:endParaRPr>
          </a:p>
        </p:txBody>
      </p:sp>
      <p:sp>
        <p:nvSpPr>
          <p:cNvPr id="2086" name="Google Shape;2086;p195"/>
          <p:cNvSpPr/>
          <p:nvPr/>
        </p:nvSpPr>
        <p:spPr>
          <a:xfrm>
            <a:off x="1610935" y="2457263"/>
            <a:ext cx="678925" cy="562675"/>
          </a:xfrm>
          <a:custGeom>
            <a:rect b="b" l="l" r="r" t="t"/>
            <a:pathLst>
              <a:path extrusionOk="0" h="22507" w="27157">
                <a:moveTo>
                  <a:pt x="306" y="6737"/>
                </a:moveTo>
                <a:cubicBezTo>
                  <a:pt x="-413" y="10334"/>
                  <a:pt x="-125" y="20262"/>
                  <a:pt x="4335" y="21988"/>
                </a:cubicBezTo>
                <a:cubicBezTo>
                  <a:pt x="8795" y="23715"/>
                  <a:pt x="26348" y="20693"/>
                  <a:pt x="27067" y="17096"/>
                </a:cubicBezTo>
                <a:cubicBezTo>
                  <a:pt x="27786" y="13499"/>
                  <a:pt x="13111" y="2134"/>
                  <a:pt x="8651" y="407"/>
                </a:cubicBezTo>
                <a:cubicBezTo>
                  <a:pt x="4191" y="-1319"/>
                  <a:pt x="1025" y="3140"/>
                  <a:pt x="306" y="6737"/>
                </a:cubicBezTo>
                <a:close/>
              </a:path>
            </a:pathLst>
          </a:custGeom>
          <a:solidFill>
            <a:srgbClr val="EEEEEE"/>
          </a:solidFill>
          <a:ln cap="flat" cmpd="sng" w="9525">
            <a:solidFill>
              <a:schemeClr val="dk2"/>
            </a:solidFill>
            <a:prstDash val="solid"/>
            <a:round/>
            <a:headEnd len="med" w="med" type="none"/>
            <a:tailEnd len="med" w="med" type="none"/>
          </a:ln>
        </p:spPr>
      </p:sp>
      <p:sp>
        <p:nvSpPr>
          <p:cNvPr id="2087" name="Google Shape;2087;p195"/>
          <p:cNvSpPr/>
          <p:nvPr/>
        </p:nvSpPr>
        <p:spPr>
          <a:xfrm>
            <a:off x="723128" y="2823528"/>
            <a:ext cx="590275" cy="512500"/>
          </a:xfrm>
          <a:custGeom>
            <a:rect b="b" l="l" r="r" t="t"/>
            <a:pathLst>
              <a:path extrusionOk="0" h="20500" w="23611">
                <a:moveTo>
                  <a:pt x="16251" y="144"/>
                </a:moveTo>
                <a:cubicBezTo>
                  <a:pt x="12462" y="-1007"/>
                  <a:pt x="-965" y="9784"/>
                  <a:pt x="138" y="13093"/>
                </a:cubicBezTo>
                <a:cubicBezTo>
                  <a:pt x="1241" y="16402"/>
                  <a:pt x="20185" y="22157"/>
                  <a:pt x="22870" y="19999"/>
                </a:cubicBezTo>
                <a:cubicBezTo>
                  <a:pt x="25556" y="17841"/>
                  <a:pt x="20040" y="1295"/>
                  <a:pt x="16251" y="144"/>
                </a:cubicBezTo>
                <a:close/>
              </a:path>
            </a:pathLst>
          </a:custGeom>
          <a:solidFill>
            <a:srgbClr val="EEEEEE"/>
          </a:solidFill>
          <a:ln cap="flat" cmpd="sng" w="9525">
            <a:solidFill>
              <a:schemeClr val="dk2"/>
            </a:solidFill>
            <a:prstDash val="solid"/>
            <a:round/>
            <a:headEnd len="med" w="med" type="none"/>
            <a:tailEnd len="med" w="med" type="none"/>
          </a:ln>
        </p:spPr>
      </p:sp>
      <p:sp>
        <p:nvSpPr>
          <p:cNvPr id="2088" name="Google Shape;2088;p195"/>
          <p:cNvSpPr/>
          <p:nvPr/>
        </p:nvSpPr>
        <p:spPr>
          <a:xfrm>
            <a:off x="2014191" y="3466223"/>
            <a:ext cx="686525" cy="893300"/>
          </a:xfrm>
          <a:custGeom>
            <a:rect b="b" l="l" r="r" t="t"/>
            <a:pathLst>
              <a:path extrusionOk="0" h="35732" w="27461">
                <a:moveTo>
                  <a:pt x="6044" y="2923"/>
                </a:moveTo>
                <a:cubicBezTo>
                  <a:pt x="2591" y="7479"/>
                  <a:pt x="-2204" y="26758"/>
                  <a:pt x="1153" y="31698"/>
                </a:cubicBezTo>
                <a:cubicBezTo>
                  <a:pt x="4510" y="36638"/>
                  <a:pt x="22734" y="37117"/>
                  <a:pt x="26187" y="32561"/>
                </a:cubicBezTo>
                <a:cubicBezTo>
                  <a:pt x="29640" y="28005"/>
                  <a:pt x="25227" y="9302"/>
                  <a:pt x="21870" y="4362"/>
                </a:cubicBezTo>
                <a:cubicBezTo>
                  <a:pt x="18513" y="-578"/>
                  <a:pt x="9497" y="-1633"/>
                  <a:pt x="6044" y="2923"/>
                </a:cubicBezTo>
                <a:close/>
              </a:path>
            </a:pathLst>
          </a:custGeom>
          <a:solidFill>
            <a:srgbClr val="EEEEEE"/>
          </a:solidFill>
          <a:ln cap="flat" cmpd="sng" w="9525">
            <a:solidFill>
              <a:schemeClr val="dk2"/>
            </a:solidFill>
            <a:prstDash val="solid"/>
            <a:round/>
            <a:headEnd len="med" w="med" type="none"/>
            <a:tailEnd len="med" w="med" type="none"/>
          </a:ln>
        </p:spPr>
      </p:sp>
      <p:sp>
        <p:nvSpPr>
          <p:cNvPr id="2089" name="Google Shape;2089;p195"/>
          <p:cNvSpPr/>
          <p:nvPr/>
        </p:nvSpPr>
        <p:spPr>
          <a:xfrm>
            <a:off x="879659" y="3800601"/>
            <a:ext cx="1042500" cy="729175"/>
          </a:xfrm>
          <a:custGeom>
            <a:rect b="b" l="l" r="r" t="t"/>
            <a:pathLst>
              <a:path extrusionOk="0" h="29167" w="41700">
                <a:moveTo>
                  <a:pt x="12005" y="483"/>
                </a:moveTo>
                <a:cubicBezTo>
                  <a:pt x="5627" y="2737"/>
                  <a:pt x="-2910" y="18275"/>
                  <a:pt x="1070" y="22927"/>
                </a:cubicBezTo>
                <a:cubicBezTo>
                  <a:pt x="5051" y="27579"/>
                  <a:pt x="29510" y="30648"/>
                  <a:pt x="35888" y="28394"/>
                </a:cubicBezTo>
                <a:cubicBezTo>
                  <a:pt x="42267" y="26140"/>
                  <a:pt x="43322" y="14055"/>
                  <a:pt x="39341" y="9403"/>
                </a:cubicBezTo>
                <a:cubicBezTo>
                  <a:pt x="35361" y="4751"/>
                  <a:pt x="18384" y="-1771"/>
                  <a:pt x="12005" y="483"/>
                </a:cubicBezTo>
                <a:close/>
              </a:path>
            </a:pathLst>
          </a:custGeom>
          <a:solidFill>
            <a:srgbClr val="EEEEEE"/>
          </a:solidFill>
          <a:ln cap="flat" cmpd="sng" w="9525">
            <a:solidFill>
              <a:schemeClr val="dk2"/>
            </a:solidFill>
            <a:prstDash val="solid"/>
            <a:round/>
            <a:headEnd len="med" w="med" type="none"/>
            <a:tailEnd len="med" w="med" type="none"/>
          </a:ln>
        </p:spPr>
      </p:sp>
      <p:sp>
        <p:nvSpPr>
          <p:cNvPr id="2090" name="Google Shape;2090;p195"/>
          <p:cNvSpPr/>
          <p:nvPr/>
        </p:nvSpPr>
        <p:spPr>
          <a:xfrm>
            <a:off x="5882652" y="2870001"/>
            <a:ext cx="542750" cy="288400"/>
          </a:xfrm>
          <a:custGeom>
            <a:rect b="b" l="l" r="r" t="t"/>
            <a:pathLst>
              <a:path extrusionOk="0" h="11536" w="21710">
                <a:moveTo>
                  <a:pt x="17049" y="12"/>
                </a:moveTo>
                <a:cubicBezTo>
                  <a:pt x="13644" y="-36"/>
                  <a:pt x="-503" y="8357"/>
                  <a:pt x="72" y="10083"/>
                </a:cubicBezTo>
                <a:cubicBezTo>
                  <a:pt x="648" y="11809"/>
                  <a:pt x="17673" y="12049"/>
                  <a:pt x="20502" y="10370"/>
                </a:cubicBezTo>
                <a:cubicBezTo>
                  <a:pt x="23332" y="8692"/>
                  <a:pt x="20454" y="60"/>
                  <a:pt x="17049" y="12"/>
                </a:cubicBezTo>
                <a:close/>
              </a:path>
            </a:pathLst>
          </a:custGeom>
          <a:solidFill>
            <a:srgbClr val="EEEEEE"/>
          </a:solidFill>
          <a:ln cap="flat" cmpd="sng" w="9525">
            <a:solidFill>
              <a:schemeClr val="dk2"/>
            </a:solidFill>
            <a:prstDash val="solid"/>
            <a:round/>
            <a:headEnd len="med" w="med" type="none"/>
            <a:tailEnd len="med" w="med" type="none"/>
          </a:ln>
        </p:spPr>
      </p:sp>
      <p:sp>
        <p:nvSpPr>
          <p:cNvPr id="2091" name="Google Shape;2091;p195"/>
          <p:cNvSpPr/>
          <p:nvPr/>
        </p:nvSpPr>
        <p:spPr>
          <a:xfrm>
            <a:off x="6718439" y="2723877"/>
            <a:ext cx="541350" cy="433275"/>
          </a:xfrm>
          <a:custGeom>
            <a:rect b="b" l="l" r="r" t="t"/>
            <a:pathLst>
              <a:path extrusionOk="0" h="17331" w="21654">
                <a:moveTo>
                  <a:pt x="4047" y="102"/>
                </a:moveTo>
                <a:cubicBezTo>
                  <a:pt x="690" y="917"/>
                  <a:pt x="-1467" y="14825"/>
                  <a:pt x="1458" y="16791"/>
                </a:cubicBezTo>
                <a:cubicBezTo>
                  <a:pt x="4384" y="18757"/>
                  <a:pt x="21169" y="14681"/>
                  <a:pt x="21600" y="11899"/>
                </a:cubicBezTo>
                <a:cubicBezTo>
                  <a:pt x="22032" y="9118"/>
                  <a:pt x="7404" y="-713"/>
                  <a:pt x="4047" y="102"/>
                </a:cubicBezTo>
                <a:close/>
              </a:path>
            </a:pathLst>
          </a:custGeom>
          <a:solidFill>
            <a:srgbClr val="EEEEEE"/>
          </a:solidFill>
          <a:ln cap="flat" cmpd="sng" w="9525">
            <a:solidFill>
              <a:schemeClr val="dk2"/>
            </a:solidFill>
            <a:prstDash val="solid"/>
            <a:round/>
            <a:headEnd len="med" w="med" type="none"/>
            <a:tailEnd len="med" w="med" type="none"/>
          </a:ln>
        </p:spPr>
      </p:sp>
      <p:sp>
        <p:nvSpPr>
          <p:cNvPr id="2092" name="Google Shape;2092;p195"/>
          <p:cNvSpPr/>
          <p:nvPr/>
        </p:nvSpPr>
        <p:spPr>
          <a:xfrm>
            <a:off x="6322223" y="3385972"/>
            <a:ext cx="648925" cy="460125"/>
          </a:xfrm>
          <a:custGeom>
            <a:rect b="b" l="l" r="r" t="t"/>
            <a:pathLst>
              <a:path extrusionOk="0" h="18405" w="25957">
                <a:moveTo>
                  <a:pt x="1193" y="4407"/>
                </a:moveTo>
                <a:cubicBezTo>
                  <a:pt x="-1732" y="7093"/>
                  <a:pt x="1432" y="14766"/>
                  <a:pt x="5221" y="16780"/>
                </a:cubicBezTo>
                <a:cubicBezTo>
                  <a:pt x="9010" y="18794"/>
                  <a:pt x="21000" y="19178"/>
                  <a:pt x="23925" y="16492"/>
                </a:cubicBezTo>
                <a:cubicBezTo>
                  <a:pt x="26851" y="13806"/>
                  <a:pt x="26563" y="2680"/>
                  <a:pt x="22774" y="666"/>
                </a:cubicBezTo>
                <a:cubicBezTo>
                  <a:pt x="18985" y="-1348"/>
                  <a:pt x="4119" y="1721"/>
                  <a:pt x="1193" y="4407"/>
                </a:cubicBezTo>
                <a:close/>
              </a:path>
            </a:pathLst>
          </a:custGeom>
          <a:solidFill>
            <a:srgbClr val="EEEEEE"/>
          </a:solidFill>
          <a:ln cap="flat" cmpd="sng" w="9525">
            <a:solidFill>
              <a:schemeClr val="dk2"/>
            </a:solidFill>
            <a:prstDash val="solid"/>
            <a:round/>
            <a:headEnd len="med" w="med" type="none"/>
            <a:tailEnd len="med" w="med" type="none"/>
          </a:ln>
        </p:spPr>
      </p:sp>
      <p:sp>
        <p:nvSpPr>
          <p:cNvPr id="2093" name="Google Shape;2093;p195"/>
          <p:cNvSpPr/>
          <p:nvPr/>
        </p:nvSpPr>
        <p:spPr>
          <a:xfrm>
            <a:off x="7122002" y="3250272"/>
            <a:ext cx="526700" cy="490600"/>
          </a:xfrm>
          <a:custGeom>
            <a:rect b="b" l="l" r="r" t="t"/>
            <a:pathLst>
              <a:path extrusionOk="0" h="19624" w="21068">
                <a:moveTo>
                  <a:pt x="4595" y="2065"/>
                </a:moveTo>
                <a:cubicBezTo>
                  <a:pt x="1286" y="4943"/>
                  <a:pt x="-1591" y="19570"/>
                  <a:pt x="1142" y="19618"/>
                </a:cubicBezTo>
                <a:cubicBezTo>
                  <a:pt x="3876" y="19666"/>
                  <a:pt x="20421" y="5279"/>
                  <a:pt x="20996" y="2353"/>
                </a:cubicBezTo>
                <a:cubicBezTo>
                  <a:pt x="21572" y="-572"/>
                  <a:pt x="7904" y="-812"/>
                  <a:pt x="4595" y="2065"/>
                </a:cubicBezTo>
                <a:close/>
              </a:path>
            </a:pathLst>
          </a:custGeom>
          <a:solidFill>
            <a:srgbClr val="EEEEEE"/>
          </a:solidFill>
          <a:ln cap="flat" cmpd="sng" w="9525">
            <a:solidFill>
              <a:schemeClr val="dk2"/>
            </a:solidFill>
            <a:prstDash val="solid"/>
            <a:round/>
            <a:headEnd len="med" w="med" type="none"/>
            <a:tailEnd len="med" w="med" type="none"/>
          </a:ln>
        </p:spPr>
      </p:sp>
      <p:sp>
        <p:nvSpPr>
          <p:cNvPr id="2094" name="Google Shape;2094;p195"/>
          <p:cNvSpPr/>
          <p:nvPr/>
        </p:nvSpPr>
        <p:spPr>
          <a:xfrm>
            <a:off x="1877550" y="2197973"/>
            <a:ext cx="4337800" cy="801800"/>
          </a:xfrm>
          <a:custGeom>
            <a:rect b="b" l="l" r="r" t="t"/>
            <a:pathLst>
              <a:path extrusionOk="0" h="32072" w="173512">
                <a:moveTo>
                  <a:pt x="0" y="21713"/>
                </a:moveTo>
                <a:cubicBezTo>
                  <a:pt x="17601" y="18116"/>
                  <a:pt x="76685" y="-1594"/>
                  <a:pt x="105604" y="132"/>
                </a:cubicBezTo>
                <a:cubicBezTo>
                  <a:pt x="134523" y="1859"/>
                  <a:pt x="162194" y="26749"/>
                  <a:pt x="173512" y="32072"/>
                </a:cubicBezTo>
              </a:path>
            </a:pathLst>
          </a:custGeom>
          <a:noFill/>
          <a:ln cap="flat" cmpd="sng" w="19050">
            <a:solidFill>
              <a:schemeClr val="dk2"/>
            </a:solidFill>
            <a:prstDash val="solid"/>
            <a:round/>
            <a:headEnd len="med" w="med" type="none"/>
            <a:tailEnd len="med" w="med" type="triangle"/>
          </a:ln>
        </p:spPr>
      </p:sp>
      <p:sp>
        <p:nvSpPr>
          <p:cNvPr id="2095" name="Google Shape;2095;p195"/>
          <p:cNvSpPr/>
          <p:nvPr/>
        </p:nvSpPr>
        <p:spPr>
          <a:xfrm>
            <a:off x="1086250" y="2971000"/>
            <a:ext cx="5870075" cy="370025"/>
          </a:xfrm>
          <a:custGeom>
            <a:rect b="b" l="l" r="r" t="t"/>
            <a:pathLst>
              <a:path extrusionOk="0" h="14801" w="234803">
                <a:moveTo>
                  <a:pt x="0" y="6330"/>
                </a:moveTo>
                <a:cubicBezTo>
                  <a:pt x="20718" y="6282"/>
                  <a:pt x="92127" y="4652"/>
                  <a:pt x="124307" y="6043"/>
                </a:cubicBezTo>
                <a:cubicBezTo>
                  <a:pt x="156487" y="7434"/>
                  <a:pt x="174663" y="15682"/>
                  <a:pt x="193079" y="14675"/>
                </a:cubicBezTo>
                <a:cubicBezTo>
                  <a:pt x="211495" y="13668"/>
                  <a:pt x="227849" y="2446"/>
                  <a:pt x="234803" y="0"/>
                </a:cubicBezTo>
              </a:path>
            </a:pathLst>
          </a:custGeom>
          <a:noFill/>
          <a:ln cap="flat" cmpd="sng" w="19050">
            <a:solidFill>
              <a:schemeClr val="dk2"/>
            </a:solidFill>
            <a:prstDash val="solid"/>
            <a:round/>
            <a:headEnd len="med" w="med" type="none"/>
            <a:tailEnd len="med" w="med" type="triangle"/>
          </a:ln>
        </p:spPr>
      </p:sp>
      <p:sp>
        <p:nvSpPr>
          <p:cNvPr id="2096" name="Google Shape;2096;p195"/>
          <p:cNvSpPr/>
          <p:nvPr/>
        </p:nvSpPr>
        <p:spPr>
          <a:xfrm>
            <a:off x="2474625" y="3474550"/>
            <a:ext cx="4862950" cy="1096475"/>
          </a:xfrm>
          <a:custGeom>
            <a:rect b="b" l="l" r="r" t="t"/>
            <a:pathLst>
              <a:path extrusionOk="0" h="43859" w="194518">
                <a:moveTo>
                  <a:pt x="0" y="21294"/>
                </a:moveTo>
                <a:cubicBezTo>
                  <a:pt x="25322" y="24987"/>
                  <a:pt x="119511" y="46999"/>
                  <a:pt x="151931" y="43450"/>
                </a:cubicBezTo>
                <a:cubicBezTo>
                  <a:pt x="184351" y="39901"/>
                  <a:pt x="187420" y="7242"/>
                  <a:pt x="194518" y="0"/>
                </a:cubicBezTo>
              </a:path>
            </a:pathLst>
          </a:custGeom>
          <a:noFill/>
          <a:ln cap="flat" cmpd="sng" w="19050">
            <a:solidFill>
              <a:schemeClr val="dk2"/>
            </a:solidFill>
            <a:prstDash val="solid"/>
            <a:round/>
            <a:headEnd len="med" w="med" type="none"/>
            <a:tailEnd len="med" w="med" type="triangle"/>
          </a:ln>
        </p:spPr>
      </p:sp>
      <p:sp>
        <p:nvSpPr>
          <p:cNvPr id="2097" name="Google Shape;2097;p195"/>
          <p:cNvSpPr/>
          <p:nvPr/>
        </p:nvSpPr>
        <p:spPr>
          <a:xfrm>
            <a:off x="1539450" y="3287058"/>
            <a:ext cx="4970850" cy="964425"/>
          </a:xfrm>
          <a:custGeom>
            <a:rect b="b" l="l" r="r" t="t"/>
            <a:pathLst>
              <a:path extrusionOk="0" h="38577" w="198834">
                <a:moveTo>
                  <a:pt x="0" y="38577"/>
                </a:moveTo>
                <a:cubicBezTo>
                  <a:pt x="3933" y="32343"/>
                  <a:pt x="7481" y="5870"/>
                  <a:pt x="23595" y="1170"/>
                </a:cubicBezTo>
                <a:cubicBezTo>
                  <a:pt x="39709" y="-3530"/>
                  <a:pt x="67478" y="8172"/>
                  <a:pt x="96684" y="10378"/>
                </a:cubicBezTo>
                <a:cubicBezTo>
                  <a:pt x="125891" y="12584"/>
                  <a:pt x="181809" y="13735"/>
                  <a:pt x="198834" y="14406"/>
                </a:cubicBezTo>
              </a:path>
            </a:pathLst>
          </a:custGeom>
          <a:noFill/>
          <a:ln cap="flat" cmpd="sng" w="19050">
            <a:solidFill>
              <a:schemeClr val="dk2"/>
            </a:solidFill>
            <a:prstDash val="solid"/>
            <a:round/>
            <a:headEnd len="med" w="med" type="none"/>
            <a:tailEnd len="med" w="med" type="triangle"/>
          </a:ln>
        </p:spPr>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19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Tubes</a:t>
            </a:r>
            <a:endParaRPr/>
          </a:p>
        </p:txBody>
      </p:sp>
      <p:sp>
        <p:nvSpPr>
          <p:cNvPr id="2103" name="Google Shape;2103;p196"/>
          <p:cNvSpPr txBox="1"/>
          <p:nvPr/>
        </p:nvSpPr>
        <p:spPr>
          <a:xfrm>
            <a:off x="251775" y="1553850"/>
            <a:ext cx="843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Joint AEP -&gt;  Mutual information is the number of "tubes" between X and Y</a:t>
            </a:r>
            <a:endParaRPr>
              <a:latin typeface="Google Sans"/>
              <a:ea typeface="Google Sans"/>
              <a:cs typeface="Google Sans"/>
              <a:sym typeface="Google Sans"/>
            </a:endParaRPr>
          </a:p>
        </p:txBody>
      </p:sp>
      <p:sp>
        <p:nvSpPr>
          <p:cNvPr id="2104" name="Google Shape;2104;p196"/>
          <p:cNvSpPr/>
          <p:nvPr/>
        </p:nvSpPr>
        <p:spPr>
          <a:xfrm>
            <a:off x="275839" y="2275015"/>
            <a:ext cx="2685400" cy="2556500"/>
          </a:xfrm>
          <a:custGeom>
            <a:rect b="b" l="l" r="r" t="t"/>
            <a:pathLst>
              <a:path extrusionOk="0" h="102260" w="107416">
                <a:moveTo>
                  <a:pt x="47667" y="9423"/>
                </a:moveTo>
                <a:cubicBezTo>
                  <a:pt x="35006" y="13116"/>
                  <a:pt x="13233" y="18871"/>
                  <a:pt x="5368" y="23523"/>
                </a:cubicBezTo>
                <a:cubicBezTo>
                  <a:pt x="-2497" y="28175"/>
                  <a:pt x="812" y="32204"/>
                  <a:pt x="476" y="37335"/>
                </a:cubicBezTo>
                <a:cubicBezTo>
                  <a:pt x="140" y="42467"/>
                  <a:pt x="-436" y="44145"/>
                  <a:pt x="3353" y="54312"/>
                </a:cubicBezTo>
                <a:cubicBezTo>
                  <a:pt x="7142" y="64479"/>
                  <a:pt x="6423" y="91863"/>
                  <a:pt x="23208" y="98337"/>
                </a:cubicBezTo>
                <a:cubicBezTo>
                  <a:pt x="39993" y="104811"/>
                  <a:pt x="92795" y="103277"/>
                  <a:pt x="104065" y="93158"/>
                </a:cubicBezTo>
                <a:cubicBezTo>
                  <a:pt x="115335" y="83039"/>
                  <a:pt x="94618" y="52921"/>
                  <a:pt x="90829" y="37622"/>
                </a:cubicBezTo>
                <a:cubicBezTo>
                  <a:pt x="87040" y="22323"/>
                  <a:pt x="88527" y="6066"/>
                  <a:pt x="81333" y="1366"/>
                </a:cubicBezTo>
                <a:cubicBezTo>
                  <a:pt x="74139" y="-3334"/>
                  <a:pt x="60328" y="5730"/>
                  <a:pt x="47667" y="9423"/>
                </a:cubicBezTo>
                <a:close/>
              </a:path>
            </a:pathLst>
          </a:custGeom>
          <a:solidFill>
            <a:srgbClr val="D2E3FC"/>
          </a:solidFill>
          <a:ln cap="flat" cmpd="sng" w="9525">
            <a:solidFill>
              <a:schemeClr val="dk2"/>
            </a:solidFill>
            <a:prstDash val="solid"/>
            <a:round/>
            <a:headEnd len="med" w="med" type="none"/>
            <a:tailEnd len="med" w="med" type="none"/>
          </a:ln>
        </p:spPr>
      </p:sp>
      <p:sp>
        <p:nvSpPr>
          <p:cNvPr id="2105" name="Google Shape;2105;p196"/>
          <p:cNvSpPr/>
          <p:nvPr/>
        </p:nvSpPr>
        <p:spPr>
          <a:xfrm>
            <a:off x="5682800" y="2501751"/>
            <a:ext cx="2201725" cy="1541950"/>
          </a:xfrm>
          <a:custGeom>
            <a:rect b="b" l="l" r="r" t="t"/>
            <a:pathLst>
              <a:path extrusionOk="0" h="61678" w="88069">
                <a:moveTo>
                  <a:pt x="41445" y="66"/>
                </a:moveTo>
                <a:cubicBezTo>
                  <a:pt x="26770" y="-462"/>
                  <a:pt x="153" y="17139"/>
                  <a:pt x="9" y="27402"/>
                </a:cubicBezTo>
                <a:cubicBezTo>
                  <a:pt x="-135" y="37665"/>
                  <a:pt x="25907" y="61117"/>
                  <a:pt x="40582" y="61645"/>
                </a:cubicBezTo>
                <a:cubicBezTo>
                  <a:pt x="55257" y="62173"/>
                  <a:pt x="87916" y="40831"/>
                  <a:pt x="88060" y="30568"/>
                </a:cubicBezTo>
                <a:cubicBezTo>
                  <a:pt x="88204" y="20305"/>
                  <a:pt x="56120" y="594"/>
                  <a:pt x="41445" y="66"/>
                </a:cubicBezTo>
                <a:close/>
              </a:path>
            </a:pathLst>
          </a:custGeom>
          <a:solidFill>
            <a:srgbClr val="FAD2CF"/>
          </a:solidFill>
          <a:ln cap="flat" cmpd="sng" w="9525">
            <a:solidFill>
              <a:schemeClr val="dk2"/>
            </a:solidFill>
            <a:prstDash val="solid"/>
            <a:round/>
            <a:headEnd len="med" w="med" type="none"/>
            <a:tailEnd len="med" w="med" type="none"/>
          </a:ln>
        </p:spPr>
      </p:sp>
      <p:sp>
        <p:nvSpPr>
          <p:cNvPr id="2106" name="Google Shape;2106;p196"/>
          <p:cNvSpPr txBox="1"/>
          <p:nvPr/>
        </p:nvSpPr>
        <p:spPr>
          <a:xfrm>
            <a:off x="453225" y="2179700"/>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X</a:t>
            </a:r>
            <a:endParaRPr sz="1600">
              <a:latin typeface="Google Sans"/>
              <a:ea typeface="Google Sans"/>
              <a:cs typeface="Google Sans"/>
              <a:sym typeface="Google Sans"/>
            </a:endParaRPr>
          </a:p>
        </p:txBody>
      </p:sp>
      <p:sp>
        <p:nvSpPr>
          <p:cNvPr id="2107" name="Google Shape;2107;p196"/>
          <p:cNvSpPr txBox="1"/>
          <p:nvPr/>
        </p:nvSpPr>
        <p:spPr>
          <a:xfrm>
            <a:off x="7475625" y="2275025"/>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Y</a:t>
            </a:r>
            <a:endParaRPr sz="1600">
              <a:latin typeface="Google Sans"/>
              <a:ea typeface="Google Sans"/>
              <a:cs typeface="Google Sans"/>
              <a:sym typeface="Google Sans"/>
            </a:endParaRPr>
          </a:p>
        </p:txBody>
      </p:sp>
      <p:sp>
        <p:nvSpPr>
          <p:cNvPr id="2108" name="Google Shape;2108;p196"/>
          <p:cNvSpPr/>
          <p:nvPr/>
        </p:nvSpPr>
        <p:spPr>
          <a:xfrm>
            <a:off x="1610935" y="2457263"/>
            <a:ext cx="678925" cy="562675"/>
          </a:xfrm>
          <a:custGeom>
            <a:rect b="b" l="l" r="r" t="t"/>
            <a:pathLst>
              <a:path extrusionOk="0" h="22507" w="27157">
                <a:moveTo>
                  <a:pt x="306" y="6737"/>
                </a:moveTo>
                <a:cubicBezTo>
                  <a:pt x="-413" y="10334"/>
                  <a:pt x="-125" y="20262"/>
                  <a:pt x="4335" y="21988"/>
                </a:cubicBezTo>
                <a:cubicBezTo>
                  <a:pt x="8795" y="23715"/>
                  <a:pt x="26348" y="20693"/>
                  <a:pt x="27067" y="17096"/>
                </a:cubicBezTo>
                <a:cubicBezTo>
                  <a:pt x="27786" y="13499"/>
                  <a:pt x="13111" y="2134"/>
                  <a:pt x="8651" y="407"/>
                </a:cubicBezTo>
                <a:cubicBezTo>
                  <a:pt x="4191" y="-1319"/>
                  <a:pt x="1025" y="3140"/>
                  <a:pt x="306" y="6737"/>
                </a:cubicBezTo>
                <a:close/>
              </a:path>
            </a:pathLst>
          </a:custGeom>
          <a:solidFill>
            <a:srgbClr val="EEEEEE"/>
          </a:solidFill>
          <a:ln cap="flat" cmpd="sng" w="9525">
            <a:solidFill>
              <a:schemeClr val="dk2"/>
            </a:solidFill>
            <a:prstDash val="solid"/>
            <a:round/>
            <a:headEnd len="med" w="med" type="none"/>
            <a:tailEnd len="med" w="med" type="none"/>
          </a:ln>
        </p:spPr>
      </p:sp>
      <p:sp>
        <p:nvSpPr>
          <p:cNvPr id="2109" name="Google Shape;2109;p196"/>
          <p:cNvSpPr/>
          <p:nvPr/>
        </p:nvSpPr>
        <p:spPr>
          <a:xfrm>
            <a:off x="723128" y="2823528"/>
            <a:ext cx="590275" cy="512500"/>
          </a:xfrm>
          <a:custGeom>
            <a:rect b="b" l="l" r="r" t="t"/>
            <a:pathLst>
              <a:path extrusionOk="0" h="20500" w="23611">
                <a:moveTo>
                  <a:pt x="16251" y="144"/>
                </a:moveTo>
                <a:cubicBezTo>
                  <a:pt x="12462" y="-1007"/>
                  <a:pt x="-965" y="9784"/>
                  <a:pt x="138" y="13093"/>
                </a:cubicBezTo>
                <a:cubicBezTo>
                  <a:pt x="1241" y="16402"/>
                  <a:pt x="20185" y="22157"/>
                  <a:pt x="22870" y="19999"/>
                </a:cubicBezTo>
                <a:cubicBezTo>
                  <a:pt x="25556" y="17841"/>
                  <a:pt x="20040" y="1295"/>
                  <a:pt x="16251" y="144"/>
                </a:cubicBezTo>
                <a:close/>
              </a:path>
            </a:pathLst>
          </a:custGeom>
          <a:solidFill>
            <a:srgbClr val="EEEEEE"/>
          </a:solidFill>
          <a:ln cap="flat" cmpd="sng" w="9525">
            <a:solidFill>
              <a:schemeClr val="dk2"/>
            </a:solidFill>
            <a:prstDash val="solid"/>
            <a:round/>
            <a:headEnd len="med" w="med" type="none"/>
            <a:tailEnd len="med" w="med" type="none"/>
          </a:ln>
        </p:spPr>
      </p:sp>
      <p:sp>
        <p:nvSpPr>
          <p:cNvPr id="2110" name="Google Shape;2110;p196"/>
          <p:cNvSpPr/>
          <p:nvPr/>
        </p:nvSpPr>
        <p:spPr>
          <a:xfrm>
            <a:off x="2014191" y="3466223"/>
            <a:ext cx="686525" cy="893300"/>
          </a:xfrm>
          <a:custGeom>
            <a:rect b="b" l="l" r="r" t="t"/>
            <a:pathLst>
              <a:path extrusionOk="0" h="35732" w="27461">
                <a:moveTo>
                  <a:pt x="6044" y="2923"/>
                </a:moveTo>
                <a:cubicBezTo>
                  <a:pt x="2591" y="7479"/>
                  <a:pt x="-2204" y="26758"/>
                  <a:pt x="1153" y="31698"/>
                </a:cubicBezTo>
                <a:cubicBezTo>
                  <a:pt x="4510" y="36638"/>
                  <a:pt x="22734" y="37117"/>
                  <a:pt x="26187" y="32561"/>
                </a:cubicBezTo>
                <a:cubicBezTo>
                  <a:pt x="29640" y="28005"/>
                  <a:pt x="25227" y="9302"/>
                  <a:pt x="21870" y="4362"/>
                </a:cubicBezTo>
                <a:cubicBezTo>
                  <a:pt x="18513" y="-578"/>
                  <a:pt x="9497" y="-1633"/>
                  <a:pt x="6044" y="2923"/>
                </a:cubicBezTo>
                <a:close/>
              </a:path>
            </a:pathLst>
          </a:custGeom>
          <a:solidFill>
            <a:srgbClr val="EEEEEE"/>
          </a:solidFill>
          <a:ln cap="flat" cmpd="sng" w="9525">
            <a:solidFill>
              <a:schemeClr val="dk2"/>
            </a:solidFill>
            <a:prstDash val="solid"/>
            <a:round/>
            <a:headEnd len="med" w="med" type="none"/>
            <a:tailEnd len="med" w="med" type="none"/>
          </a:ln>
        </p:spPr>
      </p:sp>
      <p:sp>
        <p:nvSpPr>
          <p:cNvPr id="2111" name="Google Shape;2111;p196"/>
          <p:cNvSpPr/>
          <p:nvPr/>
        </p:nvSpPr>
        <p:spPr>
          <a:xfrm>
            <a:off x="879659" y="3800601"/>
            <a:ext cx="1042500" cy="729175"/>
          </a:xfrm>
          <a:custGeom>
            <a:rect b="b" l="l" r="r" t="t"/>
            <a:pathLst>
              <a:path extrusionOk="0" h="29167" w="41700">
                <a:moveTo>
                  <a:pt x="12005" y="483"/>
                </a:moveTo>
                <a:cubicBezTo>
                  <a:pt x="5627" y="2737"/>
                  <a:pt x="-2910" y="18275"/>
                  <a:pt x="1070" y="22927"/>
                </a:cubicBezTo>
                <a:cubicBezTo>
                  <a:pt x="5051" y="27579"/>
                  <a:pt x="29510" y="30648"/>
                  <a:pt x="35888" y="28394"/>
                </a:cubicBezTo>
                <a:cubicBezTo>
                  <a:pt x="42267" y="26140"/>
                  <a:pt x="43322" y="14055"/>
                  <a:pt x="39341" y="9403"/>
                </a:cubicBezTo>
                <a:cubicBezTo>
                  <a:pt x="35361" y="4751"/>
                  <a:pt x="18384" y="-1771"/>
                  <a:pt x="12005" y="483"/>
                </a:cubicBezTo>
                <a:close/>
              </a:path>
            </a:pathLst>
          </a:custGeom>
          <a:solidFill>
            <a:srgbClr val="EEEEEE"/>
          </a:solidFill>
          <a:ln cap="flat" cmpd="sng" w="9525">
            <a:solidFill>
              <a:schemeClr val="dk2"/>
            </a:solidFill>
            <a:prstDash val="solid"/>
            <a:round/>
            <a:headEnd len="med" w="med" type="none"/>
            <a:tailEnd len="med" w="med" type="none"/>
          </a:ln>
        </p:spPr>
      </p:sp>
      <p:sp>
        <p:nvSpPr>
          <p:cNvPr id="2112" name="Google Shape;2112;p196"/>
          <p:cNvSpPr/>
          <p:nvPr/>
        </p:nvSpPr>
        <p:spPr>
          <a:xfrm>
            <a:off x="5848500" y="30329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196"/>
          <p:cNvSpPr/>
          <p:nvPr/>
        </p:nvSpPr>
        <p:spPr>
          <a:xfrm>
            <a:off x="6000900" y="31853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196"/>
          <p:cNvSpPr/>
          <p:nvPr/>
        </p:nvSpPr>
        <p:spPr>
          <a:xfrm>
            <a:off x="6153300" y="33377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196"/>
          <p:cNvSpPr/>
          <p:nvPr/>
        </p:nvSpPr>
        <p:spPr>
          <a:xfrm>
            <a:off x="6305700" y="34901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196"/>
          <p:cNvSpPr/>
          <p:nvPr/>
        </p:nvSpPr>
        <p:spPr>
          <a:xfrm>
            <a:off x="6458100" y="36425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196"/>
          <p:cNvSpPr/>
          <p:nvPr/>
        </p:nvSpPr>
        <p:spPr>
          <a:xfrm>
            <a:off x="6610500" y="37949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196"/>
          <p:cNvSpPr/>
          <p:nvPr/>
        </p:nvSpPr>
        <p:spPr>
          <a:xfrm>
            <a:off x="6038100" y="29393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196"/>
          <p:cNvSpPr/>
          <p:nvPr/>
        </p:nvSpPr>
        <p:spPr>
          <a:xfrm>
            <a:off x="6578125" y="32974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196"/>
          <p:cNvSpPr/>
          <p:nvPr/>
        </p:nvSpPr>
        <p:spPr>
          <a:xfrm>
            <a:off x="6198925" y="31135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196"/>
          <p:cNvSpPr/>
          <p:nvPr/>
        </p:nvSpPr>
        <p:spPr>
          <a:xfrm>
            <a:off x="6351325" y="3265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196"/>
          <p:cNvSpPr/>
          <p:nvPr/>
        </p:nvSpPr>
        <p:spPr>
          <a:xfrm>
            <a:off x="6503725" y="34183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196"/>
          <p:cNvSpPr/>
          <p:nvPr/>
        </p:nvSpPr>
        <p:spPr>
          <a:xfrm>
            <a:off x="6656125" y="35707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196"/>
          <p:cNvSpPr/>
          <p:nvPr/>
        </p:nvSpPr>
        <p:spPr>
          <a:xfrm>
            <a:off x="6808525" y="37231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196"/>
          <p:cNvSpPr/>
          <p:nvPr/>
        </p:nvSpPr>
        <p:spPr>
          <a:xfrm>
            <a:off x="6578125" y="31135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196"/>
          <p:cNvSpPr/>
          <p:nvPr/>
        </p:nvSpPr>
        <p:spPr>
          <a:xfrm>
            <a:off x="6388525" y="3019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196"/>
          <p:cNvSpPr/>
          <p:nvPr/>
        </p:nvSpPr>
        <p:spPr>
          <a:xfrm>
            <a:off x="6804925" y="34204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196"/>
          <p:cNvSpPr/>
          <p:nvPr/>
        </p:nvSpPr>
        <p:spPr>
          <a:xfrm>
            <a:off x="6957325" y="35728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196"/>
          <p:cNvSpPr/>
          <p:nvPr/>
        </p:nvSpPr>
        <p:spPr>
          <a:xfrm>
            <a:off x="7109725" y="37252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196"/>
          <p:cNvSpPr/>
          <p:nvPr/>
        </p:nvSpPr>
        <p:spPr>
          <a:xfrm>
            <a:off x="7077350" y="32277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196"/>
          <p:cNvSpPr/>
          <p:nvPr/>
        </p:nvSpPr>
        <p:spPr>
          <a:xfrm>
            <a:off x="6850550" y="3196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196"/>
          <p:cNvSpPr/>
          <p:nvPr/>
        </p:nvSpPr>
        <p:spPr>
          <a:xfrm>
            <a:off x="7002950" y="33486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196"/>
          <p:cNvSpPr/>
          <p:nvPr/>
        </p:nvSpPr>
        <p:spPr>
          <a:xfrm>
            <a:off x="7155350" y="35010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196"/>
          <p:cNvSpPr/>
          <p:nvPr/>
        </p:nvSpPr>
        <p:spPr>
          <a:xfrm>
            <a:off x="7307750" y="36534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196"/>
          <p:cNvSpPr/>
          <p:nvPr/>
        </p:nvSpPr>
        <p:spPr>
          <a:xfrm>
            <a:off x="7077350" y="30438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196"/>
          <p:cNvSpPr/>
          <p:nvPr/>
        </p:nvSpPr>
        <p:spPr>
          <a:xfrm>
            <a:off x="6887750" y="2950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196"/>
          <p:cNvSpPr/>
          <p:nvPr/>
        </p:nvSpPr>
        <p:spPr>
          <a:xfrm>
            <a:off x="7304138" y="34204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196"/>
          <p:cNvSpPr/>
          <p:nvPr/>
        </p:nvSpPr>
        <p:spPr>
          <a:xfrm>
            <a:off x="6363913" y="2722113"/>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196"/>
          <p:cNvSpPr/>
          <p:nvPr/>
        </p:nvSpPr>
        <p:spPr>
          <a:xfrm>
            <a:off x="6516313" y="2874513"/>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196"/>
          <p:cNvSpPr/>
          <p:nvPr/>
        </p:nvSpPr>
        <p:spPr>
          <a:xfrm>
            <a:off x="7576563" y="32277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196"/>
          <p:cNvSpPr/>
          <p:nvPr/>
        </p:nvSpPr>
        <p:spPr>
          <a:xfrm>
            <a:off x="7349763" y="3196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196"/>
          <p:cNvSpPr/>
          <p:nvPr/>
        </p:nvSpPr>
        <p:spPr>
          <a:xfrm>
            <a:off x="7502163" y="33486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196"/>
          <p:cNvSpPr/>
          <p:nvPr/>
        </p:nvSpPr>
        <p:spPr>
          <a:xfrm>
            <a:off x="6561938" y="26502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196"/>
          <p:cNvSpPr/>
          <p:nvPr/>
        </p:nvSpPr>
        <p:spPr>
          <a:xfrm>
            <a:off x="6714338" y="28026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196"/>
          <p:cNvSpPr/>
          <p:nvPr/>
        </p:nvSpPr>
        <p:spPr>
          <a:xfrm>
            <a:off x="7576563" y="30438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196"/>
          <p:cNvSpPr/>
          <p:nvPr/>
        </p:nvSpPr>
        <p:spPr>
          <a:xfrm>
            <a:off x="7386963" y="2950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196"/>
          <p:cNvSpPr/>
          <p:nvPr/>
        </p:nvSpPr>
        <p:spPr>
          <a:xfrm>
            <a:off x="7208388" y="27884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196"/>
          <p:cNvSpPr/>
          <p:nvPr/>
        </p:nvSpPr>
        <p:spPr>
          <a:xfrm>
            <a:off x="6981588" y="2756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196"/>
          <p:cNvSpPr/>
          <p:nvPr/>
        </p:nvSpPr>
        <p:spPr>
          <a:xfrm>
            <a:off x="7133988" y="29093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196"/>
          <p:cNvSpPr/>
          <p:nvPr/>
        </p:nvSpPr>
        <p:spPr>
          <a:xfrm>
            <a:off x="6850538" y="26404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51" name="Google Shape;2151;p196"/>
          <p:cNvPicPr preferRelativeResize="0"/>
          <p:nvPr/>
        </p:nvPicPr>
        <p:blipFill>
          <a:blip r:embed="rId3">
            <a:alphaModFix/>
          </a:blip>
          <a:stretch>
            <a:fillRect/>
          </a:stretch>
        </p:blipFill>
        <p:spPr>
          <a:xfrm>
            <a:off x="7270546" y="1588321"/>
            <a:ext cx="1470942" cy="51250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5" name="Shape 2155"/>
        <p:cNvGrpSpPr/>
        <p:nvPr/>
      </p:nvGrpSpPr>
      <p:grpSpPr>
        <a:xfrm>
          <a:off x="0" y="0"/>
          <a:ext cx="0" cy="0"/>
          <a:chOff x="0" y="0"/>
          <a:chExt cx="0" cy="0"/>
        </a:xfrm>
      </p:grpSpPr>
      <p:sp>
        <p:nvSpPr>
          <p:cNvPr id="2156" name="Google Shape;2156;p19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Tubes</a:t>
            </a:r>
            <a:endParaRPr/>
          </a:p>
        </p:txBody>
      </p:sp>
      <p:sp>
        <p:nvSpPr>
          <p:cNvPr id="2157" name="Google Shape;2157;p197"/>
          <p:cNvSpPr txBox="1"/>
          <p:nvPr/>
        </p:nvSpPr>
        <p:spPr>
          <a:xfrm>
            <a:off x="251775" y="1553850"/>
            <a:ext cx="843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Joint AEP -&gt;  Mutual information is the number of "tubes" between X and Y</a:t>
            </a:r>
            <a:endParaRPr>
              <a:latin typeface="Google Sans"/>
              <a:ea typeface="Google Sans"/>
              <a:cs typeface="Google Sans"/>
              <a:sym typeface="Google Sans"/>
            </a:endParaRPr>
          </a:p>
        </p:txBody>
      </p:sp>
      <p:sp>
        <p:nvSpPr>
          <p:cNvPr id="2158" name="Google Shape;2158;p197"/>
          <p:cNvSpPr/>
          <p:nvPr/>
        </p:nvSpPr>
        <p:spPr>
          <a:xfrm>
            <a:off x="275839" y="2275015"/>
            <a:ext cx="2685400" cy="2556500"/>
          </a:xfrm>
          <a:custGeom>
            <a:rect b="b" l="l" r="r" t="t"/>
            <a:pathLst>
              <a:path extrusionOk="0" h="102260" w="107416">
                <a:moveTo>
                  <a:pt x="47667" y="9423"/>
                </a:moveTo>
                <a:cubicBezTo>
                  <a:pt x="35006" y="13116"/>
                  <a:pt x="13233" y="18871"/>
                  <a:pt x="5368" y="23523"/>
                </a:cubicBezTo>
                <a:cubicBezTo>
                  <a:pt x="-2497" y="28175"/>
                  <a:pt x="812" y="32204"/>
                  <a:pt x="476" y="37335"/>
                </a:cubicBezTo>
                <a:cubicBezTo>
                  <a:pt x="140" y="42467"/>
                  <a:pt x="-436" y="44145"/>
                  <a:pt x="3353" y="54312"/>
                </a:cubicBezTo>
                <a:cubicBezTo>
                  <a:pt x="7142" y="64479"/>
                  <a:pt x="6423" y="91863"/>
                  <a:pt x="23208" y="98337"/>
                </a:cubicBezTo>
                <a:cubicBezTo>
                  <a:pt x="39993" y="104811"/>
                  <a:pt x="92795" y="103277"/>
                  <a:pt x="104065" y="93158"/>
                </a:cubicBezTo>
                <a:cubicBezTo>
                  <a:pt x="115335" y="83039"/>
                  <a:pt x="94618" y="52921"/>
                  <a:pt x="90829" y="37622"/>
                </a:cubicBezTo>
                <a:cubicBezTo>
                  <a:pt x="87040" y="22323"/>
                  <a:pt x="88527" y="6066"/>
                  <a:pt x="81333" y="1366"/>
                </a:cubicBezTo>
                <a:cubicBezTo>
                  <a:pt x="74139" y="-3334"/>
                  <a:pt x="60328" y="5730"/>
                  <a:pt x="47667" y="9423"/>
                </a:cubicBezTo>
                <a:close/>
              </a:path>
            </a:pathLst>
          </a:custGeom>
          <a:solidFill>
            <a:srgbClr val="D2E3FC"/>
          </a:solidFill>
          <a:ln cap="flat" cmpd="sng" w="9525">
            <a:solidFill>
              <a:schemeClr val="dk2"/>
            </a:solidFill>
            <a:prstDash val="solid"/>
            <a:round/>
            <a:headEnd len="med" w="med" type="none"/>
            <a:tailEnd len="med" w="med" type="none"/>
          </a:ln>
        </p:spPr>
      </p:sp>
      <p:sp>
        <p:nvSpPr>
          <p:cNvPr id="2159" name="Google Shape;2159;p197"/>
          <p:cNvSpPr/>
          <p:nvPr/>
        </p:nvSpPr>
        <p:spPr>
          <a:xfrm>
            <a:off x="5682800" y="2501751"/>
            <a:ext cx="2201725" cy="1541950"/>
          </a:xfrm>
          <a:custGeom>
            <a:rect b="b" l="l" r="r" t="t"/>
            <a:pathLst>
              <a:path extrusionOk="0" h="61678" w="88069">
                <a:moveTo>
                  <a:pt x="41445" y="66"/>
                </a:moveTo>
                <a:cubicBezTo>
                  <a:pt x="26770" y="-462"/>
                  <a:pt x="153" y="17139"/>
                  <a:pt x="9" y="27402"/>
                </a:cubicBezTo>
                <a:cubicBezTo>
                  <a:pt x="-135" y="37665"/>
                  <a:pt x="25907" y="61117"/>
                  <a:pt x="40582" y="61645"/>
                </a:cubicBezTo>
                <a:cubicBezTo>
                  <a:pt x="55257" y="62173"/>
                  <a:pt x="87916" y="40831"/>
                  <a:pt x="88060" y="30568"/>
                </a:cubicBezTo>
                <a:cubicBezTo>
                  <a:pt x="88204" y="20305"/>
                  <a:pt x="56120" y="594"/>
                  <a:pt x="41445" y="66"/>
                </a:cubicBezTo>
                <a:close/>
              </a:path>
            </a:pathLst>
          </a:custGeom>
          <a:solidFill>
            <a:srgbClr val="FAD2CF"/>
          </a:solidFill>
          <a:ln cap="flat" cmpd="sng" w="9525">
            <a:solidFill>
              <a:schemeClr val="dk2"/>
            </a:solidFill>
            <a:prstDash val="solid"/>
            <a:round/>
            <a:headEnd len="med" w="med" type="none"/>
            <a:tailEnd len="med" w="med" type="none"/>
          </a:ln>
        </p:spPr>
      </p:sp>
      <p:sp>
        <p:nvSpPr>
          <p:cNvPr id="2160" name="Google Shape;2160;p197"/>
          <p:cNvSpPr txBox="1"/>
          <p:nvPr/>
        </p:nvSpPr>
        <p:spPr>
          <a:xfrm>
            <a:off x="453225" y="2179700"/>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X</a:t>
            </a:r>
            <a:endParaRPr sz="1600">
              <a:latin typeface="Google Sans"/>
              <a:ea typeface="Google Sans"/>
              <a:cs typeface="Google Sans"/>
              <a:sym typeface="Google Sans"/>
            </a:endParaRPr>
          </a:p>
        </p:txBody>
      </p:sp>
      <p:sp>
        <p:nvSpPr>
          <p:cNvPr id="2161" name="Google Shape;2161;p197"/>
          <p:cNvSpPr/>
          <p:nvPr/>
        </p:nvSpPr>
        <p:spPr>
          <a:xfrm>
            <a:off x="6322223" y="3385972"/>
            <a:ext cx="648925" cy="460125"/>
          </a:xfrm>
          <a:custGeom>
            <a:rect b="b" l="l" r="r" t="t"/>
            <a:pathLst>
              <a:path extrusionOk="0" h="18405" w="25957">
                <a:moveTo>
                  <a:pt x="1193" y="4407"/>
                </a:moveTo>
                <a:cubicBezTo>
                  <a:pt x="-1732" y="7093"/>
                  <a:pt x="1432" y="14766"/>
                  <a:pt x="5221" y="16780"/>
                </a:cubicBezTo>
                <a:cubicBezTo>
                  <a:pt x="9010" y="18794"/>
                  <a:pt x="21000" y="19178"/>
                  <a:pt x="23925" y="16492"/>
                </a:cubicBezTo>
                <a:cubicBezTo>
                  <a:pt x="26851" y="13806"/>
                  <a:pt x="26563" y="2680"/>
                  <a:pt x="22774" y="666"/>
                </a:cubicBezTo>
                <a:cubicBezTo>
                  <a:pt x="18985" y="-1348"/>
                  <a:pt x="4119" y="1721"/>
                  <a:pt x="1193" y="4407"/>
                </a:cubicBezTo>
                <a:close/>
              </a:path>
            </a:pathLst>
          </a:custGeom>
          <a:solidFill>
            <a:srgbClr val="EEEEEE"/>
          </a:solidFill>
          <a:ln cap="flat" cmpd="sng" w="9525">
            <a:solidFill>
              <a:schemeClr val="dk2"/>
            </a:solidFill>
            <a:prstDash val="solid"/>
            <a:round/>
            <a:headEnd len="med" w="med" type="none"/>
            <a:tailEnd len="med" w="med" type="none"/>
          </a:ln>
        </p:spPr>
      </p:sp>
      <p:sp>
        <p:nvSpPr>
          <p:cNvPr id="2162" name="Google Shape;2162;p197"/>
          <p:cNvSpPr txBox="1"/>
          <p:nvPr/>
        </p:nvSpPr>
        <p:spPr>
          <a:xfrm>
            <a:off x="7475625" y="2275025"/>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Y</a:t>
            </a:r>
            <a:endParaRPr sz="1600">
              <a:latin typeface="Google Sans"/>
              <a:ea typeface="Google Sans"/>
              <a:cs typeface="Google Sans"/>
              <a:sym typeface="Google Sans"/>
            </a:endParaRPr>
          </a:p>
        </p:txBody>
      </p:sp>
      <p:sp>
        <p:nvSpPr>
          <p:cNvPr id="2163" name="Google Shape;2163;p197"/>
          <p:cNvSpPr/>
          <p:nvPr/>
        </p:nvSpPr>
        <p:spPr>
          <a:xfrm>
            <a:off x="1610935" y="2457263"/>
            <a:ext cx="678925" cy="562675"/>
          </a:xfrm>
          <a:custGeom>
            <a:rect b="b" l="l" r="r" t="t"/>
            <a:pathLst>
              <a:path extrusionOk="0" h="22507" w="27157">
                <a:moveTo>
                  <a:pt x="306" y="6737"/>
                </a:moveTo>
                <a:cubicBezTo>
                  <a:pt x="-413" y="10334"/>
                  <a:pt x="-125" y="20262"/>
                  <a:pt x="4335" y="21988"/>
                </a:cubicBezTo>
                <a:cubicBezTo>
                  <a:pt x="8795" y="23715"/>
                  <a:pt x="26348" y="20693"/>
                  <a:pt x="27067" y="17096"/>
                </a:cubicBezTo>
                <a:cubicBezTo>
                  <a:pt x="27786" y="13499"/>
                  <a:pt x="13111" y="2134"/>
                  <a:pt x="8651" y="407"/>
                </a:cubicBezTo>
                <a:cubicBezTo>
                  <a:pt x="4191" y="-1319"/>
                  <a:pt x="1025" y="3140"/>
                  <a:pt x="306" y="6737"/>
                </a:cubicBezTo>
                <a:close/>
              </a:path>
            </a:pathLst>
          </a:custGeom>
          <a:solidFill>
            <a:srgbClr val="EEEEEE"/>
          </a:solidFill>
          <a:ln cap="flat" cmpd="sng" w="9525">
            <a:solidFill>
              <a:schemeClr val="dk2"/>
            </a:solidFill>
            <a:prstDash val="solid"/>
            <a:round/>
            <a:headEnd len="med" w="med" type="none"/>
            <a:tailEnd len="med" w="med" type="none"/>
          </a:ln>
        </p:spPr>
      </p:sp>
      <p:sp>
        <p:nvSpPr>
          <p:cNvPr id="2164" name="Google Shape;2164;p197"/>
          <p:cNvSpPr/>
          <p:nvPr/>
        </p:nvSpPr>
        <p:spPr>
          <a:xfrm>
            <a:off x="723128" y="2823528"/>
            <a:ext cx="590275" cy="512500"/>
          </a:xfrm>
          <a:custGeom>
            <a:rect b="b" l="l" r="r" t="t"/>
            <a:pathLst>
              <a:path extrusionOk="0" h="20500" w="23611">
                <a:moveTo>
                  <a:pt x="16251" y="144"/>
                </a:moveTo>
                <a:cubicBezTo>
                  <a:pt x="12462" y="-1007"/>
                  <a:pt x="-965" y="9784"/>
                  <a:pt x="138" y="13093"/>
                </a:cubicBezTo>
                <a:cubicBezTo>
                  <a:pt x="1241" y="16402"/>
                  <a:pt x="20185" y="22157"/>
                  <a:pt x="22870" y="19999"/>
                </a:cubicBezTo>
                <a:cubicBezTo>
                  <a:pt x="25556" y="17841"/>
                  <a:pt x="20040" y="1295"/>
                  <a:pt x="16251" y="144"/>
                </a:cubicBezTo>
                <a:close/>
              </a:path>
            </a:pathLst>
          </a:custGeom>
          <a:solidFill>
            <a:srgbClr val="EEEEEE"/>
          </a:solidFill>
          <a:ln cap="flat" cmpd="sng" w="9525">
            <a:solidFill>
              <a:schemeClr val="dk2"/>
            </a:solidFill>
            <a:prstDash val="solid"/>
            <a:round/>
            <a:headEnd len="med" w="med" type="none"/>
            <a:tailEnd len="med" w="med" type="none"/>
          </a:ln>
        </p:spPr>
      </p:sp>
      <p:sp>
        <p:nvSpPr>
          <p:cNvPr id="2165" name="Google Shape;2165;p197"/>
          <p:cNvSpPr/>
          <p:nvPr/>
        </p:nvSpPr>
        <p:spPr>
          <a:xfrm>
            <a:off x="2014191" y="3466223"/>
            <a:ext cx="686525" cy="893300"/>
          </a:xfrm>
          <a:custGeom>
            <a:rect b="b" l="l" r="r" t="t"/>
            <a:pathLst>
              <a:path extrusionOk="0" h="35732" w="27461">
                <a:moveTo>
                  <a:pt x="6044" y="2923"/>
                </a:moveTo>
                <a:cubicBezTo>
                  <a:pt x="2591" y="7479"/>
                  <a:pt x="-2204" y="26758"/>
                  <a:pt x="1153" y="31698"/>
                </a:cubicBezTo>
                <a:cubicBezTo>
                  <a:pt x="4510" y="36638"/>
                  <a:pt x="22734" y="37117"/>
                  <a:pt x="26187" y="32561"/>
                </a:cubicBezTo>
                <a:cubicBezTo>
                  <a:pt x="29640" y="28005"/>
                  <a:pt x="25227" y="9302"/>
                  <a:pt x="21870" y="4362"/>
                </a:cubicBezTo>
                <a:cubicBezTo>
                  <a:pt x="18513" y="-578"/>
                  <a:pt x="9497" y="-1633"/>
                  <a:pt x="6044" y="2923"/>
                </a:cubicBezTo>
                <a:close/>
              </a:path>
            </a:pathLst>
          </a:custGeom>
          <a:solidFill>
            <a:srgbClr val="EEEEEE"/>
          </a:solidFill>
          <a:ln cap="flat" cmpd="sng" w="9525">
            <a:solidFill>
              <a:schemeClr val="dk2"/>
            </a:solidFill>
            <a:prstDash val="solid"/>
            <a:round/>
            <a:headEnd len="med" w="med" type="none"/>
            <a:tailEnd len="med" w="med" type="none"/>
          </a:ln>
        </p:spPr>
      </p:sp>
      <p:sp>
        <p:nvSpPr>
          <p:cNvPr id="2166" name="Google Shape;2166;p197"/>
          <p:cNvSpPr/>
          <p:nvPr/>
        </p:nvSpPr>
        <p:spPr>
          <a:xfrm>
            <a:off x="879659" y="3800601"/>
            <a:ext cx="1042500" cy="729175"/>
          </a:xfrm>
          <a:custGeom>
            <a:rect b="b" l="l" r="r" t="t"/>
            <a:pathLst>
              <a:path extrusionOk="0" h="29167" w="41700">
                <a:moveTo>
                  <a:pt x="12005" y="483"/>
                </a:moveTo>
                <a:cubicBezTo>
                  <a:pt x="5627" y="2737"/>
                  <a:pt x="-2910" y="18275"/>
                  <a:pt x="1070" y="22927"/>
                </a:cubicBezTo>
                <a:cubicBezTo>
                  <a:pt x="5051" y="27579"/>
                  <a:pt x="29510" y="30648"/>
                  <a:pt x="35888" y="28394"/>
                </a:cubicBezTo>
                <a:cubicBezTo>
                  <a:pt x="42267" y="26140"/>
                  <a:pt x="43322" y="14055"/>
                  <a:pt x="39341" y="9403"/>
                </a:cubicBezTo>
                <a:cubicBezTo>
                  <a:pt x="35361" y="4751"/>
                  <a:pt x="18384" y="-1771"/>
                  <a:pt x="12005" y="483"/>
                </a:cubicBezTo>
                <a:close/>
              </a:path>
            </a:pathLst>
          </a:custGeom>
          <a:solidFill>
            <a:srgbClr val="EEEEEE"/>
          </a:solidFill>
          <a:ln cap="flat" cmpd="sng" w="9525">
            <a:solidFill>
              <a:schemeClr val="dk2"/>
            </a:solidFill>
            <a:prstDash val="solid"/>
            <a:round/>
            <a:headEnd len="med" w="med" type="none"/>
            <a:tailEnd len="med" w="med" type="none"/>
          </a:ln>
        </p:spPr>
      </p:sp>
      <p:sp>
        <p:nvSpPr>
          <p:cNvPr id="2167" name="Google Shape;2167;p197"/>
          <p:cNvSpPr/>
          <p:nvPr/>
        </p:nvSpPr>
        <p:spPr>
          <a:xfrm>
            <a:off x="5848500" y="30329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197"/>
          <p:cNvSpPr/>
          <p:nvPr/>
        </p:nvSpPr>
        <p:spPr>
          <a:xfrm>
            <a:off x="6000900" y="31853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197"/>
          <p:cNvSpPr/>
          <p:nvPr/>
        </p:nvSpPr>
        <p:spPr>
          <a:xfrm>
            <a:off x="6153300" y="33377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197"/>
          <p:cNvSpPr/>
          <p:nvPr/>
        </p:nvSpPr>
        <p:spPr>
          <a:xfrm>
            <a:off x="6354925" y="3511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197"/>
          <p:cNvSpPr/>
          <p:nvPr/>
        </p:nvSpPr>
        <p:spPr>
          <a:xfrm>
            <a:off x="6458100" y="36425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197"/>
          <p:cNvSpPr/>
          <p:nvPr/>
        </p:nvSpPr>
        <p:spPr>
          <a:xfrm>
            <a:off x="6038100" y="29393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197"/>
          <p:cNvSpPr/>
          <p:nvPr/>
        </p:nvSpPr>
        <p:spPr>
          <a:xfrm>
            <a:off x="6578125" y="32974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197"/>
          <p:cNvSpPr/>
          <p:nvPr/>
        </p:nvSpPr>
        <p:spPr>
          <a:xfrm>
            <a:off x="6198925" y="31135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197"/>
          <p:cNvSpPr/>
          <p:nvPr/>
        </p:nvSpPr>
        <p:spPr>
          <a:xfrm>
            <a:off x="6351325" y="3265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197"/>
          <p:cNvSpPr/>
          <p:nvPr/>
        </p:nvSpPr>
        <p:spPr>
          <a:xfrm>
            <a:off x="6503725" y="34183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197"/>
          <p:cNvSpPr/>
          <p:nvPr/>
        </p:nvSpPr>
        <p:spPr>
          <a:xfrm>
            <a:off x="6656125" y="35707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197"/>
          <p:cNvSpPr/>
          <p:nvPr/>
        </p:nvSpPr>
        <p:spPr>
          <a:xfrm>
            <a:off x="6808525" y="37231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197"/>
          <p:cNvSpPr/>
          <p:nvPr/>
        </p:nvSpPr>
        <p:spPr>
          <a:xfrm>
            <a:off x="6578125" y="31135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197"/>
          <p:cNvSpPr/>
          <p:nvPr/>
        </p:nvSpPr>
        <p:spPr>
          <a:xfrm>
            <a:off x="6388525" y="3019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197"/>
          <p:cNvSpPr/>
          <p:nvPr/>
        </p:nvSpPr>
        <p:spPr>
          <a:xfrm>
            <a:off x="6804925" y="34204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197"/>
          <p:cNvSpPr/>
          <p:nvPr/>
        </p:nvSpPr>
        <p:spPr>
          <a:xfrm>
            <a:off x="6957325" y="35728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197"/>
          <p:cNvSpPr/>
          <p:nvPr/>
        </p:nvSpPr>
        <p:spPr>
          <a:xfrm>
            <a:off x="7109725" y="37252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197"/>
          <p:cNvSpPr/>
          <p:nvPr/>
        </p:nvSpPr>
        <p:spPr>
          <a:xfrm>
            <a:off x="7077350" y="32277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197"/>
          <p:cNvSpPr/>
          <p:nvPr/>
        </p:nvSpPr>
        <p:spPr>
          <a:xfrm>
            <a:off x="6850550" y="3196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197"/>
          <p:cNvSpPr/>
          <p:nvPr/>
        </p:nvSpPr>
        <p:spPr>
          <a:xfrm>
            <a:off x="7002950" y="33486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197"/>
          <p:cNvSpPr/>
          <p:nvPr/>
        </p:nvSpPr>
        <p:spPr>
          <a:xfrm>
            <a:off x="7155350" y="35010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197"/>
          <p:cNvSpPr/>
          <p:nvPr/>
        </p:nvSpPr>
        <p:spPr>
          <a:xfrm>
            <a:off x="7307750" y="36534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197"/>
          <p:cNvSpPr/>
          <p:nvPr/>
        </p:nvSpPr>
        <p:spPr>
          <a:xfrm>
            <a:off x="7077350" y="30438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197"/>
          <p:cNvSpPr/>
          <p:nvPr/>
        </p:nvSpPr>
        <p:spPr>
          <a:xfrm>
            <a:off x="6887750" y="2950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197"/>
          <p:cNvSpPr/>
          <p:nvPr/>
        </p:nvSpPr>
        <p:spPr>
          <a:xfrm>
            <a:off x="7304138" y="3420475"/>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197"/>
          <p:cNvSpPr/>
          <p:nvPr/>
        </p:nvSpPr>
        <p:spPr>
          <a:xfrm>
            <a:off x="6363913" y="2722113"/>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197"/>
          <p:cNvSpPr/>
          <p:nvPr/>
        </p:nvSpPr>
        <p:spPr>
          <a:xfrm>
            <a:off x="6516313" y="2874513"/>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197"/>
          <p:cNvSpPr/>
          <p:nvPr/>
        </p:nvSpPr>
        <p:spPr>
          <a:xfrm>
            <a:off x="7576563" y="32277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197"/>
          <p:cNvSpPr/>
          <p:nvPr/>
        </p:nvSpPr>
        <p:spPr>
          <a:xfrm>
            <a:off x="7349763" y="3196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197"/>
          <p:cNvSpPr/>
          <p:nvPr/>
        </p:nvSpPr>
        <p:spPr>
          <a:xfrm>
            <a:off x="7502163" y="33486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197"/>
          <p:cNvSpPr/>
          <p:nvPr/>
        </p:nvSpPr>
        <p:spPr>
          <a:xfrm>
            <a:off x="6561938" y="26502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197"/>
          <p:cNvSpPr/>
          <p:nvPr/>
        </p:nvSpPr>
        <p:spPr>
          <a:xfrm>
            <a:off x="6714338" y="28026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197"/>
          <p:cNvSpPr/>
          <p:nvPr/>
        </p:nvSpPr>
        <p:spPr>
          <a:xfrm>
            <a:off x="7576563" y="304383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197"/>
          <p:cNvSpPr/>
          <p:nvPr/>
        </p:nvSpPr>
        <p:spPr>
          <a:xfrm>
            <a:off x="7386963" y="29502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197"/>
          <p:cNvSpPr/>
          <p:nvPr/>
        </p:nvSpPr>
        <p:spPr>
          <a:xfrm>
            <a:off x="7208388" y="2788488"/>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197"/>
          <p:cNvSpPr/>
          <p:nvPr/>
        </p:nvSpPr>
        <p:spPr>
          <a:xfrm>
            <a:off x="6981588" y="27569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197"/>
          <p:cNvSpPr/>
          <p:nvPr/>
        </p:nvSpPr>
        <p:spPr>
          <a:xfrm>
            <a:off x="7133988" y="29093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197"/>
          <p:cNvSpPr/>
          <p:nvPr/>
        </p:nvSpPr>
        <p:spPr>
          <a:xfrm>
            <a:off x="6850538" y="2640450"/>
            <a:ext cx="115200" cy="93600"/>
          </a:xfrm>
          <a:prstGeom prst="ellipse">
            <a:avLst/>
          </a:prstGeom>
          <a:solidFill>
            <a:srgbClr val="FFF2CC">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205" name="Google Shape;2205;p197"/>
          <p:cNvPicPr preferRelativeResize="0"/>
          <p:nvPr/>
        </p:nvPicPr>
        <p:blipFill>
          <a:blip r:embed="rId3">
            <a:alphaModFix/>
          </a:blip>
          <a:stretch>
            <a:fillRect/>
          </a:stretch>
        </p:blipFill>
        <p:spPr>
          <a:xfrm>
            <a:off x="6771320" y="1652470"/>
            <a:ext cx="2169161" cy="460125"/>
          </a:xfrm>
          <a:prstGeom prst="rect">
            <a:avLst/>
          </a:prstGeom>
          <a:noFill/>
          <a:ln>
            <a:noFill/>
          </a:ln>
        </p:spPr>
      </p:pic>
      <p:sp>
        <p:nvSpPr>
          <p:cNvPr id="2206" name="Google Shape;2206;p197"/>
          <p:cNvSpPr/>
          <p:nvPr/>
        </p:nvSpPr>
        <p:spPr>
          <a:xfrm>
            <a:off x="2409900" y="3805475"/>
            <a:ext cx="4251475" cy="694350"/>
          </a:xfrm>
          <a:custGeom>
            <a:rect b="b" l="l" r="r" t="t"/>
            <a:pathLst>
              <a:path extrusionOk="0" h="27774" w="170059">
                <a:moveTo>
                  <a:pt x="0" y="7194"/>
                </a:moveTo>
                <a:cubicBezTo>
                  <a:pt x="16258" y="10599"/>
                  <a:pt x="69203" y="28823"/>
                  <a:pt x="97546" y="27624"/>
                </a:cubicBezTo>
                <a:cubicBezTo>
                  <a:pt x="125889" y="26425"/>
                  <a:pt x="157974" y="4604"/>
                  <a:pt x="170059" y="0"/>
                </a:cubicBezTo>
              </a:path>
            </a:pathLst>
          </a:custGeom>
          <a:noFill/>
          <a:ln cap="flat" cmpd="sng" w="19050">
            <a:solidFill>
              <a:schemeClr val="dk2"/>
            </a:solidFill>
            <a:prstDash val="solid"/>
            <a:round/>
            <a:headEnd len="med" w="med" type="none"/>
            <a:tailEnd len="med" w="med" type="triangle"/>
          </a:ln>
        </p:spPr>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0" name="Shape 2210"/>
        <p:cNvGrpSpPr/>
        <p:nvPr/>
      </p:nvGrpSpPr>
      <p:grpSpPr>
        <a:xfrm>
          <a:off x="0" y="0"/>
          <a:ext cx="0" cy="0"/>
          <a:chOff x="0" y="0"/>
          <a:chExt cx="0" cy="0"/>
        </a:xfrm>
      </p:grpSpPr>
      <p:sp>
        <p:nvSpPr>
          <p:cNvPr id="2211" name="Google Shape;2211;p19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Number of Tubes</a:t>
            </a:r>
            <a:endParaRPr/>
          </a:p>
        </p:txBody>
      </p:sp>
      <p:sp>
        <p:nvSpPr>
          <p:cNvPr id="2212" name="Google Shape;2212;p198"/>
          <p:cNvSpPr txBox="1"/>
          <p:nvPr/>
        </p:nvSpPr>
        <p:spPr>
          <a:xfrm>
            <a:off x="251775" y="1553850"/>
            <a:ext cx="8430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Joint AEP -&gt;  Mutual information is the number of "tubes" between X and Y</a:t>
            </a:r>
            <a:endParaRPr>
              <a:latin typeface="Google Sans"/>
              <a:ea typeface="Google Sans"/>
              <a:cs typeface="Google Sans"/>
              <a:sym typeface="Google Sans"/>
            </a:endParaRPr>
          </a:p>
        </p:txBody>
      </p:sp>
      <p:sp>
        <p:nvSpPr>
          <p:cNvPr id="2213" name="Google Shape;2213;p198"/>
          <p:cNvSpPr/>
          <p:nvPr/>
        </p:nvSpPr>
        <p:spPr>
          <a:xfrm>
            <a:off x="275839" y="2275015"/>
            <a:ext cx="2685400" cy="2556500"/>
          </a:xfrm>
          <a:custGeom>
            <a:rect b="b" l="l" r="r" t="t"/>
            <a:pathLst>
              <a:path extrusionOk="0" h="102260" w="107416">
                <a:moveTo>
                  <a:pt x="47667" y="9423"/>
                </a:moveTo>
                <a:cubicBezTo>
                  <a:pt x="35006" y="13116"/>
                  <a:pt x="13233" y="18871"/>
                  <a:pt x="5368" y="23523"/>
                </a:cubicBezTo>
                <a:cubicBezTo>
                  <a:pt x="-2497" y="28175"/>
                  <a:pt x="812" y="32204"/>
                  <a:pt x="476" y="37335"/>
                </a:cubicBezTo>
                <a:cubicBezTo>
                  <a:pt x="140" y="42467"/>
                  <a:pt x="-436" y="44145"/>
                  <a:pt x="3353" y="54312"/>
                </a:cubicBezTo>
                <a:cubicBezTo>
                  <a:pt x="7142" y="64479"/>
                  <a:pt x="6423" y="91863"/>
                  <a:pt x="23208" y="98337"/>
                </a:cubicBezTo>
                <a:cubicBezTo>
                  <a:pt x="39993" y="104811"/>
                  <a:pt x="92795" y="103277"/>
                  <a:pt x="104065" y="93158"/>
                </a:cubicBezTo>
                <a:cubicBezTo>
                  <a:pt x="115335" y="83039"/>
                  <a:pt x="94618" y="52921"/>
                  <a:pt x="90829" y="37622"/>
                </a:cubicBezTo>
                <a:cubicBezTo>
                  <a:pt x="87040" y="22323"/>
                  <a:pt x="88527" y="6066"/>
                  <a:pt x="81333" y="1366"/>
                </a:cubicBezTo>
                <a:cubicBezTo>
                  <a:pt x="74139" y="-3334"/>
                  <a:pt x="60328" y="5730"/>
                  <a:pt x="47667" y="9423"/>
                </a:cubicBezTo>
                <a:close/>
              </a:path>
            </a:pathLst>
          </a:custGeom>
          <a:solidFill>
            <a:srgbClr val="D2E3FC"/>
          </a:solidFill>
          <a:ln cap="flat" cmpd="sng" w="9525">
            <a:solidFill>
              <a:schemeClr val="dk2"/>
            </a:solidFill>
            <a:prstDash val="solid"/>
            <a:round/>
            <a:headEnd len="med" w="med" type="none"/>
            <a:tailEnd len="med" w="med" type="none"/>
          </a:ln>
        </p:spPr>
      </p:sp>
      <p:sp>
        <p:nvSpPr>
          <p:cNvPr id="2214" name="Google Shape;2214;p198"/>
          <p:cNvSpPr/>
          <p:nvPr/>
        </p:nvSpPr>
        <p:spPr>
          <a:xfrm>
            <a:off x="5675600" y="2501751"/>
            <a:ext cx="2201725" cy="1541950"/>
          </a:xfrm>
          <a:custGeom>
            <a:rect b="b" l="l" r="r" t="t"/>
            <a:pathLst>
              <a:path extrusionOk="0" h="61678" w="88069">
                <a:moveTo>
                  <a:pt x="41445" y="66"/>
                </a:moveTo>
                <a:cubicBezTo>
                  <a:pt x="26770" y="-462"/>
                  <a:pt x="153" y="17139"/>
                  <a:pt x="9" y="27402"/>
                </a:cubicBezTo>
                <a:cubicBezTo>
                  <a:pt x="-135" y="37665"/>
                  <a:pt x="25907" y="61117"/>
                  <a:pt x="40582" y="61645"/>
                </a:cubicBezTo>
                <a:cubicBezTo>
                  <a:pt x="55257" y="62173"/>
                  <a:pt x="87916" y="40831"/>
                  <a:pt x="88060" y="30568"/>
                </a:cubicBezTo>
                <a:cubicBezTo>
                  <a:pt x="88204" y="20305"/>
                  <a:pt x="56120" y="594"/>
                  <a:pt x="41445" y="66"/>
                </a:cubicBezTo>
                <a:close/>
              </a:path>
            </a:pathLst>
          </a:custGeom>
          <a:solidFill>
            <a:srgbClr val="FAD2CF"/>
          </a:solidFill>
          <a:ln cap="flat" cmpd="sng" w="9525">
            <a:solidFill>
              <a:schemeClr val="dk2"/>
            </a:solidFill>
            <a:prstDash val="solid"/>
            <a:round/>
            <a:headEnd len="med" w="med" type="none"/>
            <a:tailEnd len="med" w="med" type="none"/>
          </a:ln>
        </p:spPr>
      </p:sp>
      <p:sp>
        <p:nvSpPr>
          <p:cNvPr id="2215" name="Google Shape;2215;p198"/>
          <p:cNvSpPr txBox="1"/>
          <p:nvPr/>
        </p:nvSpPr>
        <p:spPr>
          <a:xfrm>
            <a:off x="453225" y="2179700"/>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X</a:t>
            </a:r>
            <a:endParaRPr sz="1600">
              <a:latin typeface="Google Sans"/>
              <a:ea typeface="Google Sans"/>
              <a:cs typeface="Google Sans"/>
              <a:sym typeface="Google Sans"/>
            </a:endParaRPr>
          </a:p>
        </p:txBody>
      </p:sp>
      <p:sp>
        <p:nvSpPr>
          <p:cNvPr id="2216" name="Google Shape;2216;p198"/>
          <p:cNvSpPr txBox="1"/>
          <p:nvPr/>
        </p:nvSpPr>
        <p:spPr>
          <a:xfrm>
            <a:off x="7475625" y="2275025"/>
            <a:ext cx="467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latin typeface="Google Sans"/>
                <a:ea typeface="Google Sans"/>
                <a:cs typeface="Google Sans"/>
                <a:sym typeface="Google Sans"/>
              </a:rPr>
              <a:t>Y</a:t>
            </a:r>
            <a:endParaRPr sz="1600">
              <a:latin typeface="Google Sans"/>
              <a:ea typeface="Google Sans"/>
              <a:cs typeface="Google Sans"/>
              <a:sym typeface="Google Sans"/>
            </a:endParaRPr>
          </a:p>
        </p:txBody>
      </p:sp>
      <p:sp>
        <p:nvSpPr>
          <p:cNvPr id="2217" name="Google Shape;2217;p198"/>
          <p:cNvSpPr/>
          <p:nvPr/>
        </p:nvSpPr>
        <p:spPr>
          <a:xfrm>
            <a:off x="1610935" y="2457263"/>
            <a:ext cx="678925" cy="562675"/>
          </a:xfrm>
          <a:custGeom>
            <a:rect b="b" l="l" r="r" t="t"/>
            <a:pathLst>
              <a:path extrusionOk="0" h="22507" w="27157">
                <a:moveTo>
                  <a:pt x="306" y="6737"/>
                </a:moveTo>
                <a:cubicBezTo>
                  <a:pt x="-413" y="10334"/>
                  <a:pt x="-125" y="20262"/>
                  <a:pt x="4335" y="21988"/>
                </a:cubicBezTo>
                <a:cubicBezTo>
                  <a:pt x="8795" y="23715"/>
                  <a:pt x="26348" y="20693"/>
                  <a:pt x="27067" y="17096"/>
                </a:cubicBezTo>
                <a:cubicBezTo>
                  <a:pt x="27786" y="13499"/>
                  <a:pt x="13111" y="2134"/>
                  <a:pt x="8651" y="407"/>
                </a:cubicBezTo>
                <a:cubicBezTo>
                  <a:pt x="4191" y="-1319"/>
                  <a:pt x="1025" y="3140"/>
                  <a:pt x="306" y="6737"/>
                </a:cubicBezTo>
                <a:close/>
              </a:path>
            </a:pathLst>
          </a:custGeom>
          <a:solidFill>
            <a:srgbClr val="EEEEEE"/>
          </a:solidFill>
          <a:ln cap="flat" cmpd="sng" w="9525">
            <a:solidFill>
              <a:schemeClr val="dk2"/>
            </a:solidFill>
            <a:prstDash val="solid"/>
            <a:round/>
            <a:headEnd len="med" w="med" type="none"/>
            <a:tailEnd len="med" w="med" type="none"/>
          </a:ln>
        </p:spPr>
      </p:sp>
      <p:sp>
        <p:nvSpPr>
          <p:cNvPr id="2218" name="Google Shape;2218;p198"/>
          <p:cNvSpPr/>
          <p:nvPr/>
        </p:nvSpPr>
        <p:spPr>
          <a:xfrm>
            <a:off x="723128" y="2823528"/>
            <a:ext cx="590275" cy="512500"/>
          </a:xfrm>
          <a:custGeom>
            <a:rect b="b" l="l" r="r" t="t"/>
            <a:pathLst>
              <a:path extrusionOk="0" h="20500" w="23611">
                <a:moveTo>
                  <a:pt x="16251" y="144"/>
                </a:moveTo>
                <a:cubicBezTo>
                  <a:pt x="12462" y="-1007"/>
                  <a:pt x="-965" y="9784"/>
                  <a:pt x="138" y="13093"/>
                </a:cubicBezTo>
                <a:cubicBezTo>
                  <a:pt x="1241" y="16402"/>
                  <a:pt x="20185" y="22157"/>
                  <a:pt x="22870" y="19999"/>
                </a:cubicBezTo>
                <a:cubicBezTo>
                  <a:pt x="25556" y="17841"/>
                  <a:pt x="20040" y="1295"/>
                  <a:pt x="16251" y="144"/>
                </a:cubicBezTo>
                <a:close/>
              </a:path>
            </a:pathLst>
          </a:custGeom>
          <a:solidFill>
            <a:srgbClr val="EEEEEE"/>
          </a:solidFill>
          <a:ln cap="flat" cmpd="sng" w="9525">
            <a:solidFill>
              <a:schemeClr val="dk2"/>
            </a:solidFill>
            <a:prstDash val="solid"/>
            <a:round/>
            <a:headEnd len="med" w="med" type="none"/>
            <a:tailEnd len="med" w="med" type="none"/>
          </a:ln>
        </p:spPr>
      </p:sp>
      <p:sp>
        <p:nvSpPr>
          <p:cNvPr id="2219" name="Google Shape;2219;p198"/>
          <p:cNvSpPr/>
          <p:nvPr/>
        </p:nvSpPr>
        <p:spPr>
          <a:xfrm>
            <a:off x="2014191" y="3466223"/>
            <a:ext cx="686525" cy="893300"/>
          </a:xfrm>
          <a:custGeom>
            <a:rect b="b" l="l" r="r" t="t"/>
            <a:pathLst>
              <a:path extrusionOk="0" h="35732" w="27461">
                <a:moveTo>
                  <a:pt x="6044" y="2923"/>
                </a:moveTo>
                <a:cubicBezTo>
                  <a:pt x="2591" y="7479"/>
                  <a:pt x="-2204" y="26758"/>
                  <a:pt x="1153" y="31698"/>
                </a:cubicBezTo>
                <a:cubicBezTo>
                  <a:pt x="4510" y="36638"/>
                  <a:pt x="22734" y="37117"/>
                  <a:pt x="26187" y="32561"/>
                </a:cubicBezTo>
                <a:cubicBezTo>
                  <a:pt x="29640" y="28005"/>
                  <a:pt x="25227" y="9302"/>
                  <a:pt x="21870" y="4362"/>
                </a:cubicBezTo>
                <a:cubicBezTo>
                  <a:pt x="18513" y="-578"/>
                  <a:pt x="9497" y="-1633"/>
                  <a:pt x="6044" y="2923"/>
                </a:cubicBezTo>
                <a:close/>
              </a:path>
            </a:pathLst>
          </a:custGeom>
          <a:solidFill>
            <a:srgbClr val="EEEEEE"/>
          </a:solidFill>
          <a:ln cap="flat" cmpd="sng" w="9525">
            <a:solidFill>
              <a:schemeClr val="dk2"/>
            </a:solidFill>
            <a:prstDash val="solid"/>
            <a:round/>
            <a:headEnd len="med" w="med" type="none"/>
            <a:tailEnd len="med" w="med" type="none"/>
          </a:ln>
        </p:spPr>
      </p:sp>
      <p:sp>
        <p:nvSpPr>
          <p:cNvPr id="2220" name="Google Shape;2220;p198"/>
          <p:cNvSpPr/>
          <p:nvPr/>
        </p:nvSpPr>
        <p:spPr>
          <a:xfrm>
            <a:off x="879659" y="3800601"/>
            <a:ext cx="1042500" cy="729175"/>
          </a:xfrm>
          <a:custGeom>
            <a:rect b="b" l="l" r="r" t="t"/>
            <a:pathLst>
              <a:path extrusionOk="0" h="29167" w="41700">
                <a:moveTo>
                  <a:pt x="12005" y="483"/>
                </a:moveTo>
                <a:cubicBezTo>
                  <a:pt x="5627" y="2737"/>
                  <a:pt x="-2910" y="18275"/>
                  <a:pt x="1070" y="22927"/>
                </a:cubicBezTo>
                <a:cubicBezTo>
                  <a:pt x="5051" y="27579"/>
                  <a:pt x="29510" y="30648"/>
                  <a:pt x="35888" y="28394"/>
                </a:cubicBezTo>
                <a:cubicBezTo>
                  <a:pt x="42267" y="26140"/>
                  <a:pt x="43322" y="14055"/>
                  <a:pt x="39341" y="9403"/>
                </a:cubicBezTo>
                <a:cubicBezTo>
                  <a:pt x="35361" y="4751"/>
                  <a:pt x="18384" y="-1771"/>
                  <a:pt x="12005" y="483"/>
                </a:cubicBezTo>
                <a:close/>
              </a:path>
            </a:pathLst>
          </a:custGeom>
          <a:solidFill>
            <a:srgbClr val="EEEEEE"/>
          </a:solidFill>
          <a:ln cap="flat" cmpd="sng" w="9525">
            <a:solidFill>
              <a:schemeClr val="dk2"/>
            </a:solidFill>
            <a:prstDash val="solid"/>
            <a:round/>
            <a:headEnd len="med" w="med" type="none"/>
            <a:tailEnd len="med" w="med" type="none"/>
          </a:ln>
        </p:spPr>
      </p:sp>
      <p:sp>
        <p:nvSpPr>
          <p:cNvPr id="2221" name="Google Shape;2221;p198"/>
          <p:cNvSpPr/>
          <p:nvPr/>
        </p:nvSpPr>
        <p:spPr>
          <a:xfrm>
            <a:off x="5882652" y="2870001"/>
            <a:ext cx="542750" cy="288400"/>
          </a:xfrm>
          <a:custGeom>
            <a:rect b="b" l="l" r="r" t="t"/>
            <a:pathLst>
              <a:path extrusionOk="0" h="11536" w="21710">
                <a:moveTo>
                  <a:pt x="17049" y="12"/>
                </a:moveTo>
                <a:cubicBezTo>
                  <a:pt x="13644" y="-36"/>
                  <a:pt x="-503" y="8357"/>
                  <a:pt x="72" y="10083"/>
                </a:cubicBezTo>
                <a:cubicBezTo>
                  <a:pt x="648" y="11809"/>
                  <a:pt x="17673" y="12049"/>
                  <a:pt x="20502" y="10370"/>
                </a:cubicBezTo>
                <a:cubicBezTo>
                  <a:pt x="23332" y="8692"/>
                  <a:pt x="20454" y="60"/>
                  <a:pt x="17049" y="12"/>
                </a:cubicBezTo>
                <a:close/>
              </a:path>
            </a:pathLst>
          </a:custGeom>
          <a:solidFill>
            <a:srgbClr val="EEEEEE"/>
          </a:solidFill>
          <a:ln cap="flat" cmpd="sng" w="9525">
            <a:solidFill>
              <a:schemeClr val="dk2"/>
            </a:solidFill>
            <a:prstDash val="solid"/>
            <a:round/>
            <a:headEnd len="med" w="med" type="none"/>
            <a:tailEnd len="med" w="med" type="none"/>
          </a:ln>
        </p:spPr>
      </p:sp>
      <p:sp>
        <p:nvSpPr>
          <p:cNvPr id="2222" name="Google Shape;2222;p198"/>
          <p:cNvSpPr/>
          <p:nvPr/>
        </p:nvSpPr>
        <p:spPr>
          <a:xfrm>
            <a:off x="6718439" y="2723877"/>
            <a:ext cx="541350" cy="433275"/>
          </a:xfrm>
          <a:custGeom>
            <a:rect b="b" l="l" r="r" t="t"/>
            <a:pathLst>
              <a:path extrusionOk="0" h="17331" w="21654">
                <a:moveTo>
                  <a:pt x="4047" y="102"/>
                </a:moveTo>
                <a:cubicBezTo>
                  <a:pt x="690" y="917"/>
                  <a:pt x="-1467" y="14825"/>
                  <a:pt x="1458" y="16791"/>
                </a:cubicBezTo>
                <a:cubicBezTo>
                  <a:pt x="4384" y="18757"/>
                  <a:pt x="21169" y="14681"/>
                  <a:pt x="21600" y="11899"/>
                </a:cubicBezTo>
                <a:cubicBezTo>
                  <a:pt x="22032" y="9118"/>
                  <a:pt x="7404" y="-713"/>
                  <a:pt x="4047" y="102"/>
                </a:cubicBezTo>
                <a:close/>
              </a:path>
            </a:pathLst>
          </a:custGeom>
          <a:solidFill>
            <a:srgbClr val="EEEEEE"/>
          </a:solidFill>
          <a:ln cap="flat" cmpd="sng" w="9525">
            <a:solidFill>
              <a:schemeClr val="dk2"/>
            </a:solidFill>
            <a:prstDash val="solid"/>
            <a:round/>
            <a:headEnd len="med" w="med" type="none"/>
            <a:tailEnd len="med" w="med" type="none"/>
          </a:ln>
        </p:spPr>
      </p:sp>
      <p:sp>
        <p:nvSpPr>
          <p:cNvPr id="2223" name="Google Shape;2223;p198"/>
          <p:cNvSpPr/>
          <p:nvPr/>
        </p:nvSpPr>
        <p:spPr>
          <a:xfrm>
            <a:off x="6322223" y="3385972"/>
            <a:ext cx="648925" cy="460125"/>
          </a:xfrm>
          <a:custGeom>
            <a:rect b="b" l="l" r="r" t="t"/>
            <a:pathLst>
              <a:path extrusionOk="0" h="18405" w="25957">
                <a:moveTo>
                  <a:pt x="1193" y="4407"/>
                </a:moveTo>
                <a:cubicBezTo>
                  <a:pt x="-1732" y="7093"/>
                  <a:pt x="1432" y="14766"/>
                  <a:pt x="5221" y="16780"/>
                </a:cubicBezTo>
                <a:cubicBezTo>
                  <a:pt x="9010" y="18794"/>
                  <a:pt x="21000" y="19178"/>
                  <a:pt x="23925" y="16492"/>
                </a:cubicBezTo>
                <a:cubicBezTo>
                  <a:pt x="26851" y="13806"/>
                  <a:pt x="26563" y="2680"/>
                  <a:pt x="22774" y="666"/>
                </a:cubicBezTo>
                <a:cubicBezTo>
                  <a:pt x="18985" y="-1348"/>
                  <a:pt x="4119" y="1721"/>
                  <a:pt x="1193" y="4407"/>
                </a:cubicBezTo>
                <a:close/>
              </a:path>
            </a:pathLst>
          </a:custGeom>
          <a:solidFill>
            <a:srgbClr val="EEEEEE"/>
          </a:solidFill>
          <a:ln cap="flat" cmpd="sng" w="9525">
            <a:solidFill>
              <a:schemeClr val="dk2"/>
            </a:solidFill>
            <a:prstDash val="solid"/>
            <a:round/>
            <a:headEnd len="med" w="med" type="none"/>
            <a:tailEnd len="med" w="med" type="none"/>
          </a:ln>
        </p:spPr>
      </p:sp>
      <p:sp>
        <p:nvSpPr>
          <p:cNvPr id="2224" name="Google Shape;2224;p198"/>
          <p:cNvSpPr/>
          <p:nvPr/>
        </p:nvSpPr>
        <p:spPr>
          <a:xfrm>
            <a:off x="7122002" y="3250272"/>
            <a:ext cx="526700" cy="490600"/>
          </a:xfrm>
          <a:custGeom>
            <a:rect b="b" l="l" r="r" t="t"/>
            <a:pathLst>
              <a:path extrusionOk="0" h="19624" w="21068">
                <a:moveTo>
                  <a:pt x="4595" y="2065"/>
                </a:moveTo>
                <a:cubicBezTo>
                  <a:pt x="1286" y="4943"/>
                  <a:pt x="-1591" y="19570"/>
                  <a:pt x="1142" y="19618"/>
                </a:cubicBezTo>
                <a:cubicBezTo>
                  <a:pt x="3876" y="19666"/>
                  <a:pt x="20421" y="5279"/>
                  <a:pt x="20996" y="2353"/>
                </a:cubicBezTo>
                <a:cubicBezTo>
                  <a:pt x="21572" y="-572"/>
                  <a:pt x="7904" y="-812"/>
                  <a:pt x="4595" y="2065"/>
                </a:cubicBezTo>
                <a:close/>
              </a:path>
            </a:pathLst>
          </a:custGeom>
          <a:solidFill>
            <a:srgbClr val="EEEEEE"/>
          </a:solidFill>
          <a:ln cap="flat" cmpd="sng" w="9525">
            <a:solidFill>
              <a:schemeClr val="dk2"/>
            </a:solidFill>
            <a:prstDash val="solid"/>
            <a:round/>
            <a:headEnd len="med" w="med" type="none"/>
            <a:tailEnd len="med" w="med" type="none"/>
          </a:ln>
        </p:spPr>
      </p:sp>
      <p:sp>
        <p:nvSpPr>
          <p:cNvPr id="2225" name="Google Shape;2225;p198"/>
          <p:cNvSpPr/>
          <p:nvPr/>
        </p:nvSpPr>
        <p:spPr>
          <a:xfrm>
            <a:off x="1877550" y="2197973"/>
            <a:ext cx="4337800" cy="801800"/>
          </a:xfrm>
          <a:custGeom>
            <a:rect b="b" l="l" r="r" t="t"/>
            <a:pathLst>
              <a:path extrusionOk="0" h="32072" w="173512">
                <a:moveTo>
                  <a:pt x="0" y="21713"/>
                </a:moveTo>
                <a:cubicBezTo>
                  <a:pt x="17601" y="18116"/>
                  <a:pt x="76685" y="-1594"/>
                  <a:pt x="105604" y="132"/>
                </a:cubicBezTo>
                <a:cubicBezTo>
                  <a:pt x="134523" y="1859"/>
                  <a:pt x="162194" y="26749"/>
                  <a:pt x="173512" y="32072"/>
                </a:cubicBezTo>
              </a:path>
            </a:pathLst>
          </a:custGeom>
          <a:noFill/>
          <a:ln cap="flat" cmpd="sng" w="19050">
            <a:solidFill>
              <a:schemeClr val="dk2"/>
            </a:solidFill>
            <a:prstDash val="solid"/>
            <a:round/>
            <a:headEnd len="med" w="med" type="none"/>
            <a:tailEnd len="med" w="med" type="triangle"/>
          </a:ln>
        </p:spPr>
      </p:sp>
      <p:sp>
        <p:nvSpPr>
          <p:cNvPr id="2226" name="Google Shape;2226;p198"/>
          <p:cNvSpPr/>
          <p:nvPr/>
        </p:nvSpPr>
        <p:spPr>
          <a:xfrm>
            <a:off x="1086250" y="2971000"/>
            <a:ext cx="5870075" cy="370025"/>
          </a:xfrm>
          <a:custGeom>
            <a:rect b="b" l="l" r="r" t="t"/>
            <a:pathLst>
              <a:path extrusionOk="0" h="14801" w="234803">
                <a:moveTo>
                  <a:pt x="0" y="6330"/>
                </a:moveTo>
                <a:cubicBezTo>
                  <a:pt x="20718" y="6282"/>
                  <a:pt x="92127" y="4652"/>
                  <a:pt x="124307" y="6043"/>
                </a:cubicBezTo>
                <a:cubicBezTo>
                  <a:pt x="156487" y="7434"/>
                  <a:pt x="174663" y="15682"/>
                  <a:pt x="193079" y="14675"/>
                </a:cubicBezTo>
                <a:cubicBezTo>
                  <a:pt x="211495" y="13668"/>
                  <a:pt x="227849" y="2446"/>
                  <a:pt x="234803" y="0"/>
                </a:cubicBezTo>
              </a:path>
            </a:pathLst>
          </a:custGeom>
          <a:noFill/>
          <a:ln cap="flat" cmpd="sng" w="19050">
            <a:solidFill>
              <a:schemeClr val="dk2"/>
            </a:solidFill>
            <a:prstDash val="solid"/>
            <a:round/>
            <a:headEnd len="med" w="med" type="none"/>
            <a:tailEnd len="med" w="med" type="triangle"/>
          </a:ln>
        </p:spPr>
      </p:sp>
      <p:sp>
        <p:nvSpPr>
          <p:cNvPr id="2227" name="Google Shape;2227;p198"/>
          <p:cNvSpPr/>
          <p:nvPr/>
        </p:nvSpPr>
        <p:spPr>
          <a:xfrm>
            <a:off x="2474625" y="3474550"/>
            <a:ext cx="4862950" cy="1096475"/>
          </a:xfrm>
          <a:custGeom>
            <a:rect b="b" l="l" r="r" t="t"/>
            <a:pathLst>
              <a:path extrusionOk="0" h="43859" w="194518">
                <a:moveTo>
                  <a:pt x="0" y="21294"/>
                </a:moveTo>
                <a:cubicBezTo>
                  <a:pt x="25322" y="24987"/>
                  <a:pt x="119511" y="46999"/>
                  <a:pt x="151931" y="43450"/>
                </a:cubicBezTo>
                <a:cubicBezTo>
                  <a:pt x="184351" y="39901"/>
                  <a:pt x="187420" y="7242"/>
                  <a:pt x="194518" y="0"/>
                </a:cubicBezTo>
              </a:path>
            </a:pathLst>
          </a:custGeom>
          <a:noFill/>
          <a:ln cap="flat" cmpd="sng" w="19050">
            <a:solidFill>
              <a:schemeClr val="dk2"/>
            </a:solidFill>
            <a:prstDash val="solid"/>
            <a:round/>
            <a:headEnd len="med" w="med" type="none"/>
            <a:tailEnd len="med" w="med" type="triangle"/>
          </a:ln>
        </p:spPr>
      </p:sp>
      <p:sp>
        <p:nvSpPr>
          <p:cNvPr id="2228" name="Google Shape;2228;p198"/>
          <p:cNvSpPr/>
          <p:nvPr/>
        </p:nvSpPr>
        <p:spPr>
          <a:xfrm>
            <a:off x="1539450" y="3287058"/>
            <a:ext cx="4970850" cy="964425"/>
          </a:xfrm>
          <a:custGeom>
            <a:rect b="b" l="l" r="r" t="t"/>
            <a:pathLst>
              <a:path extrusionOk="0" h="38577" w="198834">
                <a:moveTo>
                  <a:pt x="0" y="38577"/>
                </a:moveTo>
                <a:cubicBezTo>
                  <a:pt x="3933" y="32343"/>
                  <a:pt x="7481" y="5870"/>
                  <a:pt x="23595" y="1170"/>
                </a:cubicBezTo>
                <a:cubicBezTo>
                  <a:pt x="39709" y="-3530"/>
                  <a:pt x="67478" y="8172"/>
                  <a:pt x="96684" y="10378"/>
                </a:cubicBezTo>
                <a:cubicBezTo>
                  <a:pt x="125891" y="12584"/>
                  <a:pt x="181809" y="13735"/>
                  <a:pt x="198834" y="14406"/>
                </a:cubicBezTo>
              </a:path>
            </a:pathLst>
          </a:custGeom>
          <a:noFill/>
          <a:ln cap="flat" cmpd="sng" w="19050">
            <a:solidFill>
              <a:schemeClr val="dk2"/>
            </a:solidFill>
            <a:prstDash val="solid"/>
            <a:round/>
            <a:headEnd len="med" w="med" type="none"/>
            <a:tailEnd len="med" w="med" type="triangle"/>
          </a:ln>
        </p:spPr>
      </p:sp>
      <p:pic>
        <p:nvPicPr>
          <p:cNvPr id="2229" name="Google Shape;2229;p198"/>
          <p:cNvPicPr preferRelativeResize="0"/>
          <p:nvPr/>
        </p:nvPicPr>
        <p:blipFill>
          <a:blip r:embed="rId3">
            <a:alphaModFix/>
          </a:blip>
          <a:stretch>
            <a:fillRect/>
          </a:stretch>
        </p:blipFill>
        <p:spPr>
          <a:xfrm>
            <a:off x="4989900" y="4672226"/>
            <a:ext cx="4154089" cy="433275"/>
          </a:xfrm>
          <a:prstGeom prst="rect">
            <a:avLst/>
          </a:prstGeom>
          <a:noFill/>
          <a:ln>
            <a:noFill/>
          </a:ln>
        </p:spPr>
      </p:pic>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3" name="Shape 2233"/>
        <p:cNvGrpSpPr/>
        <p:nvPr/>
      </p:nvGrpSpPr>
      <p:grpSpPr>
        <a:xfrm>
          <a:off x="0" y="0"/>
          <a:ext cx="0" cy="0"/>
          <a:chOff x="0" y="0"/>
          <a:chExt cx="0" cy="0"/>
        </a:xfrm>
      </p:grpSpPr>
      <p:sp>
        <p:nvSpPr>
          <p:cNvPr id="2234" name="Google Shape;2234;p199"/>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Processing only destroys information</a:t>
            </a:r>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p20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pic>
        <p:nvPicPr>
          <p:cNvPr id="2240" name="Google Shape;2240;p200"/>
          <p:cNvPicPr preferRelativeResize="0"/>
          <p:nvPr/>
        </p:nvPicPr>
        <p:blipFill>
          <a:blip r:embed="rId3">
            <a:alphaModFix/>
          </a:blip>
          <a:stretch>
            <a:fillRect/>
          </a:stretch>
        </p:blipFill>
        <p:spPr>
          <a:xfrm>
            <a:off x="3514725" y="1748175"/>
            <a:ext cx="2114550" cy="266700"/>
          </a:xfrm>
          <a:prstGeom prst="rect">
            <a:avLst/>
          </a:prstGeom>
          <a:noFill/>
          <a:ln>
            <a:noFill/>
          </a:ln>
        </p:spPr>
      </p:pic>
      <p:sp>
        <p:nvSpPr>
          <p:cNvPr id="2241" name="Google Shape;2241;p200"/>
          <p:cNvSpPr txBox="1"/>
          <p:nvPr/>
        </p:nvSpPr>
        <p:spPr>
          <a:xfrm>
            <a:off x="441725" y="3612225"/>
            <a:ext cx="8390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200">
                <a:latin typeface="Google Sans"/>
                <a:ea typeface="Google Sans"/>
                <a:cs typeface="Google Sans"/>
                <a:sym typeface="Google Sans"/>
              </a:rPr>
              <a:t>Information cannot be created, only destroyed.</a:t>
            </a:r>
            <a:endParaRPr sz="2200">
              <a:latin typeface="Google Sans"/>
              <a:ea typeface="Google Sans"/>
              <a:cs typeface="Google Sans"/>
              <a:sym typeface="Google Sans"/>
            </a:endParaRPr>
          </a:p>
        </p:txBody>
      </p:sp>
      <p:pic>
        <p:nvPicPr>
          <p:cNvPr id="2242" name="Google Shape;2242;p200"/>
          <p:cNvPicPr preferRelativeResize="0"/>
          <p:nvPr/>
        </p:nvPicPr>
        <p:blipFill>
          <a:blip r:embed="rId4">
            <a:alphaModFix/>
          </a:blip>
          <a:stretch>
            <a:fillRect/>
          </a:stretch>
        </p:blipFill>
        <p:spPr>
          <a:xfrm>
            <a:off x="2824713" y="2582730"/>
            <a:ext cx="3624725" cy="461639"/>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20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pic>
        <p:nvPicPr>
          <p:cNvPr id="2248" name="Google Shape;2248;p201"/>
          <p:cNvPicPr preferRelativeResize="0"/>
          <p:nvPr/>
        </p:nvPicPr>
        <p:blipFill>
          <a:blip r:embed="rId3">
            <a:alphaModFix/>
          </a:blip>
          <a:stretch>
            <a:fillRect/>
          </a:stretch>
        </p:blipFill>
        <p:spPr>
          <a:xfrm>
            <a:off x="1008000" y="1677225"/>
            <a:ext cx="2114550" cy="266700"/>
          </a:xfrm>
          <a:prstGeom prst="rect">
            <a:avLst/>
          </a:prstGeom>
          <a:noFill/>
          <a:ln>
            <a:noFill/>
          </a:ln>
        </p:spPr>
      </p:pic>
      <p:grpSp>
        <p:nvGrpSpPr>
          <p:cNvPr id="2249" name="Google Shape;2249;p201"/>
          <p:cNvGrpSpPr/>
          <p:nvPr/>
        </p:nvGrpSpPr>
        <p:grpSpPr>
          <a:xfrm>
            <a:off x="4585608" y="1474711"/>
            <a:ext cx="3938528" cy="2341173"/>
            <a:chOff x="2179228" y="1609800"/>
            <a:chExt cx="5102381" cy="3033000"/>
          </a:xfrm>
        </p:grpSpPr>
        <p:sp>
          <p:nvSpPr>
            <p:cNvPr id="2250" name="Google Shape;2250;p201"/>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201"/>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2" name="Google Shape;2252;p201"/>
          <p:cNvSpPr/>
          <p:nvPr/>
        </p:nvSpPr>
        <p:spPr>
          <a:xfrm>
            <a:off x="5384263" y="2642025"/>
            <a:ext cx="2341200" cy="23412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201"/>
          <p:cNvSpPr txBox="1"/>
          <p:nvPr/>
        </p:nvSpPr>
        <p:spPr>
          <a:xfrm>
            <a:off x="4162100" y="1560775"/>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X</a:t>
            </a:r>
            <a:endParaRPr sz="3000">
              <a:latin typeface="Google Sans"/>
              <a:ea typeface="Google Sans"/>
              <a:cs typeface="Google Sans"/>
              <a:sym typeface="Google Sans"/>
            </a:endParaRPr>
          </a:p>
        </p:txBody>
      </p:sp>
      <p:sp>
        <p:nvSpPr>
          <p:cNvPr id="2254" name="Google Shape;2254;p201"/>
          <p:cNvSpPr txBox="1"/>
          <p:nvPr/>
        </p:nvSpPr>
        <p:spPr>
          <a:xfrm>
            <a:off x="8311050" y="1487325"/>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Y</a:t>
            </a:r>
            <a:endParaRPr sz="3000">
              <a:latin typeface="Google Sans"/>
              <a:ea typeface="Google Sans"/>
              <a:cs typeface="Google Sans"/>
              <a:sym typeface="Google Sans"/>
            </a:endParaRPr>
          </a:p>
        </p:txBody>
      </p:sp>
      <p:sp>
        <p:nvSpPr>
          <p:cNvPr id="2255" name="Google Shape;2255;p201"/>
          <p:cNvSpPr txBox="1"/>
          <p:nvPr/>
        </p:nvSpPr>
        <p:spPr>
          <a:xfrm>
            <a:off x="7725475" y="4442050"/>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Z</a:t>
            </a:r>
            <a:endParaRPr sz="3000">
              <a:latin typeface="Google Sans"/>
              <a:ea typeface="Google Sans"/>
              <a:cs typeface="Google Sans"/>
              <a:sym typeface="Google Sans"/>
            </a:endParaRPr>
          </a:p>
        </p:txBody>
      </p:sp>
      <p:sp>
        <p:nvSpPr>
          <p:cNvPr id="2256" name="Google Shape;2256;p201"/>
          <p:cNvSpPr txBox="1"/>
          <p:nvPr/>
        </p:nvSpPr>
        <p:spPr>
          <a:xfrm>
            <a:off x="6213350" y="2207275"/>
            <a:ext cx="886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Roboto"/>
                <a:ea typeface="Roboto"/>
                <a:cs typeface="Roboto"/>
                <a:sym typeface="Roboto"/>
              </a:rPr>
              <a:t>I(X;Y|Z)</a:t>
            </a:r>
            <a:endParaRPr>
              <a:latin typeface="Roboto"/>
              <a:ea typeface="Roboto"/>
              <a:cs typeface="Roboto"/>
              <a:sym typeface="Roboto"/>
            </a:endParaRPr>
          </a:p>
        </p:txBody>
      </p:sp>
      <p:pic>
        <p:nvPicPr>
          <p:cNvPr id="2257" name="Google Shape;2257;p201"/>
          <p:cNvPicPr preferRelativeResize="0"/>
          <p:nvPr/>
        </p:nvPicPr>
        <p:blipFill>
          <a:blip r:embed="rId4">
            <a:alphaModFix/>
          </a:blip>
          <a:stretch>
            <a:fillRect/>
          </a:stretch>
        </p:blipFill>
        <p:spPr>
          <a:xfrm>
            <a:off x="537375" y="4064755"/>
            <a:ext cx="3624725" cy="461639"/>
          </a:xfrm>
          <a:prstGeom prst="rect">
            <a:avLst/>
          </a:prstGeom>
          <a:noFill/>
          <a:ln>
            <a:noFill/>
          </a:ln>
        </p:spPr>
      </p:pic>
      <p:pic>
        <p:nvPicPr>
          <p:cNvPr id="2258" name="Google Shape;2258;p201"/>
          <p:cNvPicPr preferRelativeResize="0"/>
          <p:nvPr/>
        </p:nvPicPr>
        <p:blipFill>
          <a:blip r:embed="rId5">
            <a:alphaModFix/>
          </a:blip>
          <a:stretch>
            <a:fillRect/>
          </a:stretch>
        </p:blipFill>
        <p:spPr>
          <a:xfrm>
            <a:off x="771050" y="2363858"/>
            <a:ext cx="2826894" cy="461650"/>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20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pic>
        <p:nvPicPr>
          <p:cNvPr id="2264" name="Google Shape;2264;p202"/>
          <p:cNvPicPr preferRelativeResize="0"/>
          <p:nvPr/>
        </p:nvPicPr>
        <p:blipFill>
          <a:blip r:embed="rId3">
            <a:alphaModFix/>
          </a:blip>
          <a:stretch>
            <a:fillRect/>
          </a:stretch>
        </p:blipFill>
        <p:spPr>
          <a:xfrm>
            <a:off x="1008000" y="1677225"/>
            <a:ext cx="2114550" cy="266700"/>
          </a:xfrm>
          <a:prstGeom prst="rect">
            <a:avLst/>
          </a:prstGeom>
          <a:noFill/>
          <a:ln>
            <a:noFill/>
          </a:ln>
        </p:spPr>
      </p:pic>
      <p:grpSp>
        <p:nvGrpSpPr>
          <p:cNvPr id="2265" name="Google Shape;2265;p202"/>
          <p:cNvGrpSpPr/>
          <p:nvPr/>
        </p:nvGrpSpPr>
        <p:grpSpPr>
          <a:xfrm>
            <a:off x="4585608" y="2084311"/>
            <a:ext cx="3938528" cy="2341173"/>
            <a:chOff x="2179228" y="1609800"/>
            <a:chExt cx="5102381" cy="3033000"/>
          </a:xfrm>
        </p:grpSpPr>
        <p:sp>
          <p:nvSpPr>
            <p:cNvPr id="2266" name="Google Shape;2266;p202"/>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02"/>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68" name="Google Shape;2268;p202"/>
          <p:cNvSpPr/>
          <p:nvPr/>
        </p:nvSpPr>
        <p:spPr>
          <a:xfrm>
            <a:off x="5384263" y="2413425"/>
            <a:ext cx="2341200" cy="23412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02"/>
          <p:cNvSpPr txBox="1"/>
          <p:nvPr/>
        </p:nvSpPr>
        <p:spPr>
          <a:xfrm>
            <a:off x="4127275" y="1943925"/>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X</a:t>
            </a:r>
            <a:endParaRPr sz="3000">
              <a:latin typeface="Google Sans"/>
              <a:ea typeface="Google Sans"/>
              <a:cs typeface="Google Sans"/>
              <a:sym typeface="Google Sans"/>
            </a:endParaRPr>
          </a:p>
        </p:txBody>
      </p:sp>
      <p:sp>
        <p:nvSpPr>
          <p:cNvPr id="2270" name="Google Shape;2270;p202"/>
          <p:cNvSpPr txBox="1"/>
          <p:nvPr/>
        </p:nvSpPr>
        <p:spPr>
          <a:xfrm>
            <a:off x="8204650" y="1677225"/>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Y</a:t>
            </a:r>
            <a:endParaRPr sz="3000">
              <a:latin typeface="Google Sans"/>
              <a:ea typeface="Google Sans"/>
              <a:cs typeface="Google Sans"/>
              <a:sym typeface="Google Sans"/>
            </a:endParaRPr>
          </a:p>
        </p:txBody>
      </p:sp>
      <p:sp>
        <p:nvSpPr>
          <p:cNvPr id="2271" name="Google Shape;2271;p202"/>
          <p:cNvSpPr txBox="1"/>
          <p:nvPr/>
        </p:nvSpPr>
        <p:spPr>
          <a:xfrm>
            <a:off x="7725475" y="4442050"/>
            <a:ext cx="709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Z</a:t>
            </a:r>
            <a:endParaRPr sz="3000">
              <a:latin typeface="Google Sans"/>
              <a:ea typeface="Google Sans"/>
              <a:cs typeface="Google Sans"/>
              <a:sym typeface="Google Sans"/>
            </a:endParaRPr>
          </a:p>
        </p:txBody>
      </p:sp>
      <p:pic>
        <p:nvPicPr>
          <p:cNvPr id="2272" name="Google Shape;2272;p202"/>
          <p:cNvPicPr preferRelativeResize="0"/>
          <p:nvPr/>
        </p:nvPicPr>
        <p:blipFill>
          <a:blip r:embed="rId4">
            <a:alphaModFix/>
          </a:blip>
          <a:stretch>
            <a:fillRect/>
          </a:stretch>
        </p:blipFill>
        <p:spPr>
          <a:xfrm>
            <a:off x="402725" y="2496530"/>
            <a:ext cx="3624725" cy="461639"/>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p20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pic>
        <p:nvPicPr>
          <p:cNvPr id="2278" name="Google Shape;2278;p203"/>
          <p:cNvPicPr preferRelativeResize="0"/>
          <p:nvPr/>
        </p:nvPicPr>
        <p:blipFill>
          <a:blip r:embed="rId3">
            <a:alphaModFix/>
          </a:blip>
          <a:stretch>
            <a:fillRect/>
          </a:stretch>
        </p:blipFill>
        <p:spPr>
          <a:xfrm>
            <a:off x="175675" y="1432125"/>
            <a:ext cx="2114550" cy="266700"/>
          </a:xfrm>
          <a:prstGeom prst="rect">
            <a:avLst/>
          </a:prstGeom>
          <a:noFill/>
          <a:ln>
            <a:noFill/>
          </a:ln>
        </p:spPr>
      </p:pic>
      <p:grpSp>
        <p:nvGrpSpPr>
          <p:cNvPr id="2279" name="Google Shape;2279;p203"/>
          <p:cNvGrpSpPr/>
          <p:nvPr/>
        </p:nvGrpSpPr>
        <p:grpSpPr>
          <a:xfrm>
            <a:off x="5523175" y="2265450"/>
            <a:ext cx="3485551" cy="2659722"/>
            <a:chOff x="554425" y="2584700"/>
            <a:chExt cx="3485551" cy="2659722"/>
          </a:xfrm>
        </p:grpSpPr>
        <p:grpSp>
          <p:nvGrpSpPr>
            <p:cNvPr id="2280" name="Google Shape;2280;p203"/>
            <p:cNvGrpSpPr/>
            <p:nvPr/>
          </p:nvGrpSpPr>
          <p:grpSpPr>
            <a:xfrm>
              <a:off x="888246" y="2881181"/>
              <a:ext cx="2868048" cy="1704849"/>
              <a:chOff x="2179228" y="1609800"/>
              <a:chExt cx="5102381" cy="3033000"/>
            </a:xfrm>
          </p:grpSpPr>
          <p:sp>
            <p:nvSpPr>
              <p:cNvPr id="2281" name="Google Shape;2281;p203"/>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203"/>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3" name="Google Shape;2283;p203"/>
            <p:cNvSpPr/>
            <p:nvPr/>
          </p:nvSpPr>
          <p:spPr>
            <a:xfrm>
              <a:off x="1469704" y="3120768"/>
              <a:ext cx="1704900" cy="17049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203"/>
            <p:cNvSpPr txBox="1"/>
            <p:nvPr/>
          </p:nvSpPr>
          <p:spPr>
            <a:xfrm>
              <a:off x="554425" y="2778899"/>
              <a:ext cx="5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X</a:t>
              </a:r>
              <a:endParaRPr sz="3000">
                <a:latin typeface="Google Sans"/>
                <a:ea typeface="Google Sans"/>
                <a:cs typeface="Google Sans"/>
                <a:sym typeface="Google Sans"/>
              </a:endParaRPr>
            </a:p>
          </p:txBody>
        </p:sp>
        <p:sp>
          <p:nvSpPr>
            <p:cNvPr id="2285" name="Google Shape;2285;p203"/>
            <p:cNvSpPr txBox="1"/>
            <p:nvPr/>
          </p:nvSpPr>
          <p:spPr>
            <a:xfrm>
              <a:off x="3523376" y="2584700"/>
              <a:ext cx="5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Y</a:t>
              </a:r>
              <a:endParaRPr sz="3000">
                <a:latin typeface="Google Sans"/>
                <a:ea typeface="Google Sans"/>
                <a:cs typeface="Google Sans"/>
                <a:sym typeface="Google Sans"/>
              </a:endParaRPr>
            </a:p>
          </p:txBody>
        </p:sp>
        <p:sp>
          <p:nvSpPr>
            <p:cNvPr id="2286" name="Google Shape;2286;p203"/>
            <p:cNvSpPr txBox="1"/>
            <p:nvPr/>
          </p:nvSpPr>
          <p:spPr>
            <a:xfrm>
              <a:off x="3174463" y="4597922"/>
              <a:ext cx="5166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Z</a:t>
              </a:r>
              <a:endParaRPr sz="3000">
                <a:latin typeface="Google Sans"/>
                <a:ea typeface="Google Sans"/>
                <a:cs typeface="Google Sans"/>
                <a:sym typeface="Google Sans"/>
              </a:endParaRPr>
            </a:p>
          </p:txBody>
        </p:sp>
        <p:sp>
          <p:nvSpPr>
            <p:cNvPr id="2287" name="Google Shape;2287;p203"/>
            <p:cNvSpPr/>
            <p:nvPr/>
          </p:nvSpPr>
          <p:spPr>
            <a:xfrm>
              <a:off x="1517436" y="3122563"/>
              <a:ext cx="1075975" cy="1430850"/>
            </a:xfrm>
            <a:custGeom>
              <a:rect b="b" l="l" r="r" t="t"/>
              <a:pathLst>
                <a:path extrusionOk="0" h="57234" w="43039">
                  <a:moveTo>
                    <a:pt x="30585" y="434"/>
                  </a:moveTo>
                  <a:cubicBezTo>
                    <a:pt x="27668" y="-433"/>
                    <a:pt x="26723" y="828"/>
                    <a:pt x="23018" y="2326"/>
                  </a:cubicBezTo>
                  <a:cubicBezTo>
                    <a:pt x="19313" y="3824"/>
                    <a:pt x="11982" y="5479"/>
                    <a:pt x="8356" y="9420"/>
                  </a:cubicBezTo>
                  <a:cubicBezTo>
                    <a:pt x="4730" y="13361"/>
                    <a:pt x="2522" y="20614"/>
                    <a:pt x="1261" y="25974"/>
                  </a:cubicBezTo>
                  <a:cubicBezTo>
                    <a:pt x="0" y="31334"/>
                    <a:pt x="-393" y="36458"/>
                    <a:pt x="789" y="41582"/>
                  </a:cubicBezTo>
                  <a:cubicBezTo>
                    <a:pt x="1972" y="46706"/>
                    <a:pt x="4021" y="54983"/>
                    <a:pt x="8356" y="56717"/>
                  </a:cubicBezTo>
                  <a:cubicBezTo>
                    <a:pt x="12692" y="58451"/>
                    <a:pt x="21757" y="54588"/>
                    <a:pt x="26802" y="51987"/>
                  </a:cubicBezTo>
                  <a:cubicBezTo>
                    <a:pt x="31847" y="49386"/>
                    <a:pt x="35946" y="45208"/>
                    <a:pt x="38626" y="41109"/>
                  </a:cubicBezTo>
                  <a:cubicBezTo>
                    <a:pt x="41306" y="37010"/>
                    <a:pt x="42567" y="32990"/>
                    <a:pt x="42882" y="27393"/>
                  </a:cubicBezTo>
                  <a:cubicBezTo>
                    <a:pt x="43197" y="21796"/>
                    <a:pt x="42568" y="12021"/>
                    <a:pt x="40518" y="7528"/>
                  </a:cubicBezTo>
                  <a:cubicBezTo>
                    <a:pt x="38469" y="3035"/>
                    <a:pt x="33502" y="1301"/>
                    <a:pt x="30585" y="434"/>
                  </a:cubicBezTo>
                  <a:close/>
                </a:path>
              </a:pathLst>
            </a:custGeom>
            <a:solidFill>
              <a:schemeClr val="lt2"/>
            </a:solidFill>
            <a:ln cap="flat" cmpd="sng" w="9525">
              <a:solidFill>
                <a:schemeClr val="dk2"/>
              </a:solidFill>
              <a:prstDash val="solid"/>
              <a:round/>
              <a:headEnd len="med" w="med" type="none"/>
              <a:tailEnd len="med" w="med" type="none"/>
            </a:ln>
          </p:spPr>
        </p:sp>
      </p:grpSp>
      <p:grpSp>
        <p:nvGrpSpPr>
          <p:cNvPr id="2288" name="Google Shape;2288;p203"/>
          <p:cNvGrpSpPr/>
          <p:nvPr/>
        </p:nvGrpSpPr>
        <p:grpSpPr>
          <a:xfrm>
            <a:off x="815401" y="2330175"/>
            <a:ext cx="3463617" cy="2647079"/>
            <a:chOff x="5450451" y="1372425"/>
            <a:chExt cx="3463617" cy="2647079"/>
          </a:xfrm>
        </p:grpSpPr>
        <p:grpSp>
          <p:nvGrpSpPr>
            <p:cNvPr id="2289" name="Google Shape;2289;p203"/>
            <p:cNvGrpSpPr/>
            <p:nvPr/>
          </p:nvGrpSpPr>
          <p:grpSpPr>
            <a:xfrm>
              <a:off x="5782020" y="1666931"/>
              <a:ext cx="2849680" cy="1693931"/>
              <a:chOff x="2179228" y="1609800"/>
              <a:chExt cx="5102381" cy="3033000"/>
            </a:xfrm>
          </p:grpSpPr>
          <p:sp>
            <p:nvSpPr>
              <p:cNvPr id="2290" name="Google Shape;2290;p203"/>
              <p:cNvSpPr/>
              <p:nvPr/>
            </p:nvSpPr>
            <p:spPr>
              <a:xfrm>
                <a:off x="4248609" y="1609800"/>
                <a:ext cx="3033000" cy="3033000"/>
              </a:xfrm>
              <a:prstGeom prst="ellipse">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203"/>
              <p:cNvSpPr/>
              <p:nvPr/>
            </p:nvSpPr>
            <p:spPr>
              <a:xfrm>
                <a:off x="2179228" y="1609800"/>
                <a:ext cx="3033000" cy="3033000"/>
              </a:xfrm>
              <a:prstGeom prst="ellipse">
                <a:avLst/>
              </a:prstGeom>
              <a:solidFill>
                <a:srgbClr val="1F77B4">
                  <a:alpha val="469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92" name="Google Shape;2292;p203"/>
            <p:cNvSpPr/>
            <p:nvPr/>
          </p:nvSpPr>
          <p:spPr>
            <a:xfrm>
              <a:off x="6359985" y="1905126"/>
              <a:ext cx="1694100" cy="16941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203"/>
            <p:cNvSpPr txBox="1"/>
            <p:nvPr/>
          </p:nvSpPr>
          <p:spPr>
            <a:xfrm>
              <a:off x="5450451" y="1565404"/>
              <a:ext cx="513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X</a:t>
              </a:r>
              <a:endParaRPr sz="3000">
                <a:latin typeface="Google Sans"/>
                <a:ea typeface="Google Sans"/>
                <a:cs typeface="Google Sans"/>
                <a:sym typeface="Google Sans"/>
              </a:endParaRPr>
            </a:p>
          </p:txBody>
        </p:sp>
        <p:sp>
          <p:nvSpPr>
            <p:cNvPr id="2294" name="Google Shape;2294;p203"/>
            <p:cNvSpPr txBox="1"/>
            <p:nvPr/>
          </p:nvSpPr>
          <p:spPr>
            <a:xfrm>
              <a:off x="8400768" y="1372425"/>
              <a:ext cx="513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Y</a:t>
              </a:r>
              <a:endParaRPr sz="3000">
                <a:latin typeface="Google Sans"/>
                <a:ea typeface="Google Sans"/>
                <a:cs typeface="Google Sans"/>
                <a:sym typeface="Google Sans"/>
              </a:endParaRPr>
            </a:p>
          </p:txBody>
        </p:sp>
        <p:sp>
          <p:nvSpPr>
            <p:cNvPr id="2295" name="Google Shape;2295;p203"/>
            <p:cNvSpPr txBox="1"/>
            <p:nvPr/>
          </p:nvSpPr>
          <p:spPr>
            <a:xfrm>
              <a:off x="8054046" y="3373004"/>
              <a:ext cx="5133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000">
                  <a:latin typeface="Google Sans"/>
                  <a:ea typeface="Google Sans"/>
                  <a:cs typeface="Google Sans"/>
                  <a:sym typeface="Google Sans"/>
                </a:rPr>
                <a:t>Z</a:t>
              </a:r>
              <a:endParaRPr sz="3000">
                <a:latin typeface="Google Sans"/>
                <a:ea typeface="Google Sans"/>
                <a:cs typeface="Google Sans"/>
                <a:sym typeface="Google Sans"/>
              </a:endParaRPr>
            </a:p>
          </p:txBody>
        </p:sp>
        <p:sp>
          <p:nvSpPr>
            <p:cNvPr id="2296" name="Google Shape;2296;p203"/>
            <p:cNvSpPr/>
            <p:nvPr/>
          </p:nvSpPr>
          <p:spPr>
            <a:xfrm>
              <a:off x="6960485" y="1925847"/>
              <a:ext cx="501525" cy="1196725"/>
            </a:xfrm>
            <a:custGeom>
              <a:rect b="b" l="l" r="r" t="t"/>
              <a:pathLst>
                <a:path extrusionOk="0" h="47869" w="20061">
                  <a:moveTo>
                    <a:pt x="10563" y="59"/>
                  </a:moveTo>
                  <a:cubicBezTo>
                    <a:pt x="8513" y="-177"/>
                    <a:pt x="5675" y="3922"/>
                    <a:pt x="3941" y="7154"/>
                  </a:cubicBezTo>
                  <a:cubicBezTo>
                    <a:pt x="2207" y="10386"/>
                    <a:pt x="473" y="15116"/>
                    <a:pt x="158" y="19451"/>
                  </a:cubicBezTo>
                  <a:cubicBezTo>
                    <a:pt x="-157" y="23787"/>
                    <a:pt x="316" y="28437"/>
                    <a:pt x="2050" y="33167"/>
                  </a:cubicBezTo>
                  <a:cubicBezTo>
                    <a:pt x="3784" y="37897"/>
                    <a:pt x="7725" y="47987"/>
                    <a:pt x="10563" y="47829"/>
                  </a:cubicBezTo>
                  <a:cubicBezTo>
                    <a:pt x="13401" y="47671"/>
                    <a:pt x="17578" y="36951"/>
                    <a:pt x="19076" y="32221"/>
                  </a:cubicBezTo>
                  <a:cubicBezTo>
                    <a:pt x="20574" y="27491"/>
                    <a:pt x="20022" y="23392"/>
                    <a:pt x="19549" y="19451"/>
                  </a:cubicBezTo>
                  <a:cubicBezTo>
                    <a:pt x="19076" y="15510"/>
                    <a:pt x="17737" y="11805"/>
                    <a:pt x="16239" y="8573"/>
                  </a:cubicBezTo>
                  <a:cubicBezTo>
                    <a:pt x="14741" y="5341"/>
                    <a:pt x="12613" y="296"/>
                    <a:pt x="10563" y="59"/>
                  </a:cubicBezTo>
                  <a:close/>
                </a:path>
              </a:pathLst>
            </a:custGeom>
            <a:solidFill>
              <a:schemeClr val="lt2"/>
            </a:solidFill>
            <a:ln cap="flat" cmpd="sng" w="9525">
              <a:solidFill>
                <a:schemeClr val="dk2"/>
              </a:solidFill>
              <a:prstDash val="solid"/>
              <a:round/>
              <a:headEnd len="med" w="med" type="none"/>
              <a:tailEnd len="med" w="med" type="none"/>
            </a:ln>
          </p:spPr>
        </p:sp>
      </p:grpSp>
      <p:sp>
        <p:nvSpPr>
          <p:cNvPr id="2297" name="Google Shape;2297;p203"/>
          <p:cNvSpPr txBox="1"/>
          <p:nvPr/>
        </p:nvSpPr>
        <p:spPr>
          <a:xfrm>
            <a:off x="4434050" y="3168875"/>
            <a:ext cx="898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3400">
                <a:latin typeface="Google Sans"/>
                <a:ea typeface="Google Sans"/>
                <a:cs typeface="Google Sans"/>
                <a:sym typeface="Google Sans"/>
              </a:rPr>
              <a:t>≦</a:t>
            </a:r>
            <a:endParaRPr sz="3400">
              <a:latin typeface="Google Sans"/>
              <a:ea typeface="Google Sans"/>
              <a:cs typeface="Google Sans"/>
              <a:sym typeface="Google Sans"/>
            </a:endParaRPr>
          </a:p>
        </p:txBody>
      </p:sp>
      <p:pic>
        <p:nvPicPr>
          <p:cNvPr id="2298" name="Google Shape;2298;p203"/>
          <p:cNvPicPr preferRelativeResize="0"/>
          <p:nvPr/>
        </p:nvPicPr>
        <p:blipFill>
          <a:blip r:embed="rId4">
            <a:alphaModFix/>
          </a:blip>
          <a:stretch>
            <a:fillRect/>
          </a:stretch>
        </p:blipFill>
        <p:spPr>
          <a:xfrm>
            <a:off x="2403600" y="1432113"/>
            <a:ext cx="6057900" cy="771525"/>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p20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sp>
        <p:nvSpPr>
          <p:cNvPr id="2304" name="Google Shape;2304;p204"/>
          <p:cNvSpPr txBox="1"/>
          <p:nvPr/>
        </p:nvSpPr>
        <p:spPr>
          <a:xfrm>
            <a:off x="311725" y="148472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What happens if we "process" our distribution?</a:t>
            </a:r>
            <a:endParaRPr>
              <a:latin typeface="Google Sans"/>
              <a:ea typeface="Google Sans"/>
              <a:cs typeface="Google Sans"/>
              <a:sym typeface="Google Sans"/>
            </a:endParaRPr>
          </a:p>
        </p:txBody>
      </p:sp>
      <p:pic>
        <p:nvPicPr>
          <p:cNvPr id="2305" name="Google Shape;2305;p204"/>
          <p:cNvPicPr preferRelativeResize="0"/>
          <p:nvPr/>
        </p:nvPicPr>
        <p:blipFill>
          <a:blip r:embed="rId3">
            <a:alphaModFix/>
          </a:blip>
          <a:stretch>
            <a:fillRect/>
          </a:stretch>
        </p:blipFill>
        <p:spPr>
          <a:xfrm>
            <a:off x="2286025" y="3951400"/>
            <a:ext cx="4572000" cy="390525"/>
          </a:xfrm>
          <a:prstGeom prst="rect">
            <a:avLst/>
          </a:prstGeom>
          <a:noFill/>
          <a:ln>
            <a:noFill/>
          </a:ln>
        </p:spPr>
      </p:pic>
      <p:pic>
        <p:nvPicPr>
          <p:cNvPr id="2306" name="Google Shape;2306;p204"/>
          <p:cNvPicPr preferRelativeResize="0"/>
          <p:nvPr/>
        </p:nvPicPr>
        <p:blipFill>
          <a:blip r:embed="rId4">
            <a:alphaModFix/>
          </a:blip>
          <a:stretch>
            <a:fillRect/>
          </a:stretch>
        </p:blipFill>
        <p:spPr>
          <a:xfrm>
            <a:off x="3176588" y="1981200"/>
            <a:ext cx="2790825" cy="590550"/>
          </a:xfrm>
          <a:prstGeom prst="rect">
            <a:avLst/>
          </a:prstGeom>
          <a:noFill/>
          <a:ln>
            <a:noFill/>
          </a:ln>
        </p:spPr>
      </p:pic>
      <p:pic>
        <p:nvPicPr>
          <p:cNvPr id="2307" name="Google Shape;2307;p204"/>
          <p:cNvPicPr preferRelativeResize="0"/>
          <p:nvPr/>
        </p:nvPicPr>
        <p:blipFill>
          <a:blip r:embed="rId5">
            <a:alphaModFix/>
          </a:blip>
          <a:stretch>
            <a:fillRect/>
          </a:stretch>
        </p:blipFill>
        <p:spPr>
          <a:xfrm>
            <a:off x="365363" y="2700575"/>
            <a:ext cx="3819525" cy="857250"/>
          </a:xfrm>
          <a:prstGeom prst="rect">
            <a:avLst/>
          </a:prstGeom>
          <a:noFill/>
          <a:ln>
            <a:noFill/>
          </a:ln>
        </p:spPr>
      </p:pic>
      <p:pic>
        <p:nvPicPr>
          <p:cNvPr id="2308" name="Google Shape;2308;p204"/>
          <p:cNvPicPr preferRelativeResize="0"/>
          <p:nvPr/>
        </p:nvPicPr>
        <p:blipFill>
          <a:blip r:embed="rId6">
            <a:alphaModFix/>
          </a:blip>
          <a:stretch>
            <a:fillRect/>
          </a:stretch>
        </p:blipFill>
        <p:spPr>
          <a:xfrm>
            <a:off x="4767913" y="2700575"/>
            <a:ext cx="3781425" cy="857250"/>
          </a:xfrm>
          <a:prstGeom prst="rect">
            <a:avLst/>
          </a:prstGeom>
          <a:noFill/>
          <a:ln>
            <a:noFill/>
          </a:ln>
        </p:spPr>
      </p:pic>
      <p:sp>
        <p:nvSpPr>
          <p:cNvPr id="2309" name="Google Shape;2309;p204"/>
          <p:cNvSpPr txBox="1"/>
          <p:nvPr/>
        </p:nvSpPr>
        <p:spPr>
          <a:xfrm>
            <a:off x="471150" y="4633075"/>
            <a:ext cx="83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Any processing makes it harder to distinguish between the two distributions.</a:t>
            </a:r>
            <a:endParaRPr>
              <a:latin typeface="Google Sans"/>
              <a:ea typeface="Google Sans"/>
              <a:cs typeface="Google Sans"/>
              <a:sym typeface="Google San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3" name="Shape 2313"/>
        <p:cNvGrpSpPr/>
        <p:nvPr/>
      </p:nvGrpSpPr>
      <p:grpSpPr>
        <a:xfrm>
          <a:off x="0" y="0"/>
          <a:ext cx="0" cy="0"/>
          <a:chOff x="0" y="0"/>
          <a:chExt cx="0" cy="0"/>
        </a:xfrm>
      </p:grpSpPr>
      <p:sp>
        <p:nvSpPr>
          <p:cNvPr id="2314" name="Google Shape;2314;p20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Monotonicity</a:t>
            </a:r>
            <a:endParaRPr/>
          </a:p>
        </p:txBody>
      </p:sp>
      <p:sp>
        <p:nvSpPr>
          <p:cNvPr id="2315" name="Google Shape;2315;p205"/>
          <p:cNvSpPr txBox="1"/>
          <p:nvPr/>
        </p:nvSpPr>
        <p:spPr>
          <a:xfrm>
            <a:off x="311725" y="148472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Marginalization is a kind of processing.</a:t>
            </a:r>
            <a:endParaRPr>
              <a:latin typeface="Google Sans"/>
              <a:ea typeface="Google Sans"/>
              <a:cs typeface="Google Sans"/>
              <a:sym typeface="Google Sans"/>
            </a:endParaRPr>
          </a:p>
        </p:txBody>
      </p:sp>
      <p:sp>
        <p:nvSpPr>
          <p:cNvPr id="2316" name="Google Shape;2316;p205"/>
          <p:cNvSpPr txBox="1"/>
          <p:nvPr/>
        </p:nvSpPr>
        <p:spPr>
          <a:xfrm>
            <a:off x="471150" y="4633075"/>
            <a:ext cx="83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If you only look at a subset of variables, its harder to distinguish between two distributions.</a:t>
            </a:r>
            <a:endParaRPr>
              <a:latin typeface="Google Sans"/>
              <a:ea typeface="Google Sans"/>
              <a:cs typeface="Google Sans"/>
              <a:sym typeface="Google Sans"/>
            </a:endParaRPr>
          </a:p>
        </p:txBody>
      </p:sp>
      <p:pic>
        <p:nvPicPr>
          <p:cNvPr id="2317" name="Google Shape;2317;p205"/>
          <p:cNvPicPr preferRelativeResize="0"/>
          <p:nvPr/>
        </p:nvPicPr>
        <p:blipFill>
          <a:blip r:embed="rId3">
            <a:alphaModFix/>
          </a:blip>
          <a:stretch>
            <a:fillRect/>
          </a:stretch>
        </p:blipFill>
        <p:spPr>
          <a:xfrm>
            <a:off x="3080675" y="2037325"/>
            <a:ext cx="2982704" cy="510850"/>
          </a:xfrm>
          <a:prstGeom prst="rect">
            <a:avLst/>
          </a:prstGeom>
          <a:noFill/>
          <a:ln>
            <a:noFill/>
          </a:ln>
        </p:spPr>
      </p:pic>
      <p:pic>
        <p:nvPicPr>
          <p:cNvPr id="2318" name="Google Shape;2318;p205"/>
          <p:cNvPicPr preferRelativeResize="0"/>
          <p:nvPr/>
        </p:nvPicPr>
        <p:blipFill>
          <a:blip r:embed="rId4">
            <a:alphaModFix/>
          </a:blip>
          <a:stretch>
            <a:fillRect/>
          </a:stretch>
        </p:blipFill>
        <p:spPr>
          <a:xfrm>
            <a:off x="2003850" y="3299350"/>
            <a:ext cx="5295900" cy="390525"/>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5ABC"/>
        </a:solidFill>
      </p:bgPr>
    </p:bg>
    <p:spTree>
      <p:nvGrpSpPr>
        <p:cNvPr id="2322" name="Shape 2322"/>
        <p:cNvGrpSpPr/>
        <p:nvPr/>
      </p:nvGrpSpPr>
      <p:grpSpPr>
        <a:xfrm>
          <a:off x="0" y="0"/>
          <a:ext cx="0" cy="0"/>
          <a:chOff x="0" y="0"/>
          <a:chExt cx="0" cy="0"/>
        </a:xfrm>
      </p:grpSpPr>
      <p:sp>
        <p:nvSpPr>
          <p:cNvPr id="2323" name="Google Shape;2323;p206"/>
          <p:cNvSpPr txBox="1"/>
          <p:nvPr>
            <p:ph type="title"/>
          </p:nvPr>
        </p:nvSpPr>
        <p:spPr>
          <a:xfrm>
            <a:off x="727500" y="526350"/>
            <a:ext cx="76890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solidFill>
                  <a:srgbClr val="EEEEEE"/>
                </a:solidFill>
              </a:rPr>
              <a:t>Signal and Noise</a:t>
            </a:r>
            <a:endParaRPr sz="6000">
              <a:solidFill>
                <a:srgbClr val="EEEEEE"/>
              </a:solidFill>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7" name="Shape 2327"/>
        <p:cNvGrpSpPr/>
        <p:nvPr/>
      </p:nvGrpSpPr>
      <p:grpSpPr>
        <a:xfrm>
          <a:off x="0" y="0"/>
          <a:ext cx="0" cy="0"/>
          <a:chOff x="0" y="0"/>
          <a:chExt cx="0" cy="0"/>
        </a:xfrm>
      </p:grpSpPr>
      <p:pic>
        <p:nvPicPr>
          <p:cNvPr id="2328" name="Google Shape;2328;p207"/>
          <p:cNvPicPr preferRelativeResize="0"/>
          <p:nvPr/>
        </p:nvPicPr>
        <p:blipFill>
          <a:blip r:embed="rId3">
            <a:alphaModFix/>
          </a:blip>
          <a:stretch>
            <a:fillRect/>
          </a:stretch>
        </p:blipFill>
        <p:spPr>
          <a:xfrm>
            <a:off x="2347900" y="1838325"/>
            <a:ext cx="4448175" cy="1466850"/>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2" name="Shape 2332"/>
        <p:cNvGrpSpPr/>
        <p:nvPr/>
      </p:nvGrpSpPr>
      <p:grpSpPr>
        <a:xfrm>
          <a:off x="0" y="0"/>
          <a:ext cx="0" cy="0"/>
          <a:chOff x="0" y="0"/>
          <a:chExt cx="0" cy="0"/>
        </a:xfrm>
      </p:grpSpPr>
      <p:pic>
        <p:nvPicPr>
          <p:cNvPr id="2333" name="Google Shape;2333;p208"/>
          <p:cNvPicPr preferRelativeResize="0"/>
          <p:nvPr/>
        </p:nvPicPr>
        <p:blipFill>
          <a:blip r:embed="rId3">
            <a:alphaModFix/>
          </a:blip>
          <a:stretch>
            <a:fillRect/>
          </a:stretch>
        </p:blipFill>
        <p:spPr>
          <a:xfrm>
            <a:off x="696300" y="438150"/>
            <a:ext cx="4267200" cy="4267200"/>
          </a:xfrm>
          <a:prstGeom prst="rect">
            <a:avLst/>
          </a:prstGeom>
          <a:noFill/>
          <a:ln>
            <a:noFill/>
          </a:ln>
        </p:spPr>
      </p:pic>
      <p:sp>
        <p:nvSpPr>
          <p:cNvPr id="2334" name="Google Shape;2334;p208"/>
          <p:cNvSpPr txBox="1"/>
          <p:nvPr/>
        </p:nvSpPr>
        <p:spPr>
          <a:xfrm>
            <a:off x="5415450" y="697625"/>
            <a:ext cx="264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303 bits total</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3.32 bits of label information</a:t>
            </a:r>
            <a:endParaRPr>
              <a:latin typeface="Google Sans"/>
              <a:ea typeface="Google Sans"/>
              <a:cs typeface="Google Sans"/>
              <a:sym typeface="Google San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8" name="Shape 2338"/>
        <p:cNvGrpSpPr/>
        <p:nvPr/>
      </p:nvGrpSpPr>
      <p:grpSpPr>
        <a:xfrm>
          <a:off x="0" y="0"/>
          <a:ext cx="0" cy="0"/>
          <a:chOff x="0" y="0"/>
          <a:chExt cx="0" cy="0"/>
        </a:xfrm>
      </p:grpSpPr>
      <p:sp>
        <p:nvSpPr>
          <p:cNvPr id="2339" name="Google Shape;2339;p209"/>
          <p:cNvSpPr/>
          <p:nvPr/>
        </p:nvSpPr>
        <p:spPr>
          <a:xfrm>
            <a:off x="943950" y="360600"/>
            <a:ext cx="7256100" cy="442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209"/>
          <p:cNvSpPr/>
          <p:nvPr/>
        </p:nvSpPr>
        <p:spPr>
          <a:xfrm>
            <a:off x="5486405" y="2571723"/>
            <a:ext cx="709520" cy="348800"/>
          </a:xfrm>
          <a:custGeom>
            <a:rect b="b" l="l" r="r" t="t"/>
            <a:pathLst>
              <a:path extrusionOk="0" h="46929" w="86606">
                <a:moveTo>
                  <a:pt x="11291" y="17118"/>
                </a:moveTo>
                <a:cubicBezTo>
                  <a:pt x="23377" y="9485"/>
                  <a:pt x="61967" y="-2707"/>
                  <a:pt x="74265" y="580"/>
                </a:cubicBezTo>
                <a:cubicBezTo>
                  <a:pt x="86563" y="3867"/>
                  <a:pt x="88366" y="30053"/>
                  <a:pt x="85079" y="36838"/>
                </a:cubicBezTo>
                <a:cubicBezTo>
                  <a:pt x="81793" y="43623"/>
                  <a:pt x="63664" y="41396"/>
                  <a:pt x="54546" y="41290"/>
                </a:cubicBezTo>
                <a:cubicBezTo>
                  <a:pt x="45429" y="41184"/>
                  <a:pt x="39174" y="35353"/>
                  <a:pt x="30374" y="36201"/>
                </a:cubicBezTo>
                <a:cubicBezTo>
                  <a:pt x="21575" y="37049"/>
                  <a:pt x="4930" y="49560"/>
                  <a:pt x="1749" y="46379"/>
                </a:cubicBezTo>
                <a:cubicBezTo>
                  <a:pt x="-1431" y="43199"/>
                  <a:pt x="-795" y="24751"/>
                  <a:pt x="11291" y="17118"/>
                </a:cubicBezTo>
                <a:close/>
              </a:path>
            </a:pathLst>
          </a:custGeom>
          <a:solidFill>
            <a:srgbClr val="FFCC50"/>
          </a:solidFill>
          <a:ln cap="flat" cmpd="sng" w="9525">
            <a:solidFill>
              <a:schemeClr val="dk2"/>
            </a:solidFill>
            <a:prstDash val="solid"/>
            <a:round/>
            <a:headEnd len="med" w="med" type="none"/>
            <a:tailEnd len="med" w="med" type="none"/>
          </a:ln>
        </p:spPr>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4" name="Shape 2344"/>
        <p:cNvGrpSpPr/>
        <p:nvPr/>
      </p:nvGrpSpPr>
      <p:grpSpPr>
        <a:xfrm>
          <a:off x="0" y="0"/>
          <a:ext cx="0" cy="0"/>
          <a:chOff x="0" y="0"/>
          <a:chExt cx="0" cy="0"/>
        </a:xfrm>
      </p:grpSpPr>
      <p:sp>
        <p:nvSpPr>
          <p:cNvPr id="2345" name="Google Shape;2345;p210"/>
          <p:cNvSpPr/>
          <p:nvPr/>
        </p:nvSpPr>
        <p:spPr>
          <a:xfrm>
            <a:off x="943950" y="360600"/>
            <a:ext cx="7256100" cy="442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210"/>
          <p:cNvSpPr/>
          <p:nvPr/>
        </p:nvSpPr>
        <p:spPr>
          <a:xfrm>
            <a:off x="2946664" y="2452528"/>
            <a:ext cx="2211550" cy="1619400"/>
          </a:xfrm>
          <a:custGeom>
            <a:rect b="b" l="l" r="r" t="t"/>
            <a:pathLst>
              <a:path extrusionOk="0" h="64776" w="88462">
                <a:moveTo>
                  <a:pt x="48144" y="64599"/>
                </a:moveTo>
                <a:cubicBezTo>
                  <a:pt x="62727" y="65308"/>
                  <a:pt x="84484" y="60658"/>
                  <a:pt x="87873" y="49937"/>
                </a:cubicBezTo>
                <a:cubicBezTo>
                  <a:pt x="91263" y="39217"/>
                  <a:pt x="78098" y="2483"/>
                  <a:pt x="68481" y="276"/>
                </a:cubicBezTo>
                <a:cubicBezTo>
                  <a:pt x="58864" y="-1931"/>
                  <a:pt x="41522" y="29127"/>
                  <a:pt x="30171" y="36694"/>
                </a:cubicBezTo>
                <a:cubicBezTo>
                  <a:pt x="18820" y="44262"/>
                  <a:pt x="-2621" y="41030"/>
                  <a:pt x="374" y="45681"/>
                </a:cubicBezTo>
                <a:cubicBezTo>
                  <a:pt x="3370" y="50332"/>
                  <a:pt x="33561" y="63890"/>
                  <a:pt x="48144" y="64599"/>
                </a:cubicBezTo>
                <a:close/>
              </a:path>
            </a:pathLst>
          </a:custGeom>
          <a:solidFill>
            <a:srgbClr val="CFE2F3"/>
          </a:solidFill>
          <a:ln cap="flat" cmpd="sng" w="9525">
            <a:solidFill>
              <a:schemeClr val="dk2"/>
            </a:solidFill>
            <a:prstDash val="solid"/>
            <a:round/>
            <a:headEnd len="med" w="med" type="none"/>
            <a:tailEnd len="med" w="med" type="none"/>
          </a:ln>
        </p:spPr>
      </p:sp>
      <p:sp>
        <p:nvSpPr>
          <p:cNvPr id="2347" name="Google Shape;2347;p210"/>
          <p:cNvSpPr/>
          <p:nvPr/>
        </p:nvSpPr>
        <p:spPr>
          <a:xfrm>
            <a:off x="5486405" y="2571723"/>
            <a:ext cx="709520" cy="348800"/>
          </a:xfrm>
          <a:custGeom>
            <a:rect b="b" l="l" r="r" t="t"/>
            <a:pathLst>
              <a:path extrusionOk="0" h="46929" w="86606">
                <a:moveTo>
                  <a:pt x="11291" y="17118"/>
                </a:moveTo>
                <a:cubicBezTo>
                  <a:pt x="23377" y="9485"/>
                  <a:pt x="61967" y="-2707"/>
                  <a:pt x="74265" y="580"/>
                </a:cubicBezTo>
                <a:cubicBezTo>
                  <a:pt x="86563" y="3867"/>
                  <a:pt x="88366" y="30053"/>
                  <a:pt x="85079" y="36838"/>
                </a:cubicBezTo>
                <a:cubicBezTo>
                  <a:pt x="81793" y="43623"/>
                  <a:pt x="63664" y="41396"/>
                  <a:pt x="54546" y="41290"/>
                </a:cubicBezTo>
                <a:cubicBezTo>
                  <a:pt x="45429" y="41184"/>
                  <a:pt x="39174" y="35353"/>
                  <a:pt x="30374" y="36201"/>
                </a:cubicBezTo>
                <a:cubicBezTo>
                  <a:pt x="21575" y="37049"/>
                  <a:pt x="4930" y="49560"/>
                  <a:pt x="1749" y="46379"/>
                </a:cubicBezTo>
                <a:cubicBezTo>
                  <a:pt x="-1431" y="43199"/>
                  <a:pt x="-795" y="24751"/>
                  <a:pt x="11291" y="17118"/>
                </a:cubicBezTo>
                <a:close/>
              </a:path>
            </a:pathLst>
          </a:custGeom>
          <a:solidFill>
            <a:srgbClr val="FFCC50"/>
          </a:solidFill>
          <a:ln cap="flat" cmpd="sng" w="9525">
            <a:solidFill>
              <a:schemeClr val="dk2"/>
            </a:solidFill>
            <a:prstDash val="solid"/>
            <a:round/>
            <a:headEnd len="med" w="med" type="none"/>
            <a:tailEnd len="med" w="med" type="none"/>
          </a:ln>
        </p:spPr>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1" name="Shape 2351"/>
        <p:cNvGrpSpPr/>
        <p:nvPr/>
      </p:nvGrpSpPr>
      <p:grpSpPr>
        <a:xfrm>
          <a:off x="0" y="0"/>
          <a:ext cx="0" cy="0"/>
          <a:chOff x="0" y="0"/>
          <a:chExt cx="0" cy="0"/>
        </a:xfrm>
      </p:grpSpPr>
      <p:sp>
        <p:nvSpPr>
          <p:cNvPr id="2352" name="Google Shape;2352;p211"/>
          <p:cNvSpPr/>
          <p:nvPr/>
        </p:nvSpPr>
        <p:spPr>
          <a:xfrm>
            <a:off x="943950" y="360600"/>
            <a:ext cx="7256100" cy="442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211"/>
          <p:cNvSpPr/>
          <p:nvPr/>
        </p:nvSpPr>
        <p:spPr>
          <a:xfrm>
            <a:off x="2162347" y="516555"/>
            <a:ext cx="5409850" cy="3717650"/>
          </a:xfrm>
          <a:custGeom>
            <a:rect b="b" l="l" r="r" t="t"/>
            <a:pathLst>
              <a:path extrusionOk="0" h="148706" w="216394">
                <a:moveTo>
                  <a:pt x="59" y="97579"/>
                </a:moveTo>
                <a:cubicBezTo>
                  <a:pt x="-414" y="107827"/>
                  <a:pt x="19766" y="128796"/>
                  <a:pt x="39315" y="136836"/>
                </a:cubicBezTo>
                <a:cubicBezTo>
                  <a:pt x="58864" y="144877"/>
                  <a:pt x="88819" y="153153"/>
                  <a:pt x="117354" y="145822"/>
                </a:cubicBezTo>
                <a:cubicBezTo>
                  <a:pt x="145890" y="138491"/>
                  <a:pt x="197443" y="111611"/>
                  <a:pt x="210528" y="92850"/>
                </a:cubicBezTo>
                <a:cubicBezTo>
                  <a:pt x="223613" y="74089"/>
                  <a:pt x="212656" y="48706"/>
                  <a:pt x="195866" y="33256"/>
                </a:cubicBezTo>
                <a:cubicBezTo>
                  <a:pt x="179076" y="17806"/>
                  <a:pt x="141476" y="-1034"/>
                  <a:pt x="109787" y="148"/>
                </a:cubicBezTo>
                <a:cubicBezTo>
                  <a:pt x="78098" y="1331"/>
                  <a:pt x="17006" y="27817"/>
                  <a:pt x="5734" y="40351"/>
                </a:cubicBezTo>
                <a:cubicBezTo>
                  <a:pt x="-5538" y="52885"/>
                  <a:pt x="43099" y="65812"/>
                  <a:pt x="42153" y="75350"/>
                </a:cubicBezTo>
                <a:cubicBezTo>
                  <a:pt x="41207" y="84888"/>
                  <a:pt x="532" y="87331"/>
                  <a:pt x="59" y="97579"/>
                </a:cubicBezTo>
                <a:close/>
              </a:path>
            </a:pathLst>
          </a:custGeom>
          <a:solidFill>
            <a:srgbClr val="CFE2F3"/>
          </a:solidFill>
          <a:ln cap="flat" cmpd="sng" w="9525">
            <a:solidFill>
              <a:schemeClr val="dk2"/>
            </a:solidFill>
            <a:prstDash val="solid"/>
            <a:round/>
            <a:headEnd len="med" w="med" type="none"/>
            <a:tailEnd len="med" w="med" type="none"/>
          </a:ln>
        </p:spPr>
      </p:sp>
      <p:sp>
        <p:nvSpPr>
          <p:cNvPr id="2354" name="Google Shape;2354;p211"/>
          <p:cNvSpPr/>
          <p:nvPr/>
        </p:nvSpPr>
        <p:spPr>
          <a:xfrm>
            <a:off x="5486405" y="2571723"/>
            <a:ext cx="709520" cy="348800"/>
          </a:xfrm>
          <a:custGeom>
            <a:rect b="b" l="l" r="r" t="t"/>
            <a:pathLst>
              <a:path extrusionOk="0" h="46929" w="86606">
                <a:moveTo>
                  <a:pt x="11291" y="17118"/>
                </a:moveTo>
                <a:cubicBezTo>
                  <a:pt x="23377" y="9485"/>
                  <a:pt x="61967" y="-2707"/>
                  <a:pt x="74265" y="580"/>
                </a:cubicBezTo>
                <a:cubicBezTo>
                  <a:pt x="86563" y="3867"/>
                  <a:pt x="88366" y="30053"/>
                  <a:pt x="85079" y="36838"/>
                </a:cubicBezTo>
                <a:cubicBezTo>
                  <a:pt x="81793" y="43623"/>
                  <a:pt x="63664" y="41396"/>
                  <a:pt x="54546" y="41290"/>
                </a:cubicBezTo>
                <a:cubicBezTo>
                  <a:pt x="45429" y="41184"/>
                  <a:pt x="39174" y="35353"/>
                  <a:pt x="30374" y="36201"/>
                </a:cubicBezTo>
                <a:cubicBezTo>
                  <a:pt x="21575" y="37049"/>
                  <a:pt x="4930" y="49560"/>
                  <a:pt x="1749" y="46379"/>
                </a:cubicBezTo>
                <a:cubicBezTo>
                  <a:pt x="-1431" y="43199"/>
                  <a:pt x="-795" y="24751"/>
                  <a:pt x="11291" y="17118"/>
                </a:cubicBezTo>
                <a:close/>
              </a:path>
            </a:pathLst>
          </a:custGeom>
          <a:solidFill>
            <a:srgbClr val="FFCC50"/>
          </a:solidFill>
          <a:ln cap="flat" cmpd="sng" w="9525">
            <a:solidFill>
              <a:schemeClr val="dk2"/>
            </a:solidFill>
            <a:prstDash val="solid"/>
            <a:round/>
            <a:headEnd len="med" w="med" type="none"/>
            <a:tailEnd len="med" w="med" type="none"/>
          </a:ln>
        </p:spPr>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8" name="Shape 2358"/>
        <p:cNvGrpSpPr/>
        <p:nvPr/>
      </p:nvGrpSpPr>
      <p:grpSpPr>
        <a:xfrm>
          <a:off x="0" y="0"/>
          <a:ext cx="0" cy="0"/>
          <a:chOff x="0" y="0"/>
          <a:chExt cx="0" cy="0"/>
        </a:xfrm>
      </p:grpSpPr>
      <p:sp>
        <p:nvSpPr>
          <p:cNvPr id="2359" name="Google Shape;2359;p212"/>
          <p:cNvSpPr/>
          <p:nvPr/>
        </p:nvSpPr>
        <p:spPr>
          <a:xfrm>
            <a:off x="943950" y="360600"/>
            <a:ext cx="7256100" cy="442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212"/>
          <p:cNvSpPr/>
          <p:nvPr/>
        </p:nvSpPr>
        <p:spPr>
          <a:xfrm>
            <a:off x="1091633" y="458687"/>
            <a:ext cx="7100025" cy="4196625"/>
          </a:xfrm>
          <a:custGeom>
            <a:rect b="b" l="l" r="r" t="t"/>
            <a:pathLst>
              <a:path extrusionOk="0" h="167865" w="284001">
                <a:moveTo>
                  <a:pt x="1740" y="85232"/>
                </a:moveTo>
                <a:cubicBezTo>
                  <a:pt x="-2122" y="102338"/>
                  <a:pt x="-467" y="117473"/>
                  <a:pt x="17821" y="131110"/>
                </a:cubicBezTo>
                <a:cubicBezTo>
                  <a:pt x="36109" y="144747"/>
                  <a:pt x="79385" y="163744"/>
                  <a:pt x="111468" y="167055"/>
                </a:cubicBezTo>
                <a:cubicBezTo>
                  <a:pt x="143551" y="170366"/>
                  <a:pt x="181703" y="162484"/>
                  <a:pt x="210317" y="150975"/>
                </a:cubicBezTo>
                <a:cubicBezTo>
                  <a:pt x="238931" y="139466"/>
                  <a:pt x="277873" y="117631"/>
                  <a:pt x="283154" y="98003"/>
                </a:cubicBezTo>
                <a:cubicBezTo>
                  <a:pt x="288436" y="78375"/>
                  <a:pt x="263447" y="49523"/>
                  <a:pt x="242006" y="33206"/>
                </a:cubicBezTo>
                <a:cubicBezTo>
                  <a:pt x="220565" y="16889"/>
                  <a:pt x="188010" y="887"/>
                  <a:pt x="154508" y="99"/>
                </a:cubicBezTo>
                <a:cubicBezTo>
                  <a:pt x="121006" y="-689"/>
                  <a:pt x="66457" y="14288"/>
                  <a:pt x="40996" y="28477"/>
                </a:cubicBezTo>
                <a:cubicBezTo>
                  <a:pt x="15535" y="42666"/>
                  <a:pt x="5603" y="68127"/>
                  <a:pt x="1740" y="85232"/>
                </a:cubicBezTo>
                <a:close/>
              </a:path>
            </a:pathLst>
          </a:custGeom>
          <a:solidFill>
            <a:srgbClr val="CFE2F3"/>
          </a:solidFill>
          <a:ln cap="flat" cmpd="sng" w="9525">
            <a:solidFill>
              <a:schemeClr val="dk2"/>
            </a:solidFill>
            <a:prstDash val="solid"/>
            <a:round/>
            <a:headEnd len="med" w="med" type="none"/>
            <a:tailEnd len="med" w="med" type="none"/>
          </a:ln>
        </p:spPr>
      </p:sp>
      <p:sp>
        <p:nvSpPr>
          <p:cNvPr id="2361" name="Google Shape;2361;p212"/>
          <p:cNvSpPr/>
          <p:nvPr/>
        </p:nvSpPr>
        <p:spPr>
          <a:xfrm>
            <a:off x="5486405" y="2571723"/>
            <a:ext cx="709520" cy="348800"/>
          </a:xfrm>
          <a:custGeom>
            <a:rect b="b" l="l" r="r" t="t"/>
            <a:pathLst>
              <a:path extrusionOk="0" h="46929" w="86606">
                <a:moveTo>
                  <a:pt x="11291" y="17118"/>
                </a:moveTo>
                <a:cubicBezTo>
                  <a:pt x="23377" y="9485"/>
                  <a:pt x="61967" y="-2707"/>
                  <a:pt x="74265" y="580"/>
                </a:cubicBezTo>
                <a:cubicBezTo>
                  <a:pt x="86563" y="3867"/>
                  <a:pt x="88366" y="30053"/>
                  <a:pt x="85079" y="36838"/>
                </a:cubicBezTo>
                <a:cubicBezTo>
                  <a:pt x="81793" y="43623"/>
                  <a:pt x="63664" y="41396"/>
                  <a:pt x="54546" y="41290"/>
                </a:cubicBezTo>
                <a:cubicBezTo>
                  <a:pt x="45429" y="41184"/>
                  <a:pt x="39174" y="35353"/>
                  <a:pt x="30374" y="36201"/>
                </a:cubicBezTo>
                <a:cubicBezTo>
                  <a:pt x="21575" y="37049"/>
                  <a:pt x="4930" y="49560"/>
                  <a:pt x="1749" y="46379"/>
                </a:cubicBezTo>
                <a:cubicBezTo>
                  <a:pt x="-1431" y="43199"/>
                  <a:pt x="-795" y="24751"/>
                  <a:pt x="11291" y="17118"/>
                </a:cubicBezTo>
                <a:close/>
              </a:path>
            </a:pathLst>
          </a:custGeom>
          <a:solidFill>
            <a:srgbClr val="FFCC50"/>
          </a:solidFill>
          <a:ln cap="flat" cmpd="sng" w="9525">
            <a:solidFill>
              <a:schemeClr val="dk2"/>
            </a:solidFill>
            <a:prstDash val="solid"/>
            <a:round/>
            <a:headEnd len="med" w="med" type="none"/>
            <a:tailEnd len="med" w="med" type="none"/>
          </a:ln>
        </p:spPr>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365" name="Shape 2365"/>
        <p:cNvGrpSpPr/>
        <p:nvPr/>
      </p:nvGrpSpPr>
      <p:grpSpPr>
        <a:xfrm>
          <a:off x="0" y="0"/>
          <a:ext cx="0" cy="0"/>
          <a:chOff x="0" y="0"/>
          <a:chExt cx="0" cy="0"/>
        </a:xfrm>
      </p:grpSpPr>
      <p:sp>
        <p:nvSpPr>
          <p:cNvPr id="2366" name="Google Shape;2366;p2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Noise is Cheap</a:t>
            </a:r>
            <a:endParaRPr>
              <a:solidFill>
                <a:schemeClr val="lt1"/>
              </a:solidFill>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0" name="Shape 2370"/>
        <p:cNvGrpSpPr/>
        <p:nvPr/>
      </p:nvGrpSpPr>
      <p:grpSpPr>
        <a:xfrm>
          <a:off x="0" y="0"/>
          <a:ext cx="0" cy="0"/>
          <a:chOff x="0" y="0"/>
          <a:chExt cx="0" cy="0"/>
        </a:xfrm>
      </p:grpSpPr>
      <p:pic>
        <p:nvPicPr>
          <p:cNvPr id="2371" name="Google Shape;2371;p214"/>
          <p:cNvPicPr preferRelativeResize="0"/>
          <p:nvPr/>
        </p:nvPicPr>
        <p:blipFill>
          <a:blip r:embed="rId3">
            <a:alphaModFix/>
          </a:blip>
          <a:stretch>
            <a:fillRect/>
          </a:stretch>
        </p:blipFill>
        <p:spPr>
          <a:xfrm>
            <a:off x="2908800" y="697725"/>
            <a:ext cx="3505200" cy="523875"/>
          </a:xfrm>
          <a:prstGeom prst="rect">
            <a:avLst/>
          </a:prstGeom>
          <a:noFill/>
          <a:ln>
            <a:noFill/>
          </a:ln>
        </p:spPr>
      </p:pic>
      <p:pic>
        <p:nvPicPr>
          <p:cNvPr id="2372" name="Google Shape;2372;p214"/>
          <p:cNvPicPr preferRelativeResize="0"/>
          <p:nvPr/>
        </p:nvPicPr>
        <p:blipFill>
          <a:blip r:embed="rId4">
            <a:alphaModFix/>
          </a:blip>
          <a:stretch>
            <a:fillRect/>
          </a:stretch>
        </p:blipFill>
        <p:spPr>
          <a:xfrm>
            <a:off x="1671500" y="1845436"/>
            <a:ext cx="5086350" cy="876300"/>
          </a:xfrm>
          <a:prstGeom prst="rect">
            <a:avLst/>
          </a:prstGeom>
          <a:noFill/>
          <a:ln>
            <a:noFill/>
          </a:ln>
        </p:spPr>
      </p:pic>
      <p:pic>
        <p:nvPicPr>
          <p:cNvPr id="2373" name="Google Shape;2373;p214"/>
          <p:cNvPicPr preferRelativeResize="0"/>
          <p:nvPr/>
        </p:nvPicPr>
        <p:blipFill>
          <a:blip r:embed="rId5">
            <a:alphaModFix/>
          </a:blip>
          <a:stretch>
            <a:fillRect/>
          </a:stretch>
        </p:blipFill>
        <p:spPr>
          <a:xfrm>
            <a:off x="133350" y="3345561"/>
            <a:ext cx="7353300" cy="885825"/>
          </a:xfrm>
          <a:prstGeom prst="rect">
            <a:avLst/>
          </a:prstGeom>
          <a:noFill/>
          <a:ln>
            <a:noFill/>
          </a:ln>
        </p:spPr>
      </p:pic>
      <p:sp>
        <p:nvSpPr>
          <p:cNvPr id="2374" name="Google Shape;2374;p214"/>
          <p:cNvSpPr txBox="1"/>
          <p:nvPr/>
        </p:nvSpPr>
        <p:spPr>
          <a:xfrm>
            <a:off x="7260350" y="1791375"/>
            <a:ext cx="1639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1000 zetabytes, approximately 1000x all human generated data.</a:t>
            </a:r>
            <a:endParaRPr>
              <a:latin typeface="Google Sans"/>
              <a:ea typeface="Google Sans"/>
              <a:cs typeface="Google Sans"/>
              <a:sym typeface="Google San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8" name="Shape 2378"/>
        <p:cNvGrpSpPr/>
        <p:nvPr/>
      </p:nvGrpSpPr>
      <p:grpSpPr>
        <a:xfrm>
          <a:off x="0" y="0"/>
          <a:ext cx="0" cy="0"/>
          <a:chOff x="0" y="0"/>
          <a:chExt cx="0" cy="0"/>
        </a:xfrm>
      </p:grpSpPr>
      <p:sp>
        <p:nvSpPr>
          <p:cNvPr id="2379" name="Google Shape;2379;p215"/>
          <p:cNvSpPr/>
          <p:nvPr/>
        </p:nvSpPr>
        <p:spPr>
          <a:xfrm>
            <a:off x="943950" y="360600"/>
            <a:ext cx="7256100" cy="44223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215"/>
          <p:cNvSpPr/>
          <p:nvPr/>
        </p:nvSpPr>
        <p:spPr>
          <a:xfrm>
            <a:off x="5399437" y="2456469"/>
            <a:ext cx="899400" cy="577150"/>
          </a:xfrm>
          <a:custGeom>
            <a:rect b="b" l="l" r="r" t="t"/>
            <a:pathLst>
              <a:path extrusionOk="0" h="23086" w="35976">
                <a:moveTo>
                  <a:pt x="168" y="17618"/>
                </a:moveTo>
                <a:cubicBezTo>
                  <a:pt x="-1172" y="21402"/>
                  <a:pt x="9864" y="23766"/>
                  <a:pt x="15776" y="22820"/>
                </a:cubicBezTo>
                <a:cubicBezTo>
                  <a:pt x="21688" y="21874"/>
                  <a:pt x="34301" y="15726"/>
                  <a:pt x="35641" y="11942"/>
                </a:cubicBezTo>
                <a:cubicBezTo>
                  <a:pt x="36981" y="8158"/>
                  <a:pt x="29729" y="-828"/>
                  <a:pt x="23817" y="118"/>
                </a:cubicBezTo>
                <a:cubicBezTo>
                  <a:pt x="17905" y="1064"/>
                  <a:pt x="1508" y="13834"/>
                  <a:pt x="168" y="17618"/>
                </a:cubicBezTo>
                <a:close/>
              </a:path>
            </a:pathLst>
          </a:custGeom>
          <a:solidFill>
            <a:srgbClr val="CFE2F3"/>
          </a:solidFill>
          <a:ln cap="flat" cmpd="sng" w="9525">
            <a:solidFill>
              <a:schemeClr val="dk2"/>
            </a:solidFill>
            <a:prstDash val="solid"/>
            <a:round/>
            <a:headEnd len="med" w="med" type="none"/>
            <a:tailEnd len="med" w="med" type="none"/>
          </a:ln>
        </p:spPr>
      </p:sp>
      <p:sp>
        <p:nvSpPr>
          <p:cNvPr id="2381" name="Google Shape;2381;p215"/>
          <p:cNvSpPr/>
          <p:nvPr/>
        </p:nvSpPr>
        <p:spPr>
          <a:xfrm>
            <a:off x="5486405" y="2571723"/>
            <a:ext cx="709520" cy="348800"/>
          </a:xfrm>
          <a:custGeom>
            <a:rect b="b" l="l" r="r" t="t"/>
            <a:pathLst>
              <a:path extrusionOk="0" h="46929" w="86606">
                <a:moveTo>
                  <a:pt x="11291" y="17118"/>
                </a:moveTo>
                <a:cubicBezTo>
                  <a:pt x="23377" y="9485"/>
                  <a:pt x="61967" y="-2707"/>
                  <a:pt x="74265" y="580"/>
                </a:cubicBezTo>
                <a:cubicBezTo>
                  <a:pt x="86563" y="3867"/>
                  <a:pt x="88366" y="30053"/>
                  <a:pt x="85079" y="36838"/>
                </a:cubicBezTo>
                <a:cubicBezTo>
                  <a:pt x="81793" y="43623"/>
                  <a:pt x="63664" y="41396"/>
                  <a:pt x="54546" y="41290"/>
                </a:cubicBezTo>
                <a:cubicBezTo>
                  <a:pt x="45429" y="41184"/>
                  <a:pt x="39174" y="35353"/>
                  <a:pt x="30374" y="36201"/>
                </a:cubicBezTo>
                <a:cubicBezTo>
                  <a:pt x="21575" y="37049"/>
                  <a:pt x="4930" y="49560"/>
                  <a:pt x="1749" y="46379"/>
                </a:cubicBezTo>
                <a:cubicBezTo>
                  <a:pt x="-1431" y="43199"/>
                  <a:pt x="-795" y="24751"/>
                  <a:pt x="11291" y="17118"/>
                </a:cubicBezTo>
                <a:close/>
              </a:path>
            </a:pathLst>
          </a:custGeom>
          <a:solidFill>
            <a:srgbClr val="FFCC50"/>
          </a:solidFill>
          <a:ln cap="flat" cmpd="sng" w="9525">
            <a:solidFill>
              <a:schemeClr val="dk2"/>
            </a:solidFill>
            <a:prstDash val="solid"/>
            <a:round/>
            <a:headEnd len="med" w="med" type="none"/>
            <a:tailEnd len="med" w="med" type="none"/>
          </a:ln>
        </p:spPr>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385" name="Shape 2385"/>
        <p:cNvGrpSpPr/>
        <p:nvPr/>
      </p:nvGrpSpPr>
      <p:grpSpPr>
        <a:xfrm>
          <a:off x="0" y="0"/>
          <a:ext cx="0" cy="0"/>
          <a:chOff x="0" y="0"/>
          <a:chExt cx="0" cy="0"/>
        </a:xfrm>
      </p:grpSpPr>
      <p:sp>
        <p:nvSpPr>
          <p:cNvPr id="2386" name="Google Shape;2386;p21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Humans Do It</a:t>
            </a:r>
            <a:endParaRPr>
              <a:solidFill>
                <a:schemeClr val="lt1"/>
              </a:solidFill>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0" name="Shape 2390"/>
        <p:cNvGrpSpPr/>
        <p:nvPr/>
      </p:nvGrpSpPr>
      <p:grpSpPr>
        <a:xfrm>
          <a:off x="0" y="0"/>
          <a:ext cx="0" cy="0"/>
          <a:chOff x="0" y="0"/>
          <a:chExt cx="0" cy="0"/>
        </a:xfrm>
      </p:grpSpPr>
      <p:pic>
        <p:nvPicPr>
          <p:cNvPr id="2391" name="Google Shape;2391;p217"/>
          <p:cNvPicPr preferRelativeResize="0"/>
          <p:nvPr/>
        </p:nvPicPr>
        <p:blipFill>
          <a:blip r:embed="rId3">
            <a:alphaModFix/>
          </a:blip>
          <a:stretch>
            <a:fillRect/>
          </a:stretch>
        </p:blipFill>
        <p:spPr>
          <a:xfrm>
            <a:off x="1544875" y="152400"/>
            <a:ext cx="6054256" cy="4838699"/>
          </a:xfrm>
          <a:prstGeom prst="rect">
            <a:avLst/>
          </a:prstGeom>
          <a:noFill/>
          <a:ln>
            <a:noFill/>
          </a:ln>
        </p:spPr>
      </p:pic>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5" name="Shape 2395"/>
        <p:cNvGrpSpPr/>
        <p:nvPr/>
      </p:nvGrpSpPr>
      <p:grpSpPr>
        <a:xfrm>
          <a:off x="0" y="0"/>
          <a:ext cx="0" cy="0"/>
          <a:chOff x="0" y="0"/>
          <a:chExt cx="0" cy="0"/>
        </a:xfrm>
      </p:grpSpPr>
      <p:pic>
        <p:nvPicPr>
          <p:cNvPr id="2396" name="Google Shape;2396;p218"/>
          <p:cNvPicPr preferRelativeResize="0"/>
          <p:nvPr/>
        </p:nvPicPr>
        <p:blipFill>
          <a:blip r:embed="rId3">
            <a:alphaModFix/>
          </a:blip>
          <a:stretch>
            <a:fillRect/>
          </a:stretch>
        </p:blipFill>
        <p:spPr>
          <a:xfrm>
            <a:off x="2253288" y="152400"/>
            <a:ext cx="4637422" cy="4838699"/>
          </a:xfrm>
          <a:prstGeom prst="rect">
            <a:avLst/>
          </a:prstGeom>
          <a:noFill/>
          <a:ln>
            <a:noFill/>
          </a:ln>
        </p:spPr>
      </p:pic>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5ABC"/>
        </a:solidFill>
      </p:bgPr>
    </p:bg>
    <p:spTree>
      <p:nvGrpSpPr>
        <p:cNvPr id="2400" name="Shape 2400"/>
        <p:cNvGrpSpPr/>
        <p:nvPr/>
      </p:nvGrpSpPr>
      <p:grpSpPr>
        <a:xfrm>
          <a:off x="0" y="0"/>
          <a:ext cx="0" cy="0"/>
          <a:chOff x="0" y="0"/>
          <a:chExt cx="0" cy="0"/>
        </a:xfrm>
      </p:grpSpPr>
      <p:sp>
        <p:nvSpPr>
          <p:cNvPr id="2401" name="Google Shape;2401;p219"/>
          <p:cNvSpPr txBox="1"/>
          <p:nvPr>
            <p:ph type="title"/>
          </p:nvPr>
        </p:nvSpPr>
        <p:spPr>
          <a:xfrm>
            <a:off x="727500" y="526350"/>
            <a:ext cx="7689000" cy="409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6000">
                <a:solidFill>
                  <a:srgbClr val="EEEEEE"/>
                </a:solidFill>
              </a:rPr>
              <a:t>The Hunt</a:t>
            </a:r>
            <a:endParaRPr sz="6000">
              <a:solidFill>
                <a:srgbClr val="EEEEEE"/>
              </a:solidFill>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5" name="Shape 2405"/>
        <p:cNvGrpSpPr/>
        <p:nvPr/>
      </p:nvGrpSpPr>
      <p:grpSpPr>
        <a:xfrm>
          <a:off x="0" y="0"/>
          <a:ext cx="0" cy="0"/>
          <a:chOff x="0" y="0"/>
          <a:chExt cx="0" cy="0"/>
        </a:xfrm>
      </p:grpSpPr>
      <p:sp>
        <p:nvSpPr>
          <p:cNvPr id="2406" name="Google Shape;2406;p2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Hunt</a:t>
            </a:r>
            <a:endParaRPr/>
          </a:p>
        </p:txBody>
      </p:sp>
      <p:sp>
        <p:nvSpPr>
          <p:cNvPr id="2407" name="Google Shape;2407;p220"/>
          <p:cNvSpPr txBox="1"/>
          <p:nvPr>
            <p:ph idx="1" type="body"/>
          </p:nvPr>
        </p:nvSpPr>
        <p:spPr>
          <a:xfrm>
            <a:off x="5647800" y="3539300"/>
            <a:ext cx="3184500" cy="1159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Representation First</a:t>
            </a:r>
            <a:endParaRPr/>
          </a:p>
          <a:p>
            <a:pPr indent="-342900" lvl="0" marL="457200" rtl="0" algn="l">
              <a:spcBef>
                <a:spcPts val="0"/>
              </a:spcBef>
              <a:spcAft>
                <a:spcPts val="0"/>
              </a:spcAft>
              <a:buSzPts val="1800"/>
              <a:buChar char="●"/>
            </a:pPr>
            <a:r>
              <a:rPr lang="en"/>
              <a:t>Respect Stochasticity</a:t>
            </a:r>
            <a:endParaRPr/>
          </a:p>
          <a:p>
            <a:pPr indent="-342900" lvl="0" marL="457200" rtl="0" algn="l">
              <a:spcBef>
                <a:spcPts val="0"/>
              </a:spcBef>
              <a:spcAft>
                <a:spcPts val="0"/>
              </a:spcAft>
              <a:buSzPts val="1800"/>
              <a:buChar char="●"/>
            </a:pPr>
            <a:r>
              <a:rPr lang="en"/>
              <a:t>Embrace tradeoffs</a:t>
            </a:r>
            <a:endParaRPr/>
          </a:p>
        </p:txBody>
      </p:sp>
      <p:sp>
        <p:nvSpPr>
          <p:cNvPr id="2408" name="Google Shape;2408;p220"/>
          <p:cNvSpPr txBox="1"/>
          <p:nvPr/>
        </p:nvSpPr>
        <p:spPr>
          <a:xfrm>
            <a:off x="752100" y="2093375"/>
            <a:ext cx="76398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2500">
                <a:latin typeface="Google Sans"/>
                <a:ea typeface="Google Sans"/>
                <a:cs typeface="Google Sans"/>
                <a:sym typeface="Google Sans"/>
              </a:rPr>
              <a:t>Find the best representation subject to constraints.</a:t>
            </a:r>
            <a:endParaRPr i="1" sz="2500">
              <a:latin typeface="Google Sans"/>
              <a:ea typeface="Google Sans"/>
              <a:cs typeface="Google Sans"/>
              <a:sym typeface="Google San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2" name="Shape 2412"/>
        <p:cNvGrpSpPr/>
        <p:nvPr/>
      </p:nvGrpSpPr>
      <p:grpSpPr>
        <a:xfrm>
          <a:off x="0" y="0"/>
          <a:ext cx="0" cy="0"/>
          <a:chOff x="0" y="0"/>
          <a:chExt cx="0" cy="0"/>
        </a:xfrm>
      </p:grpSpPr>
      <p:sp>
        <p:nvSpPr>
          <p:cNvPr id="2413" name="Google Shape;2413;p2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Recipe for Creating Objectives</a:t>
            </a:r>
            <a:endParaRPr/>
          </a:p>
        </p:txBody>
      </p:sp>
      <p:sp>
        <p:nvSpPr>
          <p:cNvPr id="2414" name="Google Shape;2414;p2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a:t>Describe the world.</a:t>
            </a:r>
            <a:endParaRPr/>
          </a:p>
          <a:p>
            <a:pPr indent="-342900" lvl="0" marL="457200" rtl="0" algn="l">
              <a:spcBef>
                <a:spcPts val="0"/>
              </a:spcBef>
              <a:spcAft>
                <a:spcPts val="0"/>
              </a:spcAft>
              <a:buSzPts val="1800"/>
              <a:buAutoNum type="arabicPeriod"/>
            </a:pPr>
            <a:r>
              <a:rPr lang="en"/>
              <a:t>Add what you plan to build.</a:t>
            </a:r>
            <a:endParaRPr/>
          </a:p>
          <a:p>
            <a:pPr indent="-342900" lvl="0" marL="457200" rtl="0" algn="l">
              <a:spcBef>
                <a:spcPts val="0"/>
              </a:spcBef>
              <a:spcAft>
                <a:spcPts val="0"/>
              </a:spcAft>
              <a:buSzPts val="1800"/>
              <a:buAutoNum type="arabicPeriod"/>
            </a:pPr>
            <a:r>
              <a:rPr lang="en"/>
              <a:t>Describe what you wish were the case.</a:t>
            </a:r>
            <a:endParaRPr/>
          </a:p>
          <a:p>
            <a:pPr indent="-342900" lvl="0" marL="457200" rtl="0" algn="l">
              <a:spcBef>
                <a:spcPts val="0"/>
              </a:spcBef>
              <a:spcAft>
                <a:spcPts val="0"/>
              </a:spcAft>
              <a:buSzPts val="1800"/>
              <a:buAutoNum type="arabicPeriod"/>
            </a:pPr>
            <a:r>
              <a:rPr lang="en"/>
              <a:t>Take the KL between the two.</a:t>
            </a:r>
            <a:endParaRPr/>
          </a:p>
          <a:p>
            <a:pPr indent="-342900" lvl="0" marL="457200" rtl="0" algn="l">
              <a:spcBef>
                <a:spcPts val="0"/>
              </a:spcBef>
              <a:spcAft>
                <a:spcPts val="0"/>
              </a:spcAft>
              <a:buSzPts val="1800"/>
              <a:buAutoNum type="arabicPeriod"/>
            </a:pPr>
            <a:r>
              <a:rPr lang="en"/>
              <a:t>Separate into pieces.</a:t>
            </a:r>
            <a:endParaRPr/>
          </a:p>
          <a:p>
            <a:pPr indent="-342900" lvl="0" marL="457200" rtl="0" algn="l">
              <a:spcBef>
                <a:spcPts val="0"/>
              </a:spcBef>
              <a:spcAft>
                <a:spcPts val="0"/>
              </a:spcAft>
              <a:buSzPts val="1800"/>
              <a:buAutoNum type="arabicPeriod"/>
            </a:pPr>
            <a:r>
              <a:rPr lang="en"/>
              <a:t>Remove redundant parts.</a:t>
            </a:r>
            <a:endParaRPr/>
          </a:p>
          <a:p>
            <a:pPr indent="-342900" lvl="0" marL="457200" rtl="0" algn="l">
              <a:spcBef>
                <a:spcPts val="0"/>
              </a:spcBef>
              <a:spcAft>
                <a:spcPts val="0"/>
              </a:spcAft>
              <a:buSzPts val="1800"/>
              <a:buAutoNum type="arabicPeriod"/>
            </a:pPr>
            <a:r>
              <a:rPr lang="en"/>
              <a:t>Add coefficients.</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8" name="Shape 2418"/>
        <p:cNvGrpSpPr/>
        <p:nvPr/>
      </p:nvGrpSpPr>
      <p:grpSpPr>
        <a:xfrm>
          <a:off x="0" y="0"/>
          <a:ext cx="0" cy="0"/>
          <a:chOff x="0" y="0"/>
          <a:chExt cx="0" cy="0"/>
        </a:xfrm>
      </p:grpSpPr>
      <p:sp>
        <p:nvSpPr>
          <p:cNvPr id="2419" name="Google Shape;2419;p222"/>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Relative Entropy as a Principle for Learning</a:t>
            </a:r>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3" name="Shape 2423"/>
        <p:cNvGrpSpPr/>
        <p:nvPr/>
      </p:nvGrpSpPr>
      <p:grpSpPr>
        <a:xfrm>
          <a:off x="0" y="0"/>
          <a:ext cx="0" cy="0"/>
          <a:chOff x="0" y="0"/>
          <a:chExt cx="0" cy="0"/>
        </a:xfrm>
      </p:grpSpPr>
      <p:sp>
        <p:nvSpPr>
          <p:cNvPr id="2424" name="Google Shape;2424;p22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Principle For Learning</a:t>
            </a:r>
            <a:endParaRPr/>
          </a:p>
        </p:txBody>
      </p:sp>
      <p:sp>
        <p:nvSpPr>
          <p:cNvPr id="2425" name="Google Shape;2425;p223"/>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Make it hard to tell the difference between the real world and your model.</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pic>
        <p:nvPicPr>
          <p:cNvPr id="2426" name="Google Shape;2426;p223"/>
          <p:cNvPicPr preferRelativeResize="0"/>
          <p:nvPr/>
        </p:nvPicPr>
        <p:blipFill>
          <a:blip r:embed="rId3">
            <a:alphaModFix/>
          </a:blip>
          <a:stretch>
            <a:fillRect/>
          </a:stretch>
        </p:blipFill>
        <p:spPr>
          <a:xfrm>
            <a:off x="3085125" y="2056400"/>
            <a:ext cx="2990850" cy="390525"/>
          </a:xfrm>
          <a:prstGeom prst="rect">
            <a:avLst/>
          </a:prstGeom>
          <a:noFill/>
          <a:ln>
            <a:noFill/>
          </a:ln>
        </p:spPr>
      </p:pic>
      <p:pic>
        <p:nvPicPr>
          <p:cNvPr id="2427" name="Google Shape;2427;p223"/>
          <p:cNvPicPr preferRelativeResize="0"/>
          <p:nvPr/>
        </p:nvPicPr>
        <p:blipFill>
          <a:blip r:embed="rId4">
            <a:alphaModFix/>
          </a:blip>
          <a:stretch>
            <a:fillRect/>
          </a:stretch>
        </p:blipFill>
        <p:spPr>
          <a:xfrm>
            <a:off x="2642213" y="2628775"/>
            <a:ext cx="3876675" cy="942975"/>
          </a:xfrm>
          <a:prstGeom prst="rect">
            <a:avLst/>
          </a:prstGeom>
          <a:noFill/>
          <a:ln>
            <a:noFill/>
          </a:ln>
        </p:spPr>
      </p:pic>
      <p:pic>
        <p:nvPicPr>
          <p:cNvPr id="2428" name="Google Shape;2428;p223"/>
          <p:cNvPicPr preferRelativeResize="0"/>
          <p:nvPr/>
        </p:nvPicPr>
        <p:blipFill>
          <a:blip r:embed="rId5">
            <a:alphaModFix/>
          </a:blip>
          <a:stretch>
            <a:fillRect/>
          </a:stretch>
        </p:blipFill>
        <p:spPr>
          <a:xfrm>
            <a:off x="152400" y="3724150"/>
            <a:ext cx="8839201" cy="721419"/>
          </a:xfrm>
          <a:prstGeom prst="rect">
            <a:avLst/>
          </a:prstGeom>
          <a:noFill/>
          <a:ln>
            <a:noFill/>
          </a:ln>
        </p:spPr>
      </p:pic>
      <p:sp>
        <p:nvSpPr>
          <p:cNvPr id="2429" name="Google Shape;2429;p223"/>
          <p:cNvSpPr txBox="1"/>
          <p:nvPr/>
        </p:nvSpPr>
        <p:spPr>
          <a:xfrm>
            <a:off x="387725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5"/>
                </a:solidFill>
                <a:latin typeface="Google Sans"/>
                <a:ea typeface="Google Sans"/>
                <a:cs typeface="Google Sans"/>
                <a:sym typeface="Google Sans"/>
              </a:rPr>
              <a:t>-Data Entropy</a:t>
            </a:r>
            <a:endParaRPr>
              <a:solidFill>
                <a:schemeClr val="accent5"/>
              </a:solidFill>
              <a:latin typeface="Google Sans"/>
              <a:ea typeface="Google Sans"/>
              <a:cs typeface="Google Sans"/>
              <a:sym typeface="Google Sans"/>
            </a:endParaRPr>
          </a:p>
        </p:txBody>
      </p:sp>
      <p:sp>
        <p:nvSpPr>
          <p:cNvPr id="2430" name="Google Shape;2430;p223"/>
          <p:cNvSpPr txBox="1"/>
          <p:nvPr/>
        </p:nvSpPr>
        <p:spPr>
          <a:xfrm>
            <a:off x="6905700" y="4458500"/>
            <a:ext cx="1796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Cross Entropy</a:t>
            </a:r>
            <a:endParaRPr>
              <a:solidFill>
                <a:schemeClr val="accent4"/>
              </a:solidFill>
              <a:latin typeface="Google Sans"/>
              <a:ea typeface="Google Sans"/>
              <a:cs typeface="Google Sans"/>
              <a:sym typeface="Google San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4" name="Shape 2434"/>
        <p:cNvGrpSpPr/>
        <p:nvPr/>
      </p:nvGrpSpPr>
      <p:grpSpPr>
        <a:xfrm>
          <a:off x="0" y="0"/>
          <a:ext cx="0" cy="0"/>
          <a:chOff x="0" y="0"/>
          <a:chExt cx="0" cy="0"/>
        </a:xfrm>
      </p:grpSpPr>
      <p:sp>
        <p:nvSpPr>
          <p:cNvPr id="2435" name="Google Shape;2435;p22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Maximum Likelihood</a:t>
            </a:r>
            <a:endParaRPr/>
          </a:p>
        </p:txBody>
      </p:sp>
      <p:sp>
        <p:nvSpPr>
          <p:cNvPr id="2436" name="Google Shape;2436;p224"/>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We don't have access to the true distribution of data, only samples.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sp>
        <p:nvSpPr>
          <p:cNvPr id="2437" name="Google Shape;2437;p224"/>
          <p:cNvSpPr txBox="1"/>
          <p:nvPr/>
        </p:nvSpPr>
        <p:spPr>
          <a:xfrm>
            <a:off x="7203750" y="3447475"/>
            <a:ext cx="1796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Empirical Cross Entropy</a:t>
            </a:r>
            <a:endParaRPr>
              <a:solidFill>
                <a:schemeClr val="accent4"/>
              </a:solidFill>
              <a:latin typeface="Google Sans"/>
              <a:ea typeface="Google Sans"/>
              <a:cs typeface="Google Sans"/>
              <a:sym typeface="Google Sans"/>
            </a:endParaRPr>
          </a:p>
        </p:txBody>
      </p:sp>
      <p:pic>
        <p:nvPicPr>
          <p:cNvPr id="2438" name="Google Shape;2438;p224"/>
          <p:cNvPicPr preferRelativeResize="0"/>
          <p:nvPr/>
        </p:nvPicPr>
        <p:blipFill>
          <a:blip r:embed="rId3">
            <a:alphaModFix/>
          </a:blip>
          <a:stretch>
            <a:fillRect/>
          </a:stretch>
        </p:blipFill>
        <p:spPr>
          <a:xfrm>
            <a:off x="6193800" y="1408350"/>
            <a:ext cx="2847950" cy="701775"/>
          </a:xfrm>
          <a:prstGeom prst="rect">
            <a:avLst/>
          </a:prstGeom>
          <a:noFill/>
          <a:ln>
            <a:noFill/>
          </a:ln>
        </p:spPr>
      </p:pic>
      <p:pic>
        <p:nvPicPr>
          <p:cNvPr id="2439" name="Google Shape;2439;p224"/>
          <p:cNvPicPr preferRelativeResize="0"/>
          <p:nvPr/>
        </p:nvPicPr>
        <p:blipFill>
          <a:blip r:embed="rId4">
            <a:alphaModFix/>
          </a:blip>
          <a:stretch>
            <a:fillRect/>
          </a:stretch>
        </p:blipFill>
        <p:spPr>
          <a:xfrm>
            <a:off x="160950" y="2696225"/>
            <a:ext cx="8839199" cy="693271"/>
          </a:xfrm>
          <a:prstGeom prst="rect">
            <a:avLst/>
          </a:prstGeom>
          <a:noFill/>
          <a:ln>
            <a:noFill/>
          </a:ln>
        </p:spPr>
      </p:pic>
      <p:pic>
        <p:nvPicPr>
          <p:cNvPr id="2440" name="Google Shape;2440;p224"/>
          <p:cNvPicPr preferRelativeResize="0"/>
          <p:nvPr/>
        </p:nvPicPr>
        <p:blipFill>
          <a:blip r:embed="rId5">
            <a:alphaModFix/>
          </a:blip>
          <a:stretch>
            <a:fillRect/>
          </a:stretch>
        </p:blipFill>
        <p:spPr>
          <a:xfrm>
            <a:off x="3695700" y="4190621"/>
            <a:ext cx="1752600" cy="619125"/>
          </a:xfrm>
          <a:prstGeom prst="rect">
            <a:avLst/>
          </a:prstGeom>
          <a:noFill/>
          <a:ln>
            <a:noFill/>
          </a:ln>
        </p:spPr>
      </p:pic>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4" name="Shape 2444"/>
        <p:cNvGrpSpPr/>
        <p:nvPr/>
      </p:nvGrpSpPr>
      <p:grpSpPr>
        <a:xfrm>
          <a:off x="0" y="0"/>
          <a:ext cx="0" cy="0"/>
          <a:chOff x="0" y="0"/>
          <a:chExt cx="0" cy="0"/>
        </a:xfrm>
      </p:grpSpPr>
      <p:sp>
        <p:nvSpPr>
          <p:cNvPr id="2445" name="Google Shape;2445;p225"/>
          <p:cNvSpPr txBox="1"/>
          <p:nvPr>
            <p:ph type="title"/>
          </p:nvPr>
        </p:nvSpPr>
        <p:spPr>
          <a:xfrm>
            <a:off x="311675" y="798600"/>
            <a:ext cx="6247800" cy="3546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Variational Autoencoders</a:t>
            </a:r>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sp>
        <p:nvSpPr>
          <p:cNvPr id="2450" name="Google Shape;2450;p226"/>
          <p:cNvSpPr txBox="1"/>
          <p:nvPr>
            <p:ph idx="2" type="title"/>
          </p:nvPr>
        </p:nvSpPr>
        <p:spPr>
          <a:xfrm>
            <a:off x="417675" y="341875"/>
            <a:ext cx="35028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World P</a:t>
            </a:r>
            <a:endParaRPr sz="3000"/>
          </a:p>
          <a:p>
            <a:pPr indent="0" lvl="0" marL="0" rtl="0" algn="l">
              <a:spcBef>
                <a:spcPts val="0"/>
              </a:spcBef>
              <a:spcAft>
                <a:spcPts val="0"/>
              </a:spcAft>
              <a:buNone/>
            </a:pPr>
            <a:r>
              <a:rPr b="0" lang="en" sz="2400"/>
              <a:t>world we have</a:t>
            </a:r>
            <a:endParaRPr b="0" sz="2400"/>
          </a:p>
        </p:txBody>
      </p:sp>
      <p:sp>
        <p:nvSpPr>
          <p:cNvPr id="2451" name="Google Shape;2451;p22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452" name="Google Shape;2452;p226"/>
          <p:cNvSpPr/>
          <p:nvPr/>
        </p:nvSpPr>
        <p:spPr>
          <a:xfrm>
            <a:off x="856125" y="2234938"/>
            <a:ext cx="26259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2453" name="Google Shape;2453;p226"/>
          <p:cNvSpPr/>
          <p:nvPr/>
        </p:nvSpPr>
        <p:spPr>
          <a:xfrm>
            <a:off x="1073290" y="243789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2454" name="Google Shape;2454;p226"/>
          <p:cNvSpPr/>
          <p:nvPr/>
        </p:nvSpPr>
        <p:spPr>
          <a:xfrm>
            <a:off x="2559594" y="243789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2455" name="Google Shape;2455;p226"/>
          <p:cNvCxnSpPr>
            <a:stCxn id="2454" idx="2"/>
            <a:endCxn id="2453" idx="6"/>
          </p:cNvCxnSpPr>
          <p:nvPr/>
        </p:nvCxnSpPr>
        <p:spPr>
          <a:xfrm rot="10800000">
            <a:off x="1778394" y="2790390"/>
            <a:ext cx="781200" cy="0"/>
          </a:xfrm>
          <a:prstGeom prst="straightConnector1">
            <a:avLst/>
          </a:prstGeom>
          <a:noFill/>
          <a:ln cap="flat" cmpd="sng" w="28575">
            <a:solidFill>
              <a:srgbClr val="595959"/>
            </a:solidFill>
            <a:prstDash val="solid"/>
            <a:round/>
            <a:headEnd len="med" w="med" type="none"/>
            <a:tailEnd len="med" w="med" type="triangle"/>
          </a:ln>
        </p:spPr>
      </p:cxnSp>
      <p:sp>
        <p:nvSpPr>
          <p:cNvPr id="2456" name="Google Shape;2456;p226"/>
          <p:cNvSpPr txBox="1"/>
          <p:nvPr>
            <p:ph idx="2" type="title"/>
          </p:nvPr>
        </p:nvSpPr>
        <p:spPr>
          <a:xfrm>
            <a:off x="4880100" y="341875"/>
            <a:ext cx="3502800" cy="4938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3000"/>
              <a:t>World Q</a:t>
            </a:r>
            <a:endParaRPr sz="3000"/>
          </a:p>
          <a:p>
            <a:pPr indent="0" lvl="0" marL="0" rtl="0" algn="r">
              <a:spcBef>
                <a:spcPts val="0"/>
              </a:spcBef>
              <a:spcAft>
                <a:spcPts val="0"/>
              </a:spcAft>
              <a:buNone/>
            </a:pPr>
            <a:r>
              <a:rPr b="0" lang="en" sz="2400"/>
              <a:t>world we want</a:t>
            </a:r>
            <a:endParaRPr b="0" sz="2400"/>
          </a:p>
        </p:txBody>
      </p:sp>
      <p:cxnSp>
        <p:nvCxnSpPr>
          <p:cNvPr id="2457" name="Google Shape;2457;p226"/>
          <p:cNvCxnSpPr/>
          <p:nvPr/>
        </p:nvCxnSpPr>
        <p:spPr>
          <a:xfrm>
            <a:off x="4594850" y="194300"/>
            <a:ext cx="0" cy="4812000"/>
          </a:xfrm>
          <a:prstGeom prst="straightConnector1">
            <a:avLst/>
          </a:prstGeom>
          <a:noFill/>
          <a:ln cap="flat" cmpd="sng" w="38100">
            <a:solidFill>
              <a:srgbClr val="9E9E9E"/>
            </a:solidFill>
            <a:prstDash val="solid"/>
            <a:round/>
            <a:headEnd len="med" w="med" type="none"/>
            <a:tailEnd len="med" w="med" type="none"/>
          </a:ln>
        </p:spPr>
      </p:cxnSp>
      <p:sp>
        <p:nvSpPr>
          <p:cNvPr id="2458" name="Google Shape;2458;p226"/>
          <p:cNvSpPr/>
          <p:nvPr/>
        </p:nvSpPr>
        <p:spPr>
          <a:xfrm>
            <a:off x="2501698" y="3505022"/>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2459" name="Google Shape;2459;p226"/>
          <p:cNvSpPr/>
          <p:nvPr/>
        </p:nvSpPr>
        <p:spPr>
          <a:xfrm>
            <a:off x="1015322" y="3505009"/>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2460" name="Google Shape;2460;p226"/>
          <p:cNvPicPr preferRelativeResize="0"/>
          <p:nvPr/>
        </p:nvPicPr>
        <p:blipFill rotWithShape="1">
          <a:blip r:embed="rId3">
            <a:alphaModFix/>
          </a:blip>
          <a:srcRect b="10466" l="9327" r="4711" t="0"/>
          <a:stretch/>
        </p:blipFill>
        <p:spPr>
          <a:xfrm>
            <a:off x="1150017" y="2594187"/>
            <a:ext cx="551416" cy="392401"/>
          </a:xfrm>
          <a:prstGeom prst="rect">
            <a:avLst/>
          </a:prstGeom>
          <a:noFill/>
          <a:ln>
            <a:noFill/>
          </a:ln>
        </p:spPr>
      </p:pic>
      <p:pic>
        <p:nvPicPr>
          <p:cNvPr id="2461" name="Google Shape;2461;p226"/>
          <p:cNvPicPr preferRelativeResize="0"/>
          <p:nvPr/>
        </p:nvPicPr>
        <p:blipFill>
          <a:blip r:embed="rId4">
            <a:alphaModFix/>
          </a:blip>
          <a:stretch>
            <a:fillRect/>
          </a:stretch>
        </p:blipFill>
        <p:spPr>
          <a:xfrm>
            <a:off x="511725" y="1685275"/>
            <a:ext cx="3314700" cy="390525"/>
          </a:xfrm>
          <a:prstGeom prst="rect">
            <a:avLst/>
          </a:prstGeom>
          <a:noFill/>
          <a:ln>
            <a:noFill/>
          </a:ln>
        </p:spPr>
      </p:pic>
      <p:sp>
        <p:nvSpPr>
          <p:cNvPr id="2462" name="Google Shape;2462;p226"/>
          <p:cNvSpPr/>
          <p:nvPr/>
        </p:nvSpPr>
        <p:spPr>
          <a:xfrm>
            <a:off x="5757000" y="2075788"/>
            <a:ext cx="26259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2463" name="Google Shape;2463;p226"/>
          <p:cNvSpPr/>
          <p:nvPr/>
        </p:nvSpPr>
        <p:spPr>
          <a:xfrm>
            <a:off x="5974165" y="227874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2464" name="Google Shape;2464;p226"/>
          <p:cNvSpPr/>
          <p:nvPr/>
        </p:nvSpPr>
        <p:spPr>
          <a:xfrm>
            <a:off x="7460469" y="227874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2465" name="Google Shape;2465;p226"/>
          <p:cNvCxnSpPr>
            <a:stCxn id="2464" idx="2"/>
            <a:endCxn id="2463" idx="6"/>
          </p:cNvCxnSpPr>
          <p:nvPr/>
        </p:nvCxnSpPr>
        <p:spPr>
          <a:xfrm rot="10800000">
            <a:off x="6679269" y="2631240"/>
            <a:ext cx="781200" cy="0"/>
          </a:xfrm>
          <a:prstGeom prst="straightConnector1">
            <a:avLst/>
          </a:prstGeom>
          <a:noFill/>
          <a:ln cap="flat" cmpd="sng" w="28575">
            <a:solidFill>
              <a:srgbClr val="595959"/>
            </a:solidFill>
            <a:prstDash val="solid"/>
            <a:round/>
            <a:headEnd len="med" w="med" type="triangle"/>
            <a:tailEnd len="med" w="med" type="none"/>
          </a:ln>
        </p:spPr>
      </p:cxnSp>
      <p:sp>
        <p:nvSpPr>
          <p:cNvPr id="2466" name="Google Shape;2466;p226"/>
          <p:cNvSpPr/>
          <p:nvPr/>
        </p:nvSpPr>
        <p:spPr>
          <a:xfrm>
            <a:off x="7402573" y="3345872"/>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2467" name="Google Shape;2467;p226"/>
          <p:cNvSpPr/>
          <p:nvPr/>
        </p:nvSpPr>
        <p:spPr>
          <a:xfrm>
            <a:off x="5916197" y="3345859"/>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2468" name="Google Shape;2468;p226"/>
          <p:cNvPicPr preferRelativeResize="0"/>
          <p:nvPr/>
        </p:nvPicPr>
        <p:blipFill rotWithShape="1">
          <a:blip r:embed="rId3">
            <a:alphaModFix/>
          </a:blip>
          <a:srcRect b="10466" l="9327" r="4711" t="0"/>
          <a:stretch/>
        </p:blipFill>
        <p:spPr>
          <a:xfrm>
            <a:off x="6050892" y="2435037"/>
            <a:ext cx="551416" cy="392401"/>
          </a:xfrm>
          <a:prstGeom prst="rect">
            <a:avLst/>
          </a:prstGeom>
          <a:noFill/>
          <a:ln>
            <a:noFill/>
          </a:ln>
        </p:spPr>
      </p:pic>
      <p:pic>
        <p:nvPicPr>
          <p:cNvPr id="2469" name="Google Shape;2469;p226"/>
          <p:cNvPicPr preferRelativeResize="0"/>
          <p:nvPr/>
        </p:nvPicPr>
        <p:blipFill>
          <a:blip r:embed="rId5">
            <a:alphaModFix/>
          </a:blip>
          <a:stretch>
            <a:fillRect/>
          </a:stretch>
        </p:blipFill>
        <p:spPr>
          <a:xfrm>
            <a:off x="5460150" y="1585697"/>
            <a:ext cx="3219450" cy="390525"/>
          </a:xfrm>
          <a:prstGeom prst="rect">
            <a:avLst/>
          </a:prstGeom>
          <a:noFill/>
          <a:ln>
            <a:noFill/>
          </a:ln>
        </p:spPr>
      </p:pic>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3" name="Shape 2473"/>
        <p:cNvGrpSpPr/>
        <p:nvPr/>
      </p:nvGrpSpPr>
      <p:grpSpPr>
        <a:xfrm>
          <a:off x="0" y="0"/>
          <a:ext cx="0" cy="0"/>
          <a:chOff x="0" y="0"/>
          <a:chExt cx="0" cy="0"/>
        </a:xfrm>
      </p:grpSpPr>
      <p:sp>
        <p:nvSpPr>
          <p:cNvPr id="2474" name="Google Shape;2474;p227"/>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75" name="Google Shape;2475;p227"/>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VAE</a:t>
            </a:r>
            <a:endParaRPr/>
          </a:p>
        </p:txBody>
      </p:sp>
      <p:pic>
        <p:nvPicPr>
          <p:cNvPr id="2476" name="Google Shape;2476;p227"/>
          <p:cNvPicPr preferRelativeResize="0"/>
          <p:nvPr/>
        </p:nvPicPr>
        <p:blipFill>
          <a:blip r:embed="rId3">
            <a:alphaModFix/>
          </a:blip>
          <a:stretch>
            <a:fillRect/>
          </a:stretch>
        </p:blipFill>
        <p:spPr>
          <a:xfrm>
            <a:off x="844938" y="835675"/>
            <a:ext cx="7454123" cy="3619630"/>
          </a:xfrm>
          <a:prstGeom prst="rect">
            <a:avLst/>
          </a:prstGeom>
          <a:noFill/>
          <a:ln>
            <a:noFill/>
          </a:ln>
        </p:spPr>
      </p:pic>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0" name="Shape 2480"/>
        <p:cNvGrpSpPr/>
        <p:nvPr/>
      </p:nvGrpSpPr>
      <p:grpSpPr>
        <a:xfrm>
          <a:off x="0" y="0"/>
          <a:ext cx="0" cy="0"/>
          <a:chOff x="0" y="0"/>
          <a:chExt cx="0" cy="0"/>
        </a:xfrm>
      </p:grpSpPr>
      <p:sp>
        <p:nvSpPr>
          <p:cNvPr id="2481" name="Google Shape;2481;p228"/>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82" name="Google Shape;2482;p228"/>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Variational Autoencoder</a:t>
            </a:r>
            <a:endParaRPr/>
          </a:p>
        </p:txBody>
      </p:sp>
      <p:sp>
        <p:nvSpPr>
          <p:cNvPr id="2483" name="Google Shape;2483;p228"/>
          <p:cNvSpPr txBox="1"/>
          <p:nvPr/>
        </p:nvSpPr>
        <p:spPr>
          <a:xfrm>
            <a:off x="3155550" y="2423700"/>
            <a:ext cx="2258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Google Sans"/>
                <a:ea typeface="Google Sans"/>
                <a:cs typeface="Google Sans"/>
                <a:sym typeface="Google Sans"/>
              </a:rPr>
              <a:t>Distortion</a:t>
            </a:r>
            <a:endParaRPr sz="3000">
              <a:latin typeface="Google Sans"/>
              <a:ea typeface="Google Sans"/>
              <a:cs typeface="Google Sans"/>
              <a:sym typeface="Google Sans"/>
            </a:endParaRPr>
          </a:p>
        </p:txBody>
      </p:sp>
      <p:sp>
        <p:nvSpPr>
          <p:cNvPr id="2484" name="Google Shape;2484;p228"/>
          <p:cNvSpPr txBox="1"/>
          <p:nvPr/>
        </p:nvSpPr>
        <p:spPr>
          <a:xfrm>
            <a:off x="5755275" y="2423700"/>
            <a:ext cx="2258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Google Sans"/>
                <a:ea typeface="Google Sans"/>
                <a:cs typeface="Google Sans"/>
                <a:sym typeface="Google Sans"/>
              </a:rPr>
              <a:t>Rate</a:t>
            </a:r>
            <a:endParaRPr sz="3000">
              <a:latin typeface="Google Sans"/>
              <a:ea typeface="Google Sans"/>
              <a:cs typeface="Google Sans"/>
              <a:sym typeface="Google Sans"/>
            </a:endParaRPr>
          </a:p>
        </p:txBody>
      </p:sp>
      <p:sp>
        <p:nvSpPr>
          <p:cNvPr id="2485" name="Google Shape;2485;p228"/>
          <p:cNvSpPr txBox="1"/>
          <p:nvPr/>
        </p:nvSpPr>
        <p:spPr>
          <a:xfrm>
            <a:off x="3796800" y="3171275"/>
            <a:ext cx="975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600">
                <a:latin typeface="Google Sans"/>
                <a:ea typeface="Google Sans"/>
                <a:cs typeface="Google Sans"/>
                <a:sym typeface="Google Sans"/>
              </a:rPr>
              <a:t>D</a:t>
            </a:r>
            <a:endParaRPr sz="9600">
              <a:latin typeface="Google Sans"/>
              <a:ea typeface="Google Sans"/>
              <a:cs typeface="Google Sans"/>
              <a:sym typeface="Google Sans"/>
            </a:endParaRPr>
          </a:p>
        </p:txBody>
      </p:sp>
      <p:sp>
        <p:nvSpPr>
          <p:cNvPr id="2486" name="Google Shape;2486;p228"/>
          <p:cNvSpPr txBox="1"/>
          <p:nvPr/>
        </p:nvSpPr>
        <p:spPr>
          <a:xfrm>
            <a:off x="6396525" y="3171275"/>
            <a:ext cx="9759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600">
                <a:latin typeface="Google Sans"/>
                <a:ea typeface="Google Sans"/>
                <a:cs typeface="Google Sans"/>
                <a:sym typeface="Google Sans"/>
              </a:rPr>
              <a:t>R</a:t>
            </a:r>
            <a:endParaRPr sz="9600">
              <a:latin typeface="Google Sans"/>
              <a:ea typeface="Google Sans"/>
              <a:cs typeface="Google Sans"/>
              <a:sym typeface="Google Sans"/>
            </a:endParaRPr>
          </a:p>
        </p:txBody>
      </p:sp>
      <p:pic>
        <p:nvPicPr>
          <p:cNvPr id="2487" name="Google Shape;2487;p228"/>
          <p:cNvPicPr preferRelativeResize="0"/>
          <p:nvPr/>
        </p:nvPicPr>
        <p:blipFill>
          <a:blip r:embed="rId3">
            <a:alphaModFix/>
          </a:blip>
          <a:stretch>
            <a:fillRect/>
          </a:stretch>
        </p:blipFill>
        <p:spPr>
          <a:xfrm>
            <a:off x="1529525" y="1158200"/>
            <a:ext cx="6324600" cy="942975"/>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sp>
        <p:nvSpPr>
          <p:cNvPr id="2492" name="Google Shape;2492;p229"/>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Phase Diagram</a:t>
            </a:r>
            <a:endParaRPr sz="3000"/>
          </a:p>
        </p:txBody>
      </p:sp>
      <p:sp>
        <p:nvSpPr>
          <p:cNvPr id="2493" name="Google Shape;2493;p229"/>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Rate and Distortion are both positive semidefinite.</a:t>
            </a:r>
            <a:endParaRPr sz="1800"/>
          </a:p>
        </p:txBody>
      </p:sp>
      <p:sp>
        <p:nvSpPr>
          <p:cNvPr id="2494" name="Google Shape;2494;p229"/>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495" name="Google Shape;2495;p229"/>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496" name="Google Shape;2496;p229"/>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0" name="Shape 2500"/>
        <p:cNvGrpSpPr/>
        <p:nvPr/>
      </p:nvGrpSpPr>
      <p:grpSpPr>
        <a:xfrm>
          <a:off x="0" y="0"/>
          <a:ext cx="0" cy="0"/>
          <a:chOff x="0" y="0"/>
          <a:chExt cx="0" cy="0"/>
        </a:xfrm>
      </p:grpSpPr>
      <p:sp>
        <p:nvSpPr>
          <p:cNvPr id="2501" name="Google Shape;2501;p23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Mutual Information</a:t>
            </a:r>
            <a:endParaRPr/>
          </a:p>
        </p:txBody>
      </p:sp>
      <p:sp>
        <p:nvSpPr>
          <p:cNvPr id="2502" name="Google Shape;2502;p230"/>
          <p:cNvSpPr txBox="1"/>
          <p:nvPr>
            <p:ph idx="4294967295" type="body"/>
          </p:nvPr>
        </p:nvSpPr>
        <p:spPr>
          <a:xfrm>
            <a:off x="180900" y="2400543"/>
            <a:ext cx="8782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t>Symmetric, positive, reparameterization independent measure of co-dependence.</a:t>
            </a:r>
            <a:endParaRPr/>
          </a:p>
        </p:txBody>
      </p:sp>
      <p:sp>
        <p:nvSpPr>
          <p:cNvPr id="2503" name="Google Shape;2503;p2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04" name="Google Shape;2504;p230"/>
          <p:cNvSpPr/>
          <p:nvPr/>
        </p:nvSpPr>
        <p:spPr>
          <a:xfrm>
            <a:off x="7697443" y="1400600"/>
            <a:ext cx="1360200" cy="1360200"/>
          </a:xfrm>
          <a:prstGeom prst="ellipse">
            <a:avLst/>
          </a:prstGeom>
          <a:solidFill>
            <a:srgbClr val="51EA35">
              <a:alpha val="251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3200">
                <a:latin typeface="Google Sans"/>
                <a:ea typeface="Google Sans"/>
                <a:cs typeface="Google Sans"/>
                <a:sym typeface="Google Sans"/>
              </a:rPr>
              <a:t>Y</a:t>
            </a:r>
            <a:endParaRPr i="1" sz="3200">
              <a:latin typeface="Google Sans"/>
              <a:ea typeface="Google Sans"/>
              <a:cs typeface="Google Sans"/>
              <a:sym typeface="Google Sans"/>
            </a:endParaRPr>
          </a:p>
        </p:txBody>
      </p:sp>
      <p:sp>
        <p:nvSpPr>
          <p:cNvPr id="2505" name="Google Shape;2505;p230"/>
          <p:cNvSpPr/>
          <p:nvPr/>
        </p:nvSpPr>
        <p:spPr>
          <a:xfrm>
            <a:off x="6730968" y="1400600"/>
            <a:ext cx="1360200" cy="1360200"/>
          </a:xfrm>
          <a:prstGeom prst="ellipse">
            <a:avLst/>
          </a:prstGeom>
          <a:solidFill>
            <a:srgbClr val="BD0202">
              <a:alpha val="3073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sz="3200">
                <a:latin typeface="Google Sans"/>
                <a:ea typeface="Google Sans"/>
                <a:cs typeface="Google Sans"/>
                <a:sym typeface="Google Sans"/>
              </a:rPr>
              <a:t>X</a:t>
            </a:r>
            <a:endParaRPr i="1" sz="3200">
              <a:latin typeface="Google Sans"/>
              <a:ea typeface="Google Sans"/>
              <a:cs typeface="Google Sans"/>
              <a:sym typeface="Google Sans"/>
            </a:endParaRPr>
          </a:p>
        </p:txBody>
      </p:sp>
      <p:pic>
        <p:nvPicPr>
          <p:cNvPr id="2506" name="Google Shape;2506;p230"/>
          <p:cNvPicPr preferRelativeResize="0"/>
          <p:nvPr/>
        </p:nvPicPr>
        <p:blipFill>
          <a:blip r:embed="rId3">
            <a:alphaModFix/>
          </a:blip>
          <a:stretch>
            <a:fillRect/>
          </a:stretch>
        </p:blipFill>
        <p:spPr>
          <a:xfrm>
            <a:off x="703250" y="1350093"/>
            <a:ext cx="5324475" cy="942975"/>
          </a:xfrm>
          <a:prstGeom prst="rect">
            <a:avLst/>
          </a:prstGeom>
          <a:noFill/>
          <a:ln>
            <a:noFill/>
          </a:ln>
        </p:spPr>
      </p:pic>
      <p:pic>
        <p:nvPicPr>
          <p:cNvPr id="2507" name="Google Shape;2507;p230"/>
          <p:cNvPicPr preferRelativeResize="0"/>
          <p:nvPr/>
        </p:nvPicPr>
        <p:blipFill>
          <a:blip r:embed="rId4">
            <a:alphaModFix/>
          </a:blip>
          <a:stretch>
            <a:fillRect/>
          </a:stretch>
        </p:blipFill>
        <p:spPr>
          <a:xfrm>
            <a:off x="1095375" y="2973243"/>
            <a:ext cx="6953250" cy="942975"/>
          </a:xfrm>
          <a:prstGeom prst="rect">
            <a:avLst/>
          </a:prstGeom>
          <a:noFill/>
          <a:ln>
            <a:noFill/>
          </a:ln>
        </p:spPr>
      </p:pic>
      <p:pic>
        <p:nvPicPr>
          <p:cNvPr id="2508" name="Google Shape;2508;p230"/>
          <p:cNvPicPr preferRelativeResize="0"/>
          <p:nvPr/>
        </p:nvPicPr>
        <p:blipFill>
          <a:blip r:embed="rId5">
            <a:alphaModFix/>
          </a:blip>
          <a:stretch>
            <a:fillRect/>
          </a:stretch>
        </p:blipFill>
        <p:spPr>
          <a:xfrm>
            <a:off x="152400" y="4408018"/>
            <a:ext cx="8839202" cy="255216"/>
          </a:xfrm>
          <a:prstGeom prst="rect">
            <a:avLst/>
          </a:prstGeom>
          <a:noFill/>
          <a:ln>
            <a:noFill/>
          </a:ln>
        </p:spPr>
      </p:pic>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2" name="Shape 2512"/>
        <p:cNvGrpSpPr/>
        <p:nvPr/>
      </p:nvGrpSpPr>
      <p:grpSpPr>
        <a:xfrm>
          <a:off x="0" y="0"/>
          <a:ext cx="0" cy="0"/>
          <a:chOff x="0" y="0"/>
          <a:chExt cx="0" cy="0"/>
        </a:xfrm>
      </p:grpSpPr>
      <p:sp>
        <p:nvSpPr>
          <p:cNvPr id="2513" name="Google Shape;2513;p23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Bounds</a:t>
            </a:r>
            <a:endParaRPr/>
          </a:p>
        </p:txBody>
      </p:sp>
      <p:pic>
        <p:nvPicPr>
          <p:cNvPr id="2514" name="Google Shape;2514;p231"/>
          <p:cNvPicPr preferRelativeResize="0"/>
          <p:nvPr/>
        </p:nvPicPr>
        <p:blipFill>
          <a:blip r:embed="rId3">
            <a:alphaModFix/>
          </a:blip>
          <a:stretch>
            <a:fillRect/>
          </a:stretch>
        </p:blipFill>
        <p:spPr>
          <a:xfrm>
            <a:off x="152400" y="1474925"/>
            <a:ext cx="8839199" cy="622833"/>
          </a:xfrm>
          <a:prstGeom prst="rect">
            <a:avLst/>
          </a:prstGeom>
          <a:noFill/>
          <a:ln>
            <a:noFill/>
          </a:ln>
        </p:spPr>
      </p:pic>
      <p:pic>
        <p:nvPicPr>
          <p:cNvPr id="2515" name="Google Shape;2515;p231"/>
          <p:cNvPicPr preferRelativeResize="0"/>
          <p:nvPr/>
        </p:nvPicPr>
        <p:blipFill>
          <a:blip r:embed="rId4">
            <a:alphaModFix/>
          </a:blip>
          <a:stretch>
            <a:fillRect/>
          </a:stretch>
        </p:blipFill>
        <p:spPr>
          <a:xfrm>
            <a:off x="152400" y="3259508"/>
            <a:ext cx="8839199" cy="529069"/>
          </a:xfrm>
          <a:prstGeom prst="rect">
            <a:avLst/>
          </a:prstGeom>
          <a:noFill/>
          <a:ln>
            <a:noFill/>
          </a:ln>
        </p:spPr>
      </p:pic>
      <p:sp>
        <p:nvSpPr>
          <p:cNvPr id="2516" name="Google Shape;2516;p231"/>
          <p:cNvSpPr txBox="1"/>
          <p:nvPr/>
        </p:nvSpPr>
        <p:spPr>
          <a:xfrm>
            <a:off x="566575" y="2124675"/>
            <a:ext cx="74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Replacing the thing downstairs gives an upper bound</a:t>
            </a:r>
            <a:endParaRPr>
              <a:latin typeface="Google Sans"/>
              <a:ea typeface="Google Sans"/>
              <a:cs typeface="Google Sans"/>
              <a:sym typeface="Google Sans"/>
            </a:endParaRPr>
          </a:p>
        </p:txBody>
      </p:sp>
      <p:sp>
        <p:nvSpPr>
          <p:cNvPr id="2517" name="Google Shape;2517;p231"/>
          <p:cNvSpPr txBox="1"/>
          <p:nvPr/>
        </p:nvSpPr>
        <p:spPr>
          <a:xfrm>
            <a:off x="566575" y="4110575"/>
            <a:ext cx="7420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Replacing the thing upstairs gives a lower bound</a:t>
            </a:r>
            <a:endParaRPr>
              <a:latin typeface="Google Sans"/>
              <a:ea typeface="Google Sans"/>
              <a:cs typeface="Google Sans"/>
              <a:sym typeface="Google San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1" name="Shape 2521"/>
        <p:cNvGrpSpPr/>
        <p:nvPr/>
      </p:nvGrpSpPr>
      <p:grpSpPr>
        <a:xfrm>
          <a:off x="0" y="0"/>
          <a:ext cx="0" cy="0"/>
          <a:chOff x="0" y="0"/>
          <a:chExt cx="0" cy="0"/>
        </a:xfrm>
      </p:grpSpPr>
      <p:sp>
        <p:nvSpPr>
          <p:cNvPr id="2522" name="Google Shape;2522;p232"/>
          <p:cNvSpPr txBox="1"/>
          <p:nvPr>
            <p:ph idx="2" type="title"/>
          </p:nvPr>
        </p:nvSpPr>
        <p:spPr>
          <a:xfrm>
            <a:off x="417675" y="341875"/>
            <a:ext cx="79182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sz="3000"/>
          </a:p>
          <a:p>
            <a:pPr indent="0" lvl="0" marL="0" rtl="0" algn="l">
              <a:spcBef>
                <a:spcPts val="0"/>
              </a:spcBef>
              <a:spcAft>
                <a:spcPts val="0"/>
              </a:spcAft>
              <a:buNone/>
            </a:pPr>
            <a:r>
              <a:t/>
            </a:r>
            <a:endParaRPr/>
          </a:p>
        </p:txBody>
      </p:sp>
      <p:sp>
        <p:nvSpPr>
          <p:cNvPr id="2523" name="Google Shape;2523;p232"/>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Clr>
                <a:srgbClr val="000000"/>
              </a:buClr>
              <a:buSzPct val="1200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524" name="Google Shape;2524;p232"/>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pic>
        <p:nvPicPr>
          <p:cNvPr id="2525" name="Google Shape;2525;p232"/>
          <p:cNvPicPr preferRelativeResize="0"/>
          <p:nvPr/>
        </p:nvPicPr>
        <p:blipFill>
          <a:blip r:embed="rId3">
            <a:alphaModFix/>
          </a:blip>
          <a:stretch>
            <a:fillRect/>
          </a:stretch>
        </p:blipFill>
        <p:spPr>
          <a:xfrm>
            <a:off x="1647863" y="1679488"/>
            <a:ext cx="5457825" cy="657225"/>
          </a:xfrm>
          <a:prstGeom prst="rect">
            <a:avLst/>
          </a:prstGeom>
          <a:noFill/>
          <a:ln>
            <a:noFill/>
          </a:ln>
        </p:spPr>
      </p:pic>
      <p:pic>
        <p:nvPicPr>
          <p:cNvPr id="2526" name="Google Shape;2526;p232"/>
          <p:cNvPicPr preferRelativeResize="0"/>
          <p:nvPr/>
        </p:nvPicPr>
        <p:blipFill>
          <a:blip r:embed="rId4">
            <a:alphaModFix/>
          </a:blip>
          <a:stretch>
            <a:fillRect/>
          </a:stretch>
        </p:blipFill>
        <p:spPr>
          <a:xfrm>
            <a:off x="4899688" y="3180538"/>
            <a:ext cx="447675" cy="371475"/>
          </a:xfrm>
          <a:prstGeom prst="rect">
            <a:avLst/>
          </a:prstGeom>
          <a:noFill/>
          <a:ln>
            <a:noFill/>
          </a:ln>
        </p:spPr>
      </p:pic>
      <p:pic>
        <p:nvPicPr>
          <p:cNvPr id="2527" name="Google Shape;2527;p232"/>
          <p:cNvPicPr preferRelativeResize="0"/>
          <p:nvPr/>
        </p:nvPicPr>
        <p:blipFill>
          <a:blip r:embed="rId5">
            <a:alphaModFix/>
          </a:blip>
          <a:stretch>
            <a:fillRect/>
          </a:stretch>
        </p:blipFill>
        <p:spPr>
          <a:xfrm>
            <a:off x="770350" y="3976900"/>
            <a:ext cx="409575" cy="371475"/>
          </a:xfrm>
          <a:prstGeom prst="rect">
            <a:avLst/>
          </a:prstGeom>
          <a:noFill/>
          <a:ln>
            <a:noFill/>
          </a:ln>
        </p:spPr>
      </p:pic>
      <p:pic>
        <p:nvPicPr>
          <p:cNvPr id="2528" name="Google Shape;2528;p232"/>
          <p:cNvPicPr preferRelativeResize="0"/>
          <p:nvPr/>
        </p:nvPicPr>
        <p:blipFill>
          <a:blip r:embed="rId6">
            <a:alphaModFix/>
          </a:blip>
          <a:stretch>
            <a:fillRect/>
          </a:stretch>
        </p:blipFill>
        <p:spPr>
          <a:xfrm>
            <a:off x="4933025" y="3967363"/>
            <a:ext cx="381000" cy="390525"/>
          </a:xfrm>
          <a:prstGeom prst="rect">
            <a:avLst/>
          </a:prstGeom>
          <a:noFill/>
          <a:ln>
            <a:noFill/>
          </a:ln>
        </p:spPr>
      </p:pic>
      <p:pic>
        <p:nvPicPr>
          <p:cNvPr id="2529" name="Google Shape;2529;p232"/>
          <p:cNvPicPr preferRelativeResize="0"/>
          <p:nvPr/>
        </p:nvPicPr>
        <p:blipFill>
          <a:blip r:embed="rId7">
            <a:alphaModFix/>
          </a:blip>
          <a:stretch>
            <a:fillRect/>
          </a:stretch>
        </p:blipFill>
        <p:spPr>
          <a:xfrm>
            <a:off x="851313" y="3193688"/>
            <a:ext cx="247650" cy="371475"/>
          </a:xfrm>
          <a:prstGeom prst="rect">
            <a:avLst/>
          </a:prstGeom>
          <a:noFill/>
          <a:ln>
            <a:noFill/>
          </a:ln>
        </p:spPr>
      </p:pic>
      <p:sp>
        <p:nvSpPr>
          <p:cNvPr id="2530" name="Google Shape;2530;p232"/>
          <p:cNvSpPr txBox="1"/>
          <p:nvPr/>
        </p:nvSpPr>
        <p:spPr>
          <a:xfrm>
            <a:off x="1338725" y="3158900"/>
            <a:ext cx="2805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Google Sans"/>
                <a:ea typeface="Google Sans"/>
                <a:cs typeface="Google Sans"/>
                <a:sym typeface="Google Sans"/>
              </a:rPr>
              <a:t>Mutual Information</a:t>
            </a:r>
            <a:endParaRPr sz="1800">
              <a:latin typeface="Google Sans"/>
              <a:ea typeface="Google Sans"/>
              <a:cs typeface="Google Sans"/>
              <a:sym typeface="Google Sans"/>
            </a:endParaRPr>
          </a:p>
        </p:txBody>
      </p:sp>
      <p:sp>
        <p:nvSpPr>
          <p:cNvPr id="2531" name="Google Shape;2531;p232"/>
          <p:cNvSpPr txBox="1"/>
          <p:nvPr/>
        </p:nvSpPr>
        <p:spPr>
          <a:xfrm>
            <a:off x="5577300" y="3119388"/>
            <a:ext cx="2805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Google Sans"/>
                <a:ea typeface="Google Sans"/>
                <a:cs typeface="Google Sans"/>
                <a:sym typeface="Google Sans"/>
              </a:rPr>
              <a:t>Data Entropy</a:t>
            </a:r>
            <a:endParaRPr sz="1800">
              <a:latin typeface="Google Sans"/>
              <a:ea typeface="Google Sans"/>
              <a:cs typeface="Google Sans"/>
              <a:sym typeface="Google Sans"/>
            </a:endParaRPr>
          </a:p>
        </p:txBody>
      </p:sp>
      <p:sp>
        <p:nvSpPr>
          <p:cNvPr id="2532" name="Google Shape;2532;p232"/>
          <p:cNvSpPr txBox="1"/>
          <p:nvPr/>
        </p:nvSpPr>
        <p:spPr>
          <a:xfrm>
            <a:off x="1338725" y="3959488"/>
            <a:ext cx="2805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Google Sans"/>
                <a:ea typeface="Google Sans"/>
                <a:cs typeface="Google Sans"/>
                <a:sym typeface="Google Sans"/>
              </a:rPr>
              <a:t>Distortion</a:t>
            </a:r>
            <a:endParaRPr sz="1800">
              <a:latin typeface="Google Sans"/>
              <a:ea typeface="Google Sans"/>
              <a:cs typeface="Google Sans"/>
              <a:sym typeface="Google Sans"/>
            </a:endParaRPr>
          </a:p>
        </p:txBody>
      </p:sp>
      <p:sp>
        <p:nvSpPr>
          <p:cNvPr id="2533" name="Google Shape;2533;p232"/>
          <p:cNvSpPr txBox="1"/>
          <p:nvPr/>
        </p:nvSpPr>
        <p:spPr>
          <a:xfrm>
            <a:off x="5577300" y="3959488"/>
            <a:ext cx="28056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Google Sans"/>
                <a:ea typeface="Google Sans"/>
                <a:cs typeface="Google Sans"/>
                <a:sym typeface="Google Sans"/>
              </a:rPr>
              <a:t>Rate</a:t>
            </a:r>
            <a:endParaRPr sz="1800">
              <a:latin typeface="Google Sans"/>
              <a:ea typeface="Google Sans"/>
              <a:cs typeface="Google Sans"/>
              <a:sym typeface="Google Sans"/>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7" name="Shape 2537"/>
        <p:cNvGrpSpPr/>
        <p:nvPr/>
      </p:nvGrpSpPr>
      <p:grpSpPr>
        <a:xfrm>
          <a:off x="0" y="0"/>
          <a:ext cx="0" cy="0"/>
          <a:chOff x="0" y="0"/>
          <a:chExt cx="0" cy="0"/>
        </a:xfrm>
      </p:grpSpPr>
      <p:sp>
        <p:nvSpPr>
          <p:cNvPr id="2538" name="Google Shape;2538;p233"/>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Feasible Region</a:t>
            </a:r>
            <a:endParaRPr sz="3000"/>
          </a:p>
        </p:txBody>
      </p:sp>
      <p:sp>
        <p:nvSpPr>
          <p:cNvPr id="2539" name="Google Shape;2539;p233"/>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540" name="Google Shape;2540;p233"/>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41" name="Google Shape;2541;p233"/>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pic>
        <p:nvPicPr>
          <p:cNvPr id="2542" name="Google Shape;2542;p233"/>
          <p:cNvPicPr preferRelativeResize="0"/>
          <p:nvPr/>
        </p:nvPicPr>
        <p:blipFill>
          <a:blip r:embed="rId4">
            <a:alphaModFix/>
          </a:blip>
          <a:stretch>
            <a:fillRect/>
          </a:stretch>
        </p:blipFill>
        <p:spPr>
          <a:xfrm>
            <a:off x="271287" y="1283725"/>
            <a:ext cx="4100674" cy="493800"/>
          </a:xfrm>
          <a:prstGeom prst="rect">
            <a:avLst/>
          </a:prstGeom>
          <a:noFill/>
          <a:ln>
            <a:noFill/>
          </a:ln>
        </p:spPr>
      </p:pic>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p234"/>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Extremes</a:t>
            </a:r>
            <a:endParaRPr/>
          </a:p>
        </p:txBody>
      </p:sp>
      <p:sp>
        <p:nvSpPr>
          <p:cNvPr id="2548" name="Google Shape;2548;p234"/>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Ideal autoencoders do lossless compression.</a:t>
            </a:r>
            <a:endParaRPr/>
          </a:p>
          <a:p>
            <a:pPr indent="-311150" lvl="0" marL="457200" rtl="0" algn="l">
              <a:spcBef>
                <a:spcPts val="0"/>
              </a:spcBef>
              <a:spcAft>
                <a:spcPts val="0"/>
              </a:spcAft>
              <a:buSzPts val="1300"/>
              <a:buChar char="●"/>
            </a:pPr>
            <a:r>
              <a:rPr lang="en"/>
              <a:t>Ideal "autodecoders" are perfect latent-less generative models.</a:t>
            </a:r>
            <a:endParaRPr/>
          </a:p>
          <a:p>
            <a:pPr indent="-311150" lvl="0" marL="457200" rtl="0" algn="l">
              <a:spcBef>
                <a:spcPts val="0"/>
              </a:spcBef>
              <a:spcAft>
                <a:spcPts val="0"/>
              </a:spcAft>
              <a:buSzPts val="1300"/>
              <a:buChar char="●"/>
            </a:pPr>
            <a:r>
              <a:rPr lang="en"/>
              <a:t>All points on diagonal line have equivalent ELBO.</a:t>
            </a:r>
            <a:endParaRPr/>
          </a:p>
        </p:txBody>
      </p:sp>
      <p:sp>
        <p:nvSpPr>
          <p:cNvPr id="2549" name="Google Shape;2549;p234"/>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Fixing a Broken ELBO arXiv: 1711.00464</a:t>
            </a:r>
            <a:endParaRPr/>
          </a:p>
        </p:txBody>
      </p:sp>
      <p:sp>
        <p:nvSpPr>
          <p:cNvPr id="2550" name="Google Shape;2550;p234"/>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51" name="Google Shape;2551;p234"/>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5" name="Shape 2555"/>
        <p:cNvGrpSpPr/>
        <p:nvPr/>
      </p:nvGrpSpPr>
      <p:grpSpPr>
        <a:xfrm>
          <a:off x="0" y="0"/>
          <a:ext cx="0" cy="0"/>
          <a:chOff x="0" y="0"/>
          <a:chExt cx="0" cy="0"/>
        </a:xfrm>
      </p:grpSpPr>
      <p:sp>
        <p:nvSpPr>
          <p:cNvPr id="2556" name="Google Shape;2556;p235"/>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Finite Family</a:t>
            </a:r>
            <a:endParaRPr/>
          </a:p>
        </p:txBody>
      </p:sp>
      <p:sp>
        <p:nvSpPr>
          <p:cNvPr id="2557" name="Google Shape;2557;p235"/>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Realizable frontier is a relaxation of the infinite model family limit.</a:t>
            </a:r>
            <a:endParaRPr/>
          </a:p>
        </p:txBody>
      </p:sp>
      <p:sp>
        <p:nvSpPr>
          <p:cNvPr id="2558" name="Google Shape;2558;p235"/>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559" name="Google Shape;2559;p235"/>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60" name="Google Shape;2560;p235"/>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pic>
        <p:nvPicPr>
          <p:cNvPr id="2561" name="Google Shape;2561;p235"/>
          <p:cNvPicPr preferRelativeResize="0"/>
          <p:nvPr/>
        </p:nvPicPr>
        <p:blipFill>
          <a:blip r:embed="rId4">
            <a:alphaModFix/>
          </a:blip>
          <a:stretch>
            <a:fillRect/>
          </a:stretch>
        </p:blipFill>
        <p:spPr>
          <a:xfrm>
            <a:off x="211825" y="2860988"/>
            <a:ext cx="4219575" cy="457200"/>
          </a:xfrm>
          <a:prstGeom prst="rect">
            <a:avLst/>
          </a:prstGeom>
          <a:noFill/>
          <a:ln>
            <a:noFill/>
          </a:ln>
        </p:spPr>
      </p:pic>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5" name="Shape 2565"/>
        <p:cNvGrpSpPr/>
        <p:nvPr/>
      </p:nvGrpSpPr>
      <p:grpSpPr>
        <a:xfrm>
          <a:off x="0" y="0"/>
          <a:ext cx="0" cy="0"/>
          <a:chOff x="0" y="0"/>
          <a:chExt cx="0" cy="0"/>
        </a:xfrm>
      </p:grpSpPr>
      <p:sp>
        <p:nvSpPr>
          <p:cNvPr id="2566" name="Google Shape;2566;p236"/>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β-VAE</a:t>
            </a:r>
            <a:endParaRPr/>
          </a:p>
        </p:txBody>
      </p:sp>
      <p:sp>
        <p:nvSpPr>
          <p:cNvPr id="2567" name="Google Shape;2567;p236"/>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1200"/>
              </a:spcAft>
              <a:buNone/>
            </a:pPr>
            <a:r>
              <a:rPr lang="en"/>
              <a:t>Trace out curve.</a:t>
            </a:r>
            <a:endParaRPr/>
          </a:p>
        </p:txBody>
      </p:sp>
      <p:sp>
        <p:nvSpPr>
          <p:cNvPr id="2568" name="Google Shape;2568;p236"/>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569" name="Google Shape;2569;p23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70" name="Google Shape;2570;p236"/>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pic>
        <p:nvPicPr>
          <p:cNvPr id="2571" name="Google Shape;2571;p236"/>
          <p:cNvPicPr preferRelativeResize="0"/>
          <p:nvPr/>
        </p:nvPicPr>
        <p:blipFill>
          <a:blip r:embed="rId4">
            <a:alphaModFix/>
          </a:blip>
          <a:stretch>
            <a:fillRect/>
          </a:stretch>
        </p:blipFill>
        <p:spPr>
          <a:xfrm>
            <a:off x="930963" y="2051200"/>
            <a:ext cx="2781300" cy="495300"/>
          </a:xfrm>
          <a:prstGeom prst="rect">
            <a:avLst/>
          </a:prstGeom>
          <a:noFill/>
          <a:ln>
            <a:noFill/>
          </a:ln>
        </p:spPr>
      </p:pic>
      <p:pic>
        <p:nvPicPr>
          <p:cNvPr id="2572" name="Google Shape;2572;p236"/>
          <p:cNvPicPr preferRelativeResize="0"/>
          <p:nvPr/>
        </p:nvPicPr>
        <p:blipFill>
          <a:blip r:embed="rId5">
            <a:alphaModFix/>
          </a:blip>
          <a:stretch>
            <a:fillRect/>
          </a:stretch>
        </p:blipFill>
        <p:spPr>
          <a:xfrm>
            <a:off x="297550" y="2958813"/>
            <a:ext cx="4048125" cy="428625"/>
          </a:xfrm>
          <a:prstGeom prst="rect">
            <a:avLst/>
          </a:prstGeom>
          <a:noFill/>
          <a:ln>
            <a:noFill/>
          </a:ln>
        </p:spPr>
      </p:pic>
      <p:pic>
        <p:nvPicPr>
          <p:cNvPr id="2573" name="Google Shape;2573;p236"/>
          <p:cNvPicPr preferRelativeResize="0"/>
          <p:nvPr/>
        </p:nvPicPr>
        <p:blipFill>
          <a:blip r:embed="rId6">
            <a:alphaModFix/>
          </a:blip>
          <a:stretch>
            <a:fillRect/>
          </a:stretch>
        </p:blipFill>
        <p:spPr>
          <a:xfrm>
            <a:off x="1397700" y="3542275"/>
            <a:ext cx="1847850" cy="1114425"/>
          </a:xfrm>
          <a:prstGeom prst="rect">
            <a:avLst/>
          </a:prstGeom>
          <a:noFill/>
          <a:ln>
            <a:noFill/>
          </a:ln>
        </p:spPr>
      </p:pic>
      <p:sp>
        <p:nvSpPr>
          <p:cNvPr id="2574" name="Google Shape;2574;p236"/>
          <p:cNvSpPr txBox="1"/>
          <p:nvPr/>
        </p:nvSpPr>
        <p:spPr>
          <a:xfrm>
            <a:off x="417675" y="835675"/>
            <a:ext cx="40689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666666"/>
                </a:solidFill>
                <a:latin typeface="Roboto"/>
                <a:ea typeface="Roboto"/>
                <a:cs typeface="Roboto"/>
                <a:sym typeface="Roboto"/>
              </a:rPr>
              <a:t>(beta-VAE... - Higgins et al. 2017)</a:t>
            </a:r>
            <a:endParaRPr i="1" sz="1200">
              <a:solidFill>
                <a:srgbClr val="666666"/>
              </a:solidFill>
              <a:latin typeface="Roboto"/>
              <a:ea typeface="Roboto"/>
              <a:cs typeface="Roboto"/>
              <a:sym typeface="Roboto"/>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8" name="Shape 2578"/>
        <p:cNvGrpSpPr/>
        <p:nvPr/>
      </p:nvGrpSpPr>
      <p:grpSpPr>
        <a:xfrm>
          <a:off x="0" y="0"/>
          <a:ext cx="0" cy="0"/>
          <a:chOff x="0" y="0"/>
          <a:chExt cx="0" cy="0"/>
        </a:xfrm>
      </p:grpSpPr>
      <p:sp>
        <p:nvSpPr>
          <p:cNvPr id="2579" name="Google Shape;2579;p237"/>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Architecture</a:t>
            </a:r>
            <a:endParaRPr/>
          </a:p>
        </p:txBody>
      </p:sp>
      <p:sp>
        <p:nvSpPr>
          <p:cNvPr id="2580" name="Google Shape;2580;p237"/>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optimal ELBO point is a strong</a:t>
            </a:r>
            <a:endParaRPr/>
          </a:p>
          <a:p>
            <a:pPr indent="0" lvl="0" marL="0" rtl="0" algn="l">
              <a:spcBef>
                <a:spcPts val="1200"/>
              </a:spcBef>
              <a:spcAft>
                <a:spcPts val="1200"/>
              </a:spcAft>
              <a:buNone/>
            </a:pPr>
            <a:r>
              <a:rPr lang="en"/>
              <a:t>function of relative architectural power.</a:t>
            </a:r>
            <a:endParaRPr/>
          </a:p>
        </p:txBody>
      </p:sp>
      <p:sp>
        <p:nvSpPr>
          <p:cNvPr id="2581" name="Google Shape;2581;p237"/>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582" name="Google Shape;2582;p237"/>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83" name="Google Shape;2583;p237"/>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7" name="Shape 2587"/>
        <p:cNvGrpSpPr/>
        <p:nvPr/>
      </p:nvGrpSpPr>
      <p:grpSpPr>
        <a:xfrm>
          <a:off x="0" y="0"/>
          <a:ext cx="0" cy="0"/>
          <a:chOff x="0" y="0"/>
          <a:chExt cx="0" cy="0"/>
        </a:xfrm>
      </p:grpSpPr>
      <p:sp>
        <p:nvSpPr>
          <p:cNvPr id="2588" name="Google Shape;2588;p238"/>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Phase Diagram</a:t>
            </a:r>
            <a:endParaRPr/>
          </a:p>
        </p:txBody>
      </p:sp>
      <p:sp>
        <p:nvSpPr>
          <p:cNvPr id="2589" name="Google Shape;2589;p238"/>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Instead of changing architecture, explore frontier.</a:t>
            </a:r>
            <a:endParaRPr/>
          </a:p>
        </p:txBody>
      </p:sp>
      <p:sp>
        <p:nvSpPr>
          <p:cNvPr id="2590" name="Google Shape;2590;p238"/>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Fixing a Broken ELBO arXiv: 1711.00464</a:t>
            </a:r>
            <a:endParaRPr/>
          </a:p>
        </p:txBody>
      </p:sp>
      <p:sp>
        <p:nvSpPr>
          <p:cNvPr id="2591" name="Google Shape;2591;p238"/>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592" name="Google Shape;2592;p238"/>
          <p:cNvPicPr preferRelativeResize="0"/>
          <p:nvPr/>
        </p:nvPicPr>
        <p:blipFill rotWithShape="1">
          <a:blip r:embed="rId3">
            <a:alphaModFix/>
          </a:blip>
          <a:srcRect b="0" l="0" r="0" t="0"/>
          <a:stretch/>
        </p:blipFill>
        <p:spPr>
          <a:xfrm>
            <a:off x="4584202" y="520625"/>
            <a:ext cx="4559791" cy="4469579"/>
          </a:xfrm>
          <a:prstGeom prst="rect">
            <a:avLst/>
          </a:prstGeom>
          <a:noFill/>
          <a:ln>
            <a:noFill/>
          </a:ln>
        </p:spPr>
      </p:pic>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6" name="Shape 2596"/>
        <p:cNvGrpSpPr/>
        <p:nvPr/>
      </p:nvGrpSpPr>
      <p:grpSpPr>
        <a:xfrm>
          <a:off x="0" y="0"/>
          <a:ext cx="0" cy="0"/>
          <a:chOff x="0" y="0"/>
          <a:chExt cx="0" cy="0"/>
        </a:xfrm>
      </p:grpSpPr>
      <p:sp>
        <p:nvSpPr>
          <p:cNvPr id="2597" name="Google Shape;2597;p239"/>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 Sweep</a:t>
            </a:r>
            <a:endParaRPr sz="3000"/>
          </a:p>
        </p:txBody>
      </p:sp>
      <p:sp>
        <p:nvSpPr>
          <p:cNvPr id="2598" name="Google Shape;2598;p239"/>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599" name="Google Shape;2599;p239"/>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00" name="Google Shape;2600;p239"/>
          <p:cNvPicPr preferRelativeResize="0"/>
          <p:nvPr/>
        </p:nvPicPr>
        <p:blipFill rotWithShape="1">
          <a:blip r:embed="rId3">
            <a:alphaModFix/>
          </a:blip>
          <a:srcRect b="0" l="30" r="30" t="0"/>
          <a:stretch/>
        </p:blipFill>
        <p:spPr>
          <a:xfrm>
            <a:off x="4530375" y="953000"/>
            <a:ext cx="4613623" cy="3569160"/>
          </a:xfrm>
          <a:prstGeom prst="rect">
            <a:avLst/>
          </a:prstGeom>
          <a:noFill/>
          <a:ln>
            <a:noFill/>
          </a:ln>
        </p:spPr>
      </p:pic>
      <p:sp>
        <p:nvSpPr>
          <p:cNvPr id="2601" name="Google Shape;2601;p239"/>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
        <p:nvSpPr>
          <p:cNvPr id="2602" name="Google Shape;2602;p239"/>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Tracing out 𝛽 traces out a curve.</a:t>
            </a:r>
            <a:endParaRPr sz="1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6" name="Shape 2606"/>
        <p:cNvGrpSpPr/>
        <p:nvPr/>
      </p:nvGrpSpPr>
      <p:grpSpPr>
        <a:xfrm>
          <a:off x="0" y="0"/>
          <a:ext cx="0" cy="0"/>
          <a:chOff x="0" y="0"/>
          <a:chExt cx="0" cy="0"/>
        </a:xfrm>
      </p:grpSpPr>
      <p:sp>
        <p:nvSpPr>
          <p:cNvPr id="2607" name="Google Shape;2607;p240"/>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Roboto Mono"/>
                <a:ea typeface="Roboto Mono"/>
                <a:cs typeface="Roboto Mono"/>
                <a:sym typeface="Roboto Mono"/>
              </a:rPr>
              <a:t>+++</a:t>
            </a:r>
            <a:r>
              <a:rPr lang="en"/>
              <a:t> Sweep</a:t>
            </a:r>
            <a:endParaRPr sz="3000"/>
          </a:p>
        </p:txBody>
      </p:sp>
      <p:sp>
        <p:nvSpPr>
          <p:cNvPr id="2608" name="Google Shape;2608;p240"/>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609" name="Google Shape;2609;p240"/>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10" name="Google Shape;2610;p240"/>
          <p:cNvPicPr preferRelativeResize="0"/>
          <p:nvPr/>
        </p:nvPicPr>
        <p:blipFill rotWithShape="1">
          <a:blip r:embed="rId3">
            <a:alphaModFix/>
          </a:blip>
          <a:srcRect b="0" l="30" r="30" t="0"/>
          <a:stretch/>
        </p:blipFill>
        <p:spPr>
          <a:xfrm>
            <a:off x="4530375" y="953000"/>
            <a:ext cx="4613623" cy="3569160"/>
          </a:xfrm>
          <a:prstGeom prst="rect">
            <a:avLst/>
          </a:prstGeom>
          <a:noFill/>
          <a:ln>
            <a:noFill/>
          </a:ln>
        </p:spPr>
      </p:pic>
      <p:sp>
        <p:nvSpPr>
          <p:cNvPr id="2611" name="Google Shape;2611;p240"/>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
        <p:nvSpPr>
          <p:cNvPr id="2612" name="Google Shape;2612;p240"/>
          <p:cNvSpPr txBox="1"/>
          <p:nvPr>
            <p:ph idx="1" type="subTitle"/>
          </p:nvPr>
        </p:nvSpPr>
        <p:spPr>
          <a:xfrm>
            <a:off x="417675" y="1076325"/>
            <a:ext cx="3807900" cy="33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Tracing out 𝛽 traces out a curve.</a:t>
            </a:r>
            <a:endParaRPr sz="1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6" name="Shape 2616"/>
        <p:cNvGrpSpPr/>
        <p:nvPr/>
      </p:nvGrpSpPr>
      <p:grpSpPr>
        <a:xfrm>
          <a:off x="0" y="0"/>
          <a:ext cx="0" cy="0"/>
          <a:chOff x="0" y="0"/>
          <a:chExt cx="0" cy="0"/>
        </a:xfrm>
      </p:grpSpPr>
      <p:sp>
        <p:nvSpPr>
          <p:cNvPr id="2617" name="Google Shape;2617;p241"/>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All Runs</a:t>
            </a:r>
            <a:endParaRPr sz="3000"/>
          </a:p>
        </p:txBody>
      </p:sp>
      <p:sp>
        <p:nvSpPr>
          <p:cNvPr id="2618" name="Google Shape;2618;p241"/>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619" name="Google Shape;2619;p241"/>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20" name="Google Shape;2620;p241"/>
          <p:cNvPicPr preferRelativeResize="0"/>
          <p:nvPr/>
        </p:nvPicPr>
        <p:blipFill rotWithShape="1">
          <a:blip r:embed="rId3">
            <a:alphaModFix/>
          </a:blip>
          <a:srcRect b="0" l="30" r="30" t="0"/>
          <a:stretch/>
        </p:blipFill>
        <p:spPr>
          <a:xfrm>
            <a:off x="4530375" y="953000"/>
            <a:ext cx="4613623" cy="3569160"/>
          </a:xfrm>
          <a:prstGeom prst="rect">
            <a:avLst/>
          </a:prstGeom>
          <a:noFill/>
          <a:ln>
            <a:noFill/>
          </a:ln>
        </p:spPr>
      </p:pic>
      <p:sp>
        <p:nvSpPr>
          <p:cNvPr id="2621" name="Google Shape;2621;p241"/>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
        <p:nvSpPr>
          <p:cNvPr id="2622" name="Google Shape;2622;p241"/>
          <p:cNvSpPr txBox="1"/>
          <p:nvPr>
            <p:ph idx="1" type="subTitle"/>
          </p:nvPr>
        </p:nvSpPr>
        <p:spPr>
          <a:xfrm>
            <a:off x="417675" y="1076325"/>
            <a:ext cx="3807900" cy="664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a:t>Sweeping all model families.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623" name="Google Shape;2623;p241"/>
          <p:cNvPicPr preferRelativeResize="0"/>
          <p:nvPr/>
        </p:nvPicPr>
        <p:blipFill>
          <a:blip r:embed="rId4">
            <a:alphaModFix/>
          </a:blip>
          <a:stretch>
            <a:fillRect/>
          </a:stretch>
        </p:blipFill>
        <p:spPr>
          <a:xfrm>
            <a:off x="466325" y="1740525"/>
            <a:ext cx="3710600" cy="2867179"/>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7" name="Shape 2627"/>
        <p:cNvGrpSpPr/>
        <p:nvPr/>
      </p:nvGrpSpPr>
      <p:grpSpPr>
        <a:xfrm>
          <a:off x="0" y="0"/>
          <a:ext cx="0" cy="0"/>
          <a:chOff x="0" y="0"/>
          <a:chExt cx="0" cy="0"/>
        </a:xfrm>
      </p:grpSpPr>
      <p:sp>
        <p:nvSpPr>
          <p:cNvPr id="2628" name="Google Shape;2628;p242"/>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Autodecoder</a:t>
            </a:r>
            <a:endParaRPr sz="3000"/>
          </a:p>
        </p:txBody>
      </p:sp>
      <p:sp>
        <p:nvSpPr>
          <p:cNvPr id="2629" name="Google Shape;2629;p242"/>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630" name="Google Shape;2630;p242"/>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31" name="Google Shape;2631;p242"/>
          <p:cNvPicPr preferRelativeResize="0"/>
          <p:nvPr/>
        </p:nvPicPr>
        <p:blipFill rotWithShape="1">
          <a:blip r:embed="rId3">
            <a:alphaModFix/>
          </a:blip>
          <a:srcRect b="0" l="30" r="30" t="0"/>
          <a:stretch/>
        </p:blipFill>
        <p:spPr>
          <a:xfrm>
            <a:off x="4530375" y="953000"/>
            <a:ext cx="4613623" cy="3569154"/>
          </a:xfrm>
          <a:prstGeom prst="rect">
            <a:avLst/>
          </a:prstGeom>
          <a:noFill/>
          <a:ln>
            <a:noFill/>
          </a:ln>
        </p:spPr>
      </p:pic>
      <p:graphicFrame>
        <p:nvGraphicFramePr>
          <p:cNvPr id="2632" name="Google Shape;2632;p242"/>
          <p:cNvGraphicFramePr/>
          <p:nvPr/>
        </p:nvGraphicFramePr>
        <p:xfrm>
          <a:off x="458750" y="1285975"/>
          <a:ext cx="3000000" cy="3000000"/>
        </p:xfrm>
        <a:graphic>
          <a:graphicData uri="http://schemas.openxmlformats.org/drawingml/2006/table">
            <a:tbl>
              <a:tblPr>
                <a:noFill/>
                <a:tableStyleId>{22C7768D-37AC-4C37-B4E8-91D0278590BF}</a:tableStyleId>
              </a:tblPr>
              <a:tblGrid>
                <a:gridCol w="945275"/>
                <a:gridCol w="754275"/>
              </a:tblGrid>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Model</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-+v</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Rate</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0.0</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Distortion</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80.6</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ELBO</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b="1" lang="en">
                          <a:solidFill>
                            <a:srgbClr val="34A853"/>
                          </a:solidFill>
                          <a:latin typeface="Roboto Mono"/>
                          <a:ea typeface="Roboto Mono"/>
                          <a:cs typeface="Roboto Mono"/>
                          <a:sym typeface="Roboto Mono"/>
                        </a:rPr>
                        <a:t>-80.6</a:t>
                      </a:r>
                      <a:endParaRPr b="1">
                        <a:solidFill>
                          <a:srgbClr val="34A853"/>
                        </a:solidFill>
                        <a:latin typeface="Roboto Mono"/>
                        <a:ea typeface="Roboto Mono"/>
                        <a:cs typeface="Roboto Mono"/>
                        <a:sym typeface="Roboto Mono"/>
                      </a:endParaRPr>
                    </a:p>
                  </a:txBody>
                  <a:tcPr marT="91425" marB="91425" marR="91425" marL="91425" anchor="ctr"/>
                </a:tc>
              </a:tr>
            </a:tbl>
          </a:graphicData>
        </a:graphic>
      </p:graphicFrame>
      <p:pic>
        <p:nvPicPr>
          <p:cNvPr id="2633" name="Google Shape;2633;p242"/>
          <p:cNvPicPr preferRelativeResize="0"/>
          <p:nvPr/>
        </p:nvPicPr>
        <p:blipFill rotWithShape="1">
          <a:blip r:embed="rId4">
            <a:alphaModFix/>
          </a:blip>
          <a:srcRect b="0" l="0" r="0" t="0"/>
          <a:stretch/>
        </p:blipFill>
        <p:spPr>
          <a:xfrm>
            <a:off x="417675" y="3252475"/>
            <a:ext cx="3095061" cy="1547530"/>
          </a:xfrm>
          <a:prstGeom prst="rect">
            <a:avLst/>
          </a:prstGeom>
          <a:noFill/>
          <a:ln>
            <a:noFill/>
          </a:ln>
        </p:spPr>
      </p:pic>
      <p:pic>
        <p:nvPicPr>
          <p:cNvPr id="2634" name="Google Shape;2634;p242"/>
          <p:cNvPicPr preferRelativeResize="0"/>
          <p:nvPr/>
        </p:nvPicPr>
        <p:blipFill rotWithShape="1">
          <a:blip r:embed="rId5">
            <a:alphaModFix/>
          </a:blip>
          <a:srcRect b="0" l="0" r="0" t="0"/>
          <a:stretch/>
        </p:blipFill>
        <p:spPr>
          <a:xfrm>
            <a:off x="2657050" y="1618825"/>
            <a:ext cx="1333500" cy="1333500"/>
          </a:xfrm>
          <a:prstGeom prst="rect">
            <a:avLst/>
          </a:prstGeom>
          <a:noFill/>
          <a:ln>
            <a:noFill/>
          </a:ln>
        </p:spPr>
      </p:pic>
      <p:sp>
        <p:nvSpPr>
          <p:cNvPr id="2635" name="Google Shape;2635;p242"/>
          <p:cNvSpPr txBox="1"/>
          <p:nvPr/>
        </p:nvSpPr>
        <p:spPr>
          <a:xfrm>
            <a:off x="417675" y="835675"/>
            <a:ext cx="18225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1200">
              <a:solidFill>
                <a:srgbClr val="666666"/>
              </a:solidFill>
              <a:latin typeface="Roboto"/>
              <a:ea typeface="Roboto"/>
              <a:cs typeface="Roboto"/>
              <a:sym typeface="Roboto"/>
            </a:endParaRPr>
          </a:p>
        </p:txBody>
      </p:sp>
      <p:sp>
        <p:nvSpPr>
          <p:cNvPr id="2636" name="Google Shape;2636;p242"/>
          <p:cNvSpPr txBox="1"/>
          <p:nvPr/>
        </p:nvSpPr>
        <p:spPr>
          <a:xfrm>
            <a:off x="2657050" y="1339225"/>
            <a:ext cx="1252500" cy="2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Generations</a:t>
            </a:r>
            <a:endParaRPr>
              <a:solidFill>
                <a:srgbClr val="666666"/>
              </a:solidFill>
              <a:latin typeface="Roboto"/>
              <a:ea typeface="Roboto"/>
              <a:cs typeface="Roboto"/>
              <a:sym typeface="Roboto"/>
            </a:endParaRPr>
          </a:p>
        </p:txBody>
      </p:sp>
      <p:sp>
        <p:nvSpPr>
          <p:cNvPr id="2637" name="Google Shape;2637;p242"/>
          <p:cNvSpPr txBox="1"/>
          <p:nvPr/>
        </p:nvSpPr>
        <p:spPr>
          <a:xfrm>
            <a:off x="458750" y="2930575"/>
            <a:ext cx="1822500" cy="3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Reconstructions</a:t>
            </a:r>
            <a:endParaRPr>
              <a:solidFill>
                <a:srgbClr val="666666"/>
              </a:solidFill>
              <a:latin typeface="Roboto"/>
              <a:ea typeface="Roboto"/>
              <a:cs typeface="Roboto"/>
              <a:sym typeface="Roboto"/>
            </a:endParaRPr>
          </a:p>
        </p:txBody>
      </p:sp>
      <p:sp>
        <p:nvSpPr>
          <p:cNvPr id="2638" name="Google Shape;2638;p242"/>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2" name="Shape 2642"/>
        <p:cNvGrpSpPr/>
        <p:nvPr/>
      </p:nvGrpSpPr>
      <p:grpSpPr>
        <a:xfrm>
          <a:off x="0" y="0"/>
          <a:ext cx="0" cy="0"/>
          <a:chOff x="0" y="0"/>
          <a:chExt cx="0" cy="0"/>
        </a:xfrm>
      </p:grpSpPr>
      <p:sp>
        <p:nvSpPr>
          <p:cNvPr id="2643" name="Google Shape;2643;p243"/>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"Autoencoder"</a:t>
            </a:r>
            <a:endParaRPr sz="3000"/>
          </a:p>
        </p:txBody>
      </p:sp>
      <p:sp>
        <p:nvSpPr>
          <p:cNvPr id="2644" name="Google Shape;2644;p243"/>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645" name="Google Shape;2645;p243"/>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46" name="Google Shape;2646;p243"/>
          <p:cNvPicPr preferRelativeResize="0"/>
          <p:nvPr/>
        </p:nvPicPr>
        <p:blipFill rotWithShape="1">
          <a:blip r:embed="rId3">
            <a:alphaModFix/>
          </a:blip>
          <a:srcRect b="0" l="30" r="30" t="0"/>
          <a:stretch/>
        </p:blipFill>
        <p:spPr>
          <a:xfrm>
            <a:off x="4530375" y="953000"/>
            <a:ext cx="4613623" cy="3569154"/>
          </a:xfrm>
          <a:prstGeom prst="rect">
            <a:avLst/>
          </a:prstGeom>
          <a:noFill/>
          <a:ln>
            <a:noFill/>
          </a:ln>
        </p:spPr>
      </p:pic>
      <p:graphicFrame>
        <p:nvGraphicFramePr>
          <p:cNvPr id="2647" name="Google Shape;2647;p243"/>
          <p:cNvGraphicFramePr/>
          <p:nvPr/>
        </p:nvGraphicFramePr>
        <p:xfrm>
          <a:off x="458750" y="1285975"/>
          <a:ext cx="3000000" cy="3000000"/>
        </p:xfrm>
        <a:graphic>
          <a:graphicData uri="http://schemas.openxmlformats.org/drawingml/2006/table">
            <a:tbl>
              <a:tblPr>
                <a:noFill/>
                <a:tableStyleId>{22C7768D-37AC-4C37-B4E8-91D0278590BF}</a:tableStyleId>
              </a:tblPr>
              <a:tblGrid>
                <a:gridCol w="945275"/>
                <a:gridCol w="754275"/>
              </a:tblGrid>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Model</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+-v</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Rate</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25.8</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Distortion</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57.7</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ELBO</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b="1" lang="en">
                          <a:solidFill>
                            <a:srgbClr val="34A853"/>
                          </a:solidFill>
                          <a:latin typeface="Roboto Mono"/>
                          <a:ea typeface="Roboto Mono"/>
                          <a:cs typeface="Roboto Mono"/>
                          <a:sym typeface="Roboto Mono"/>
                        </a:rPr>
                        <a:t>-83.4</a:t>
                      </a:r>
                      <a:endParaRPr b="1">
                        <a:solidFill>
                          <a:srgbClr val="34A853"/>
                        </a:solidFill>
                        <a:latin typeface="Roboto Mono"/>
                        <a:ea typeface="Roboto Mono"/>
                        <a:cs typeface="Roboto Mono"/>
                        <a:sym typeface="Roboto Mono"/>
                      </a:endParaRPr>
                    </a:p>
                  </a:txBody>
                  <a:tcPr marT="91425" marB="91425" marR="91425" marL="91425" anchor="ctr"/>
                </a:tc>
              </a:tr>
            </a:tbl>
          </a:graphicData>
        </a:graphic>
      </p:graphicFrame>
      <p:pic>
        <p:nvPicPr>
          <p:cNvPr id="2648" name="Google Shape;2648;p243"/>
          <p:cNvPicPr preferRelativeResize="0"/>
          <p:nvPr/>
        </p:nvPicPr>
        <p:blipFill rotWithShape="1">
          <a:blip r:embed="rId4">
            <a:alphaModFix/>
          </a:blip>
          <a:srcRect b="0" l="0" r="0" t="0"/>
          <a:stretch/>
        </p:blipFill>
        <p:spPr>
          <a:xfrm>
            <a:off x="417675" y="3252475"/>
            <a:ext cx="3095061" cy="1547530"/>
          </a:xfrm>
          <a:prstGeom prst="rect">
            <a:avLst/>
          </a:prstGeom>
          <a:noFill/>
          <a:ln>
            <a:noFill/>
          </a:ln>
        </p:spPr>
      </p:pic>
      <p:pic>
        <p:nvPicPr>
          <p:cNvPr id="2649" name="Google Shape;2649;p243"/>
          <p:cNvPicPr preferRelativeResize="0"/>
          <p:nvPr/>
        </p:nvPicPr>
        <p:blipFill rotWithShape="1">
          <a:blip r:embed="rId5">
            <a:alphaModFix/>
          </a:blip>
          <a:srcRect b="0" l="0" r="0" t="0"/>
          <a:stretch/>
        </p:blipFill>
        <p:spPr>
          <a:xfrm>
            <a:off x="2657050" y="1618825"/>
            <a:ext cx="1333500" cy="1333500"/>
          </a:xfrm>
          <a:prstGeom prst="rect">
            <a:avLst/>
          </a:prstGeom>
          <a:noFill/>
          <a:ln>
            <a:noFill/>
          </a:ln>
        </p:spPr>
      </p:pic>
      <p:sp>
        <p:nvSpPr>
          <p:cNvPr id="2650" name="Google Shape;2650;p243"/>
          <p:cNvSpPr txBox="1"/>
          <p:nvPr/>
        </p:nvSpPr>
        <p:spPr>
          <a:xfrm>
            <a:off x="417675" y="835675"/>
            <a:ext cx="18225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1200">
              <a:solidFill>
                <a:srgbClr val="666666"/>
              </a:solidFill>
              <a:latin typeface="Roboto"/>
              <a:ea typeface="Roboto"/>
              <a:cs typeface="Roboto"/>
              <a:sym typeface="Roboto"/>
            </a:endParaRPr>
          </a:p>
        </p:txBody>
      </p:sp>
      <p:sp>
        <p:nvSpPr>
          <p:cNvPr id="2651" name="Google Shape;2651;p243"/>
          <p:cNvSpPr txBox="1"/>
          <p:nvPr/>
        </p:nvSpPr>
        <p:spPr>
          <a:xfrm>
            <a:off x="2657050" y="1339225"/>
            <a:ext cx="1252500" cy="2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Generations</a:t>
            </a:r>
            <a:endParaRPr>
              <a:solidFill>
                <a:srgbClr val="666666"/>
              </a:solidFill>
              <a:latin typeface="Roboto"/>
              <a:ea typeface="Roboto"/>
              <a:cs typeface="Roboto"/>
              <a:sym typeface="Roboto"/>
            </a:endParaRPr>
          </a:p>
        </p:txBody>
      </p:sp>
      <p:sp>
        <p:nvSpPr>
          <p:cNvPr id="2652" name="Google Shape;2652;p243"/>
          <p:cNvSpPr txBox="1"/>
          <p:nvPr/>
        </p:nvSpPr>
        <p:spPr>
          <a:xfrm>
            <a:off x="458750" y="2930575"/>
            <a:ext cx="1822500" cy="3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Reconstructions</a:t>
            </a:r>
            <a:endParaRPr>
              <a:solidFill>
                <a:srgbClr val="666666"/>
              </a:solidFill>
              <a:latin typeface="Roboto"/>
              <a:ea typeface="Roboto"/>
              <a:cs typeface="Roboto"/>
              <a:sym typeface="Roboto"/>
            </a:endParaRPr>
          </a:p>
        </p:txBody>
      </p:sp>
      <p:sp>
        <p:nvSpPr>
          <p:cNvPr id="2653" name="Google Shape;2653;p243"/>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7" name="Shape 2657"/>
        <p:cNvGrpSpPr/>
        <p:nvPr/>
      </p:nvGrpSpPr>
      <p:grpSpPr>
        <a:xfrm>
          <a:off x="0" y="0"/>
          <a:ext cx="0" cy="0"/>
          <a:chOff x="0" y="0"/>
          <a:chExt cx="0" cy="0"/>
        </a:xfrm>
      </p:grpSpPr>
      <p:sp>
        <p:nvSpPr>
          <p:cNvPr id="2658" name="Google Shape;2658;p244"/>
          <p:cNvSpPr txBox="1"/>
          <p:nvPr>
            <p:ph idx="2" type="title"/>
          </p:nvPr>
        </p:nvSpPr>
        <p:spPr>
          <a:xfrm>
            <a:off x="417677" y="341875"/>
            <a:ext cx="38079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Semantic Encoder</a:t>
            </a:r>
            <a:endParaRPr sz="3000"/>
          </a:p>
        </p:txBody>
      </p:sp>
      <p:sp>
        <p:nvSpPr>
          <p:cNvPr id="2659" name="Google Shape;2659;p244"/>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Fixing a Broken ELBO arXiv: 1711.00464</a:t>
            </a:r>
            <a:endParaRPr/>
          </a:p>
        </p:txBody>
      </p:sp>
      <p:sp>
        <p:nvSpPr>
          <p:cNvPr id="2660" name="Google Shape;2660;p244"/>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661" name="Google Shape;2661;p244"/>
          <p:cNvPicPr preferRelativeResize="0"/>
          <p:nvPr/>
        </p:nvPicPr>
        <p:blipFill rotWithShape="1">
          <a:blip r:embed="rId3">
            <a:alphaModFix/>
          </a:blip>
          <a:srcRect b="0" l="30" r="30" t="0"/>
          <a:stretch/>
        </p:blipFill>
        <p:spPr>
          <a:xfrm>
            <a:off x="4530375" y="953000"/>
            <a:ext cx="4613623" cy="3569154"/>
          </a:xfrm>
          <a:prstGeom prst="rect">
            <a:avLst/>
          </a:prstGeom>
          <a:noFill/>
          <a:ln>
            <a:noFill/>
          </a:ln>
        </p:spPr>
      </p:pic>
      <p:graphicFrame>
        <p:nvGraphicFramePr>
          <p:cNvPr id="2662" name="Google Shape;2662;p244"/>
          <p:cNvGraphicFramePr/>
          <p:nvPr/>
        </p:nvGraphicFramePr>
        <p:xfrm>
          <a:off x="458750" y="1285975"/>
          <a:ext cx="3000000" cy="3000000"/>
        </p:xfrm>
        <a:graphic>
          <a:graphicData uri="http://schemas.openxmlformats.org/drawingml/2006/table">
            <a:tbl>
              <a:tblPr>
                <a:noFill/>
                <a:tableStyleId>{22C7768D-37AC-4C37-B4E8-91D0278590BF}</a:tableStyleId>
              </a:tblPr>
              <a:tblGrid>
                <a:gridCol w="945275"/>
                <a:gridCol w="754275"/>
              </a:tblGrid>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Model</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++v</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Rate</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8.3</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Distortion</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lang="en">
                          <a:solidFill>
                            <a:srgbClr val="666666"/>
                          </a:solidFill>
                          <a:latin typeface="Roboto Mono"/>
                          <a:ea typeface="Roboto Mono"/>
                          <a:cs typeface="Roboto Mono"/>
                          <a:sym typeface="Roboto Mono"/>
                        </a:rPr>
                        <a:t>71.9</a:t>
                      </a:r>
                      <a:endParaRPr>
                        <a:solidFill>
                          <a:srgbClr val="666666"/>
                        </a:solidFill>
                        <a:latin typeface="Roboto Mono"/>
                        <a:ea typeface="Roboto Mono"/>
                        <a:cs typeface="Roboto Mono"/>
                        <a:sym typeface="Roboto Mono"/>
                      </a:endParaRPr>
                    </a:p>
                  </a:txBody>
                  <a:tcPr marT="91425" marB="91425" marR="91425" marL="91425" anchor="ctr"/>
                </a:tc>
              </a:tr>
              <a:tr h="333375">
                <a:tc>
                  <a:txBody>
                    <a:bodyPr/>
                    <a:lstStyle/>
                    <a:p>
                      <a:pPr indent="0" lvl="0" marL="0" rtl="0" algn="r">
                        <a:spcBef>
                          <a:spcPts val="0"/>
                        </a:spcBef>
                        <a:spcAft>
                          <a:spcPts val="0"/>
                        </a:spcAft>
                        <a:buNone/>
                      </a:pPr>
                      <a:r>
                        <a:rPr lang="en" sz="1200">
                          <a:solidFill>
                            <a:srgbClr val="666666"/>
                          </a:solidFill>
                          <a:latin typeface="Roboto"/>
                          <a:ea typeface="Roboto"/>
                          <a:cs typeface="Roboto"/>
                          <a:sym typeface="Roboto"/>
                        </a:rPr>
                        <a:t>ELBO</a:t>
                      </a:r>
                      <a:endParaRPr sz="1200">
                        <a:solidFill>
                          <a:srgbClr val="666666"/>
                        </a:solidFill>
                        <a:latin typeface="Roboto"/>
                        <a:ea typeface="Roboto"/>
                        <a:cs typeface="Roboto"/>
                        <a:sym typeface="Roboto"/>
                      </a:endParaRPr>
                    </a:p>
                  </a:txBody>
                  <a:tcPr marT="91425" marB="91425" marR="91425" marL="91425" anchor="ctr"/>
                </a:tc>
                <a:tc>
                  <a:txBody>
                    <a:bodyPr/>
                    <a:lstStyle/>
                    <a:p>
                      <a:pPr indent="0" lvl="0" marL="0" rtl="0" algn="r">
                        <a:spcBef>
                          <a:spcPts val="0"/>
                        </a:spcBef>
                        <a:spcAft>
                          <a:spcPts val="0"/>
                        </a:spcAft>
                        <a:buNone/>
                      </a:pPr>
                      <a:r>
                        <a:rPr b="1" lang="en">
                          <a:solidFill>
                            <a:srgbClr val="34A853"/>
                          </a:solidFill>
                          <a:latin typeface="Roboto Mono"/>
                          <a:ea typeface="Roboto Mono"/>
                          <a:cs typeface="Roboto Mono"/>
                          <a:sym typeface="Roboto Mono"/>
                        </a:rPr>
                        <a:t>-80.2</a:t>
                      </a:r>
                      <a:endParaRPr b="1">
                        <a:solidFill>
                          <a:srgbClr val="34A853"/>
                        </a:solidFill>
                        <a:latin typeface="Roboto Mono"/>
                        <a:ea typeface="Roboto Mono"/>
                        <a:cs typeface="Roboto Mono"/>
                        <a:sym typeface="Roboto Mono"/>
                      </a:endParaRPr>
                    </a:p>
                  </a:txBody>
                  <a:tcPr marT="91425" marB="91425" marR="91425" marL="91425" anchor="ctr"/>
                </a:tc>
              </a:tr>
            </a:tbl>
          </a:graphicData>
        </a:graphic>
      </p:graphicFrame>
      <p:pic>
        <p:nvPicPr>
          <p:cNvPr id="2663" name="Google Shape;2663;p244"/>
          <p:cNvPicPr preferRelativeResize="0"/>
          <p:nvPr/>
        </p:nvPicPr>
        <p:blipFill rotWithShape="1">
          <a:blip r:embed="rId4">
            <a:alphaModFix/>
          </a:blip>
          <a:srcRect b="0" l="0" r="0" t="0"/>
          <a:stretch/>
        </p:blipFill>
        <p:spPr>
          <a:xfrm>
            <a:off x="417675" y="3252475"/>
            <a:ext cx="3095061" cy="1547530"/>
          </a:xfrm>
          <a:prstGeom prst="rect">
            <a:avLst/>
          </a:prstGeom>
          <a:noFill/>
          <a:ln>
            <a:noFill/>
          </a:ln>
        </p:spPr>
      </p:pic>
      <p:pic>
        <p:nvPicPr>
          <p:cNvPr id="2664" name="Google Shape;2664;p244"/>
          <p:cNvPicPr preferRelativeResize="0"/>
          <p:nvPr/>
        </p:nvPicPr>
        <p:blipFill rotWithShape="1">
          <a:blip r:embed="rId5">
            <a:alphaModFix/>
          </a:blip>
          <a:srcRect b="0" l="0" r="0" t="0"/>
          <a:stretch/>
        </p:blipFill>
        <p:spPr>
          <a:xfrm>
            <a:off x="2657050" y="1618825"/>
            <a:ext cx="1333500" cy="1333500"/>
          </a:xfrm>
          <a:prstGeom prst="rect">
            <a:avLst/>
          </a:prstGeom>
          <a:noFill/>
          <a:ln>
            <a:noFill/>
          </a:ln>
        </p:spPr>
      </p:pic>
      <p:sp>
        <p:nvSpPr>
          <p:cNvPr id="2665" name="Google Shape;2665;p244"/>
          <p:cNvSpPr txBox="1"/>
          <p:nvPr/>
        </p:nvSpPr>
        <p:spPr>
          <a:xfrm>
            <a:off x="417675" y="835675"/>
            <a:ext cx="1822500" cy="3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sz="1200">
              <a:solidFill>
                <a:srgbClr val="666666"/>
              </a:solidFill>
              <a:latin typeface="Roboto"/>
              <a:ea typeface="Roboto"/>
              <a:cs typeface="Roboto"/>
              <a:sym typeface="Roboto"/>
            </a:endParaRPr>
          </a:p>
        </p:txBody>
      </p:sp>
      <p:sp>
        <p:nvSpPr>
          <p:cNvPr id="2666" name="Google Shape;2666;p244"/>
          <p:cNvSpPr txBox="1"/>
          <p:nvPr/>
        </p:nvSpPr>
        <p:spPr>
          <a:xfrm>
            <a:off x="2657050" y="1339225"/>
            <a:ext cx="1252500" cy="2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Generations</a:t>
            </a:r>
            <a:endParaRPr>
              <a:solidFill>
                <a:srgbClr val="666666"/>
              </a:solidFill>
              <a:latin typeface="Roboto"/>
              <a:ea typeface="Roboto"/>
              <a:cs typeface="Roboto"/>
              <a:sym typeface="Roboto"/>
            </a:endParaRPr>
          </a:p>
        </p:txBody>
      </p:sp>
      <p:sp>
        <p:nvSpPr>
          <p:cNvPr id="2667" name="Google Shape;2667;p244"/>
          <p:cNvSpPr txBox="1"/>
          <p:nvPr/>
        </p:nvSpPr>
        <p:spPr>
          <a:xfrm>
            <a:off x="458750" y="2930575"/>
            <a:ext cx="1822500" cy="3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666666"/>
                </a:solidFill>
                <a:latin typeface="Roboto"/>
                <a:ea typeface="Roboto"/>
                <a:cs typeface="Roboto"/>
                <a:sym typeface="Roboto"/>
              </a:rPr>
              <a:t>Reconstructions</a:t>
            </a:r>
            <a:endParaRPr>
              <a:solidFill>
                <a:srgbClr val="666666"/>
              </a:solidFill>
              <a:latin typeface="Roboto"/>
              <a:ea typeface="Roboto"/>
              <a:cs typeface="Roboto"/>
              <a:sym typeface="Roboto"/>
            </a:endParaRPr>
          </a:p>
        </p:txBody>
      </p:sp>
      <p:sp>
        <p:nvSpPr>
          <p:cNvPr id="2668" name="Google Shape;2668;p244"/>
          <p:cNvSpPr txBox="1"/>
          <p:nvPr/>
        </p:nvSpPr>
        <p:spPr>
          <a:xfrm>
            <a:off x="6906000" y="718475"/>
            <a:ext cx="2238000" cy="321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000">
                <a:solidFill>
                  <a:srgbClr val="666666"/>
                </a:solidFill>
                <a:latin typeface="Roboto Mono"/>
                <a:ea typeface="Roboto Mono"/>
                <a:cs typeface="Roboto Mono"/>
                <a:sym typeface="Roboto Mono"/>
              </a:rPr>
              <a:t>(encoder,decoder,marginal)</a:t>
            </a:r>
            <a:endParaRPr i="1" sz="1000">
              <a:solidFill>
                <a:srgbClr val="666666"/>
              </a:solidFill>
              <a:latin typeface="Roboto Mono"/>
              <a:ea typeface="Roboto Mono"/>
              <a:cs typeface="Roboto Mono"/>
              <a:sym typeface="Roboto Mono"/>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5ABC"/>
        </a:solidFill>
      </p:bgPr>
    </p:bg>
    <p:spTree>
      <p:nvGrpSpPr>
        <p:cNvPr id="2672" name="Shape 2672"/>
        <p:cNvGrpSpPr/>
        <p:nvPr/>
      </p:nvGrpSpPr>
      <p:grpSpPr>
        <a:xfrm>
          <a:off x="0" y="0"/>
          <a:ext cx="0" cy="0"/>
          <a:chOff x="0" y="0"/>
          <a:chExt cx="0" cy="0"/>
        </a:xfrm>
      </p:grpSpPr>
      <p:sp>
        <p:nvSpPr>
          <p:cNvPr id="2673" name="Google Shape;2673;p245"/>
          <p:cNvSpPr txBox="1"/>
          <p:nvPr>
            <p:ph type="title"/>
          </p:nvPr>
        </p:nvSpPr>
        <p:spPr>
          <a:xfrm>
            <a:off x="727500" y="526350"/>
            <a:ext cx="76890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6000">
                <a:solidFill>
                  <a:srgbClr val="EEEEEE"/>
                </a:solidFill>
              </a:rPr>
              <a:t>Variational Information Bottleneck</a:t>
            </a:r>
            <a:endParaRPr sz="6000">
              <a:solidFill>
                <a:srgbClr val="EEEEEE"/>
              </a:solidFill>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7" name="Shape 2677"/>
        <p:cNvGrpSpPr/>
        <p:nvPr/>
      </p:nvGrpSpPr>
      <p:grpSpPr>
        <a:xfrm>
          <a:off x="0" y="0"/>
          <a:ext cx="0" cy="0"/>
          <a:chOff x="0" y="0"/>
          <a:chExt cx="0" cy="0"/>
        </a:xfrm>
      </p:grpSpPr>
      <p:sp>
        <p:nvSpPr>
          <p:cNvPr id="2678" name="Google Shape;2678;p246"/>
          <p:cNvSpPr txBox="1"/>
          <p:nvPr>
            <p:ph idx="2" type="title"/>
          </p:nvPr>
        </p:nvSpPr>
        <p:spPr>
          <a:xfrm>
            <a:off x="417675" y="341875"/>
            <a:ext cx="3502800" cy="493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3000"/>
              <a:t>World P</a:t>
            </a:r>
            <a:endParaRPr sz="3000"/>
          </a:p>
          <a:p>
            <a:pPr indent="0" lvl="0" marL="0" rtl="0" algn="l">
              <a:spcBef>
                <a:spcPts val="0"/>
              </a:spcBef>
              <a:spcAft>
                <a:spcPts val="0"/>
              </a:spcAft>
              <a:buNone/>
            </a:pPr>
            <a:r>
              <a:rPr b="0" lang="en" sz="2400"/>
              <a:t>world we have</a:t>
            </a:r>
            <a:endParaRPr b="0" sz="2400"/>
          </a:p>
        </p:txBody>
      </p:sp>
      <p:sp>
        <p:nvSpPr>
          <p:cNvPr id="2679" name="Google Shape;2679;p24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680" name="Google Shape;2680;p246"/>
          <p:cNvSpPr/>
          <p:nvPr/>
        </p:nvSpPr>
        <p:spPr>
          <a:xfrm>
            <a:off x="195938" y="226621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2681" name="Google Shape;2681;p246"/>
          <p:cNvSpPr/>
          <p:nvPr/>
        </p:nvSpPr>
        <p:spPr>
          <a:xfrm>
            <a:off x="413115" y="246915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2682" name="Google Shape;2682;p246"/>
          <p:cNvSpPr/>
          <p:nvPr/>
        </p:nvSpPr>
        <p:spPr>
          <a:xfrm>
            <a:off x="3385723" y="246915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sp>
        <p:nvSpPr>
          <p:cNvPr id="2683" name="Google Shape;2683;p246"/>
          <p:cNvSpPr/>
          <p:nvPr/>
        </p:nvSpPr>
        <p:spPr>
          <a:xfrm>
            <a:off x="1899419" y="246915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2684" name="Google Shape;2684;p246"/>
          <p:cNvCxnSpPr>
            <a:stCxn id="2683" idx="2"/>
            <a:endCxn id="2681" idx="6"/>
          </p:cNvCxnSpPr>
          <p:nvPr/>
        </p:nvCxnSpPr>
        <p:spPr>
          <a:xfrm rot="10800000">
            <a:off x="1118219" y="282165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2685" name="Google Shape;2685;p246"/>
          <p:cNvCxnSpPr>
            <a:stCxn id="2683" idx="6"/>
            <a:endCxn id="2682" idx="2"/>
          </p:cNvCxnSpPr>
          <p:nvPr/>
        </p:nvCxnSpPr>
        <p:spPr>
          <a:xfrm>
            <a:off x="2604419" y="2821653"/>
            <a:ext cx="781200" cy="0"/>
          </a:xfrm>
          <a:prstGeom prst="straightConnector1">
            <a:avLst/>
          </a:prstGeom>
          <a:noFill/>
          <a:ln cap="flat" cmpd="sng" w="28575">
            <a:solidFill>
              <a:srgbClr val="595959"/>
            </a:solidFill>
            <a:prstDash val="solid"/>
            <a:round/>
            <a:headEnd len="med" w="med" type="triangle"/>
            <a:tailEnd len="med" w="med" type="triangle"/>
          </a:ln>
        </p:spPr>
      </p:cxnSp>
      <p:sp>
        <p:nvSpPr>
          <p:cNvPr id="2686" name="Google Shape;2686;p246"/>
          <p:cNvSpPr txBox="1"/>
          <p:nvPr>
            <p:ph idx="2" type="title"/>
          </p:nvPr>
        </p:nvSpPr>
        <p:spPr>
          <a:xfrm>
            <a:off x="4880100" y="341875"/>
            <a:ext cx="3502800" cy="493800"/>
          </a:xfrm>
          <a:prstGeom prst="rect">
            <a:avLst/>
          </a:prstGeom>
        </p:spPr>
        <p:txBody>
          <a:bodyPr anchorCtr="0" anchor="t" bIns="91425" lIns="91425" spcFirstLastPara="1" rIns="91425" wrap="square" tIns="91425">
            <a:normAutofit fontScale="90000"/>
          </a:bodyPr>
          <a:lstStyle/>
          <a:p>
            <a:pPr indent="0" lvl="0" marL="0" rtl="0" algn="r">
              <a:spcBef>
                <a:spcPts val="0"/>
              </a:spcBef>
              <a:spcAft>
                <a:spcPts val="0"/>
              </a:spcAft>
              <a:buNone/>
            </a:pPr>
            <a:r>
              <a:rPr lang="en" sz="3000"/>
              <a:t>World Q</a:t>
            </a:r>
            <a:endParaRPr sz="3000"/>
          </a:p>
          <a:p>
            <a:pPr indent="0" lvl="0" marL="0" rtl="0" algn="r">
              <a:spcBef>
                <a:spcPts val="0"/>
              </a:spcBef>
              <a:spcAft>
                <a:spcPts val="0"/>
              </a:spcAft>
              <a:buNone/>
            </a:pPr>
            <a:r>
              <a:rPr b="0" lang="en" sz="2400"/>
              <a:t>world we want</a:t>
            </a:r>
            <a:endParaRPr b="0" sz="2400"/>
          </a:p>
        </p:txBody>
      </p:sp>
      <p:sp>
        <p:nvSpPr>
          <p:cNvPr id="2687" name="Google Shape;2687;p246"/>
          <p:cNvSpPr/>
          <p:nvPr/>
        </p:nvSpPr>
        <p:spPr>
          <a:xfrm>
            <a:off x="4872025" y="2289999"/>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2688" name="Google Shape;2688;p246"/>
          <p:cNvSpPr/>
          <p:nvPr/>
        </p:nvSpPr>
        <p:spPr>
          <a:xfrm>
            <a:off x="6575565" y="249294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2689" name="Google Shape;2689;p246"/>
          <p:cNvSpPr/>
          <p:nvPr/>
        </p:nvSpPr>
        <p:spPr>
          <a:xfrm>
            <a:off x="8061810" y="2492940"/>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chemeClr val="dk1"/>
                </a:solidFill>
                <a:latin typeface="Roboto"/>
                <a:ea typeface="Roboto"/>
                <a:cs typeface="Roboto"/>
                <a:sym typeface="Roboto"/>
              </a:rPr>
              <a:t>"turtle"</a:t>
            </a:r>
            <a:endParaRPr sz="2400">
              <a:latin typeface="Roboto"/>
              <a:ea typeface="Roboto"/>
              <a:cs typeface="Roboto"/>
              <a:sym typeface="Roboto"/>
            </a:endParaRPr>
          </a:p>
        </p:txBody>
      </p:sp>
      <p:sp>
        <p:nvSpPr>
          <p:cNvPr id="2690" name="Google Shape;2690;p246"/>
          <p:cNvSpPr/>
          <p:nvPr/>
        </p:nvSpPr>
        <p:spPr>
          <a:xfrm>
            <a:off x="5089307" y="249294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2691" name="Google Shape;2691;p246"/>
          <p:cNvCxnSpPr>
            <a:stCxn id="2688" idx="6"/>
            <a:endCxn id="2689" idx="2"/>
          </p:cNvCxnSpPr>
          <p:nvPr/>
        </p:nvCxnSpPr>
        <p:spPr>
          <a:xfrm>
            <a:off x="7280565" y="2845440"/>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2692" name="Google Shape;2692;p246"/>
          <p:cNvCxnSpPr/>
          <p:nvPr/>
        </p:nvCxnSpPr>
        <p:spPr>
          <a:xfrm>
            <a:off x="4594850" y="194300"/>
            <a:ext cx="0" cy="4812000"/>
          </a:xfrm>
          <a:prstGeom prst="straightConnector1">
            <a:avLst/>
          </a:prstGeom>
          <a:noFill/>
          <a:ln cap="flat" cmpd="sng" w="38100">
            <a:solidFill>
              <a:srgbClr val="9E9E9E"/>
            </a:solidFill>
            <a:prstDash val="solid"/>
            <a:round/>
            <a:headEnd len="med" w="med" type="none"/>
            <a:tailEnd len="med" w="med" type="none"/>
          </a:ln>
        </p:spPr>
      </p:cxnSp>
      <p:sp>
        <p:nvSpPr>
          <p:cNvPr id="2693" name="Google Shape;2693;p246"/>
          <p:cNvSpPr/>
          <p:nvPr/>
        </p:nvSpPr>
        <p:spPr>
          <a:xfrm>
            <a:off x="5031448" y="3601259"/>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2694" name="Google Shape;2694;p246"/>
          <p:cNvSpPr/>
          <p:nvPr/>
        </p:nvSpPr>
        <p:spPr>
          <a:xfrm>
            <a:off x="8003896" y="3601259"/>
            <a:ext cx="820800" cy="4173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Labels</a:t>
            </a:r>
            <a:endParaRPr sz="1200">
              <a:latin typeface="Open Sans"/>
              <a:ea typeface="Open Sans"/>
              <a:cs typeface="Open Sans"/>
              <a:sym typeface="Open Sans"/>
            </a:endParaRPr>
          </a:p>
        </p:txBody>
      </p:sp>
      <p:sp>
        <p:nvSpPr>
          <p:cNvPr id="2695" name="Google Shape;2695;p246"/>
          <p:cNvSpPr/>
          <p:nvPr/>
        </p:nvSpPr>
        <p:spPr>
          <a:xfrm>
            <a:off x="6517672" y="3601247"/>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2696" name="Google Shape;2696;p246"/>
          <p:cNvPicPr preferRelativeResize="0"/>
          <p:nvPr/>
        </p:nvPicPr>
        <p:blipFill rotWithShape="1">
          <a:blip r:embed="rId3">
            <a:alphaModFix/>
          </a:blip>
          <a:srcRect b="10466" l="9327" r="4711" t="0"/>
          <a:stretch/>
        </p:blipFill>
        <p:spPr>
          <a:xfrm>
            <a:off x="489842" y="2625450"/>
            <a:ext cx="551416" cy="392401"/>
          </a:xfrm>
          <a:prstGeom prst="rect">
            <a:avLst/>
          </a:prstGeom>
          <a:noFill/>
          <a:ln>
            <a:noFill/>
          </a:ln>
        </p:spPr>
      </p:pic>
      <p:pic>
        <p:nvPicPr>
          <p:cNvPr id="2697" name="Google Shape;2697;p246"/>
          <p:cNvPicPr preferRelativeResize="0"/>
          <p:nvPr/>
        </p:nvPicPr>
        <p:blipFill rotWithShape="1">
          <a:blip r:embed="rId3">
            <a:alphaModFix/>
          </a:blip>
          <a:srcRect b="10466" l="9327" r="4711" t="0"/>
          <a:stretch/>
        </p:blipFill>
        <p:spPr>
          <a:xfrm>
            <a:off x="6652367" y="2649250"/>
            <a:ext cx="551416" cy="392401"/>
          </a:xfrm>
          <a:prstGeom prst="rect">
            <a:avLst/>
          </a:prstGeom>
          <a:noFill/>
          <a:ln>
            <a:noFill/>
          </a:ln>
        </p:spPr>
      </p:pic>
      <p:sp>
        <p:nvSpPr>
          <p:cNvPr id="2698" name="Google Shape;2698;p246"/>
          <p:cNvSpPr/>
          <p:nvPr/>
        </p:nvSpPr>
        <p:spPr>
          <a:xfrm>
            <a:off x="1841486" y="3601247"/>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2699" name="Google Shape;2699;p246"/>
          <p:cNvSpPr/>
          <p:nvPr/>
        </p:nvSpPr>
        <p:spPr>
          <a:xfrm>
            <a:off x="3327796" y="3601259"/>
            <a:ext cx="820800" cy="4173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Labels</a:t>
            </a:r>
            <a:endParaRPr sz="1200">
              <a:latin typeface="Open Sans"/>
              <a:ea typeface="Open Sans"/>
              <a:cs typeface="Open Sans"/>
              <a:sym typeface="Open Sans"/>
            </a:endParaRPr>
          </a:p>
        </p:txBody>
      </p:sp>
      <p:sp>
        <p:nvSpPr>
          <p:cNvPr id="2700" name="Google Shape;2700;p246"/>
          <p:cNvSpPr/>
          <p:nvPr/>
        </p:nvSpPr>
        <p:spPr>
          <a:xfrm>
            <a:off x="355147" y="3601247"/>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pic>
        <p:nvPicPr>
          <p:cNvPr id="2701" name="Google Shape;2701;p246"/>
          <p:cNvPicPr preferRelativeResize="0"/>
          <p:nvPr/>
        </p:nvPicPr>
        <p:blipFill>
          <a:blip r:embed="rId4">
            <a:alphaModFix/>
          </a:blip>
          <a:stretch>
            <a:fillRect/>
          </a:stretch>
        </p:blipFill>
        <p:spPr>
          <a:xfrm>
            <a:off x="232700" y="1759275"/>
            <a:ext cx="4038600" cy="390525"/>
          </a:xfrm>
          <a:prstGeom prst="rect">
            <a:avLst/>
          </a:prstGeom>
          <a:noFill/>
          <a:ln>
            <a:noFill/>
          </a:ln>
        </p:spPr>
      </p:pic>
      <p:pic>
        <p:nvPicPr>
          <p:cNvPr id="2702" name="Google Shape;2702;p246"/>
          <p:cNvPicPr preferRelativeResize="0"/>
          <p:nvPr/>
        </p:nvPicPr>
        <p:blipFill>
          <a:blip r:embed="rId5">
            <a:alphaModFix/>
          </a:blip>
          <a:stretch>
            <a:fillRect/>
          </a:stretch>
        </p:blipFill>
        <p:spPr>
          <a:xfrm>
            <a:off x="4799238" y="1759284"/>
            <a:ext cx="4257675" cy="390525"/>
          </a:xfrm>
          <a:prstGeom prst="rect">
            <a:avLst/>
          </a:prstGeom>
          <a:noFill/>
          <a:ln>
            <a:noFill/>
          </a:ln>
        </p:spPr>
      </p:pic>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6" name="Shape 2706"/>
        <p:cNvGrpSpPr/>
        <p:nvPr/>
      </p:nvGrpSpPr>
      <p:grpSpPr>
        <a:xfrm>
          <a:off x="0" y="0"/>
          <a:ext cx="0" cy="0"/>
          <a:chOff x="0" y="0"/>
          <a:chExt cx="0" cy="0"/>
        </a:xfrm>
      </p:grpSpPr>
      <p:sp>
        <p:nvSpPr>
          <p:cNvPr id="2707" name="Google Shape;2707;p247"/>
          <p:cNvSpPr txBox="1"/>
          <p:nvPr>
            <p:ph type="title"/>
          </p:nvPr>
        </p:nvSpPr>
        <p:spPr>
          <a:xfrm>
            <a:off x="130951" y="4760105"/>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708" name="Google Shape;2708;p247"/>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Variational Information Bottleneck</a:t>
            </a:r>
            <a:endParaRPr/>
          </a:p>
        </p:txBody>
      </p:sp>
      <p:pic>
        <p:nvPicPr>
          <p:cNvPr id="2709" name="Google Shape;2709;p247"/>
          <p:cNvPicPr preferRelativeResize="0"/>
          <p:nvPr/>
        </p:nvPicPr>
        <p:blipFill>
          <a:blip r:embed="rId3">
            <a:alphaModFix/>
          </a:blip>
          <a:stretch>
            <a:fillRect/>
          </a:stretch>
        </p:blipFill>
        <p:spPr>
          <a:xfrm>
            <a:off x="0" y="957263"/>
            <a:ext cx="9144001" cy="1680823"/>
          </a:xfrm>
          <a:prstGeom prst="rect">
            <a:avLst/>
          </a:prstGeom>
          <a:noFill/>
          <a:ln>
            <a:noFill/>
          </a:ln>
        </p:spPr>
      </p:pic>
      <p:sp>
        <p:nvSpPr>
          <p:cNvPr id="2710" name="Google Shape;2710;p247"/>
          <p:cNvSpPr txBox="1"/>
          <p:nvPr/>
        </p:nvSpPr>
        <p:spPr>
          <a:xfrm>
            <a:off x="2890950" y="3882000"/>
            <a:ext cx="25479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Google Sans"/>
                <a:ea typeface="Google Sans"/>
                <a:cs typeface="Google Sans"/>
                <a:sym typeface="Google Sans"/>
              </a:rPr>
              <a:t>Classification Error</a:t>
            </a:r>
            <a:endParaRPr sz="3000">
              <a:latin typeface="Google Sans"/>
              <a:ea typeface="Google Sans"/>
              <a:cs typeface="Google Sans"/>
              <a:sym typeface="Google Sans"/>
            </a:endParaRPr>
          </a:p>
        </p:txBody>
      </p:sp>
      <p:sp>
        <p:nvSpPr>
          <p:cNvPr id="2711" name="Google Shape;2711;p247"/>
          <p:cNvSpPr txBox="1"/>
          <p:nvPr/>
        </p:nvSpPr>
        <p:spPr>
          <a:xfrm>
            <a:off x="5629300" y="4068950"/>
            <a:ext cx="2258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latin typeface="Google Sans"/>
                <a:ea typeface="Google Sans"/>
                <a:cs typeface="Google Sans"/>
                <a:sym typeface="Google Sans"/>
              </a:rPr>
              <a:t>Rate</a:t>
            </a:r>
            <a:endParaRPr sz="3000">
              <a:latin typeface="Google Sans"/>
              <a:ea typeface="Google Sans"/>
              <a:cs typeface="Google Sans"/>
              <a:sym typeface="Google Sans"/>
            </a:endParaRPr>
          </a:p>
        </p:txBody>
      </p:sp>
      <p:pic>
        <p:nvPicPr>
          <p:cNvPr id="2712" name="Google Shape;2712;p247"/>
          <p:cNvPicPr preferRelativeResize="0"/>
          <p:nvPr/>
        </p:nvPicPr>
        <p:blipFill>
          <a:blip r:embed="rId4">
            <a:alphaModFix/>
          </a:blip>
          <a:stretch>
            <a:fillRect/>
          </a:stretch>
        </p:blipFill>
        <p:spPr>
          <a:xfrm>
            <a:off x="1524650" y="2942887"/>
            <a:ext cx="6260755" cy="939113"/>
          </a:xfrm>
          <a:prstGeom prst="rect">
            <a:avLst/>
          </a:prstGeom>
          <a:noFill/>
          <a:ln>
            <a:noFill/>
          </a:ln>
        </p:spPr>
      </p:pic>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6" name="Shape 2716"/>
        <p:cNvGrpSpPr/>
        <p:nvPr/>
      </p:nvGrpSpPr>
      <p:grpSpPr>
        <a:xfrm>
          <a:off x="0" y="0"/>
          <a:ext cx="0" cy="0"/>
          <a:chOff x="0" y="0"/>
          <a:chExt cx="0" cy="0"/>
        </a:xfrm>
      </p:grpSpPr>
      <p:sp>
        <p:nvSpPr>
          <p:cNvPr id="2717" name="Google Shape;2717;p24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Supervised Learning / Standard vs VIB</a:t>
            </a:r>
            <a:endParaRPr/>
          </a:p>
        </p:txBody>
      </p:sp>
      <p:sp>
        <p:nvSpPr>
          <p:cNvPr id="2718" name="Google Shape;2718;p248"/>
          <p:cNvSpPr/>
          <p:nvPr/>
        </p:nvSpPr>
        <p:spPr>
          <a:xfrm>
            <a:off x="6792075" y="2672063"/>
            <a:ext cx="1831800" cy="8454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pen Sans"/>
                <a:ea typeface="Open Sans"/>
                <a:cs typeface="Open Sans"/>
                <a:sym typeface="Open Sans"/>
              </a:rPr>
              <a:t>Image</a:t>
            </a:r>
            <a:endParaRPr sz="2400">
              <a:latin typeface="Open Sans"/>
              <a:ea typeface="Open Sans"/>
              <a:cs typeface="Open Sans"/>
              <a:sym typeface="Open Sans"/>
            </a:endParaRPr>
          </a:p>
        </p:txBody>
      </p:sp>
      <p:sp>
        <p:nvSpPr>
          <p:cNvPr id="2719" name="Google Shape;2719;p248"/>
          <p:cNvSpPr/>
          <p:nvPr/>
        </p:nvSpPr>
        <p:spPr>
          <a:xfrm>
            <a:off x="520125" y="2672063"/>
            <a:ext cx="1831800" cy="8454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pen Sans"/>
                <a:ea typeface="Open Sans"/>
                <a:cs typeface="Open Sans"/>
                <a:sym typeface="Open Sans"/>
              </a:rPr>
              <a:t>Label</a:t>
            </a:r>
            <a:endParaRPr sz="2400">
              <a:latin typeface="Open Sans"/>
              <a:ea typeface="Open Sans"/>
              <a:cs typeface="Open Sans"/>
              <a:sym typeface="Open Sans"/>
            </a:endParaRPr>
          </a:p>
        </p:txBody>
      </p:sp>
      <p:sp>
        <p:nvSpPr>
          <p:cNvPr id="2720" name="Google Shape;2720;p248"/>
          <p:cNvSpPr/>
          <p:nvPr/>
        </p:nvSpPr>
        <p:spPr>
          <a:xfrm>
            <a:off x="3253100" y="2672075"/>
            <a:ext cx="2637600" cy="8454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pen Sans"/>
                <a:ea typeface="Open Sans"/>
                <a:cs typeface="Open Sans"/>
                <a:sym typeface="Open Sans"/>
              </a:rPr>
              <a:t>Representation</a:t>
            </a:r>
            <a:endParaRPr sz="2400">
              <a:latin typeface="Open Sans"/>
              <a:ea typeface="Open Sans"/>
              <a:cs typeface="Open Sans"/>
              <a:sym typeface="Open Sans"/>
            </a:endParaRPr>
          </a:p>
        </p:txBody>
      </p:sp>
      <p:pic>
        <p:nvPicPr>
          <p:cNvPr id="2721" name="Google Shape;2721;p248"/>
          <p:cNvPicPr preferRelativeResize="0"/>
          <p:nvPr/>
        </p:nvPicPr>
        <p:blipFill>
          <a:blip r:embed="rId3">
            <a:alphaModFix/>
          </a:blip>
          <a:stretch>
            <a:fillRect/>
          </a:stretch>
        </p:blipFill>
        <p:spPr>
          <a:xfrm>
            <a:off x="1038225" y="1314450"/>
            <a:ext cx="7067550" cy="952500"/>
          </a:xfrm>
          <a:prstGeom prst="rect">
            <a:avLst/>
          </a:prstGeom>
          <a:noFill/>
          <a:ln>
            <a:noFill/>
          </a:ln>
        </p:spPr>
      </p:pic>
      <p:sp>
        <p:nvSpPr>
          <p:cNvPr id="2722" name="Google Shape;2722;p248"/>
          <p:cNvSpPr txBox="1"/>
          <p:nvPr/>
        </p:nvSpPr>
        <p:spPr>
          <a:xfrm>
            <a:off x="163225" y="3736425"/>
            <a:ext cx="8935500" cy="10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Google Sans"/>
                <a:ea typeface="Google Sans"/>
                <a:cs typeface="Google Sans"/>
                <a:sym typeface="Google Sans"/>
              </a:rPr>
              <a:t>Relevant sparse codes with variational information bottleneck - Chalk et al. / </a:t>
            </a:r>
            <a:r>
              <a:rPr lang="en" sz="1300">
                <a:solidFill>
                  <a:schemeClr val="dk1"/>
                </a:solidFill>
                <a:latin typeface="Roboto Mono"/>
                <a:ea typeface="Roboto Mono"/>
                <a:cs typeface="Roboto Mono"/>
                <a:sym typeface="Roboto Mono"/>
              </a:rPr>
              <a:t>1605.07332</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300">
                <a:solidFill>
                  <a:schemeClr val="dk1"/>
                </a:solidFill>
                <a:latin typeface="Google Sans"/>
                <a:ea typeface="Google Sans"/>
                <a:cs typeface="Google Sans"/>
                <a:sym typeface="Google Sans"/>
              </a:rPr>
              <a:t>Information Dropout: Learning Optimal Representations Through Noisy Computation - Achille et al. / </a:t>
            </a:r>
            <a:r>
              <a:rPr lang="en" sz="1300">
                <a:solidFill>
                  <a:schemeClr val="dk1"/>
                </a:solidFill>
                <a:latin typeface="Roboto Mono"/>
                <a:ea typeface="Roboto Mono"/>
                <a:cs typeface="Roboto Mono"/>
                <a:sym typeface="Roboto Mono"/>
              </a:rPr>
              <a:t>1611.01353</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300">
                <a:solidFill>
                  <a:schemeClr val="dk1"/>
                </a:solidFill>
                <a:latin typeface="Google Sans"/>
                <a:ea typeface="Google Sans"/>
                <a:cs typeface="Google Sans"/>
                <a:sym typeface="Google Sans"/>
              </a:rPr>
              <a:t>Nonlinear Information Bottleneck - Kolchinsky et al. / </a:t>
            </a:r>
            <a:r>
              <a:rPr lang="en" sz="1300">
                <a:solidFill>
                  <a:schemeClr val="dk1"/>
                </a:solidFill>
                <a:latin typeface="Roboto Mono"/>
                <a:ea typeface="Roboto Mono"/>
                <a:cs typeface="Roboto Mono"/>
                <a:sym typeface="Roboto Mono"/>
              </a:rPr>
              <a:t>1705.02436</a:t>
            </a:r>
            <a:endParaRPr sz="1300">
              <a:solidFill>
                <a:schemeClr val="dk1"/>
              </a:solidFill>
              <a:latin typeface="Roboto Mono"/>
              <a:ea typeface="Roboto Mono"/>
              <a:cs typeface="Roboto Mono"/>
              <a:sym typeface="Roboto Mono"/>
            </a:endParaRPr>
          </a:p>
          <a:p>
            <a:pPr indent="0" lvl="0" marL="0" rtl="0" algn="l">
              <a:spcBef>
                <a:spcPts val="0"/>
              </a:spcBef>
              <a:spcAft>
                <a:spcPts val="0"/>
              </a:spcAft>
              <a:buNone/>
            </a:pPr>
            <a:r>
              <a:rPr lang="en" sz="1300">
                <a:solidFill>
                  <a:schemeClr val="dk1"/>
                </a:solidFill>
                <a:latin typeface="Google Sans"/>
                <a:ea typeface="Google Sans"/>
                <a:cs typeface="Google Sans"/>
                <a:sym typeface="Google Sans"/>
              </a:rPr>
              <a:t>Deep Variational Information Bottleneck - Alemi et al. </a:t>
            </a:r>
            <a:r>
              <a:rPr lang="en" sz="1300">
                <a:solidFill>
                  <a:schemeClr val="dk1"/>
                </a:solidFill>
                <a:latin typeface="Roboto Mono"/>
                <a:ea typeface="Roboto Mono"/>
                <a:cs typeface="Roboto Mono"/>
                <a:sym typeface="Roboto Mono"/>
              </a:rPr>
              <a:t>1706.02262</a:t>
            </a:r>
            <a:endParaRPr sz="1300">
              <a:latin typeface="Roboto Mono"/>
              <a:ea typeface="Roboto Mono"/>
              <a:cs typeface="Roboto Mono"/>
              <a:sym typeface="Roboto Mono"/>
            </a:endParaRPr>
          </a:p>
          <a:p>
            <a:pPr indent="0" lvl="0" marL="0" rtl="0" algn="l">
              <a:spcBef>
                <a:spcPts val="0"/>
              </a:spcBef>
              <a:spcAft>
                <a:spcPts val="0"/>
              </a:spcAft>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6" name="Shape 2726"/>
        <p:cNvGrpSpPr/>
        <p:nvPr/>
      </p:nvGrpSpPr>
      <p:grpSpPr>
        <a:xfrm>
          <a:off x="0" y="0"/>
          <a:ext cx="0" cy="0"/>
          <a:chOff x="0" y="0"/>
          <a:chExt cx="0" cy="0"/>
        </a:xfrm>
      </p:grpSpPr>
      <p:sp>
        <p:nvSpPr>
          <p:cNvPr id="2727" name="Google Shape;2727;p24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Extremes</a:t>
            </a:r>
            <a:endParaRPr/>
          </a:p>
        </p:txBody>
      </p:sp>
      <p:sp>
        <p:nvSpPr>
          <p:cNvPr id="2728" name="Google Shape;2728;p249"/>
          <p:cNvSpPr txBox="1"/>
          <p:nvPr/>
        </p:nvSpPr>
        <p:spPr>
          <a:xfrm>
            <a:off x="447500" y="1372350"/>
            <a:ext cx="4296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Memorization requires log(N) nats.</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Learning a perfect classifier requires log(C) nats.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This gap creates opportunity.</a:t>
            </a:r>
            <a:endParaRPr>
              <a:latin typeface="Google Sans"/>
              <a:ea typeface="Google Sans"/>
              <a:cs typeface="Google Sans"/>
              <a:sym typeface="Google Sans"/>
            </a:endParaRPr>
          </a:p>
        </p:txBody>
      </p:sp>
      <p:pic>
        <p:nvPicPr>
          <p:cNvPr id="2729" name="Google Shape;2729;p249"/>
          <p:cNvPicPr preferRelativeResize="0"/>
          <p:nvPr/>
        </p:nvPicPr>
        <p:blipFill>
          <a:blip r:embed="rId3">
            <a:alphaModFix/>
          </a:blip>
          <a:stretch>
            <a:fillRect/>
          </a:stretch>
        </p:blipFill>
        <p:spPr>
          <a:xfrm>
            <a:off x="5746200" y="1372350"/>
            <a:ext cx="2438400" cy="352425"/>
          </a:xfrm>
          <a:prstGeom prst="rect">
            <a:avLst/>
          </a:prstGeom>
          <a:noFill/>
          <a:ln>
            <a:noFill/>
          </a:ln>
        </p:spPr>
      </p:pic>
      <p:pic>
        <p:nvPicPr>
          <p:cNvPr id="2730" name="Google Shape;2730;p249"/>
          <p:cNvPicPr preferRelativeResize="0"/>
          <p:nvPr/>
        </p:nvPicPr>
        <p:blipFill>
          <a:blip r:embed="rId4">
            <a:alphaModFix/>
          </a:blip>
          <a:stretch>
            <a:fillRect/>
          </a:stretch>
        </p:blipFill>
        <p:spPr>
          <a:xfrm>
            <a:off x="5984325" y="1885275"/>
            <a:ext cx="1962150" cy="352425"/>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4" name="Shape 2734"/>
        <p:cNvGrpSpPr/>
        <p:nvPr/>
      </p:nvGrpSpPr>
      <p:grpSpPr>
        <a:xfrm>
          <a:off x="0" y="0"/>
          <a:ext cx="0" cy="0"/>
          <a:chOff x="0" y="0"/>
          <a:chExt cx="0" cy="0"/>
        </a:xfrm>
      </p:grpSpPr>
      <p:sp>
        <p:nvSpPr>
          <p:cNvPr id="2735" name="Google Shape;2735;p25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Architecture</a:t>
            </a:r>
            <a:endParaRPr/>
          </a:p>
        </p:txBody>
      </p:sp>
      <p:sp>
        <p:nvSpPr>
          <p:cNvPr id="2736" name="Google Shape;2736;p250"/>
          <p:cNvSpPr txBox="1"/>
          <p:nvPr/>
        </p:nvSpPr>
        <p:spPr>
          <a:xfrm>
            <a:off x="447500" y="1372350"/>
            <a:ext cx="4296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Encoder is a fully covariant Normal Distribution.</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Use a clever energy model for both the classifier and the marginal distribution.</a:t>
            </a:r>
            <a:endParaRPr>
              <a:latin typeface="Google Sans"/>
              <a:ea typeface="Google Sans"/>
              <a:cs typeface="Google Sans"/>
              <a:sym typeface="Google Sans"/>
            </a:endParaRPr>
          </a:p>
        </p:txBody>
      </p:sp>
      <p:pic>
        <p:nvPicPr>
          <p:cNvPr id="2737" name="Google Shape;2737;p250"/>
          <p:cNvPicPr preferRelativeResize="0"/>
          <p:nvPr/>
        </p:nvPicPr>
        <p:blipFill>
          <a:blip r:embed="rId3">
            <a:alphaModFix/>
          </a:blip>
          <a:stretch>
            <a:fillRect/>
          </a:stretch>
        </p:blipFill>
        <p:spPr>
          <a:xfrm>
            <a:off x="103525" y="4542175"/>
            <a:ext cx="2512301" cy="419350"/>
          </a:xfrm>
          <a:prstGeom prst="rect">
            <a:avLst/>
          </a:prstGeom>
          <a:noFill/>
          <a:ln>
            <a:noFill/>
          </a:ln>
        </p:spPr>
      </p:pic>
      <p:pic>
        <p:nvPicPr>
          <p:cNvPr id="2738" name="Google Shape;2738;p250"/>
          <p:cNvPicPr preferRelativeResize="0"/>
          <p:nvPr/>
        </p:nvPicPr>
        <p:blipFill>
          <a:blip r:embed="rId4">
            <a:alphaModFix/>
          </a:blip>
          <a:stretch>
            <a:fillRect/>
          </a:stretch>
        </p:blipFill>
        <p:spPr>
          <a:xfrm>
            <a:off x="3174451" y="3399175"/>
            <a:ext cx="5657850" cy="1143000"/>
          </a:xfrm>
          <a:prstGeom prst="rect">
            <a:avLst/>
          </a:prstGeom>
          <a:noFill/>
          <a:ln>
            <a:noFill/>
          </a:ln>
        </p:spPr>
      </p:pic>
      <p:pic>
        <p:nvPicPr>
          <p:cNvPr id="2739" name="Google Shape;2739;p250"/>
          <p:cNvPicPr preferRelativeResize="0"/>
          <p:nvPr/>
        </p:nvPicPr>
        <p:blipFill>
          <a:blip r:embed="rId5">
            <a:alphaModFix/>
          </a:blip>
          <a:stretch>
            <a:fillRect/>
          </a:stretch>
        </p:blipFill>
        <p:spPr>
          <a:xfrm>
            <a:off x="4833500" y="2155000"/>
            <a:ext cx="3800475" cy="1019175"/>
          </a:xfrm>
          <a:prstGeom prst="rect">
            <a:avLst/>
          </a:prstGeom>
          <a:noFill/>
          <a:ln>
            <a:noFill/>
          </a:ln>
        </p:spPr>
      </p:pic>
      <p:pic>
        <p:nvPicPr>
          <p:cNvPr id="2740" name="Google Shape;2740;p250"/>
          <p:cNvPicPr preferRelativeResize="0"/>
          <p:nvPr/>
        </p:nvPicPr>
        <p:blipFill>
          <a:blip r:embed="rId6">
            <a:alphaModFix/>
          </a:blip>
          <a:stretch>
            <a:fillRect/>
          </a:stretch>
        </p:blipFill>
        <p:spPr>
          <a:xfrm>
            <a:off x="4966850" y="1139425"/>
            <a:ext cx="3533775" cy="790575"/>
          </a:xfrm>
          <a:prstGeom prst="rect">
            <a:avLst/>
          </a:prstGeom>
          <a:noFill/>
          <a:ln>
            <a:noFill/>
          </a:ln>
        </p:spPr>
      </p:pic>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4" name="Shape 2744"/>
        <p:cNvGrpSpPr/>
        <p:nvPr/>
      </p:nvGrpSpPr>
      <p:grpSpPr>
        <a:xfrm>
          <a:off x="0" y="0"/>
          <a:ext cx="0" cy="0"/>
          <a:chOff x="0" y="0"/>
          <a:chExt cx="0" cy="0"/>
        </a:xfrm>
      </p:grpSpPr>
      <p:pic>
        <p:nvPicPr>
          <p:cNvPr id="2745" name="Google Shape;2745;p251"/>
          <p:cNvPicPr preferRelativeResize="0"/>
          <p:nvPr/>
        </p:nvPicPr>
        <p:blipFill>
          <a:blip r:embed="rId3">
            <a:alphaModFix/>
          </a:blip>
          <a:stretch>
            <a:fillRect/>
          </a:stretch>
        </p:blipFill>
        <p:spPr>
          <a:xfrm>
            <a:off x="3337150" y="476250"/>
            <a:ext cx="5553075" cy="4191000"/>
          </a:xfrm>
          <a:prstGeom prst="rect">
            <a:avLst/>
          </a:prstGeom>
          <a:noFill/>
          <a:ln>
            <a:noFill/>
          </a:ln>
        </p:spPr>
      </p:pic>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9" name="Shape 2749"/>
        <p:cNvGrpSpPr/>
        <p:nvPr/>
      </p:nvGrpSpPr>
      <p:grpSpPr>
        <a:xfrm>
          <a:off x="0" y="0"/>
          <a:ext cx="0" cy="0"/>
          <a:chOff x="0" y="0"/>
          <a:chExt cx="0" cy="0"/>
        </a:xfrm>
      </p:grpSpPr>
      <p:sp>
        <p:nvSpPr>
          <p:cNvPr id="2750" name="Google Shape;2750;p25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Performance as a function of beta</a:t>
            </a:r>
            <a:endParaRPr/>
          </a:p>
        </p:txBody>
      </p:sp>
      <p:pic>
        <p:nvPicPr>
          <p:cNvPr id="2751" name="Google Shape;2751;p252"/>
          <p:cNvPicPr preferRelativeResize="0"/>
          <p:nvPr/>
        </p:nvPicPr>
        <p:blipFill>
          <a:blip r:embed="rId3">
            <a:alphaModFix/>
          </a:blip>
          <a:stretch>
            <a:fillRect/>
          </a:stretch>
        </p:blipFill>
        <p:spPr>
          <a:xfrm>
            <a:off x="311700" y="1318425"/>
            <a:ext cx="2399664" cy="1818325"/>
          </a:xfrm>
          <a:prstGeom prst="rect">
            <a:avLst/>
          </a:prstGeom>
          <a:noFill/>
          <a:ln>
            <a:noFill/>
          </a:ln>
        </p:spPr>
      </p:pic>
      <p:pic>
        <p:nvPicPr>
          <p:cNvPr id="2752" name="Google Shape;2752;p252"/>
          <p:cNvPicPr preferRelativeResize="0"/>
          <p:nvPr/>
        </p:nvPicPr>
        <p:blipFill>
          <a:blip r:embed="rId4">
            <a:alphaModFix/>
          </a:blip>
          <a:stretch>
            <a:fillRect/>
          </a:stretch>
        </p:blipFill>
        <p:spPr>
          <a:xfrm>
            <a:off x="3685589" y="1339050"/>
            <a:ext cx="5106213" cy="3820975"/>
          </a:xfrm>
          <a:prstGeom prst="rect">
            <a:avLst/>
          </a:prstGeom>
          <a:noFill/>
          <a:ln>
            <a:noFill/>
          </a:ln>
        </p:spPr>
      </p:pic>
      <p:pic>
        <p:nvPicPr>
          <p:cNvPr id="2753" name="Google Shape;2753;p252"/>
          <p:cNvPicPr preferRelativeResize="0"/>
          <p:nvPr/>
        </p:nvPicPr>
        <p:blipFill>
          <a:blip r:embed="rId5">
            <a:alphaModFix/>
          </a:blip>
          <a:stretch>
            <a:fillRect/>
          </a:stretch>
        </p:blipFill>
        <p:spPr>
          <a:xfrm>
            <a:off x="756525" y="3229475"/>
            <a:ext cx="2356547" cy="1701951"/>
          </a:xfrm>
          <a:prstGeom prst="rect">
            <a:avLst/>
          </a:prstGeom>
          <a:noFill/>
          <a:ln>
            <a:noFill/>
          </a:ln>
        </p:spPr>
      </p:pic>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7" name="Shape 2757"/>
        <p:cNvGrpSpPr/>
        <p:nvPr/>
      </p:nvGrpSpPr>
      <p:grpSpPr>
        <a:xfrm>
          <a:off x="0" y="0"/>
          <a:ext cx="0" cy="0"/>
          <a:chOff x="0" y="0"/>
          <a:chExt cx="0" cy="0"/>
        </a:xfrm>
      </p:grpSpPr>
      <p:pic>
        <p:nvPicPr>
          <p:cNvPr descr="determ.png" id="2758" name="Google Shape;2758;p253"/>
          <p:cNvPicPr preferRelativeResize="0"/>
          <p:nvPr/>
        </p:nvPicPr>
        <p:blipFill rotWithShape="1">
          <a:blip r:embed="rId3">
            <a:alphaModFix/>
          </a:blip>
          <a:srcRect b="6800" l="0" r="0" t="6800"/>
          <a:stretch/>
        </p:blipFill>
        <p:spPr>
          <a:xfrm>
            <a:off x="1080950" y="-907252"/>
            <a:ext cx="9144000" cy="5793901"/>
          </a:xfrm>
          <a:prstGeom prst="rect">
            <a:avLst/>
          </a:prstGeom>
          <a:noFill/>
          <a:ln>
            <a:noFill/>
          </a:ln>
          <a:effectLst>
            <a:reflection blurRad="0" dir="5400000" dist="38100" endA="0" endPos="30000" fadeDir="5400012" kx="0" rotWithShape="0" algn="bl" stPos="0" sy="-100000" ky="0"/>
          </a:effectLst>
        </p:spPr>
      </p:pic>
      <p:sp>
        <p:nvSpPr>
          <p:cNvPr id="2759" name="Google Shape;2759;p253"/>
          <p:cNvSpPr txBox="1"/>
          <p:nvPr>
            <p:ph type="ctrTitle"/>
          </p:nvPr>
        </p:nvSpPr>
        <p:spPr>
          <a:xfrm>
            <a:off x="0" y="0"/>
            <a:ext cx="4597200" cy="684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Representation</a:t>
            </a:r>
            <a:endParaRPr/>
          </a:p>
        </p:txBody>
      </p:sp>
      <p:sp>
        <p:nvSpPr>
          <p:cNvPr id="2760" name="Google Shape;2760;p2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1" name="Google Shape;2761;p253"/>
          <p:cNvPicPr preferRelativeResize="0"/>
          <p:nvPr/>
        </p:nvPicPr>
        <p:blipFill>
          <a:blip r:embed="rId4">
            <a:alphaModFix/>
          </a:blip>
          <a:stretch>
            <a:fillRect/>
          </a:stretch>
        </p:blipFill>
        <p:spPr>
          <a:xfrm>
            <a:off x="-12" y="4475788"/>
            <a:ext cx="6581775" cy="581025"/>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5" name="Shape 2765"/>
        <p:cNvGrpSpPr/>
        <p:nvPr/>
      </p:nvGrpSpPr>
      <p:grpSpPr>
        <a:xfrm>
          <a:off x="0" y="0"/>
          <a:ext cx="0" cy="0"/>
          <a:chOff x="0" y="0"/>
          <a:chExt cx="0" cy="0"/>
        </a:xfrm>
      </p:grpSpPr>
      <p:pic>
        <p:nvPicPr>
          <p:cNvPr id="2766" name="Google Shape;2766;p254"/>
          <p:cNvPicPr preferRelativeResize="0"/>
          <p:nvPr/>
        </p:nvPicPr>
        <p:blipFill>
          <a:blip r:embed="rId3">
            <a:alphaModFix/>
          </a:blip>
          <a:stretch>
            <a:fillRect/>
          </a:stretch>
        </p:blipFill>
        <p:spPr>
          <a:xfrm>
            <a:off x="0" y="-325202"/>
            <a:ext cx="9144000" cy="5793901"/>
          </a:xfrm>
          <a:prstGeom prst="rect">
            <a:avLst/>
          </a:prstGeom>
          <a:noFill/>
          <a:ln>
            <a:noFill/>
          </a:ln>
          <a:effectLst>
            <a:reflection blurRad="0" dir="5400000" dist="38100" endA="0" endPos="30000" fadeDir="5400012" kx="0" rotWithShape="0" algn="bl" stPos="0" sy="-100000" ky="0"/>
          </a:effectLst>
        </p:spPr>
      </p:pic>
      <p:sp>
        <p:nvSpPr>
          <p:cNvPr id="2767" name="Google Shape;2767;p254"/>
          <p:cNvSpPr txBox="1"/>
          <p:nvPr>
            <p:ph type="ctrTitle"/>
          </p:nvPr>
        </p:nvSpPr>
        <p:spPr>
          <a:xfrm>
            <a:off x="0" y="0"/>
            <a:ext cx="4014900" cy="684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Representation</a:t>
            </a:r>
            <a:endParaRPr/>
          </a:p>
        </p:txBody>
      </p:sp>
      <p:sp>
        <p:nvSpPr>
          <p:cNvPr id="2768" name="Google Shape;2768;p2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9" name="Google Shape;2769;p254"/>
          <p:cNvPicPr preferRelativeResize="0"/>
          <p:nvPr/>
        </p:nvPicPr>
        <p:blipFill>
          <a:blip r:embed="rId4">
            <a:alphaModFix/>
          </a:blip>
          <a:stretch>
            <a:fillRect/>
          </a:stretch>
        </p:blipFill>
        <p:spPr>
          <a:xfrm>
            <a:off x="-12" y="4475788"/>
            <a:ext cx="6581775" cy="581025"/>
          </a:xfrm>
          <a:prstGeom prst="rect">
            <a:avLst/>
          </a:prstGeom>
          <a:noFill/>
          <a:ln>
            <a:noFill/>
          </a:ln>
        </p:spPr>
      </p:pic>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3" name="Shape 2773"/>
        <p:cNvGrpSpPr/>
        <p:nvPr/>
      </p:nvGrpSpPr>
      <p:grpSpPr>
        <a:xfrm>
          <a:off x="0" y="0"/>
          <a:ext cx="0" cy="0"/>
          <a:chOff x="0" y="0"/>
          <a:chExt cx="0" cy="0"/>
        </a:xfrm>
      </p:grpSpPr>
      <p:pic>
        <p:nvPicPr>
          <p:cNvPr id="2774" name="Google Shape;2774;p255"/>
          <p:cNvPicPr preferRelativeResize="0"/>
          <p:nvPr/>
        </p:nvPicPr>
        <p:blipFill>
          <a:blip r:embed="rId3">
            <a:alphaModFix/>
          </a:blip>
          <a:stretch>
            <a:fillRect/>
          </a:stretch>
        </p:blipFill>
        <p:spPr>
          <a:xfrm>
            <a:off x="3747122" y="154525"/>
            <a:ext cx="4981999" cy="4834451"/>
          </a:xfrm>
          <a:prstGeom prst="rect">
            <a:avLst/>
          </a:prstGeom>
          <a:noFill/>
          <a:ln>
            <a:noFill/>
          </a:ln>
        </p:spPr>
      </p:pic>
      <p:pic>
        <p:nvPicPr>
          <p:cNvPr id="2775" name="Google Shape;2775;p255"/>
          <p:cNvPicPr preferRelativeResize="0"/>
          <p:nvPr/>
        </p:nvPicPr>
        <p:blipFill>
          <a:blip r:embed="rId4">
            <a:alphaModFix/>
          </a:blip>
          <a:stretch>
            <a:fillRect/>
          </a:stretch>
        </p:blipFill>
        <p:spPr>
          <a:xfrm>
            <a:off x="522075" y="2234100"/>
            <a:ext cx="3043050" cy="2297475"/>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9" name="Shape 2779"/>
        <p:cNvGrpSpPr/>
        <p:nvPr/>
      </p:nvGrpSpPr>
      <p:grpSpPr>
        <a:xfrm>
          <a:off x="0" y="0"/>
          <a:ext cx="0" cy="0"/>
          <a:chOff x="0" y="0"/>
          <a:chExt cx="0" cy="0"/>
        </a:xfrm>
      </p:grpSpPr>
      <p:sp>
        <p:nvSpPr>
          <p:cNvPr id="2780" name="Google Shape;2780;p256"/>
          <p:cNvSpPr txBox="1"/>
          <p:nvPr>
            <p:ph idx="2" type="title"/>
          </p:nvPr>
        </p:nvSpPr>
        <p:spPr>
          <a:xfrm>
            <a:off x="417675" y="341875"/>
            <a:ext cx="7918200" cy="49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Calibration</a:t>
            </a:r>
            <a:endParaRPr/>
          </a:p>
        </p:txBody>
      </p:sp>
      <p:sp>
        <p:nvSpPr>
          <p:cNvPr id="2781" name="Google Shape;2781;p25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782" name="Google Shape;2782;p256"/>
          <p:cNvPicPr preferRelativeResize="0"/>
          <p:nvPr/>
        </p:nvPicPr>
        <p:blipFill rotWithShape="1">
          <a:blip r:embed="rId3">
            <a:alphaModFix/>
          </a:blip>
          <a:srcRect b="0" l="0" r="0" t="0"/>
          <a:stretch/>
        </p:blipFill>
        <p:spPr>
          <a:xfrm>
            <a:off x="2418150" y="417900"/>
            <a:ext cx="4307700" cy="4307700"/>
          </a:xfrm>
          <a:prstGeom prst="rect">
            <a:avLst/>
          </a:prstGeom>
          <a:noFill/>
          <a:ln>
            <a:noFill/>
          </a:ln>
        </p:spPr>
      </p:pic>
      <p:sp>
        <p:nvSpPr>
          <p:cNvPr id="2783" name="Google Shape;2783;p256"/>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sp>
        <p:nvSpPr>
          <p:cNvPr id="2784" name="Google Shape;2784;p256"/>
          <p:cNvSpPr txBox="1"/>
          <p:nvPr/>
        </p:nvSpPr>
        <p:spPr>
          <a:xfrm>
            <a:off x="6727475" y="738375"/>
            <a:ext cx="21183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test likelihood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determ  = 0.1921 nats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VIB = 0.0560 nats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a:p>
            <a:pPr indent="0" lvl="0" marL="0" rtl="0" algn="l">
              <a:spcBef>
                <a:spcPts val="0"/>
              </a:spcBef>
              <a:spcAft>
                <a:spcPts val="0"/>
              </a:spcAft>
              <a:buNone/>
            </a:pPr>
            <a:r>
              <a:rPr lang="en">
                <a:latin typeface="Google Sans"/>
                <a:ea typeface="Google Sans"/>
                <a:cs typeface="Google Sans"/>
                <a:sym typeface="Google Sans"/>
              </a:rPr>
              <a:t>~20 samples are enough to strongly select VIB over the deterministic</a:t>
            </a:r>
            <a:endParaRPr>
              <a:latin typeface="Google Sans"/>
              <a:ea typeface="Google Sans"/>
              <a:cs typeface="Google Sans"/>
              <a:sym typeface="Google Sans"/>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8" name="Shape 2788"/>
        <p:cNvGrpSpPr/>
        <p:nvPr/>
      </p:nvGrpSpPr>
      <p:grpSpPr>
        <a:xfrm>
          <a:off x="0" y="0"/>
          <a:ext cx="0" cy="0"/>
          <a:chOff x="0" y="0"/>
          <a:chExt cx="0" cy="0"/>
        </a:xfrm>
      </p:grpSpPr>
      <p:sp>
        <p:nvSpPr>
          <p:cNvPr id="2789" name="Google Shape;2789;p257"/>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300">
              <a:solidFill>
                <a:srgbClr val="9AA0A6"/>
              </a:solidFill>
              <a:latin typeface="Roboto Light"/>
              <a:ea typeface="Roboto Light"/>
              <a:cs typeface="Roboto Light"/>
              <a:sym typeface="Roboto Light"/>
            </a:endParaRPr>
          </a:p>
        </p:txBody>
      </p:sp>
      <p:pic>
        <p:nvPicPr>
          <p:cNvPr id="2790" name="Google Shape;2790;p257"/>
          <p:cNvPicPr preferRelativeResize="0"/>
          <p:nvPr/>
        </p:nvPicPr>
        <p:blipFill rotWithShape="1">
          <a:blip r:embed="rId3">
            <a:alphaModFix/>
          </a:blip>
          <a:srcRect b="64407" l="-1041" r="3746" t="-3192"/>
          <a:stretch/>
        </p:blipFill>
        <p:spPr>
          <a:xfrm rot="10800000">
            <a:off x="615195" y="0"/>
            <a:ext cx="2321350" cy="925400"/>
          </a:xfrm>
          <a:prstGeom prst="rect">
            <a:avLst/>
          </a:prstGeom>
          <a:noFill/>
          <a:ln>
            <a:noFill/>
          </a:ln>
        </p:spPr>
      </p:pic>
      <p:sp>
        <p:nvSpPr>
          <p:cNvPr id="2791" name="Google Shape;2791;p257"/>
          <p:cNvSpPr txBox="1"/>
          <p:nvPr>
            <p:ph idx="2" type="title"/>
          </p:nvPr>
        </p:nvSpPr>
        <p:spPr>
          <a:xfrm>
            <a:off x="532350" y="765900"/>
            <a:ext cx="8079300" cy="2697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4800"/>
          </a:p>
          <a:p>
            <a:pPr indent="0" lvl="0" marL="0" rtl="0" algn="ctr">
              <a:spcBef>
                <a:spcPts val="0"/>
              </a:spcBef>
              <a:spcAft>
                <a:spcPts val="0"/>
              </a:spcAft>
              <a:buNone/>
            </a:pPr>
            <a:r>
              <a:rPr lang="en" sz="4800"/>
              <a:t>Two Forms of </a:t>
            </a:r>
            <a:r>
              <a:rPr lang="en" sz="4800">
                <a:solidFill>
                  <a:srgbClr val="34A853"/>
                </a:solidFill>
              </a:rPr>
              <a:t>Uncertainty</a:t>
            </a:r>
            <a:endParaRPr sz="4800"/>
          </a:p>
        </p:txBody>
      </p:sp>
      <p:sp>
        <p:nvSpPr>
          <p:cNvPr id="2792" name="Google Shape;2792;p257"/>
          <p:cNvSpPr txBox="1"/>
          <p:nvPr>
            <p:ph type="title"/>
          </p:nvPr>
        </p:nvSpPr>
        <p:spPr>
          <a:xfrm>
            <a:off x="114351" y="476013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793" name="Google Shape;2793;p257"/>
          <p:cNvPicPr preferRelativeResize="0"/>
          <p:nvPr/>
        </p:nvPicPr>
        <p:blipFill>
          <a:blip r:embed="rId4">
            <a:alphaModFix/>
          </a:blip>
          <a:stretch>
            <a:fillRect/>
          </a:stretch>
        </p:blipFill>
        <p:spPr>
          <a:xfrm>
            <a:off x="163150" y="2690175"/>
            <a:ext cx="8817708" cy="1085422"/>
          </a:xfrm>
          <a:prstGeom prst="rect">
            <a:avLst/>
          </a:prstGeom>
          <a:noFill/>
          <a:ln>
            <a:noFill/>
          </a:ln>
        </p:spPr>
      </p:pic>
      <p:sp>
        <p:nvSpPr>
          <p:cNvPr id="2794" name="Google Shape;2794;p257"/>
          <p:cNvSpPr txBox="1"/>
          <p:nvPr/>
        </p:nvSpPr>
        <p:spPr>
          <a:xfrm>
            <a:off x="3817488" y="3829738"/>
            <a:ext cx="2144100" cy="38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Google Sans"/>
                <a:ea typeface="Google Sans"/>
                <a:cs typeface="Google Sans"/>
                <a:sym typeface="Google Sans"/>
              </a:rPr>
              <a:t>Confidence</a:t>
            </a:r>
            <a:endParaRPr b="1" sz="2400">
              <a:latin typeface="Google Sans"/>
              <a:ea typeface="Google Sans"/>
              <a:cs typeface="Google Sans"/>
              <a:sym typeface="Google Sans"/>
            </a:endParaRPr>
          </a:p>
        </p:txBody>
      </p:sp>
      <p:sp>
        <p:nvSpPr>
          <p:cNvPr id="2795" name="Google Shape;2795;p257"/>
          <p:cNvSpPr txBox="1"/>
          <p:nvPr/>
        </p:nvSpPr>
        <p:spPr>
          <a:xfrm>
            <a:off x="6836738" y="3829738"/>
            <a:ext cx="2144100" cy="38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latin typeface="Google Sans"/>
                <a:ea typeface="Google Sans"/>
                <a:cs typeface="Google Sans"/>
                <a:sym typeface="Google Sans"/>
              </a:rPr>
              <a:t>Rate</a:t>
            </a:r>
            <a:endParaRPr b="1" sz="2400">
              <a:latin typeface="Google Sans"/>
              <a:ea typeface="Google Sans"/>
              <a:cs typeface="Google Sans"/>
              <a:sym typeface="Google Sans"/>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9" name="Shape 2799"/>
        <p:cNvGrpSpPr/>
        <p:nvPr/>
      </p:nvGrpSpPr>
      <p:grpSpPr>
        <a:xfrm>
          <a:off x="0" y="0"/>
          <a:ext cx="0" cy="0"/>
          <a:chOff x="0" y="0"/>
          <a:chExt cx="0" cy="0"/>
        </a:xfrm>
      </p:grpSpPr>
      <p:sp>
        <p:nvSpPr>
          <p:cNvPr id="2800" name="Google Shape;2800;p258"/>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801" name="Google Shape;2801;p258"/>
          <p:cNvPicPr preferRelativeResize="0"/>
          <p:nvPr/>
        </p:nvPicPr>
        <p:blipFill>
          <a:blip r:embed="rId3">
            <a:alphaModFix/>
          </a:blip>
          <a:stretch>
            <a:fillRect/>
          </a:stretch>
        </p:blipFill>
        <p:spPr>
          <a:xfrm>
            <a:off x="3014474" y="1014214"/>
            <a:ext cx="3115056" cy="3115056"/>
          </a:xfrm>
          <a:prstGeom prst="rect">
            <a:avLst/>
          </a:prstGeom>
          <a:noFill/>
          <a:ln>
            <a:noFill/>
          </a:ln>
        </p:spPr>
      </p:pic>
      <p:sp>
        <p:nvSpPr>
          <p:cNvPr id="2802" name="Google Shape;2802;p258"/>
          <p:cNvSpPr txBox="1"/>
          <p:nvPr/>
        </p:nvSpPr>
        <p:spPr>
          <a:xfrm>
            <a:off x="3026700" y="93525"/>
            <a:ext cx="3090600" cy="9207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Fashion MNIST</a:t>
            </a:r>
            <a:endParaRPr b="1" sz="2400">
              <a:solidFill>
                <a:srgbClr val="3C4043"/>
              </a:solidFill>
              <a:latin typeface="Google Sans"/>
              <a:ea typeface="Google Sans"/>
              <a:cs typeface="Google Sans"/>
              <a:sym typeface="Google Sans"/>
            </a:endParaRPr>
          </a:p>
        </p:txBody>
      </p:sp>
      <p:sp>
        <p:nvSpPr>
          <p:cNvPr id="2803" name="Google Shape;2803;p258"/>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04" name="Google Shape;2804;p258"/>
          <p:cNvPicPr preferRelativeResize="0"/>
          <p:nvPr/>
        </p:nvPicPr>
        <p:blipFill>
          <a:blip r:embed="rId4">
            <a:alphaModFix/>
          </a:blip>
          <a:stretch>
            <a:fillRect/>
          </a:stretch>
        </p:blipFill>
        <p:spPr>
          <a:xfrm>
            <a:off x="2427950" y="4434070"/>
            <a:ext cx="6716046" cy="340306"/>
          </a:xfrm>
          <a:prstGeom prst="rect">
            <a:avLst/>
          </a:prstGeom>
          <a:noFill/>
          <a:ln>
            <a:noFill/>
          </a:ln>
        </p:spPr>
      </p:pic>
      <p:sp>
        <p:nvSpPr>
          <p:cNvPr id="2805" name="Google Shape;2805;p258"/>
          <p:cNvSpPr/>
          <p:nvPr/>
        </p:nvSpPr>
        <p:spPr>
          <a:xfrm>
            <a:off x="3190425" y="1953075"/>
            <a:ext cx="36300" cy="849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9" name="Shape 2809"/>
        <p:cNvGrpSpPr/>
        <p:nvPr/>
      </p:nvGrpSpPr>
      <p:grpSpPr>
        <a:xfrm>
          <a:off x="0" y="0"/>
          <a:ext cx="0" cy="0"/>
          <a:chOff x="0" y="0"/>
          <a:chExt cx="0" cy="0"/>
        </a:xfrm>
      </p:grpSpPr>
      <p:sp>
        <p:nvSpPr>
          <p:cNvPr id="2810" name="Google Shape;2810;p259"/>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811" name="Google Shape;2811;p259"/>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12" name="Google Shape;2812;p259"/>
          <p:cNvPicPr preferRelativeResize="0"/>
          <p:nvPr/>
        </p:nvPicPr>
        <p:blipFill>
          <a:blip r:embed="rId3">
            <a:alphaModFix/>
          </a:blip>
          <a:stretch>
            <a:fillRect/>
          </a:stretch>
        </p:blipFill>
        <p:spPr>
          <a:xfrm>
            <a:off x="4502009" y="206234"/>
            <a:ext cx="4423650" cy="4423650"/>
          </a:xfrm>
          <a:prstGeom prst="rect">
            <a:avLst/>
          </a:prstGeom>
          <a:noFill/>
          <a:ln>
            <a:noFill/>
          </a:ln>
        </p:spPr>
      </p:pic>
      <p:sp>
        <p:nvSpPr>
          <p:cNvPr id="2813" name="Google Shape;2813;p259"/>
          <p:cNvSpPr txBox="1"/>
          <p:nvPr/>
        </p:nvSpPr>
        <p:spPr>
          <a:xfrm>
            <a:off x="782500" y="1751475"/>
            <a:ext cx="3090600" cy="9207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 Mislabellings</a:t>
            </a:r>
            <a:endParaRPr b="1" sz="2400">
              <a:solidFill>
                <a:srgbClr val="3C4043"/>
              </a:solidFill>
              <a:latin typeface="Google Sans"/>
              <a:ea typeface="Google Sans"/>
              <a:cs typeface="Google Sans"/>
              <a:sym typeface="Google Sans"/>
            </a:endParaRPr>
          </a:p>
        </p:txBody>
      </p:sp>
      <p:pic>
        <p:nvPicPr>
          <p:cNvPr id="2814" name="Google Shape;2814;p259"/>
          <p:cNvPicPr preferRelativeResize="0"/>
          <p:nvPr/>
        </p:nvPicPr>
        <p:blipFill>
          <a:blip r:embed="rId4">
            <a:alphaModFix/>
          </a:blip>
          <a:stretch>
            <a:fillRect/>
          </a:stretch>
        </p:blipFill>
        <p:spPr>
          <a:xfrm>
            <a:off x="2427950" y="4815070"/>
            <a:ext cx="6716046" cy="340306"/>
          </a:xfrm>
          <a:prstGeom prst="rect">
            <a:avLst/>
          </a:prstGeom>
          <a:noFill/>
          <a:ln>
            <a:noFill/>
          </a:ln>
        </p:spPr>
      </p:pic>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8" name="Shape 2818"/>
        <p:cNvGrpSpPr/>
        <p:nvPr/>
      </p:nvGrpSpPr>
      <p:grpSpPr>
        <a:xfrm>
          <a:off x="0" y="0"/>
          <a:ext cx="0" cy="0"/>
          <a:chOff x="0" y="0"/>
          <a:chExt cx="0" cy="0"/>
        </a:xfrm>
      </p:grpSpPr>
      <p:sp>
        <p:nvSpPr>
          <p:cNvPr id="2819" name="Google Shape;2819;p260"/>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820" name="Google Shape;2820;p260"/>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21" name="Google Shape;2821;p260"/>
          <p:cNvPicPr preferRelativeResize="0"/>
          <p:nvPr/>
        </p:nvPicPr>
        <p:blipFill>
          <a:blip r:embed="rId3">
            <a:alphaModFix/>
          </a:blip>
          <a:stretch>
            <a:fillRect/>
          </a:stretch>
        </p:blipFill>
        <p:spPr>
          <a:xfrm>
            <a:off x="4502009" y="206234"/>
            <a:ext cx="4423650" cy="4423650"/>
          </a:xfrm>
          <a:prstGeom prst="rect">
            <a:avLst/>
          </a:prstGeom>
          <a:noFill/>
          <a:ln>
            <a:noFill/>
          </a:ln>
        </p:spPr>
      </p:pic>
      <p:pic>
        <p:nvPicPr>
          <p:cNvPr id="2822" name="Google Shape;2822;p260"/>
          <p:cNvPicPr preferRelativeResize="0"/>
          <p:nvPr/>
        </p:nvPicPr>
        <p:blipFill>
          <a:blip r:embed="rId4">
            <a:alphaModFix/>
          </a:blip>
          <a:stretch>
            <a:fillRect/>
          </a:stretch>
        </p:blipFill>
        <p:spPr>
          <a:xfrm>
            <a:off x="2427950" y="4815070"/>
            <a:ext cx="6716046" cy="340306"/>
          </a:xfrm>
          <a:prstGeom prst="rect">
            <a:avLst/>
          </a:prstGeom>
          <a:noFill/>
          <a:ln>
            <a:noFill/>
          </a:ln>
        </p:spPr>
      </p:pic>
      <p:sp>
        <p:nvSpPr>
          <p:cNvPr id="2823" name="Google Shape;2823;p260"/>
          <p:cNvSpPr/>
          <p:nvPr/>
        </p:nvSpPr>
        <p:spPr>
          <a:xfrm>
            <a:off x="-400326" y="-1216650"/>
            <a:ext cx="17272200" cy="24312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260"/>
          <p:cNvSpPr/>
          <p:nvPr/>
        </p:nvSpPr>
        <p:spPr>
          <a:xfrm>
            <a:off x="9049650" y="1214550"/>
            <a:ext cx="82029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260"/>
          <p:cNvSpPr/>
          <p:nvPr/>
        </p:nvSpPr>
        <p:spPr>
          <a:xfrm>
            <a:off x="-400325" y="1953150"/>
            <a:ext cx="17592000" cy="556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260"/>
          <p:cNvSpPr/>
          <p:nvPr/>
        </p:nvSpPr>
        <p:spPr>
          <a:xfrm>
            <a:off x="-400325" y="1214550"/>
            <a:ext cx="86796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260"/>
          <p:cNvSpPr txBox="1"/>
          <p:nvPr/>
        </p:nvSpPr>
        <p:spPr>
          <a:xfrm>
            <a:off x="543875" y="2292750"/>
            <a:ext cx="35193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T-Shirt or Dress?</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1" name="Shape 2831"/>
        <p:cNvGrpSpPr/>
        <p:nvPr/>
      </p:nvGrpSpPr>
      <p:grpSpPr>
        <a:xfrm>
          <a:off x="0" y="0"/>
          <a:ext cx="0" cy="0"/>
          <a:chOff x="0" y="0"/>
          <a:chExt cx="0" cy="0"/>
        </a:xfrm>
      </p:grpSpPr>
      <p:sp>
        <p:nvSpPr>
          <p:cNvPr id="2832" name="Google Shape;2832;p261"/>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833" name="Google Shape;2833;p261"/>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34" name="Google Shape;2834;p261"/>
          <p:cNvPicPr preferRelativeResize="0"/>
          <p:nvPr/>
        </p:nvPicPr>
        <p:blipFill>
          <a:blip r:embed="rId3">
            <a:alphaModFix/>
          </a:blip>
          <a:stretch>
            <a:fillRect/>
          </a:stretch>
        </p:blipFill>
        <p:spPr>
          <a:xfrm>
            <a:off x="4502009" y="206234"/>
            <a:ext cx="4423650" cy="4423650"/>
          </a:xfrm>
          <a:prstGeom prst="rect">
            <a:avLst/>
          </a:prstGeom>
          <a:noFill/>
          <a:ln>
            <a:noFill/>
          </a:ln>
        </p:spPr>
      </p:pic>
      <p:pic>
        <p:nvPicPr>
          <p:cNvPr id="2835" name="Google Shape;2835;p261"/>
          <p:cNvPicPr preferRelativeResize="0"/>
          <p:nvPr/>
        </p:nvPicPr>
        <p:blipFill>
          <a:blip r:embed="rId4">
            <a:alphaModFix/>
          </a:blip>
          <a:stretch>
            <a:fillRect/>
          </a:stretch>
        </p:blipFill>
        <p:spPr>
          <a:xfrm>
            <a:off x="2427950" y="4815070"/>
            <a:ext cx="6716046" cy="340306"/>
          </a:xfrm>
          <a:prstGeom prst="rect">
            <a:avLst/>
          </a:prstGeom>
          <a:noFill/>
          <a:ln>
            <a:noFill/>
          </a:ln>
        </p:spPr>
      </p:pic>
      <p:sp>
        <p:nvSpPr>
          <p:cNvPr id="2836" name="Google Shape;2836;p261"/>
          <p:cNvSpPr/>
          <p:nvPr/>
        </p:nvSpPr>
        <p:spPr>
          <a:xfrm>
            <a:off x="-4254450" y="-109175"/>
            <a:ext cx="17272200" cy="40653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261"/>
          <p:cNvSpPr/>
          <p:nvPr/>
        </p:nvSpPr>
        <p:spPr>
          <a:xfrm>
            <a:off x="5195538" y="3956125"/>
            <a:ext cx="82029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261"/>
          <p:cNvSpPr/>
          <p:nvPr/>
        </p:nvSpPr>
        <p:spPr>
          <a:xfrm>
            <a:off x="-4254437" y="4694725"/>
            <a:ext cx="17592000" cy="556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261"/>
          <p:cNvSpPr/>
          <p:nvPr/>
        </p:nvSpPr>
        <p:spPr>
          <a:xfrm>
            <a:off x="-4254437" y="3956125"/>
            <a:ext cx="86796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261"/>
          <p:cNvSpPr txBox="1"/>
          <p:nvPr/>
        </p:nvSpPr>
        <p:spPr>
          <a:xfrm>
            <a:off x="543875" y="2292750"/>
            <a:ext cx="35193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Boot or Sneaker?</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4" name="Shape 2844"/>
        <p:cNvGrpSpPr/>
        <p:nvPr/>
      </p:nvGrpSpPr>
      <p:grpSpPr>
        <a:xfrm>
          <a:off x="0" y="0"/>
          <a:ext cx="0" cy="0"/>
          <a:chOff x="0" y="0"/>
          <a:chExt cx="0" cy="0"/>
        </a:xfrm>
      </p:grpSpPr>
      <p:sp>
        <p:nvSpPr>
          <p:cNvPr id="2845" name="Google Shape;2845;p262"/>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846" name="Google Shape;2846;p262"/>
          <p:cNvPicPr preferRelativeResize="0"/>
          <p:nvPr/>
        </p:nvPicPr>
        <p:blipFill>
          <a:blip r:embed="rId3">
            <a:alphaModFix/>
          </a:blip>
          <a:stretch>
            <a:fillRect/>
          </a:stretch>
        </p:blipFill>
        <p:spPr>
          <a:xfrm>
            <a:off x="552590" y="789860"/>
            <a:ext cx="3827768" cy="3827757"/>
          </a:xfrm>
          <a:prstGeom prst="rect">
            <a:avLst/>
          </a:prstGeom>
          <a:noFill/>
          <a:ln>
            <a:noFill/>
          </a:ln>
        </p:spPr>
      </p:pic>
      <p:pic>
        <p:nvPicPr>
          <p:cNvPr id="2847" name="Google Shape;2847;p262"/>
          <p:cNvPicPr preferRelativeResize="0"/>
          <p:nvPr/>
        </p:nvPicPr>
        <p:blipFill>
          <a:blip r:embed="rId4">
            <a:alphaModFix/>
          </a:blip>
          <a:stretch>
            <a:fillRect/>
          </a:stretch>
        </p:blipFill>
        <p:spPr>
          <a:xfrm>
            <a:off x="4763611" y="789860"/>
            <a:ext cx="3827768" cy="3827757"/>
          </a:xfrm>
          <a:prstGeom prst="rect">
            <a:avLst/>
          </a:prstGeom>
          <a:noFill/>
          <a:ln>
            <a:noFill/>
          </a:ln>
        </p:spPr>
      </p:pic>
      <p:sp>
        <p:nvSpPr>
          <p:cNvPr id="2848" name="Google Shape;2848;p262"/>
          <p:cNvSpPr txBox="1"/>
          <p:nvPr/>
        </p:nvSpPr>
        <p:spPr>
          <a:xfrm>
            <a:off x="144950"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Low Confidence</a:t>
            </a:r>
            <a:endParaRPr b="1" sz="2400">
              <a:solidFill>
                <a:srgbClr val="3C4043"/>
              </a:solidFill>
              <a:latin typeface="Google Sans"/>
              <a:ea typeface="Google Sans"/>
              <a:cs typeface="Google Sans"/>
              <a:sym typeface="Google Sans"/>
            </a:endParaRPr>
          </a:p>
        </p:txBody>
      </p:sp>
      <p:sp>
        <p:nvSpPr>
          <p:cNvPr id="2849" name="Google Shape;2849;p262"/>
          <p:cNvSpPr txBox="1"/>
          <p:nvPr/>
        </p:nvSpPr>
        <p:spPr>
          <a:xfrm>
            <a:off x="4355949"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a:t>
            </a:r>
            <a:endParaRPr b="1" sz="2400">
              <a:solidFill>
                <a:srgbClr val="3C4043"/>
              </a:solidFill>
              <a:latin typeface="Google Sans"/>
              <a:ea typeface="Google Sans"/>
              <a:cs typeface="Google Sans"/>
              <a:sym typeface="Google Sans"/>
            </a:endParaRPr>
          </a:p>
        </p:txBody>
      </p:sp>
      <p:sp>
        <p:nvSpPr>
          <p:cNvPr id="2850" name="Google Shape;2850;p262"/>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51" name="Google Shape;2851;p262"/>
          <p:cNvPicPr preferRelativeResize="0"/>
          <p:nvPr/>
        </p:nvPicPr>
        <p:blipFill>
          <a:blip r:embed="rId5">
            <a:alphaModFix/>
          </a:blip>
          <a:stretch>
            <a:fillRect/>
          </a:stretch>
        </p:blipFill>
        <p:spPr>
          <a:xfrm>
            <a:off x="2427950" y="4738870"/>
            <a:ext cx="6716046" cy="340306"/>
          </a:xfrm>
          <a:prstGeom prst="rect">
            <a:avLst/>
          </a:prstGeom>
          <a:noFill/>
          <a:ln>
            <a:noFill/>
          </a:ln>
        </p:spPr>
      </p:pic>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5" name="Shape 2855"/>
        <p:cNvGrpSpPr/>
        <p:nvPr/>
      </p:nvGrpSpPr>
      <p:grpSpPr>
        <a:xfrm>
          <a:off x="0" y="0"/>
          <a:ext cx="0" cy="0"/>
          <a:chOff x="0" y="0"/>
          <a:chExt cx="0" cy="0"/>
        </a:xfrm>
      </p:grpSpPr>
      <p:sp>
        <p:nvSpPr>
          <p:cNvPr id="2856" name="Google Shape;2856;p263"/>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857" name="Google Shape;2857;p263"/>
          <p:cNvPicPr preferRelativeResize="0"/>
          <p:nvPr/>
        </p:nvPicPr>
        <p:blipFill>
          <a:blip r:embed="rId3">
            <a:alphaModFix/>
          </a:blip>
          <a:stretch>
            <a:fillRect/>
          </a:stretch>
        </p:blipFill>
        <p:spPr>
          <a:xfrm>
            <a:off x="552590" y="789860"/>
            <a:ext cx="3827768" cy="3827757"/>
          </a:xfrm>
          <a:prstGeom prst="rect">
            <a:avLst/>
          </a:prstGeom>
          <a:noFill/>
          <a:ln>
            <a:noFill/>
          </a:ln>
        </p:spPr>
      </p:pic>
      <p:pic>
        <p:nvPicPr>
          <p:cNvPr id="2858" name="Google Shape;2858;p263"/>
          <p:cNvPicPr preferRelativeResize="0"/>
          <p:nvPr/>
        </p:nvPicPr>
        <p:blipFill>
          <a:blip r:embed="rId4">
            <a:alphaModFix/>
          </a:blip>
          <a:stretch>
            <a:fillRect/>
          </a:stretch>
        </p:blipFill>
        <p:spPr>
          <a:xfrm>
            <a:off x="4763611" y="789860"/>
            <a:ext cx="3827768" cy="3827757"/>
          </a:xfrm>
          <a:prstGeom prst="rect">
            <a:avLst/>
          </a:prstGeom>
          <a:noFill/>
          <a:ln>
            <a:noFill/>
          </a:ln>
        </p:spPr>
      </p:pic>
      <p:sp>
        <p:nvSpPr>
          <p:cNvPr id="2859" name="Google Shape;2859;p263"/>
          <p:cNvSpPr txBox="1"/>
          <p:nvPr/>
        </p:nvSpPr>
        <p:spPr>
          <a:xfrm>
            <a:off x="144950"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Low Confidence</a:t>
            </a:r>
            <a:endParaRPr b="1" sz="2400">
              <a:solidFill>
                <a:srgbClr val="3C4043"/>
              </a:solidFill>
              <a:latin typeface="Google Sans"/>
              <a:ea typeface="Google Sans"/>
              <a:cs typeface="Google Sans"/>
              <a:sym typeface="Google Sans"/>
            </a:endParaRPr>
          </a:p>
        </p:txBody>
      </p:sp>
      <p:sp>
        <p:nvSpPr>
          <p:cNvPr id="2860" name="Google Shape;2860;p263"/>
          <p:cNvSpPr txBox="1"/>
          <p:nvPr/>
        </p:nvSpPr>
        <p:spPr>
          <a:xfrm>
            <a:off x="4355949"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a:t>
            </a:r>
            <a:endParaRPr b="1" sz="2400">
              <a:solidFill>
                <a:srgbClr val="3C4043"/>
              </a:solidFill>
              <a:latin typeface="Google Sans"/>
              <a:ea typeface="Google Sans"/>
              <a:cs typeface="Google Sans"/>
              <a:sym typeface="Google Sans"/>
            </a:endParaRPr>
          </a:p>
        </p:txBody>
      </p:sp>
      <p:sp>
        <p:nvSpPr>
          <p:cNvPr id="2861" name="Google Shape;2861;p263"/>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62" name="Google Shape;2862;p263"/>
          <p:cNvPicPr preferRelativeResize="0"/>
          <p:nvPr/>
        </p:nvPicPr>
        <p:blipFill>
          <a:blip r:embed="rId5">
            <a:alphaModFix/>
          </a:blip>
          <a:stretch>
            <a:fillRect/>
          </a:stretch>
        </p:blipFill>
        <p:spPr>
          <a:xfrm>
            <a:off x="2427950" y="4738870"/>
            <a:ext cx="6716046" cy="340306"/>
          </a:xfrm>
          <a:prstGeom prst="rect">
            <a:avLst/>
          </a:prstGeom>
          <a:noFill/>
          <a:ln>
            <a:noFill/>
          </a:ln>
        </p:spPr>
      </p:pic>
      <p:sp>
        <p:nvSpPr>
          <p:cNvPr id="2863" name="Google Shape;2863;p263"/>
          <p:cNvSpPr/>
          <p:nvPr/>
        </p:nvSpPr>
        <p:spPr>
          <a:xfrm>
            <a:off x="-839716" y="-1762600"/>
            <a:ext cx="15528000" cy="24312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263"/>
          <p:cNvSpPr/>
          <p:nvPr/>
        </p:nvSpPr>
        <p:spPr>
          <a:xfrm>
            <a:off x="2522825" y="668600"/>
            <a:ext cx="125460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263"/>
          <p:cNvSpPr/>
          <p:nvPr/>
        </p:nvSpPr>
        <p:spPr>
          <a:xfrm>
            <a:off x="-783650" y="1407201"/>
            <a:ext cx="15791700" cy="556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263"/>
          <p:cNvSpPr/>
          <p:nvPr/>
        </p:nvSpPr>
        <p:spPr>
          <a:xfrm>
            <a:off x="-839725" y="668600"/>
            <a:ext cx="11553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263"/>
          <p:cNvSpPr txBox="1"/>
          <p:nvPr/>
        </p:nvSpPr>
        <p:spPr>
          <a:xfrm>
            <a:off x="1721250" y="2292750"/>
            <a:ext cx="57015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Low Confidence, High Rate</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1" name="Shape 2871"/>
        <p:cNvGrpSpPr/>
        <p:nvPr/>
      </p:nvGrpSpPr>
      <p:grpSpPr>
        <a:xfrm>
          <a:off x="0" y="0"/>
          <a:ext cx="0" cy="0"/>
          <a:chOff x="0" y="0"/>
          <a:chExt cx="0" cy="0"/>
        </a:xfrm>
      </p:grpSpPr>
      <p:sp>
        <p:nvSpPr>
          <p:cNvPr id="2872" name="Google Shape;2872;p264"/>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873" name="Google Shape;2873;p264"/>
          <p:cNvPicPr preferRelativeResize="0"/>
          <p:nvPr/>
        </p:nvPicPr>
        <p:blipFill>
          <a:blip r:embed="rId3">
            <a:alphaModFix/>
          </a:blip>
          <a:stretch>
            <a:fillRect/>
          </a:stretch>
        </p:blipFill>
        <p:spPr>
          <a:xfrm>
            <a:off x="552590" y="789860"/>
            <a:ext cx="3827768" cy="3827757"/>
          </a:xfrm>
          <a:prstGeom prst="rect">
            <a:avLst/>
          </a:prstGeom>
          <a:noFill/>
          <a:ln>
            <a:noFill/>
          </a:ln>
        </p:spPr>
      </p:pic>
      <p:pic>
        <p:nvPicPr>
          <p:cNvPr id="2874" name="Google Shape;2874;p264"/>
          <p:cNvPicPr preferRelativeResize="0"/>
          <p:nvPr/>
        </p:nvPicPr>
        <p:blipFill>
          <a:blip r:embed="rId4">
            <a:alphaModFix/>
          </a:blip>
          <a:stretch>
            <a:fillRect/>
          </a:stretch>
        </p:blipFill>
        <p:spPr>
          <a:xfrm>
            <a:off x="4763611" y="789860"/>
            <a:ext cx="3827768" cy="3827757"/>
          </a:xfrm>
          <a:prstGeom prst="rect">
            <a:avLst/>
          </a:prstGeom>
          <a:noFill/>
          <a:ln>
            <a:noFill/>
          </a:ln>
        </p:spPr>
      </p:pic>
      <p:sp>
        <p:nvSpPr>
          <p:cNvPr id="2875" name="Google Shape;2875;p264"/>
          <p:cNvSpPr txBox="1"/>
          <p:nvPr/>
        </p:nvSpPr>
        <p:spPr>
          <a:xfrm>
            <a:off x="144950"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Low Confidence</a:t>
            </a:r>
            <a:endParaRPr b="1" sz="2400">
              <a:solidFill>
                <a:srgbClr val="3C4043"/>
              </a:solidFill>
              <a:latin typeface="Google Sans"/>
              <a:ea typeface="Google Sans"/>
              <a:cs typeface="Google Sans"/>
              <a:sym typeface="Google Sans"/>
            </a:endParaRPr>
          </a:p>
        </p:txBody>
      </p:sp>
      <p:sp>
        <p:nvSpPr>
          <p:cNvPr id="2876" name="Google Shape;2876;p264"/>
          <p:cNvSpPr txBox="1"/>
          <p:nvPr/>
        </p:nvSpPr>
        <p:spPr>
          <a:xfrm>
            <a:off x="4355949"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a:t>
            </a:r>
            <a:endParaRPr b="1" sz="2400">
              <a:solidFill>
                <a:srgbClr val="3C4043"/>
              </a:solidFill>
              <a:latin typeface="Google Sans"/>
              <a:ea typeface="Google Sans"/>
              <a:cs typeface="Google Sans"/>
              <a:sym typeface="Google Sans"/>
            </a:endParaRPr>
          </a:p>
        </p:txBody>
      </p:sp>
      <p:sp>
        <p:nvSpPr>
          <p:cNvPr id="2877" name="Google Shape;2877;p264"/>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78" name="Google Shape;2878;p264"/>
          <p:cNvPicPr preferRelativeResize="0"/>
          <p:nvPr/>
        </p:nvPicPr>
        <p:blipFill>
          <a:blip r:embed="rId5">
            <a:alphaModFix/>
          </a:blip>
          <a:stretch>
            <a:fillRect/>
          </a:stretch>
        </p:blipFill>
        <p:spPr>
          <a:xfrm>
            <a:off x="2427950" y="4738870"/>
            <a:ext cx="6716046" cy="340306"/>
          </a:xfrm>
          <a:prstGeom prst="rect">
            <a:avLst/>
          </a:prstGeom>
          <a:noFill/>
          <a:ln>
            <a:noFill/>
          </a:ln>
        </p:spPr>
      </p:pic>
      <p:sp>
        <p:nvSpPr>
          <p:cNvPr id="2879" name="Google Shape;2879;p264"/>
          <p:cNvSpPr/>
          <p:nvPr/>
        </p:nvSpPr>
        <p:spPr>
          <a:xfrm>
            <a:off x="-839716" y="-1762600"/>
            <a:ext cx="15528000" cy="24312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264"/>
          <p:cNvSpPr/>
          <p:nvPr/>
        </p:nvSpPr>
        <p:spPr>
          <a:xfrm>
            <a:off x="5422500" y="668600"/>
            <a:ext cx="96462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264"/>
          <p:cNvSpPr/>
          <p:nvPr/>
        </p:nvSpPr>
        <p:spPr>
          <a:xfrm>
            <a:off x="-783650" y="1407201"/>
            <a:ext cx="15791700" cy="556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264"/>
          <p:cNvSpPr/>
          <p:nvPr/>
        </p:nvSpPr>
        <p:spPr>
          <a:xfrm>
            <a:off x="-839725" y="668600"/>
            <a:ext cx="54132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264"/>
          <p:cNvSpPr txBox="1"/>
          <p:nvPr/>
        </p:nvSpPr>
        <p:spPr>
          <a:xfrm>
            <a:off x="1721250" y="2292750"/>
            <a:ext cx="57015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High Confidence, High Rate</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7" name="Shape 2887"/>
        <p:cNvGrpSpPr/>
        <p:nvPr/>
      </p:nvGrpSpPr>
      <p:grpSpPr>
        <a:xfrm>
          <a:off x="0" y="0"/>
          <a:ext cx="0" cy="0"/>
          <a:chOff x="0" y="0"/>
          <a:chExt cx="0" cy="0"/>
        </a:xfrm>
      </p:grpSpPr>
      <p:sp>
        <p:nvSpPr>
          <p:cNvPr id="2888" name="Google Shape;2888;p265"/>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889" name="Google Shape;2889;p265"/>
          <p:cNvPicPr preferRelativeResize="0"/>
          <p:nvPr/>
        </p:nvPicPr>
        <p:blipFill>
          <a:blip r:embed="rId3">
            <a:alphaModFix/>
          </a:blip>
          <a:stretch>
            <a:fillRect/>
          </a:stretch>
        </p:blipFill>
        <p:spPr>
          <a:xfrm>
            <a:off x="552590" y="789860"/>
            <a:ext cx="3827768" cy="3827757"/>
          </a:xfrm>
          <a:prstGeom prst="rect">
            <a:avLst/>
          </a:prstGeom>
          <a:noFill/>
          <a:ln>
            <a:noFill/>
          </a:ln>
        </p:spPr>
      </p:pic>
      <p:pic>
        <p:nvPicPr>
          <p:cNvPr id="2890" name="Google Shape;2890;p265"/>
          <p:cNvPicPr preferRelativeResize="0"/>
          <p:nvPr/>
        </p:nvPicPr>
        <p:blipFill>
          <a:blip r:embed="rId4">
            <a:alphaModFix/>
          </a:blip>
          <a:stretch>
            <a:fillRect/>
          </a:stretch>
        </p:blipFill>
        <p:spPr>
          <a:xfrm>
            <a:off x="4763611" y="789860"/>
            <a:ext cx="3827768" cy="3827757"/>
          </a:xfrm>
          <a:prstGeom prst="rect">
            <a:avLst/>
          </a:prstGeom>
          <a:noFill/>
          <a:ln>
            <a:noFill/>
          </a:ln>
        </p:spPr>
      </p:pic>
      <p:sp>
        <p:nvSpPr>
          <p:cNvPr id="2891" name="Google Shape;2891;p265"/>
          <p:cNvSpPr txBox="1"/>
          <p:nvPr/>
        </p:nvSpPr>
        <p:spPr>
          <a:xfrm>
            <a:off x="144950"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Low Confidence</a:t>
            </a:r>
            <a:endParaRPr b="1" sz="2400">
              <a:solidFill>
                <a:srgbClr val="3C4043"/>
              </a:solidFill>
              <a:latin typeface="Google Sans"/>
              <a:ea typeface="Google Sans"/>
              <a:cs typeface="Google Sans"/>
              <a:sym typeface="Google Sans"/>
            </a:endParaRPr>
          </a:p>
        </p:txBody>
      </p:sp>
      <p:sp>
        <p:nvSpPr>
          <p:cNvPr id="2892" name="Google Shape;2892;p265"/>
          <p:cNvSpPr txBox="1"/>
          <p:nvPr/>
        </p:nvSpPr>
        <p:spPr>
          <a:xfrm>
            <a:off x="4355949"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a:t>
            </a:r>
            <a:endParaRPr b="1" sz="2400">
              <a:solidFill>
                <a:srgbClr val="3C4043"/>
              </a:solidFill>
              <a:latin typeface="Google Sans"/>
              <a:ea typeface="Google Sans"/>
              <a:cs typeface="Google Sans"/>
              <a:sym typeface="Google Sans"/>
            </a:endParaRPr>
          </a:p>
        </p:txBody>
      </p:sp>
      <p:sp>
        <p:nvSpPr>
          <p:cNvPr id="2893" name="Google Shape;2893;p265"/>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894" name="Google Shape;2894;p265"/>
          <p:cNvPicPr preferRelativeResize="0"/>
          <p:nvPr/>
        </p:nvPicPr>
        <p:blipFill>
          <a:blip r:embed="rId5">
            <a:alphaModFix/>
          </a:blip>
          <a:stretch>
            <a:fillRect/>
          </a:stretch>
        </p:blipFill>
        <p:spPr>
          <a:xfrm>
            <a:off x="2427950" y="4738870"/>
            <a:ext cx="6716046" cy="340306"/>
          </a:xfrm>
          <a:prstGeom prst="rect">
            <a:avLst/>
          </a:prstGeom>
          <a:noFill/>
          <a:ln>
            <a:noFill/>
          </a:ln>
        </p:spPr>
      </p:pic>
      <p:sp>
        <p:nvSpPr>
          <p:cNvPr id="2895" name="Google Shape;2895;p265"/>
          <p:cNvSpPr/>
          <p:nvPr/>
        </p:nvSpPr>
        <p:spPr>
          <a:xfrm>
            <a:off x="-1033825" y="-1871775"/>
            <a:ext cx="15528000" cy="30012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265"/>
          <p:cNvSpPr/>
          <p:nvPr/>
        </p:nvSpPr>
        <p:spPr>
          <a:xfrm>
            <a:off x="3590750" y="1129550"/>
            <a:ext cx="113205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265"/>
          <p:cNvSpPr/>
          <p:nvPr/>
        </p:nvSpPr>
        <p:spPr>
          <a:xfrm>
            <a:off x="-977750" y="1868150"/>
            <a:ext cx="15791700" cy="499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265"/>
          <p:cNvSpPr/>
          <p:nvPr/>
        </p:nvSpPr>
        <p:spPr>
          <a:xfrm>
            <a:off x="-776375" y="1129550"/>
            <a:ext cx="28872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265"/>
          <p:cNvSpPr txBox="1"/>
          <p:nvPr/>
        </p:nvSpPr>
        <p:spPr>
          <a:xfrm>
            <a:off x="1721250" y="2292750"/>
            <a:ext cx="57015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Low Confidence, Low Rate</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3" name="Shape 2903"/>
        <p:cNvGrpSpPr/>
        <p:nvPr/>
      </p:nvGrpSpPr>
      <p:grpSpPr>
        <a:xfrm>
          <a:off x="0" y="0"/>
          <a:ext cx="0" cy="0"/>
          <a:chOff x="0" y="0"/>
          <a:chExt cx="0" cy="0"/>
        </a:xfrm>
      </p:grpSpPr>
      <p:sp>
        <p:nvSpPr>
          <p:cNvPr id="2904" name="Google Shape;2904;p266"/>
          <p:cNvSpPr txBox="1"/>
          <p:nvPr>
            <p:ph idx="12" type="sldNum"/>
          </p:nvPr>
        </p:nvSpPr>
        <p:spPr>
          <a:xfrm>
            <a:off x="8382900" y="4774376"/>
            <a:ext cx="612900" cy="187200"/>
          </a:xfrm>
          <a:prstGeom prst="rect">
            <a:avLst/>
          </a:prstGeom>
        </p:spPr>
        <p:txBody>
          <a:bodyPr anchorCtr="0" anchor="ctr" bIns="91425" lIns="91425" spcFirstLastPara="1" rIns="91425" wrap="square" tIns="91425">
            <a:normAutofit fontScale="25000" lnSpcReduction="20000"/>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pic>
        <p:nvPicPr>
          <p:cNvPr id="2905" name="Google Shape;2905;p266"/>
          <p:cNvPicPr preferRelativeResize="0"/>
          <p:nvPr/>
        </p:nvPicPr>
        <p:blipFill>
          <a:blip r:embed="rId3">
            <a:alphaModFix/>
          </a:blip>
          <a:stretch>
            <a:fillRect/>
          </a:stretch>
        </p:blipFill>
        <p:spPr>
          <a:xfrm>
            <a:off x="552590" y="789860"/>
            <a:ext cx="3827768" cy="3827757"/>
          </a:xfrm>
          <a:prstGeom prst="rect">
            <a:avLst/>
          </a:prstGeom>
          <a:noFill/>
          <a:ln>
            <a:noFill/>
          </a:ln>
        </p:spPr>
      </p:pic>
      <p:pic>
        <p:nvPicPr>
          <p:cNvPr id="2906" name="Google Shape;2906;p266"/>
          <p:cNvPicPr preferRelativeResize="0"/>
          <p:nvPr/>
        </p:nvPicPr>
        <p:blipFill>
          <a:blip r:embed="rId4">
            <a:alphaModFix/>
          </a:blip>
          <a:stretch>
            <a:fillRect/>
          </a:stretch>
        </p:blipFill>
        <p:spPr>
          <a:xfrm>
            <a:off x="4763611" y="789860"/>
            <a:ext cx="3827768" cy="3827757"/>
          </a:xfrm>
          <a:prstGeom prst="rect">
            <a:avLst/>
          </a:prstGeom>
          <a:noFill/>
          <a:ln>
            <a:noFill/>
          </a:ln>
        </p:spPr>
      </p:pic>
      <p:sp>
        <p:nvSpPr>
          <p:cNvPr id="2907" name="Google Shape;2907;p266"/>
          <p:cNvSpPr txBox="1"/>
          <p:nvPr/>
        </p:nvSpPr>
        <p:spPr>
          <a:xfrm>
            <a:off x="144950"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Low Confidence</a:t>
            </a:r>
            <a:endParaRPr b="1" sz="2400">
              <a:solidFill>
                <a:srgbClr val="3C4043"/>
              </a:solidFill>
              <a:latin typeface="Google Sans"/>
              <a:ea typeface="Google Sans"/>
              <a:cs typeface="Google Sans"/>
              <a:sym typeface="Google Sans"/>
            </a:endParaRPr>
          </a:p>
        </p:txBody>
      </p:sp>
      <p:sp>
        <p:nvSpPr>
          <p:cNvPr id="2908" name="Google Shape;2908;p266"/>
          <p:cNvSpPr txBox="1"/>
          <p:nvPr/>
        </p:nvSpPr>
        <p:spPr>
          <a:xfrm>
            <a:off x="4355949" y="165858"/>
            <a:ext cx="4643100" cy="6240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b="1" lang="en" sz="2400">
                <a:solidFill>
                  <a:srgbClr val="3C4043"/>
                </a:solidFill>
                <a:latin typeface="Google Sans"/>
                <a:ea typeface="Google Sans"/>
                <a:cs typeface="Google Sans"/>
                <a:sym typeface="Google Sans"/>
              </a:rPr>
              <a:t>High Confidence</a:t>
            </a:r>
            <a:endParaRPr b="1" sz="2400">
              <a:solidFill>
                <a:srgbClr val="3C4043"/>
              </a:solidFill>
              <a:latin typeface="Google Sans"/>
              <a:ea typeface="Google Sans"/>
              <a:cs typeface="Google Sans"/>
              <a:sym typeface="Google Sans"/>
            </a:endParaRPr>
          </a:p>
        </p:txBody>
      </p:sp>
      <p:sp>
        <p:nvSpPr>
          <p:cNvPr id="2909" name="Google Shape;2909;p266"/>
          <p:cNvSpPr txBox="1"/>
          <p:nvPr>
            <p:ph type="title"/>
          </p:nvPr>
        </p:nvSpPr>
        <p:spPr>
          <a:xfrm>
            <a:off x="152401" y="4774380"/>
            <a:ext cx="2805600" cy="2301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Clr>
                <a:schemeClr val="dk1"/>
              </a:buClr>
              <a:buSzPct val="157143"/>
              <a:buFont typeface="Arial"/>
              <a:buNone/>
            </a:pPr>
            <a:r>
              <a:rPr lang="en"/>
              <a:t>Uncertainty in VIB arXiv:1807.00906</a:t>
            </a:r>
            <a:endParaRPr/>
          </a:p>
        </p:txBody>
      </p:sp>
      <p:pic>
        <p:nvPicPr>
          <p:cNvPr id="2910" name="Google Shape;2910;p266"/>
          <p:cNvPicPr preferRelativeResize="0"/>
          <p:nvPr/>
        </p:nvPicPr>
        <p:blipFill>
          <a:blip r:embed="rId5">
            <a:alphaModFix/>
          </a:blip>
          <a:stretch>
            <a:fillRect/>
          </a:stretch>
        </p:blipFill>
        <p:spPr>
          <a:xfrm>
            <a:off x="2427950" y="4738870"/>
            <a:ext cx="6716046" cy="340306"/>
          </a:xfrm>
          <a:prstGeom prst="rect">
            <a:avLst/>
          </a:prstGeom>
          <a:noFill/>
          <a:ln>
            <a:noFill/>
          </a:ln>
        </p:spPr>
      </p:pic>
      <p:sp>
        <p:nvSpPr>
          <p:cNvPr id="2911" name="Google Shape;2911;p266"/>
          <p:cNvSpPr/>
          <p:nvPr/>
        </p:nvSpPr>
        <p:spPr>
          <a:xfrm>
            <a:off x="-900366" y="-1277325"/>
            <a:ext cx="15528000" cy="24312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266"/>
          <p:cNvSpPr/>
          <p:nvPr/>
        </p:nvSpPr>
        <p:spPr>
          <a:xfrm>
            <a:off x="6805425" y="1153875"/>
            <a:ext cx="82029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266"/>
          <p:cNvSpPr/>
          <p:nvPr/>
        </p:nvSpPr>
        <p:spPr>
          <a:xfrm>
            <a:off x="-844300" y="1892476"/>
            <a:ext cx="15791700" cy="55647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266"/>
          <p:cNvSpPr/>
          <p:nvPr/>
        </p:nvSpPr>
        <p:spPr>
          <a:xfrm>
            <a:off x="-900375" y="1153875"/>
            <a:ext cx="5971200" cy="738600"/>
          </a:xfrm>
          <a:prstGeom prst="rect">
            <a:avLst/>
          </a:prstGeom>
          <a:solidFill>
            <a:srgbClr val="000000">
              <a:alpha val="496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266"/>
          <p:cNvSpPr txBox="1"/>
          <p:nvPr/>
        </p:nvSpPr>
        <p:spPr>
          <a:xfrm>
            <a:off x="1721250" y="2292750"/>
            <a:ext cx="5701500" cy="558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000">
                <a:solidFill>
                  <a:schemeClr val="lt1"/>
                </a:solidFill>
                <a:latin typeface="Google Sans"/>
                <a:ea typeface="Google Sans"/>
                <a:cs typeface="Google Sans"/>
                <a:sym typeface="Google Sans"/>
              </a:rPr>
              <a:t>High Confidence, Low Rate</a:t>
            </a:r>
            <a:endParaRPr b="1" sz="3000">
              <a:solidFill>
                <a:schemeClr val="lt1"/>
              </a:solidFill>
              <a:latin typeface="Google Sans"/>
              <a:ea typeface="Google Sans"/>
              <a:cs typeface="Google Sans"/>
              <a:sym typeface="Google Sans"/>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919" name="Shape 2919"/>
        <p:cNvGrpSpPr/>
        <p:nvPr/>
      </p:nvGrpSpPr>
      <p:grpSpPr>
        <a:xfrm>
          <a:off x="0" y="0"/>
          <a:ext cx="0" cy="0"/>
          <a:chOff x="0" y="0"/>
          <a:chExt cx="0" cy="0"/>
        </a:xfrm>
      </p:grpSpPr>
      <p:sp>
        <p:nvSpPr>
          <p:cNvPr id="2920" name="Google Shape;2920;p267"/>
          <p:cNvSpPr txBox="1"/>
          <p:nvPr>
            <p:ph type="title"/>
          </p:nvPr>
        </p:nvSpPr>
        <p:spPr>
          <a:xfrm>
            <a:off x="490250" y="450150"/>
            <a:ext cx="83094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chemeClr val="lt1"/>
                </a:solidFill>
              </a:rPr>
              <a:t>FIN</a:t>
            </a:r>
            <a:endParaRPr b="1" sz="6000">
              <a:solidFill>
                <a:schemeClr val="lt1"/>
              </a:solidFill>
            </a:endParaRPr>
          </a:p>
          <a:p>
            <a:pPr indent="0" lvl="0" marL="0" rtl="0" algn="ctr">
              <a:spcBef>
                <a:spcPts val="0"/>
              </a:spcBef>
              <a:spcAft>
                <a:spcPts val="0"/>
              </a:spcAft>
              <a:buNone/>
            </a:pPr>
            <a:r>
              <a:rPr i="1" lang="en" sz="1800">
                <a:solidFill>
                  <a:schemeClr val="lt1"/>
                </a:solidFill>
              </a:rPr>
              <a:t>(THE END)</a:t>
            </a:r>
            <a:endParaRPr i="1" sz="1800">
              <a:solidFill>
                <a:schemeClr val="lt1"/>
              </a:solidFill>
            </a:endParaRPr>
          </a:p>
          <a:p>
            <a:pPr indent="0" lvl="0" marL="0" rtl="0" algn="ctr">
              <a:spcBef>
                <a:spcPts val="0"/>
              </a:spcBef>
              <a:spcAft>
                <a:spcPts val="0"/>
              </a:spcAft>
              <a:buNone/>
            </a:pPr>
            <a:r>
              <a:t/>
            </a:r>
            <a:endParaRPr i="1" sz="1800">
              <a:solidFill>
                <a:schemeClr val="lt1"/>
              </a:solidFill>
            </a:endParaRPr>
          </a:p>
          <a:p>
            <a:pPr indent="0" lvl="0" marL="0" rtl="0" algn="ctr">
              <a:spcBef>
                <a:spcPts val="0"/>
              </a:spcBef>
              <a:spcAft>
                <a:spcPts val="0"/>
              </a:spcAft>
              <a:buNone/>
            </a:pPr>
            <a:r>
              <a:rPr i="1" lang="en" sz="1400">
                <a:solidFill>
                  <a:schemeClr val="lt1"/>
                </a:solidFill>
              </a:rPr>
              <a:t>Please check out the Problem Set </a:t>
            </a:r>
            <a:r>
              <a:rPr i="1" lang="en" sz="1400" u="sng">
                <a:solidFill>
                  <a:schemeClr val="hlink"/>
                </a:solidFill>
                <a:hlinkClick r:id="rId3"/>
              </a:rPr>
              <a:t>here</a:t>
            </a:r>
            <a:endParaRPr i="1" sz="1400">
              <a:solidFill>
                <a:schemeClr val="lt1"/>
              </a:solidFill>
            </a:endParaRPr>
          </a:p>
          <a:p>
            <a:pPr indent="0" lvl="0" marL="0" rtl="0" algn="ctr">
              <a:spcBef>
                <a:spcPts val="0"/>
              </a:spcBef>
              <a:spcAft>
                <a:spcPts val="0"/>
              </a:spcAft>
              <a:buNone/>
            </a:pPr>
            <a:r>
              <a:rPr i="1" lang="en" sz="1400">
                <a:solidFill>
                  <a:schemeClr val="lt1"/>
                </a:solidFill>
              </a:rPr>
              <a:t>Solutions </a:t>
            </a:r>
            <a:r>
              <a:rPr i="1" lang="en" sz="1400" u="sng">
                <a:solidFill>
                  <a:schemeClr val="hlink"/>
                </a:solidFill>
                <a:hlinkClick r:id="rId4"/>
              </a:rPr>
              <a:t>here</a:t>
            </a:r>
            <a:endParaRPr i="1" sz="1400">
              <a:solidFill>
                <a:schemeClr val="lt1"/>
              </a:solidFill>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24" name="Shape 2924"/>
        <p:cNvGrpSpPr/>
        <p:nvPr/>
      </p:nvGrpSpPr>
      <p:grpSpPr>
        <a:xfrm>
          <a:off x="0" y="0"/>
          <a:ext cx="0" cy="0"/>
          <a:chOff x="0" y="0"/>
          <a:chExt cx="0" cy="0"/>
        </a:xfrm>
      </p:grpSpPr>
      <p:sp>
        <p:nvSpPr>
          <p:cNvPr id="2925" name="Google Shape;2925;p26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Variational Prediction</a:t>
            </a:r>
            <a:endParaRPr>
              <a:solidFill>
                <a:schemeClr val="lt1"/>
              </a:solidFill>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9" name="Shape 2929"/>
        <p:cNvGrpSpPr/>
        <p:nvPr/>
      </p:nvGrpSpPr>
      <p:grpSpPr>
        <a:xfrm>
          <a:off x="0" y="0"/>
          <a:ext cx="0" cy="0"/>
          <a:chOff x="0" y="0"/>
          <a:chExt cx="0" cy="0"/>
        </a:xfrm>
      </p:grpSpPr>
      <p:sp>
        <p:nvSpPr>
          <p:cNvPr id="2930" name="Google Shape;2930;p269"/>
          <p:cNvSpPr txBox="1"/>
          <p:nvPr>
            <p:ph idx="2" type="title"/>
          </p:nvPr>
        </p:nvSpPr>
        <p:spPr>
          <a:xfrm>
            <a:off x="417675" y="341875"/>
            <a:ext cx="35028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World P</a:t>
            </a:r>
            <a:endParaRPr sz="3000"/>
          </a:p>
          <a:p>
            <a:pPr indent="0" lvl="0" marL="0" rtl="0" algn="l">
              <a:spcBef>
                <a:spcPts val="0"/>
              </a:spcBef>
              <a:spcAft>
                <a:spcPts val="0"/>
              </a:spcAft>
              <a:buNone/>
            </a:pPr>
            <a:r>
              <a:rPr b="0" lang="en" sz="2400"/>
              <a:t>world we have</a:t>
            </a:r>
            <a:endParaRPr b="0" sz="2400"/>
          </a:p>
        </p:txBody>
      </p:sp>
      <p:sp>
        <p:nvSpPr>
          <p:cNvPr id="2931" name="Google Shape;2931;p269"/>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2932" name="Google Shape;2932;p269"/>
          <p:cNvSpPr/>
          <p:nvPr/>
        </p:nvSpPr>
        <p:spPr>
          <a:xfrm>
            <a:off x="3385715" y="246915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x</a:t>
            </a:r>
            <a:endParaRPr sz="2400">
              <a:latin typeface="Roboto"/>
              <a:ea typeface="Roboto"/>
              <a:cs typeface="Roboto"/>
              <a:sym typeface="Roboto"/>
            </a:endParaRPr>
          </a:p>
        </p:txBody>
      </p:sp>
      <p:sp>
        <p:nvSpPr>
          <p:cNvPr id="2933" name="Google Shape;2933;p269"/>
          <p:cNvSpPr/>
          <p:nvPr/>
        </p:nvSpPr>
        <p:spPr>
          <a:xfrm>
            <a:off x="413123" y="2484228"/>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F</a:t>
            </a:r>
            <a:endParaRPr sz="2400">
              <a:latin typeface="Roboto"/>
              <a:ea typeface="Roboto"/>
              <a:cs typeface="Roboto"/>
              <a:sym typeface="Roboto"/>
            </a:endParaRPr>
          </a:p>
        </p:txBody>
      </p:sp>
      <p:sp>
        <p:nvSpPr>
          <p:cNvPr id="2934" name="Google Shape;2934;p269"/>
          <p:cNvSpPr/>
          <p:nvPr/>
        </p:nvSpPr>
        <p:spPr>
          <a:xfrm>
            <a:off x="1899419" y="246915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D</a:t>
            </a:r>
            <a:endParaRPr sz="2400">
              <a:latin typeface="Roboto"/>
              <a:ea typeface="Roboto"/>
              <a:cs typeface="Roboto"/>
              <a:sym typeface="Roboto"/>
            </a:endParaRPr>
          </a:p>
        </p:txBody>
      </p:sp>
      <p:sp>
        <p:nvSpPr>
          <p:cNvPr id="2935" name="Google Shape;2935;p269"/>
          <p:cNvSpPr/>
          <p:nvPr/>
        </p:nvSpPr>
        <p:spPr>
          <a:xfrm>
            <a:off x="2680725" y="359023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sp>
        <p:nvSpPr>
          <p:cNvPr id="2936" name="Google Shape;2936;p269"/>
          <p:cNvSpPr txBox="1"/>
          <p:nvPr>
            <p:ph idx="2" type="title"/>
          </p:nvPr>
        </p:nvSpPr>
        <p:spPr>
          <a:xfrm>
            <a:off x="4880100" y="341875"/>
            <a:ext cx="3502800" cy="493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World Q</a:t>
            </a:r>
            <a:endParaRPr sz="3000"/>
          </a:p>
          <a:p>
            <a:pPr indent="0" lvl="0" marL="0" rtl="0" algn="r">
              <a:spcBef>
                <a:spcPts val="0"/>
              </a:spcBef>
              <a:spcAft>
                <a:spcPts val="0"/>
              </a:spcAft>
              <a:buNone/>
            </a:pPr>
            <a:r>
              <a:rPr b="0" lang="en" sz="2400"/>
              <a:t>world we want</a:t>
            </a:r>
            <a:endParaRPr b="0" sz="2400"/>
          </a:p>
        </p:txBody>
      </p:sp>
      <p:cxnSp>
        <p:nvCxnSpPr>
          <p:cNvPr id="2937" name="Google Shape;2937;p269"/>
          <p:cNvCxnSpPr/>
          <p:nvPr/>
        </p:nvCxnSpPr>
        <p:spPr>
          <a:xfrm>
            <a:off x="4594850" y="194300"/>
            <a:ext cx="0" cy="4812000"/>
          </a:xfrm>
          <a:prstGeom prst="straightConnector1">
            <a:avLst/>
          </a:prstGeom>
          <a:noFill/>
          <a:ln cap="flat" cmpd="sng" w="38100">
            <a:solidFill>
              <a:srgbClr val="9E9E9E"/>
            </a:solidFill>
            <a:prstDash val="solid"/>
            <a:round/>
            <a:headEnd len="med" w="med" type="none"/>
            <a:tailEnd len="med" w="med" type="none"/>
          </a:ln>
        </p:spPr>
      </p:cxnSp>
      <p:sp>
        <p:nvSpPr>
          <p:cNvPr id="2938" name="Google Shape;2938;p269"/>
          <p:cNvSpPr/>
          <p:nvPr/>
        </p:nvSpPr>
        <p:spPr>
          <a:xfrm>
            <a:off x="1841523" y="1848534"/>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Data</a:t>
            </a:r>
            <a:endParaRPr sz="1200">
              <a:latin typeface="Open Sans"/>
              <a:ea typeface="Open Sans"/>
              <a:cs typeface="Open Sans"/>
              <a:sym typeface="Open Sans"/>
            </a:endParaRPr>
          </a:p>
        </p:txBody>
      </p:sp>
      <p:sp>
        <p:nvSpPr>
          <p:cNvPr id="2939" name="Google Shape;2939;p269"/>
          <p:cNvSpPr/>
          <p:nvPr/>
        </p:nvSpPr>
        <p:spPr>
          <a:xfrm>
            <a:off x="355221" y="1848534"/>
            <a:ext cx="820800" cy="4173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Future</a:t>
            </a:r>
            <a:endParaRPr sz="1200">
              <a:latin typeface="Open Sans"/>
              <a:ea typeface="Open Sans"/>
              <a:cs typeface="Open Sans"/>
              <a:sym typeface="Open Sans"/>
            </a:endParaRPr>
          </a:p>
        </p:txBody>
      </p:sp>
      <p:sp>
        <p:nvSpPr>
          <p:cNvPr id="2940" name="Google Shape;2940;p269"/>
          <p:cNvSpPr/>
          <p:nvPr/>
        </p:nvSpPr>
        <p:spPr>
          <a:xfrm>
            <a:off x="3192301" y="1811225"/>
            <a:ext cx="11112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Prediction</a:t>
            </a:r>
            <a:endParaRPr sz="1200">
              <a:latin typeface="Open Sans"/>
              <a:ea typeface="Open Sans"/>
              <a:cs typeface="Open Sans"/>
              <a:sym typeface="Open Sans"/>
            </a:endParaRPr>
          </a:p>
        </p:txBody>
      </p:sp>
      <p:sp>
        <p:nvSpPr>
          <p:cNvPr id="2941" name="Google Shape;2941;p269"/>
          <p:cNvSpPr/>
          <p:nvPr/>
        </p:nvSpPr>
        <p:spPr>
          <a:xfrm>
            <a:off x="2622822" y="4454301"/>
            <a:ext cx="820800" cy="417300"/>
          </a:xfrm>
          <a:prstGeom prst="roundRect">
            <a:avLst>
              <a:gd fmla="val 16667" name="adj"/>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Params</a:t>
            </a:r>
            <a:endParaRPr sz="1200">
              <a:latin typeface="Roboto"/>
              <a:ea typeface="Roboto"/>
              <a:cs typeface="Roboto"/>
              <a:sym typeface="Roboto"/>
            </a:endParaRPr>
          </a:p>
        </p:txBody>
      </p:sp>
      <p:cxnSp>
        <p:nvCxnSpPr>
          <p:cNvPr id="2942" name="Google Shape;2942;p269"/>
          <p:cNvCxnSpPr>
            <a:endCxn id="2933" idx="6"/>
          </p:cNvCxnSpPr>
          <p:nvPr/>
        </p:nvCxnSpPr>
        <p:spPr>
          <a:xfrm flipH="1">
            <a:off x="1118123" y="2821728"/>
            <a:ext cx="781200" cy="15000"/>
          </a:xfrm>
          <a:prstGeom prst="straightConnector1">
            <a:avLst/>
          </a:prstGeom>
          <a:noFill/>
          <a:ln cap="flat" cmpd="sng" w="38100">
            <a:solidFill>
              <a:schemeClr val="dk2"/>
            </a:solidFill>
            <a:prstDash val="solid"/>
            <a:round/>
            <a:headEnd len="med" w="med" type="triangle"/>
            <a:tailEnd len="med" w="med" type="triangle"/>
          </a:ln>
        </p:spPr>
      </p:cxnSp>
      <p:cxnSp>
        <p:nvCxnSpPr>
          <p:cNvPr id="2943" name="Google Shape;2943;p269"/>
          <p:cNvCxnSpPr>
            <a:endCxn id="2932" idx="2"/>
          </p:cNvCxnSpPr>
          <p:nvPr/>
        </p:nvCxnSpPr>
        <p:spPr>
          <a:xfrm>
            <a:off x="2604515" y="2821653"/>
            <a:ext cx="781200" cy="0"/>
          </a:xfrm>
          <a:prstGeom prst="straightConnector1">
            <a:avLst/>
          </a:prstGeom>
          <a:noFill/>
          <a:ln cap="flat" cmpd="sng" w="38100">
            <a:solidFill>
              <a:schemeClr val="dk2"/>
            </a:solidFill>
            <a:prstDash val="solid"/>
            <a:round/>
            <a:headEnd len="med" w="med" type="none"/>
            <a:tailEnd len="med" w="med" type="triangle"/>
          </a:ln>
        </p:spPr>
      </p:cxnSp>
      <p:cxnSp>
        <p:nvCxnSpPr>
          <p:cNvPr id="2944" name="Google Shape;2944;p269"/>
          <p:cNvCxnSpPr>
            <a:endCxn id="2935" idx="1"/>
          </p:cNvCxnSpPr>
          <p:nvPr/>
        </p:nvCxnSpPr>
        <p:spPr>
          <a:xfrm>
            <a:off x="2501070" y="3070977"/>
            <a:ext cx="282900" cy="622500"/>
          </a:xfrm>
          <a:prstGeom prst="straightConnector1">
            <a:avLst/>
          </a:prstGeom>
          <a:noFill/>
          <a:ln cap="flat" cmpd="sng" w="38100">
            <a:solidFill>
              <a:schemeClr val="dk2"/>
            </a:solidFill>
            <a:prstDash val="solid"/>
            <a:round/>
            <a:headEnd len="med" w="med" type="none"/>
            <a:tailEnd len="med" w="med" type="triangle"/>
          </a:ln>
        </p:spPr>
      </p:cxnSp>
      <p:cxnSp>
        <p:nvCxnSpPr>
          <p:cNvPr id="2945" name="Google Shape;2945;p269"/>
          <p:cNvCxnSpPr>
            <a:endCxn id="2935" idx="7"/>
          </p:cNvCxnSpPr>
          <p:nvPr/>
        </p:nvCxnSpPr>
        <p:spPr>
          <a:xfrm flipH="1">
            <a:off x="3282480" y="3070977"/>
            <a:ext cx="206400" cy="622500"/>
          </a:xfrm>
          <a:prstGeom prst="straightConnector1">
            <a:avLst/>
          </a:prstGeom>
          <a:noFill/>
          <a:ln cap="flat" cmpd="sng" w="38100">
            <a:solidFill>
              <a:schemeClr val="dk2"/>
            </a:solidFill>
            <a:prstDash val="solid"/>
            <a:round/>
            <a:headEnd len="med" w="med" type="none"/>
            <a:tailEnd len="med" w="med" type="triangle"/>
          </a:ln>
        </p:spPr>
      </p:cxnSp>
      <p:sp>
        <p:nvSpPr>
          <p:cNvPr id="2946" name="Google Shape;2946;p269"/>
          <p:cNvSpPr/>
          <p:nvPr/>
        </p:nvSpPr>
        <p:spPr>
          <a:xfrm>
            <a:off x="8005565" y="246129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x</a:t>
            </a:r>
            <a:endParaRPr sz="2400">
              <a:latin typeface="Roboto"/>
              <a:ea typeface="Roboto"/>
              <a:cs typeface="Roboto"/>
              <a:sym typeface="Roboto"/>
            </a:endParaRPr>
          </a:p>
        </p:txBody>
      </p:sp>
      <p:sp>
        <p:nvSpPr>
          <p:cNvPr id="2947" name="Google Shape;2947;p269"/>
          <p:cNvSpPr/>
          <p:nvPr/>
        </p:nvSpPr>
        <p:spPr>
          <a:xfrm>
            <a:off x="5387573" y="2461290"/>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F</a:t>
            </a:r>
            <a:endParaRPr sz="2400">
              <a:latin typeface="Roboto"/>
              <a:ea typeface="Roboto"/>
              <a:cs typeface="Roboto"/>
              <a:sym typeface="Roboto"/>
            </a:endParaRPr>
          </a:p>
        </p:txBody>
      </p:sp>
      <p:sp>
        <p:nvSpPr>
          <p:cNvPr id="2948" name="Google Shape;2948;p269"/>
          <p:cNvSpPr/>
          <p:nvPr/>
        </p:nvSpPr>
        <p:spPr>
          <a:xfrm>
            <a:off x="6696569" y="374929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D</a:t>
            </a:r>
            <a:endParaRPr sz="2400">
              <a:latin typeface="Roboto"/>
              <a:ea typeface="Roboto"/>
              <a:cs typeface="Roboto"/>
              <a:sym typeface="Roboto"/>
            </a:endParaRPr>
          </a:p>
        </p:txBody>
      </p:sp>
      <p:sp>
        <p:nvSpPr>
          <p:cNvPr id="2949" name="Google Shape;2949;p269"/>
          <p:cNvSpPr/>
          <p:nvPr/>
        </p:nvSpPr>
        <p:spPr>
          <a:xfrm>
            <a:off x="6696575" y="2461295"/>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cxnSp>
        <p:nvCxnSpPr>
          <p:cNvPr id="2950" name="Google Shape;2950;p269"/>
          <p:cNvCxnSpPr>
            <a:endCxn id="2947" idx="6"/>
          </p:cNvCxnSpPr>
          <p:nvPr/>
        </p:nvCxnSpPr>
        <p:spPr>
          <a:xfrm rot="10800000">
            <a:off x="6092573" y="2813790"/>
            <a:ext cx="603900" cy="0"/>
          </a:xfrm>
          <a:prstGeom prst="straightConnector1">
            <a:avLst/>
          </a:prstGeom>
          <a:noFill/>
          <a:ln cap="flat" cmpd="sng" w="38100">
            <a:solidFill>
              <a:schemeClr val="dk2"/>
            </a:solidFill>
            <a:prstDash val="solid"/>
            <a:round/>
            <a:headEnd len="med" w="med" type="triangle"/>
            <a:tailEnd len="med" w="med" type="none"/>
          </a:ln>
        </p:spPr>
      </p:cxnSp>
      <p:cxnSp>
        <p:nvCxnSpPr>
          <p:cNvPr id="2951" name="Google Shape;2951;p269"/>
          <p:cNvCxnSpPr>
            <a:stCxn id="2949" idx="4"/>
            <a:endCxn id="2948" idx="0"/>
          </p:cNvCxnSpPr>
          <p:nvPr/>
        </p:nvCxnSpPr>
        <p:spPr>
          <a:xfrm>
            <a:off x="7049075" y="3166295"/>
            <a:ext cx="0" cy="582900"/>
          </a:xfrm>
          <a:prstGeom prst="straightConnector1">
            <a:avLst/>
          </a:prstGeom>
          <a:noFill/>
          <a:ln cap="flat" cmpd="sng" w="38100">
            <a:solidFill>
              <a:schemeClr val="dk2"/>
            </a:solidFill>
            <a:prstDash val="solid"/>
            <a:round/>
            <a:headEnd len="med" w="med" type="none"/>
            <a:tailEnd len="med" w="med" type="triangle"/>
          </a:ln>
        </p:spPr>
      </p:cxnSp>
      <p:cxnSp>
        <p:nvCxnSpPr>
          <p:cNvPr id="2952" name="Google Shape;2952;p269"/>
          <p:cNvCxnSpPr>
            <a:endCxn id="2946" idx="2"/>
          </p:cNvCxnSpPr>
          <p:nvPr/>
        </p:nvCxnSpPr>
        <p:spPr>
          <a:xfrm>
            <a:off x="7401665" y="2813790"/>
            <a:ext cx="603900" cy="0"/>
          </a:xfrm>
          <a:prstGeom prst="straightConnector1">
            <a:avLst/>
          </a:prstGeom>
          <a:noFill/>
          <a:ln cap="flat" cmpd="sng" w="38100">
            <a:solidFill>
              <a:schemeClr val="dk2"/>
            </a:solidFill>
            <a:prstDash val="solid"/>
            <a:round/>
            <a:headEnd len="med" w="med" type="none"/>
            <a:tailEnd len="med" w="med" type="triangle"/>
          </a:ln>
        </p:spPr>
      </p:cxnSp>
      <p:pic>
        <p:nvPicPr>
          <p:cNvPr id="2953" name="Google Shape;2953;p269"/>
          <p:cNvPicPr preferRelativeResize="0"/>
          <p:nvPr/>
        </p:nvPicPr>
        <p:blipFill>
          <a:blip r:embed="rId3">
            <a:alphaModFix/>
          </a:blip>
          <a:stretch>
            <a:fillRect/>
          </a:stretch>
        </p:blipFill>
        <p:spPr>
          <a:xfrm>
            <a:off x="413118" y="4902175"/>
            <a:ext cx="4002463" cy="241325"/>
          </a:xfrm>
          <a:prstGeom prst="rect">
            <a:avLst/>
          </a:prstGeom>
          <a:noFill/>
          <a:ln>
            <a:noFill/>
          </a:ln>
        </p:spPr>
      </p:pic>
      <p:pic>
        <p:nvPicPr>
          <p:cNvPr id="2954" name="Google Shape;2954;p269"/>
          <p:cNvPicPr preferRelativeResize="0"/>
          <p:nvPr/>
        </p:nvPicPr>
        <p:blipFill>
          <a:blip r:embed="rId4">
            <a:alphaModFix/>
          </a:blip>
          <a:stretch>
            <a:fillRect/>
          </a:stretch>
        </p:blipFill>
        <p:spPr>
          <a:xfrm>
            <a:off x="4880101" y="4871600"/>
            <a:ext cx="3914173" cy="241325"/>
          </a:xfrm>
          <a:prstGeom prst="rect">
            <a:avLst/>
          </a:prstGeom>
          <a:noFill/>
          <a:ln>
            <a:noFill/>
          </a:ln>
        </p:spPr>
      </p:pic>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8" name="Shape 2958"/>
        <p:cNvGrpSpPr/>
        <p:nvPr/>
      </p:nvGrpSpPr>
      <p:grpSpPr>
        <a:xfrm>
          <a:off x="0" y="0"/>
          <a:ext cx="0" cy="0"/>
          <a:chOff x="0" y="0"/>
          <a:chExt cx="0" cy="0"/>
        </a:xfrm>
      </p:grpSpPr>
      <p:sp>
        <p:nvSpPr>
          <p:cNvPr id="2959" name="Google Shape;2959;p270"/>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960" name="Google Shape;2960;p270"/>
          <p:cNvPicPr preferRelativeResize="0"/>
          <p:nvPr/>
        </p:nvPicPr>
        <p:blipFill>
          <a:blip r:embed="rId3">
            <a:alphaModFix/>
          </a:blip>
          <a:stretch>
            <a:fillRect/>
          </a:stretch>
        </p:blipFill>
        <p:spPr>
          <a:xfrm>
            <a:off x="152400" y="1144350"/>
            <a:ext cx="8839200" cy="1784921"/>
          </a:xfrm>
          <a:prstGeom prst="rect">
            <a:avLst/>
          </a:prstGeom>
          <a:noFill/>
          <a:ln>
            <a:noFill/>
          </a:ln>
        </p:spPr>
      </p:pic>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964" name="Shape 2964"/>
        <p:cNvGrpSpPr/>
        <p:nvPr/>
      </p:nvGrpSpPr>
      <p:grpSpPr>
        <a:xfrm>
          <a:off x="0" y="0"/>
          <a:ext cx="0" cy="0"/>
          <a:chOff x="0" y="0"/>
          <a:chExt cx="0" cy="0"/>
        </a:xfrm>
      </p:grpSpPr>
      <p:sp>
        <p:nvSpPr>
          <p:cNvPr id="2965" name="Google Shape;2965;p27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Predictive Information</a:t>
            </a:r>
            <a:endParaRPr>
              <a:solidFill>
                <a:schemeClr val="lt1"/>
              </a:solidFill>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9" name="Shape 2969"/>
        <p:cNvGrpSpPr/>
        <p:nvPr/>
      </p:nvGrpSpPr>
      <p:grpSpPr>
        <a:xfrm>
          <a:off x="0" y="0"/>
          <a:ext cx="0" cy="0"/>
          <a:chOff x="0" y="0"/>
          <a:chExt cx="0" cy="0"/>
        </a:xfrm>
      </p:grpSpPr>
      <p:sp>
        <p:nvSpPr>
          <p:cNvPr id="2970" name="Google Shape;2970;p272"/>
          <p:cNvSpPr/>
          <p:nvPr/>
        </p:nvSpPr>
        <p:spPr>
          <a:xfrm>
            <a:off x="4576774" y="1753225"/>
            <a:ext cx="2182500" cy="359100"/>
          </a:xfrm>
          <a:prstGeom prst="rect">
            <a:avLst/>
          </a:prstGeom>
          <a:solidFill>
            <a:srgbClr val="FAD2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272"/>
          <p:cNvSpPr/>
          <p:nvPr/>
        </p:nvSpPr>
        <p:spPr>
          <a:xfrm>
            <a:off x="2111175" y="1753225"/>
            <a:ext cx="2451300" cy="359100"/>
          </a:xfrm>
          <a:prstGeom prst="rect">
            <a:avLst/>
          </a:prstGeom>
          <a:solidFill>
            <a:srgbClr val="D2E3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272"/>
          <p:cNvSpPr txBox="1"/>
          <p:nvPr>
            <p:ph idx="4294967295" type="title"/>
          </p:nvPr>
        </p:nvSpPr>
        <p:spPr>
          <a:xfrm>
            <a:off x="417675" y="341875"/>
            <a:ext cx="79182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Predictive Information</a:t>
            </a:r>
            <a:endParaRPr b="1" sz="3000">
              <a:latin typeface="Google Sans"/>
              <a:ea typeface="Google Sans"/>
              <a:cs typeface="Google Sans"/>
              <a:sym typeface="Google Sans"/>
            </a:endParaRPr>
          </a:p>
        </p:txBody>
      </p:sp>
      <p:cxnSp>
        <p:nvCxnSpPr>
          <p:cNvPr id="2973" name="Google Shape;2973;p272"/>
          <p:cNvCxnSpPr/>
          <p:nvPr/>
        </p:nvCxnSpPr>
        <p:spPr>
          <a:xfrm>
            <a:off x="864900" y="1932775"/>
            <a:ext cx="7414200" cy="0"/>
          </a:xfrm>
          <a:prstGeom prst="straightConnector1">
            <a:avLst/>
          </a:prstGeom>
          <a:noFill/>
          <a:ln cap="flat" cmpd="sng" w="38100">
            <a:solidFill>
              <a:schemeClr val="dk2"/>
            </a:solidFill>
            <a:prstDash val="solid"/>
            <a:round/>
            <a:headEnd len="med" w="med" type="triangle"/>
            <a:tailEnd len="med" w="med" type="triangle"/>
          </a:ln>
        </p:spPr>
      </p:cxnSp>
      <p:cxnSp>
        <p:nvCxnSpPr>
          <p:cNvPr id="2974" name="Google Shape;2974;p272"/>
          <p:cNvCxnSpPr/>
          <p:nvPr/>
        </p:nvCxnSpPr>
        <p:spPr>
          <a:xfrm>
            <a:off x="4572000" y="1753225"/>
            <a:ext cx="0" cy="359100"/>
          </a:xfrm>
          <a:prstGeom prst="straightConnector1">
            <a:avLst/>
          </a:prstGeom>
          <a:noFill/>
          <a:ln cap="flat" cmpd="sng" w="38100">
            <a:solidFill>
              <a:schemeClr val="dk2"/>
            </a:solidFill>
            <a:prstDash val="solid"/>
            <a:round/>
            <a:headEnd len="med" w="med" type="none"/>
            <a:tailEnd len="med" w="med" type="none"/>
          </a:ln>
        </p:spPr>
      </p:cxnSp>
      <p:sp>
        <p:nvSpPr>
          <p:cNvPr id="2975" name="Google Shape;2975;p272"/>
          <p:cNvSpPr txBox="1"/>
          <p:nvPr/>
        </p:nvSpPr>
        <p:spPr>
          <a:xfrm>
            <a:off x="4249950" y="1137325"/>
            <a:ext cx="6441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now</a:t>
            </a:r>
            <a:endParaRPr sz="1800">
              <a:latin typeface="Google Sans"/>
              <a:ea typeface="Google Sans"/>
              <a:cs typeface="Google Sans"/>
              <a:sym typeface="Google Sans"/>
            </a:endParaRPr>
          </a:p>
        </p:txBody>
      </p:sp>
      <p:sp>
        <p:nvSpPr>
          <p:cNvPr id="2976" name="Google Shape;2976;p272"/>
          <p:cNvSpPr txBox="1"/>
          <p:nvPr/>
        </p:nvSpPr>
        <p:spPr>
          <a:xfrm>
            <a:off x="5828150" y="1137325"/>
            <a:ext cx="11214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future</a:t>
            </a:r>
            <a:endParaRPr sz="1800">
              <a:latin typeface="Google Sans"/>
              <a:ea typeface="Google Sans"/>
              <a:cs typeface="Google Sans"/>
              <a:sym typeface="Google Sans"/>
            </a:endParaRPr>
          </a:p>
        </p:txBody>
      </p:sp>
      <p:sp>
        <p:nvSpPr>
          <p:cNvPr id="2977" name="Google Shape;2977;p272"/>
          <p:cNvSpPr txBox="1"/>
          <p:nvPr/>
        </p:nvSpPr>
        <p:spPr>
          <a:xfrm>
            <a:off x="2495200" y="1137325"/>
            <a:ext cx="6441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past</a:t>
            </a:r>
            <a:endParaRPr sz="1800">
              <a:latin typeface="Google Sans"/>
              <a:ea typeface="Google Sans"/>
              <a:cs typeface="Google Sans"/>
              <a:sym typeface="Google Sans"/>
            </a:endParaRPr>
          </a:p>
        </p:txBody>
      </p:sp>
      <p:cxnSp>
        <p:nvCxnSpPr>
          <p:cNvPr id="2978" name="Google Shape;2978;p272"/>
          <p:cNvCxnSpPr/>
          <p:nvPr/>
        </p:nvCxnSpPr>
        <p:spPr>
          <a:xfrm>
            <a:off x="42985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79" name="Google Shape;2979;p272"/>
          <p:cNvCxnSpPr/>
          <p:nvPr/>
        </p:nvCxnSpPr>
        <p:spPr>
          <a:xfrm>
            <a:off x="40251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0" name="Google Shape;2980;p272"/>
          <p:cNvCxnSpPr/>
          <p:nvPr/>
        </p:nvCxnSpPr>
        <p:spPr>
          <a:xfrm>
            <a:off x="37517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1" name="Google Shape;2981;p272"/>
          <p:cNvCxnSpPr/>
          <p:nvPr/>
        </p:nvCxnSpPr>
        <p:spPr>
          <a:xfrm>
            <a:off x="34783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2" name="Google Shape;2982;p272"/>
          <p:cNvCxnSpPr/>
          <p:nvPr/>
        </p:nvCxnSpPr>
        <p:spPr>
          <a:xfrm>
            <a:off x="32048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3" name="Google Shape;2983;p272"/>
          <p:cNvCxnSpPr/>
          <p:nvPr/>
        </p:nvCxnSpPr>
        <p:spPr>
          <a:xfrm>
            <a:off x="29314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4" name="Google Shape;2984;p272"/>
          <p:cNvCxnSpPr/>
          <p:nvPr/>
        </p:nvCxnSpPr>
        <p:spPr>
          <a:xfrm>
            <a:off x="26580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5" name="Google Shape;2985;p272"/>
          <p:cNvCxnSpPr/>
          <p:nvPr/>
        </p:nvCxnSpPr>
        <p:spPr>
          <a:xfrm>
            <a:off x="23846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6" name="Google Shape;2986;p272"/>
          <p:cNvCxnSpPr/>
          <p:nvPr/>
        </p:nvCxnSpPr>
        <p:spPr>
          <a:xfrm>
            <a:off x="21111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7" name="Google Shape;2987;p272"/>
          <p:cNvCxnSpPr/>
          <p:nvPr/>
        </p:nvCxnSpPr>
        <p:spPr>
          <a:xfrm>
            <a:off x="18377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8" name="Google Shape;2988;p272"/>
          <p:cNvCxnSpPr/>
          <p:nvPr/>
        </p:nvCxnSpPr>
        <p:spPr>
          <a:xfrm>
            <a:off x="15643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89" name="Google Shape;2989;p272"/>
          <p:cNvCxnSpPr/>
          <p:nvPr/>
        </p:nvCxnSpPr>
        <p:spPr>
          <a:xfrm>
            <a:off x="12909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0" name="Google Shape;2990;p272"/>
          <p:cNvCxnSpPr/>
          <p:nvPr/>
        </p:nvCxnSpPr>
        <p:spPr>
          <a:xfrm>
            <a:off x="78531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1" name="Google Shape;2991;p272"/>
          <p:cNvCxnSpPr/>
          <p:nvPr/>
        </p:nvCxnSpPr>
        <p:spPr>
          <a:xfrm>
            <a:off x="75796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2" name="Google Shape;2992;p272"/>
          <p:cNvCxnSpPr/>
          <p:nvPr/>
        </p:nvCxnSpPr>
        <p:spPr>
          <a:xfrm>
            <a:off x="73062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3" name="Google Shape;2993;p272"/>
          <p:cNvCxnSpPr/>
          <p:nvPr/>
        </p:nvCxnSpPr>
        <p:spPr>
          <a:xfrm>
            <a:off x="70328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4" name="Google Shape;2994;p272"/>
          <p:cNvCxnSpPr/>
          <p:nvPr/>
        </p:nvCxnSpPr>
        <p:spPr>
          <a:xfrm>
            <a:off x="67594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5" name="Google Shape;2995;p272"/>
          <p:cNvCxnSpPr/>
          <p:nvPr/>
        </p:nvCxnSpPr>
        <p:spPr>
          <a:xfrm>
            <a:off x="64859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6" name="Google Shape;2996;p272"/>
          <p:cNvCxnSpPr/>
          <p:nvPr/>
        </p:nvCxnSpPr>
        <p:spPr>
          <a:xfrm>
            <a:off x="62125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7" name="Google Shape;2997;p272"/>
          <p:cNvCxnSpPr/>
          <p:nvPr/>
        </p:nvCxnSpPr>
        <p:spPr>
          <a:xfrm>
            <a:off x="59391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8" name="Google Shape;2998;p272"/>
          <p:cNvCxnSpPr/>
          <p:nvPr/>
        </p:nvCxnSpPr>
        <p:spPr>
          <a:xfrm>
            <a:off x="56657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2999" name="Google Shape;2999;p272"/>
          <p:cNvCxnSpPr/>
          <p:nvPr/>
        </p:nvCxnSpPr>
        <p:spPr>
          <a:xfrm>
            <a:off x="53922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00" name="Google Shape;3000;p272"/>
          <p:cNvCxnSpPr/>
          <p:nvPr/>
        </p:nvCxnSpPr>
        <p:spPr>
          <a:xfrm>
            <a:off x="51188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01" name="Google Shape;3001;p272"/>
          <p:cNvCxnSpPr/>
          <p:nvPr/>
        </p:nvCxnSpPr>
        <p:spPr>
          <a:xfrm>
            <a:off x="4845425" y="1816525"/>
            <a:ext cx="0" cy="232500"/>
          </a:xfrm>
          <a:prstGeom prst="straightConnector1">
            <a:avLst/>
          </a:prstGeom>
          <a:noFill/>
          <a:ln cap="flat" cmpd="sng" w="9525">
            <a:solidFill>
              <a:schemeClr val="dk2"/>
            </a:solidFill>
            <a:prstDash val="solid"/>
            <a:round/>
            <a:headEnd len="med" w="med" type="none"/>
            <a:tailEnd len="med" w="med" type="none"/>
          </a:ln>
        </p:spPr>
      </p:cxnSp>
      <p:pic>
        <p:nvPicPr>
          <p:cNvPr id="3002" name="Google Shape;3002;p272"/>
          <p:cNvPicPr preferRelativeResize="0"/>
          <p:nvPr/>
        </p:nvPicPr>
        <p:blipFill>
          <a:blip r:embed="rId3">
            <a:alphaModFix/>
          </a:blip>
          <a:stretch>
            <a:fillRect/>
          </a:stretch>
        </p:blipFill>
        <p:spPr>
          <a:xfrm>
            <a:off x="3248025" y="2341275"/>
            <a:ext cx="2647950" cy="838200"/>
          </a:xfrm>
          <a:prstGeom prst="rect">
            <a:avLst/>
          </a:prstGeom>
          <a:noFill/>
          <a:ln>
            <a:noFill/>
          </a:ln>
        </p:spPr>
      </p:pic>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6" name="Shape 3006"/>
        <p:cNvGrpSpPr/>
        <p:nvPr/>
      </p:nvGrpSpPr>
      <p:grpSpPr>
        <a:xfrm>
          <a:off x="0" y="0"/>
          <a:ext cx="0" cy="0"/>
          <a:chOff x="0" y="0"/>
          <a:chExt cx="0" cy="0"/>
        </a:xfrm>
      </p:grpSpPr>
      <p:sp>
        <p:nvSpPr>
          <p:cNvPr id="3007" name="Google Shape;3007;p273"/>
          <p:cNvSpPr/>
          <p:nvPr/>
        </p:nvSpPr>
        <p:spPr>
          <a:xfrm>
            <a:off x="4576776" y="1753225"/>
            <a:ext cx="3429000" cy="359100"/>
          </a:xfrm>
          <a:prstGeom prst="rect">
            <a:avLst/>
          </a:prstGeom>
          <a:solidFill>
            <a:srgbClr val="FAD2C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273"/>
          <p:cNvSpPr/>
          <p:nvPr/>
        </p:nvSpPr>
        <p:spPr>
          <a:xfrm>
            <a:off x="2111175" y="1753225"/>
            <a:ext cx="2451300" cy="359100"/>
          </a:xfrm>
          <a:prstGeom prst="rect">
            <a:avLst/>
          </a:prstGeom>
          <a:solidFill>
            <a:srgbClr val="D2E3F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9" name="Google Shape;3009;p273"/>
          <p:cNvSpPr txBox="1"/>
          <p:nvPr>
            <p:ph idx="4294967295" type="title"/>
          </p:nvPr>
        </p:nvSpPr>
        <p:spPr>
          <a:xfrm>
            <a:off x="417675" y="341875"/>
            <a:ext cx="79182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Predictive Information</a:t>
            </a:r>
            <a:endParaRPr b="1" sz="3000">
              <a:latin typeface="Google Sans"/>
              <a:ea typeface="Google Sans"/>
              <a:cs typeface="Google Sans"/>
              <a:sym typeface="Google Sans"/>
            </a:endParaRPr>
          </a:p>
        </p:txBody>
      </p:sp>
      <p:cxnSp>
        <p:nvCxnSpPr>
          <p:cNvPr id="3010" name="Google Shape;3010;p273"/>
          <p:cNvCxnSpPr/>
          <p:nvPr/>
        </p:nvCxnSpPr>
        <p:spPr>
          <a:xfrm>
            <a:off x="864900" y="1932775"/>
            <a:ext cx="7414200" cy="0"/>
          </a:xfrm>
          <a:prstGeom prst="straightConnector1">
            <a:avLst/>
          </a:prstGeom>
          <a:noFill/>
          <a:ln cap="flat" cmpd="sng" w="38100">
            <a:solidFill>
              <a:schemeClr val="dk2"/>
            </a:solidFill>
            <a:prstDash val="solid"/>
            <a:round/>
            <a:headEnd len="med" w="med" type="triangle"/>
            <a:tailEnd len="med" w="med" type="triangle"/>
          </a:ln>
        </p:spPr>
      </p:cxnSp>
      <p:cxnSp>
        <p:nvCxnSpPr>
          <p:cNvPr id="3011" name="Google Shape;3011;p273"/>
          <p:cNvCxnSpPr/>
          <p:nvPr/>
        </p:nvCxnSpPr>
        <p:spPr>
          <a:xfrm>
            <a:off x="4572000" y="1753225"/>
            <a:ext cx="0" cy="359100"/>
          </a:xfrm>
          <a:prstGeom prst="straightConnector1">
            <a:avLst/>
          </a:prstGeom>
          <a:noFill/>
          <a:ln cap="flat" cmpd="sng" w="38100">
            <a:solidFill>
              <a:schemeClr val="dk2"/>
            </a:solidFill>
            <a:prstDash val="solid"/>
            <a:round/>
            <a:headEnd len="med" w="med" type="none"/>
            <a:tailEnd len="med" w="med" type="none"/>
          </a:ln>
        </p:spPr>
      </p:cxnSp>
      <p:sp>
        <p:nvSpPr>
          <p:cNvPr id="3012" name="Google Shape;3012;p273"/>
          <p:cNvSpPr txBox="1"/>
          <p:nvPr/>
        </p:nvSpPr>
        <p:spPr>
          <a:xfrm>
            <a:off x="4249950" y="1137325"/>
            <a:ext cx="6441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now</a:t>
            </a:r>
            <a:endParaRPr sz="1800">
              <a:latin typeface="Google Sans"/>
              <a:ea typeface="Google Sans"/>
              <a:cs typeface="Google Sans"/>
              <a:sym typeface="Google Sans"/>
            </a:endParaRPr>
          </a:p>
        </p:txBody>
      </p:sp>
      <p:sp>
        <p:nvSpPr>
          <p:cNvPr id="3013" name="Google Shape;3013;p273"/>
          <p:cNvSpPr txBox="1"/>
          <p:nvPr/>
        </p:nvSpPr>
        <p:spPr>
          <a:xfrm>
            <a:off x="5828150" y="1137325"/>
            <a:ext cx="11214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future</a:t>
            </a:r>
            <a:endParaRPr sz="1800">
              <a:latin typeface="Google Sans"/>
              <a:ea typeface="Google Sans"/>
              <a:cs typeface="Google Sans"/>
              <a:sym typeface="Google Sans"/>
            </a:endParaRPr>
          </a:p>
        </p:txBody>
      </p:sp>
      <p:sp>
        <p:nvSpPr>
          <p:cNvPr id="3014" name="Google Shape;3014;p273"/>
          <p:cNvSpPr txBox="1"/>
          <p:nvPr/>
        </p:nvSpPr>
        <p:spPr>
          <a:xfrm>
            <a:off x="2495200" y="1137325"/>
            <a:ext cx="644100" cy="493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Google Sans"/>
                <a:ea typeface="Google Sans"/>
                <a:cs typeface="Google Sans"/>
                <a:sym typeface="Google Sans"/>
              </a:rPr>
              <a:t>past</a:t>
            </a:r>
            <a:endParaRPr sz="1800">
              <a:latin typeface="Google Sans"/>
              <a:ea typeface="Google Sans"/>
              <a:cs typeface="Google Sans"/>
              <a:sym typeface="Google Sans"/>
            </a:endParaRPr>
          </a:p>
        </p:txBody>
      </p:sp>
      <p:cxnSp>
        <p:nvCxnSpPr>
          <p:cNvPr id="3015" name="Google Shape;3015;p273"/>
          <p:cNvCxnSpPr/>
          <p:nvPr/>
        </p:nvCxnSpPr>
        <p:spPr>
          <a:xfrm>
            <a:off x="42985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16" name="Google Shape;3016;p273"/>
          <p:cNvCxnSpPr/>
          <p:nvPr/>
        </p:nvCxnSpPr>
        <p:spPr>
          <a:xfrm>
            <a:off x="40251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17" name="Google Shape;3017;p273"/>
          <p:cNvCxnSpPr/>
          <p:nvPr/>
        </p:nvCxnSpPr>
        <p:spPr>
          <a:xfrm>
            <a:off x="37517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18" name="Google Shape;3018;p273"/>
          <p:cNvCxnSpPr/>
          <p:nvPr/>
        </p:nvCxnSpPr>
        <p:spPr>
          <a:xfrm>
            <a:off x="34783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19" name="Google Shape;3019;p273"/>
          <p:cNvCxnSpPr/>
          <p:nvPr/>
        </p:nvCxnSpPr>
        <p:spPr>
          <a:xfrm>
            <a:off x="32048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0" name="Google Shape;3020;p273"/>
          <p:cNvCxnSpPr/>
          <p:nvPr/>
        </p:nvCxnSpPr>
        <p:spPr>
          <a:xfrm>
            <a:off x="29314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1" name="Google Shape;3021;p273"/>
          <p:cNvCxnSpPr/>
          <p:nvPr/>
        </p:nvCxnSpPr>
        <p:spPr>
          <a:xfrm>
            <a:off x="26580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2" name="Google Shape;3022;p273"/>
          <p:cNvCxnSpPr/>
          <p:nvPr/>
        </p:nvCxnSpPr>
        <p:spPr>
          <a:xfrm>
            <a:off x="23846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3" name="Google Shape;3023;p273"/>
          <p:cNvCxnSpPr/>
          <p:nvPr/>
        </p:nvCxnSpPr>
        <p:spPr>
          <a:xfrm>
            <a:off x="21111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4" name="Google Shape;3024;p273"/>
          <p:cNvCxnSpPr/>
          <p:nvPr/>
        </p:nvCxnSpPr>
        <p:spPr>
          <a:xfrm>
            <a:off x="18377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5" name="Google Shape;3025;p273"/>
          <p:cNvCxnSpPr/>
          <p:nvPr/>
        </p:nvCxnSpPr>
        <p:spPr>
          <a:xfrm>
            <a:off x="15643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6" name="Google Shape;3026;p273"/>
          <p:cNvCxnSpPr/>
          <p:nvPr/>
        </p:nvCxnSpPr>
        <p:spPr>
          <a:xfrm>
            <a:off x="12909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7" name="Google Shape;3027;p273"/>
          <p:cNvCxnSpPr/>
          <p:nvPr/>
        </p:nvCxnSpPr>
        <p:spPr>
          <a:xfrm>
            <a:off x="78531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8" name="Google Shape;3028;p273"/>
          <p:cNvCxnSpPr/>
          <p:nvPr/>
        </p:nvCxnSpPr>
        <p:spPr>
          <a:xfrm>
            <a:off x="75796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29" name="Google Shape;3029;p273"/>
          <p:cNvCxnSpPr/>
          <p:nvPr/>
        </p:nvCxnSpPr>
        <p:spPr>
          <a:xfrm>
            <a:off x="73062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0" name="Google Shape;3030;p273"/>
          <p:cNvCxnSpPr/>
          <p:nvPr/>
        </p:nvCxnSpPr>
        <p:spPr>
          <a:xfrm>
            <a:off x="70328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1" name="Google Shape;3031;p273"/>
          <p:cNvCxnSpPr/>
          <p:nvPr/>
        </p:nvCxnSpPr>
        <p:spPr>
          <a:xfrm>
            <a:off x="67594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2" name="Google Shape;3032;p273"/>
          <p:cNvCxnSpPr/>
          <p:nvPr/>
        </p:nvCxnSpPr>
        <p:spPr>
          <a:xfrm>
            <a:off x="64859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3" name="Google Shape;3033;p273"/>
          <p:cNvCxnSpPr/>
          <p:nvPr/>
        </p:nvCxnSpPr>
        <p:spPr>
          <a:xfrm>
            <a:off x="62125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4" name="Google Shape;3034;p273"/>
          <p:cNvCxnSpPr/>
          <p:nvPr/>
        </p:nvCxnSpPr>
        <p:spPr>
          <a:xfrm>
            <a:off x="593912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5" name="Google Shape;3035;p273"/>
          <p:cNvCxnSpPr/>
          <p:nvPr/>
        </p:nvCxnSpPr>
        <p:spPr>
          <a:xfrm>
            <a:off x="566570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6" name="Google Shape;3036;p273"/>
          <p:cNvCxnSpPr/>
          <p:nvPr/>
        </p:nvCxnSpPr>
        <p:spPr>
          <a:xfrm>
            <a:off x="5392275"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7" name="Google Shape;3037;p273"/>
          <p:cNvCxnSpPr/>
          <p:nvPr/>
        </p:nvCxnSpPr>
        <p:spPr>
          <a:xfrm>
            <a:off x="5118850" y="1816525"/>
            <a:ext cx="0" cy="232500"/>
          </a:xfrm>
          <a:prstGeom prst="straightConnector1">
            <a:avLst/>
          </a:prstGeom>
          <a:noFill/>
          <a:ln cap="flat" cmpd="sng" w="9525">
            <a:solidFill>
              <a:schemeClr val="dk2"/>
            </a:solidFill>
            <a:prstDash val="solid"/>
            <a:round/>
            <a:headEnd len="med" w="med" type="none"/>
            <a:tailEnd len="med" w="med" type="none"/>
          </a:ln>
        </p:spPr>
      </p:cxnSp>
      <p:cxnSp>
        <p:nvCxnSpPr>
          <p:cNvPr id="3038" name="Google Shape;3038;p273"/>
          <p:cNvCxnSpPr/>
          <p:nvPr/>
        </p:nvCxnSpPr>
        <p:spPr>
          <a:xfrm>
            <a:off x="4845425" y="1816525"/>
            <a:ext cx="0" cy="232500"/>
          </a:xfrm>
          <a:prstGeom prst="straightConnector1">
            <a:avLst/>
          </a:prstGeom>
          <a:noFill/>
          <a:ln cap="flat" cmpd="sng" w="9525">
            <a:solidFill>
              <a:schemeClr val="dk2"/>
            </a:solidFill>
            <a:prstDash val="solid"/>
            <a:round/>
            <a:headEnd len="med" w="med" type="none"/>
            <a:tailEnd len="med" w="med" type="none"/>
          </a:ln>
        </p:spPr>
      </p:cxnSp>
      <p:pic>
        <p:nvPicPr>
          <p:cNvPr id="3039" name="Google Shape;3039;p273"/>
          <p:cNvPicPr preferRelativeResize="0"/>
          <p:nvPr/>
        </p:nvPicPr>
        <p:blipFill>
          <a:blip r:embed="rId3">
            <a:alphaModFix/>
          </a:blip>
          <a:stretch>
            <a:fillRect/>
          </a:stretch>
        </p:blipFill>
        <p:spPr>
          <a:xfrm>
            <a:off x="285750" y="2660863"/>
            <a:ext cx="8572500" cy="1152525"/>
          </a:xfrm>
          <a:prstGeom prst="rect">
            <a:avLst/>
          </a:prstGeom>
          <a:noFill/>
          <a:ln>
            <a:noFill/>
          </a:ln>
        </p:spPr>
      </p:pic>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3" name="Shape 3043"/>
        <p:cNvGrpSpPr/>
        <p:nvPr/>
      </p:nvGrpSpPr>
      <p:grpSpPr>
        <a:xfrm>
          <a:off x="0" y="0"/>
          <a:ext cx="0" cy="0"/>
          <a:chOff x="0" y="0"/>
          <a:chExt cx="0" cy="0"/>
        </a:xfrm>
      </p:grpSpPr>
      <p:sp>
        <p:nvSpPr>
          <p:cNvPr id="3044" name="Google Shape;3044;p274"/>
          <p:cNvSpPr txBox="1"/>
          <p:nvPr>
            <p:ph idx="4294967295" type="title"/>
          </p:nvPr>
        </p:nvSpPr>
        <p:spPr>
          <a:xfrm>
            <a:off x="417675" y="341875"/>
            <a:ext cx="79182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Predictive Information</a:t>
            </a:r>
            <a:endParaRPr b="1" sz="3000">
              <a:latin typeface="Google Sans"/>
              <a:ea typeface="Google Sans"/>
              <a:cs typeface="Google Sans"/>
              <a:sym typeface="Google Sans"/>
            </a:endParaRPr>
          </a:p>
        </p:txBody>
      </p:sp>
      <p:pic>
        <p:nvPicPr>
          <p:cNvPr id="3045" name="Google Shape;3045;p274"/>
          <p:cNvPicPr preferRelativeResize="0"/>
          <p:nvPr/>
        </p:nvPicPr>
        <p:blipFill>
          <a:blip r:embed="rId3">
            <a:alphaModFix/>
          </a:blip>
          <a:stretch>
            <a:fillRect/>
          </a:stretch>
        </p:blipFill>
        <p:spPr>
          <a:xfrm>
            <a:off x="4503775" y="1220425"/>
            <a:ext cx="4210050" cy="819150"/>
          </a:xfrm>
          <a:prstGeom prst="rect">
            <a:avLst/>
          </a:prstGeom>
          <a:noFill/>
          <a:ln>
            <a:noFill/>
          </a:ln>
        </p:spPr>
      </p:pic>
      <p:pic>
        <p:nvPicPr>
          <p:cNvPr id="3046" name="Google Shape;3046;p274"/>
          <p:cNvPicPr preferRelativeResize="0"/>
          <p:nvPr/>
        </p:nvPicPr>
        <p:blipFill>
          <a:blip r:embed="rId4">
            <a:alphaModFix/>
          </a:blip>
          <a:stretch>
            <a:fillRect/>
          </a:stretch>
        </p:blipFill>
        <p:spPr>
          <a:xfrm>
            <a:off x="4522825" y="2360950"/>
            <a:ext cx="4171950" cy="1123950"/>
          </a:xfrm>
          <a:prstGeom prst="rect">
            <a:avLst/>
          </a:prstGeom>
          <a:noFill/>
          <a:ln>
            <a:noFill/>
          </a:ln>
        </p:spPr>
      </p:pic>
      <p:pic>
        <p:nvPicPr>
          <p:cNvPr id="3047" name="Google Shape;3047;p274"/>
          <p:cNvPicPr preferRelativeResize="0"/>
          <p:nvPr/>
        </p:nvPicPr>
        <p:blipFill>
          <a:blip r:embed="rId5">
            <a:alphaModFix/>
          </a:blip>
          <a:stretch>
            <a:fillRect/>
          </a:stretch>
        </p:blipFill>
        <p:spPr>
          <a:xfrm>
            <a:off x="4522825" y="3806275"/>
            <a:ext cx="4171950" cy="1257300"/>
          </a:xfrm>
          <a:prstGeom prst="rect">
            <a:avLst/>
          </a:prstGeom>
          <a:noFill/>
          <a:ln>
            <a:noFill/>
          </a:ln>
        </p:spPr>
      </p:pic>
      <p:sp>
        <p:nvSpPr>
          <p:cNvPr id="3048" name="Google Shape;3048;p274"/>
          <p:cNvSpPr txBox="1"/>
          <p:nvPr/>
        </p:nvSpPr>
        <p:spPr>
          <a:xfrm>
            <a:off x="559775" y="1225150"/>
            <a:ext cx="3369300" cy="7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Positive</a:t>
            </a:r>
            <a:endParaRPr sz="2400">
              <a:latin typeface="Google Sans"/>
              <a:ea typeface="Google Sans"/>
              <a:cs typeface="Google Sans"/>
              <a:sym typeface="Google Sans"/>
            </a:endParaRPr>
          </a:p>
        </p:txBody>
      </p:sp>
      <p:sp>
        <p:nvSpPr>
          <p:cNvPr id="3049" name="Google Shape;3049;p274"/>
          <p:cNvSpPr txBox="1"/>
          <p:nvPr/>
        </p:nvSpPr>
        <p:spPr>
          <a:xfrm>
            <a:off x="691050" y="2647863"/>
            <a:ext cx="3369300" cy="7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Sublinear</a:t>
            </a:r>
            <a:endParaRPr sz="2400">
              <a:latin typeface="Google Sans"/>
              <a:ea typeface="Google Sans"/>
              <a:cs typeface="Google Sans"/>
              <a:sym typeface="Google Sans"/>
            </a:endParaRPr>
          </a:p>
        </p:txBody>
      </p:sp>
      <p:sp>
        <p:nvSpPr>
          <p:cNvPr id="3050" name="Google Shape;3050;p274"/>
          <p:cNvSpPr txBox="1"/>
          <p:nvPr/>
        </p:nvSpPr>
        <p:spPr>
          <a:xfrm>
            <a:off x="691050" y="4070575"/>
            <a:ext cx="3369300" cy="728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Vanishing Fraction </a:t>
            </a:r>
            <a:endParaRPr sz="2400">
              <a:latin typeface="Google Sans"/>
              <a:ea typeface="Google Sans"/>
              <a:cs typeface="Google Sans"/>
              <a:sym typeface="Google Sans"/>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054" name="Shape 3054"/>
        <p:cNvGrpSpPr/>
        <p:nvPr/>
      </p:nvGrpSpPr>
      <p:grpSpPr>
        <a:xfrm>
          <a:off x="0" y="0"/>
          <a:ext cx="0" cy="0"/>
          <a:chOff x="0" y="0"/>
          <a:chExt cx="0" cy="0"/>
        </a:xfrm>
      </p:grpSpPr>
      <p:sp>
        <p:nvSpPr>
          <p:cNvPr id="3055" name="Google Shape;3055;p27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Parameter Uncertainty</a:t>
            </a:r>
            <a:endParaRPr>
              <a:solidFill>
                <a:schemeClr val="lt1"/>
              </a:solidFill>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9" name="Shape 3059"/>
        <p:cNvGrpSpPr/>
        <p:nvPr/>
      </p:nvGrpSpPr>
      <p:grpSpPr>
        <a:xfrm>
          <a:off x="0" y="0"/>
          <a:ext cx="0" cy="0"/>
          <a:chOff x="0" y="0"/>
          <a:chExt cx="0" cy="0"/>
        </a:xfrm>
      </p:grpSpPr>
      <p:sp>
        <p:nvSpPr>
          <p:cNvPr id="3060" name="Google Shape;3060;p276"/>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much information is in a deep neural networks representation?</a:t>
            </a:r>
            <a:endParaRPr/>
          </a:p>
        </p:txBody>
      </p:sp>
      <p:sp>
        <p:nvSpPr>
          <p:cNvPr id="3061" name="Google Shape;3061;p276"/>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5" name="Shape 3065"/>
        <p:cNvGrpSpPr/>
        <p:nvPr/>
      </p:nvGrpSpPr>
      <p:grpSpPr>
        <a:xfrm>
          <a:off x="0" y="0"/>
          <a:ext cx="0" cy="0"/>
          <a:chOff x="0" y="0"/>
          <a:chExt cx="0" cy="0"/>
        </a:xfrm>
      </p:grpSpPr>
      <p:sp>
        <p:nvSpPr>
          <p:cNvPr id="3066" name="Google Shape;3066;p27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Individual Networks</a:t>
            </a:r>
            <a:endParaRPr/>
          </a:p>
        </p:txBody>
      </p:sp>
      <p:sp>
        <p:nvSpPr>
          <p:cNvPr id="3067" name="Google Shape;3067;p277"/>
          <p:cNvSpPr txBox="1"/>
          <p:nvPr>
            <p:ph idx="1" type="body"/>
          </p:nvPr>
        </p:nvSpPr>
        <p:spPr>
          <a:xfrm>
            <a:off x="311700" y="1152475"/>
            <a:ext cx="314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seed 0</a:t>
            </a:r>
            <a:endParaRPr/>
          </a:p>
        </p:txBody>
      </p:sp>
      <p:grpSp>
        <p:nvGrpSpPr>
          <p:cNvPr id="3068" name="Google Shape;3068;p277"/>
          <p:cNvGrpSpPr/>
          <p:nvPr/>
        </p:nvGrpSpPr>
        <p:grpSpPr>
          <a:xfrm>
            <a:off x="3896950" y="941537"/>
            <a:ext cx="3878700" cy="244800"/>
            <a:chOff x="4395375" y="1319737"/>
            <a:chExt cx="3878700" cy="244800"/>
          </a:xfrm>
        </p:grpSpPr>
        <p:cxnSp>
          <p:nvCxnSpPr>
            <p:cNvPr id="3069" name="Google Shape;3069;p277"/>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070" name="Google Shape;3070;p277"/>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071" name="Google Shape;3071;p277"/>
          <p:cNvCxnSpPr/>
          <p:nvPr/>
        </p:nvCxnSpPr>
        <p:spPr>
          <a:xfrm>
            <a:off x="7186625" y="773038"/>
            <a:ext cx="0" cy="262800"/>
          </a:xfrm>
          <a:prstGeom prst="straightConnector1">
            <a:avLst/>
          </a:prstGeom>
          <a:noFill/>
          <a:ln cap="flat" cmpd="sng" w="38100">
            <a:solidFill>
              <a:srgbClr val="EA8600"/>
            </a:solidFill>
            <a:prstDash val="solid"/>
            <a:round/>
            <a:headEnd len="med" w="med" type="none"/>
            <a:tailEnd len="med" w="med" type="none"/>
          </a:ln>
        </p:spPr>
      </p:cxnSp>
      <p:grpSp>
        <p:nvGrpSpPr>
          <p:cNvPr id="3072" name="Google Shape;3072;p277"/>
          <p:cNvGrpSpPr/>
          <p:nvPr/>
        </p:nvGrpSpPr>
        <p:grpSpPr>
          <a:xfrm>
            <a:off x="3896950" y="2024687"/>
            <a:ext cx="3878700" cy="244800"/>
            <a:chOff x="4395375" y="1319737"/>
            <a:chExt cx="3878700" cy="244800"/>
          </a:xfrm>
        </p:grpSpPr>
        <p:cxnSp>
          <p:nvCxnSpPr>
            <p:cNvPr id="3073" name="Google Shape;3073;p277"/>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074" name="Google Shape;3074;p277"/>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075" name="Google Shape;3075;p277"/>
          <p:cNvGrpSpPr/>
          <p:nvPr/>
        </p:nvGrpSpPr>
        <p:grpSpPr>
          <a:xfrm>
            <a:off x="3896950" y="3205737"/>
            <a:ext cx="3878700" cy="244800"/>
            <a:chOff x="4395375" y="1319737"/>
            <a:chExt cx="3878700" cy="244800"/>
          </a:xfrm>
        </p:grpSpPr>
        <p:cxnSp>
          <p:nvCxnSpPr>
            <p:cNvPr id="3076" name="Google Shape;3076;p277"/>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077" name="Google Shape;3077;p277"/>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078" name="Google Shape;3078;p277"/>
          <p:cNvGrpSpPr/>
          <p:nvPr/>
        </p:nvGrpSpPr>
        <p:grpSpPr>
          <a:xfrm>
            <a:off x="3896950" y="4128462"/>
            <a:ext cx="3878700" cy="244800"/>
            <a:chOff x="4395375" y="1319737"/>
            <a:chExt cx="3878700" cy="244800"/>
          </a:xfrm>
        </p:grpSpPr>
        <p:cxnSp>
          <p:nvCxnSpPr>
            <p:cNvPr id="3079" name="Google Shape;3079;p277"/>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080" name="Google Shape;3080;p277"/>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081" name="Google Shape;3081;p277"/>
          <p:cNvCxnSpPr/>
          <p:nvPr/>
        </p:nvCxnSpPr>
        <p:spPr>
          <a:xfrm>
            <a:off x="4475275" y="1857075"/>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082" name="Google Shape;3082;p277"/>
          <p:cNvCxnSpPr/>
          <p:nvPr/>
        </p:nvCxnSpPr>
        <p:spPr>
          <a:xfrm>
            <a:off x="4718300" y="3040363"/>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083" name="Google Shape;3083;p277"/>
          <p:cNvCxnSpPr/>
          <p:nvPr/>
        </p:nvCxnSpPr>
        <p:spPr>
          <a:xfrm>
            <a:off x="5070075" y="3965337"/>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084" name="Google Shape;3084;p277"/>
          <p:cNvCxnSpPr/>
          <p:nvPr/>
        </p:nvCxnSpPr>
        <p:spPr>
          <a:xfrm>
            <a:off x="8149650" y="1698050"/>
            <a:ext cx="0" cy="262800"/>
          </a:xfrm>
          <a:prstGeom prst="straightConnector1">
            <a:avLst/>
          </a:prstGeom>
          <a:noFill/>
          <a:ln cap="flat" cmpd="sng" w="38100">
            <a:solidFill>
              <a:srgbClr val="EA8600"/>
            </a:solidFill>
            <a:prstDash val="solid"/>
            <a:round/>
            <a:headEnd len="med" w="med" type="none"/>
            <a:tailEnd len="med" w="med" type="none"/>
          </a:ln>
        </p:spPr>
      </p:cxnSp>
      <p:grpSp>
        <p:nvGrpSpPr>
          <p:cNvPr id="3085" name="Google Shape;3085;p277"/>
          <p:cNvGrpSpPr/>
          <p:nvPr/>
        </p:nvGrpSpPr>
        <p:grpSpPr>
          <a:xfrm>
            <a:off x="7907350" y="563750"/>
            <a:ext cx="1066800" cy="4259950"/>
            <a:chOff x="3077075" y="935300"/>
            <a:chExt cx="1066800" cy="4259950"/>
          </a:xfrm>
        </p:grpSpPr>
        <p:pic>
          <p:nvPicPr>
            <p:cNvPr id="3086" name="Google Shape;3086;p277"/>
            <p:cNvPicPr preferRelativeResize="0"/>
            <p:nvPr/>
          </p:nvPicPr>
          <p:blipFill>
            <a:blip r:embed="rId3">
              <a:alphaModFix/>
            </a:blip>
            <a:stretch>
              <a:fillRect/>
            </a:stretch>
          </p:blipFill>
          <p:spPr>
            <a:xfrm>
              <a:off x="3077075" y="4128450"/>
              <a:ext cx="1066800" cy="1066800"/>
            </a:xfrm>
            <a:prstGeom prst="rect">
              <a:avLst/>
            </a:prstGeom>
            <a:noFill/>
            <a:ln>
              <a:noFill/>
            </a:ln>
          </p:spPr>
        </p:pic>
        <p:pic>
          <p:nvPicPr>
            <p:cNvPr id="3087" name="Google Shape;3087;p277"/>
            <p:cNvPicPr preferRelativeResize="0"/>
            <p:nvPr/>
          </p:nvPicPr>
          <p:blipFill>
            <a:blip r:embed="rId4">
              <a:alphaModFix/>
            </a:blip>
            <a:stretch>
              <a:fillRect/>
            </a:stretch>
          </p:blipFill>
          <p:spPr>
            <a:xfrm>
              <a:off x="3077075" y="935300"/>
              <a:ext cx="1066800" cy="1066800"/>
            </a:xfrm>
            <a:prstGeom prst="rect">
              <a:avLst/>
            </a:prstGeom>
            <a:noFill/>
            <a:ln>
              <a:noFill/>
            </a:ln>
          </p:spPr>
        </p:pic>
        <p:pic>
          <p:nvPicPr>
            <p:cNvPr id="3088" name="Google Shape;3088;p277"/>
            <p:cNvPicPr preferRelativeResize="0"/>
            <p:nvPr/>
          </p:nvPicPr>
          <p:blipFill>
            <a:blip r:embed="rId5">
              <a:alphaModFix/>
            </a:blip>
            <a:stretch>
              <a:fillRect/>
            </a:stretch>
          </p:blipFill>
          <p:spPr>
            <a:xfrm>
              <a:off x="3077075" y="2002100"/>
              <a:ext cx="1066800" cy="1066800"/>
            </a:xfrm>
            <a:prstGeom prst="rect">
              <a:avLst/>
            </a:prstGeom>
            <a:noFill/>
            <a:ln>
              <a:noFill/>
            </a:ln>
          </p:spPr>
        </p:pic>
        <p:pic>
          <p:nvPicPr>
            <p:cNvPr id="3089" name="Google Shape;3089;p277"/>
            <p:cNvPicPr preferRelativeResize="0"/>
            <p:nvPr/>
          </p:nvPicPr>
          <p:blipFill>
            <a:blip r:embed="rId6">
              <a:alphaModFix/>
            </a:blip>
            <a:stretch>
              <a:fillRect/>
            </a:stretch>
          </p:blipFill>
          <p:spPr>
            <a:xfrm>
              <a:off x="3077075" y="3068900"/>
              <a:ext cx="1066800" cy="1066800"/>
            </a:xfrm>
            <a:prstGeom prst="rect">
              <a:avLst/>
            </a:prstGeom>
            <a:noFill/>
            <a:ln>
              <a:noFill/>
            </a:ln>
          </p:spPr>
        </p:pic>
      </p:grpSp>
      <p:sp>
        <p:nvSpPr>
          <p:cNvPr id="3090" name="Google Shape;3090;p277"/>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4" name="Shape 3094"/>
        <p:cNvGrpSpPr/>
        <p:nvPr/>
      </p:nvGrpSpPr>
      <p:grpSpPr>
        <a:xfrm>
          <a:off x="0" y="0"/>
          <a:ext cx="0" cy="0"/>
          <a:chOff x="0" y="0"/>
          <a:chExt cx="0" cy="0"/>
        </a:xfrm>
      </p:grpSpPr>
      <p:sp>
        <p:nvSpPr>
          <p:cNvPr id="3095" name="Google Shape;3095;p27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Individual Networks</a:t>
            </a:r>
            <a:endParaRPr/>
          </a:p>
        </p:txBody>
      </p:sp>
      <p:sp>
        <p:nvSpPr>
          <p:cNvPr id="3096" name="Google Shape;3096;p278"/>
          <p:cNvSpPr txBox="1"/>
          <p:nvPr>
            <p:ph idx="1" type="body"/>
          </p:nvPr>
        </p:nvSpPr>
        <p:spPr>
          <a:xfrm>
            <a:off x="311700" y="1152475"/>
            <a:ext cx="314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seed 1</a:t>
            </a:r>
            <a:endParaRPr/>
          </a:p>
        </p:txBody>
      </p:sp>
      <p:grpSp>
        <p:nvGrpSpPr>
          <p:cNvPr id="3097" name="Google Shape;3097;p278"/>
          <p:cNvGrpSpPr/>
          <p:nvPr/>
        </p:nvGrpSpPr>
        <p:grpSpPr>
          <a:xfrm>
            <a:off x="3896950" y="941537"/>
            <a:ext cx="3878700" cy="244800"/>
            <a:chOff x="4395375" y="1319737"/>
            <a:chExt cx="3878700" cy="244800"/>
          </a:xfrm>
        </p:grpSpPr>
        <p:cxnSp>
          <p:nvCxnSpPr>
            <p:cNvPr id="3098" name="Google Shape;3098;p278"/>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099" name="Google Shape;3099;p278"/>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00" name="Google Shape;3100;p278"/>
          <p:cNvCxnSpPr/>
          <p:nvPr/>
        </p:nvCxnSpPr>
        <p:spPr>
          <a:xfrm>
            <a:off x="7186625" y="773038"/>
            <a:ext cx="0" cy="262800"/>
          </a:xfrm>
          <a:prstGeom prst="straightConnector1">
            <a:avLst/>
          </a:prstGeom>
          <a:noFill/>
          <a:ln cap="flat" cmpd="sng" w="38100">
            <a:solidFill>
              <a:srgbClr val="9AA0A6"/>
            </a:solidFill>
            <a:prstDash val="solid"/>
            <a:round/>
            <a:headEnd len="med" w="med" type="none"/>
            <a:tailEnd len="med" w="med" type="none"/>
          </a:ln>
        </p:spPr>
      </p:cxnSp>
      <p:grpSp>
        <p:nvGrpSpPr>
          <p:cNvPr id="3101" name="Google Shape;3101;p278"/>
          <p:cNvGrpSpPr/>
          <p:nvPr/>
        </p:nvGrpSpPr>
        <p:grpSpPr>
          <a:xfrm>
            <a:off x="3896950" y="2024687"/>
            <a:ext cx="3878700" cy="244800"/>
            <a:chOff x="4395375" y="1319737"/>
            <a:chExt cx="3878700" cy="244800"/>
          </a:xfrm>
        </p:grpSpPr>
        <p:cxnSp>
          <p:nvCxnSpPr>
            <p:cNvPr id="3102" name="Google Shape;3102;p278"/>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03" name="Google Shape;3103;p278"/>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04" name="Google Shape;3104;p278"/>
          <p:cNvGrpSpPr/>
          <p:nvPr/>
        </p:nvGrpSpPr>
        <p:grpSpPr>
          <a:xfrm>
            <a:off x="3896950" y="3205737"/>
            <a:ext cx="3878700" cy="244800"/>
            <a:chOff x="4395375" y="1319737"/>
            <a:chExt cx="3878700" cy="244800"/>
          </a:xfrm>
        </p:grpSpPr>
        <p:cxnSp>
          <p:nvCxnSpPr>
            <p:cNvPr id="3105" name="Google Shape;3105;p278"/>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06" name="Google Shape;3106;p278"/>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07" name="Google Shape;3107;p278"/>
          <p:cNvGrpSpPr/>
          <p:nvPr/>
        </p:nvGrpSpPr>
        <p:grpSpPr>
          <a:xfrm>
            <a:off x="3896950" y="4128462"/>
            <a:ext cx="3878700" cy="244800"/>
            <a:chOff x="4395375" y="1319737"/>
            <a:chExt cx="3878700" cy="244800"/>
          </a:xfrm>
        </p:grpSpPr>
        <p:cxnSp>
          <p:nvCxnSpPr>
            <p:cNvPr id="3108" name="Google Shape;3108;p278"/>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09" name="Google Shape;3109;p278"/>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10" name="Google Shape;3110;p278"/>
          <p:cNvCxnSpPr/>
          <p:nvPr/>
        </p:nvCxnSpPr>
        <p:spPr>
          <a:xfrm>
            <a:off x="44752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11" name="Google Shape;3111;p278"/>
          <p:cNvCxnSpPr/>
          <p:nvPr/>
        </p:nvCxnSpPr>
        <p:spPr>
          <a:xfrm>
            <a:off x="47183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12" name="Google Shape;3112;p278"/>
          <p:cNvCxnSpPr/>
          <p:nvPr/>
        </p:nvCxnSpPr>
        <p:spPr>
          <a:xfrm>
            <a:off x="5070075" y="3965337"/>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13" name="Google Shape;3113;p278"/>
          <p:cNvCxnSpPr/>
          <p:nvPr/>
        </p:nvCxnSpPr>
        <p:spPr>
          <a:xfrm>
            <a:off x="8149650" y="1698050"/>
            <a:ext cx="0" cy="262800"/>
          </a:xfrm>
          <a:prstGeom prst="straightConnector1">
            <a:avLst/>
          </a:prstGeom>
          <a:noFill/>
          <a:ln cap="flat" cmpd="sng" w="38100">
            <a:solidFill>
              <a:srgbClr val="EA8600"/>
            </a:solidFill>
            <a:prstDash val="solid"/>
            <a:round/>
            <a:headEnd len="med" w="med" type="none"/>
            <a:tailEnd len="med" w="med" type="none"/>
          </a:ln>
        </p:spPr>
      </p:cxnSp>
      <p:grpSp>
        <p:nvGrpSpPr>
          <p:cNvPr id="3114" name="Google Shape;3114;p278"/>
          <p:cNvGrpSpPr/>
          <p:nvPr/>
        </p:nvGrpSpPr>
        <p:grpSpPr>
          <a:xfrm>
            <a:off x="7907350" y="563750"/>
            <a:ext cx="1066800" cy="4259950"/>
            <a:chOff x="3077075" y="935300"/>
            <a:chExt cx="1066800" cy="4259950"/>
          </a:xfrm>
        </p:grpSpPr>
        <p:pic>
          <p:nvPicPr>
            <p:cNvPr id="3115" name="Google Shape;3115;p278"/>
            <p:cNvPicPr preferRelativeResize="0"/>
            <p:nvPr/>
          </p:nvPicPr>
          <p:blipFill>
            <a:blip r:embed="rId3">
              <a:alphaModFix/>
            </a:blip>
            <a:stretch>
              <a:fillRect/>
            </a:stretch>
          </p:blipFill>
          <p:spPr>
            <a:xfrm>
              <a:off x="3077075" y="4128450"/>
              <a:ext cx="1066800" cy="1066800"/>
            </a:xfrm>
            <a:prstGeom prst="rect">
              <a:avLst/>
            </a:prstGeom>
            <a:noFill/>
            <a:ln>
              <a:noFill/>
            </a:ln>
          </p:spPr>
        </p:pic>
        <p:pic>
          <p:nvPicPr>
            <p:cNvPr id="3116" name="Google Shape;3116;p278"/>
            <p:cNvPicPr preferRelativeResize="0"/>
            <p:nvPr/>
          </p:nvPicPr>
          <p:blipFill>
            <a:blip r:embed="rId4">
              <a:alphaModFix/>
            </a:blip>
            <a:stretch>
              <a:fillRect/>
            </a:stretch>
          </p:blipFill>
          <p:spPr>
            <a:xfrm>
              <a:off x="3077075" y="935300"/>
              <a:ext cx="1066800" cy="1066800"/>
            </a:xfrm>
            <a:prstGeom prst="rect">
              <a:avLst/>
            </a:prstGeom>
            <a:noFill/>
            <a:ln>
              <a:noFill/>
            </a:ln>
          </p:spPr>
        </p:pic>
        <p:pic>
          <p:nvPicPr>
            <p:cNvPr id="3117" name="Google Shape;3117;p278"/>
            <p:cNvPicPr preferRelativeResize="0"/>
            <p:nvPr/>
          </p:nvPicPr>
          <p:blipFill>
            <a:blip r:embed="rId5">
              <a:alphaModFix/>
            </a:blip>
            <a:stretch>
              <a:fillRect/>
            </a:stretch>
          </p:blipFill>
          <p:spPr>
            <a:xfrm>
              <a:off x="3077075" y="2002100"/>
              <a:ext cx="1066800" cy="1066800"/>
            </a:xfrm>
            <a:prstGeom prst="rect">
              <a:avLst/>
            </a:prstGeom>
            <a:noFill/>
            <a:ln>
              <a:noFill/>
            </a:ln>
          </p:spPr>
        </p:pic>
        <p:pic>
          <p:nvPicPr>
            <p:cNvPr id="3118" name="Google Shape;3118;p278"/>
            <p:cNvPicPr preferRelativeResize="0"/>
            <p:nvPr/>
          </p:nvPicPr>
          <p:blipFill>
            <a:blip r:embed="rId6">
              <a:alphaModFix/>
            </a:blip>
            <a:stretch>
              <a:fillRect/>
            </a:stretch>
          </p:blipFill>
          <p:spPr>
            <a:xfrm>
              <a:off x="3077075" y="3068900"/>
              <a:ext cx="1066800" cy="1066800"/>
            </a:xfrm>
            <a:prstGeom prst="rect">
              <a:avLst/>
            </a:prstGeom>
            <a:noFill/>
            <a:ln>
              <a:noFill/>
            </a:ln>
          </p:spPr>
        </p:pic>
      </p:grpSp>
      <p:cxnSp>
        <p:nvCxnSpPr>
          <p:cNvPr id="3119" name="Google Shape;3119;p278"/>
          <p:cNvCxnSpPr/>
          <p:nvPr/>
        </p:nvCxnSpPr>
        <p:spPr>
          <a:xfrm>
            <a:off x="6958025" y="773038"/>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20" name="Google Shape;3120;p278"/>
          <p:cNvCxnSpPr/>
          <p:nvPr/>
        </p:nvCxnSpPr>
        <p:spPr>
          <a:xfrm>
            <a:off x="4932475" y="1857075"/>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21" name="Google Shape;3121;p278"/>
          <p:cNvCxnSpPr/>
          <p:nvPr/>
        </p:nvCxnSpPr>
        <p:spPr>
          <a:xfrm>
            <a:off x="4489700" y="3040363"/>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22" name="Google Shape;3122;p278"/>
          <p:cNvCxnSpPr/>
          <p:nvPr/>
        </p:nvCxnSpPr>
        <p:spPr>
          <a:xfrm>
            <a:off x="4993875" y="3965337"/>
            <a:ext cx="0" cy="262800"/>
          </a:xfrm>
          <a:prstGeom prst="straightConnector1">
            <a:avLst/>
          </a:prstGeom>
          <a:noFill/>
          <a:ln cap="flat" cmpd="sng" w="38100">
            <a:solidFill>
              <a:srgbClr val="EA8600"/>
            </a:solidFill>
            <a:prstDash val="solid"/>
            <a:round/>
            <a:headEnd len="med" w="med" type="none"/>
            <a:tailEnd len="med" w="med" type="none"/>
          </a:ln>
        </p:spPr>
      </p:cxnSp>
      <p:sp>
        <p:nvSpPr>
          <p:cNvPr id="3123" name="Google Shape;3123;p278"/>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7" name="Shape 3127"/>
        <p:cNvGrpSpPr/>
        <p:nvPr/>
      </p:nvGrpSpPr>
      <p:grpSpPr>
        <a:xfrm>
          <a:off x="0" y="0"/>
          <a:ext cx="0" cy="0"/>
          <a:chOff x="0" y="0"/>
          <a:chExt cx="0" cy="0"/>
        </a:xfrm>
      </p:grpSpPr>
      <p:sp>
        <p:nvSpPr>
          <p:cNvPr id="3128" name="Google Shape;3128;p27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Individual Networks</a:t>
            </a:r>
            <a:endParaRPr/>
          </a:p>
        </p:txBody>
      </p:sp>
      <p:sp>
        <p:nvSpPr>
          <p:cNvPr id="3129" name="Google Shape;3129;p279"/>
          <p:cNvSpPr txBox="1"/>
          <p:nvPr>
            <p:ph idx="1" type="body"/>
          </p:nvPr>
        </p:nvSpPr>
        <p:spPr>
          <a:xfrm>
            <a:off x="311700" y="1152475"/>
            <a:ext cx="314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seed 2</a:t>
            </a:r>
            <a:endParaRPr/>
          </a:p>
        </p:txBody>
      </p:sp>
      <p:grpSp>
        <p:nvGrpSpPr>
          <p:cNvPr id="3130" name="Google Shape;3130;p279"/>
          <p:cNvGrpSpPr/>
          <p:nvPr/>
        </p:nvGrpSpPr>
        <p:grpSpPr>
          <a:xfrm>
            <a:off x="3896950" y="941537"/>
            <a:ext cx="3878700" cy="244800"/>
            <a:chOff x="4395375" y="1319737"/>
            <a:chExt cx="3878700" cy="244800"/>
          </a:xfrm>
        </p:grpSpPr>
        <p:cxnSp>
          <p:nvCxnSpPr>
            <p:cNvPr id="3131" name="Google Shape;3131;p279"/>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32" name="Google Shape;3132;p279"/>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33" name="Google Shape;3133;p279"/>
          <p:cNvCxnSpPr/>
          <p:nvPr/>
        </p:nvCxnSpPr>
        <p:spPr>
          <a:xfrm>
            <a:off x="7186625" y="773038"/>
            <a:ext cx="0" cy="262800"/>
          </a:xfrm>
          <a:prstGeom prst="straightConnector1">
            <a:avLst/>
          </a:prstGeom>
          <a:noFill/>
          <a:ln cap="flat" cmpd="sng" w="38100">
            <a:solidFill>
              <a:srgbClr val="9AA0A6"/>
            </a:solidFill>
            <a:prstDash val="solid"/>
            <a:round/>
            <a:headEnd len="med" w="med" type="none"/>
            <a:tailEnd len="med" w="med" type="none"/>
          </a:ln>
        </p:spPr>
      </p:cxnSp>
      <p:grpSp>
        <p:nvGrpSpPr>
          <p:cNvPr id="3134" name="Google Shape;3134;p279"/>
          <p:cNvGrpSpPr/>
          <p:nvPr/>
        </p:nvGrpSpPr>
        <p:grpSpPr>
          <a:xfrm>
            <a:off x="3896950" y="2024687"/>
            <a:ext cx="3878700" cy="244800"/>
            <a:chOff x="4395375" y="1319737"/>
            <a:chExt cx="3878700" cy="244800"/>
          </a:xfrm>
        </p:grpSpPr>
        <p:cxnSp>
          <p:nvCxnSpPr>
            <p:cNvPr id="3135" name="Google Shape;3135;p279"/>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36" name="Google Shape;3136;p279"/>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37" name="Google Shape;3137;p279"/>
          <p:cNvGrpSpPr/>
          <p:nvPr/>
        </p:nvGrpSpPr>
        <p:grpSpPr>
          <a:xfrm>
            <a:off x="3896950" y="3205737"/>
            <a:ext cx="3878700" cy="244800"/>
            <a:chOff x="4395375" y="1319737"/>
            <a:chExt cx="3878700" cy="244800"/>
          </a:xfrm>
        </p:grpSpPr>
        <p:cxnSp>
          <p:nvCxnSpPr>
            <p:cNvPr id="3138" name="Google Shape;3138;p279"/>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39" name="Google Shape;3139;p279"/>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40" name="Google Shape;3140;p279"/>
          <p:cNvGrpSpPr/>
          <p:nvPr/>
        </p:nvGrpSpPr>
        <p:grpSpPr>
          <a:xfrm>
            <a:off x="3896950" y="4128462"/>
            <a:ext cx="3878700" cy="244800"/>
            <a:chOff x="4395375" y="1319737"/>
            <a:chExt cx="3878700" cy="244800"/>
          </a:xfrm>
        </p:grpSpPr>
        <p:cxnSp>
          <p:nvCxnSpPr>
            <p:cNvPr id="3141" name="Google Shape;3141;p279"/>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42" name="Google Shape;3142;p279"/>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43" name="Google Shape;3143;p279"/>
          <p:cNvCxnSpPr/>
          <p:nvPr/>
        </p:nvCxnSpPr>
        <p:spPr>
          <a:xfrm>
            <a:off x="44752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44" name="Google Shape;3144;p279"/>
          <p:cNvCxnSpPr/>
          <p:nvPr/>
        </p:nvCxnSpPr>
        <p:spPr>
          <a:xfrm>
            <a:off x="47183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45" name="Google Shape;3145;p279"/>
          <p:cNvCxnSpPr/>
          <p:nvPr/>
        </p:nvCxnSpPr>
        <p:spPr>
          <a:xfrm>
            <a:off x="5070075" y="3965337"/>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46" name="Google Shape;3146;p279"/>
          <p:cNvCxnSpPr/>
          <p:nvPr/>
        </p:nvCxnSpPr>
        <p:spPr>
          <a:xfrm>
            <a:off x="8149650" y="1698050"/>
            <a:ext cx="0" cy="262800"/>
          </a:xfrm>
          <a:prstGeom prst="straightConnector1">
            <a:avLst/>
          </a:prstGeom>
          <a:noFill/>
          <a:ln cap="flat" cmpd="sng" w="38100">
            <a:solidFill>
              <a:srgbClr val="EA8600"/>
            </a:solidFill>
            <a:prstDash val="solid"/>
            <a:round/>
            <a:headEnd len="med" w="med" type="none"/>
            <a:tailEnd len="med" w="med" type="none"/>
          </a:ln>
        </p:spPr>
      </p:cxnSp>
      <p:grpSp>
        <p:nvGrpSpPr>
          <p:cNvPr id="3147" name="Google Shape;3147;p279"/>
          <p:cNvGrpSpPr/>
          <p:nvPr/>
        </p:nvGrpSpPr>
        <p:grpSpPr>
          <a:xfrm>
            <a:off x="7907350" y="563750"/>
            <a:ext cx="1066800" cy="4259950"/>
            <a:chOff x="3077075" y="935300"/>
            <a:chExt cx="1066800" cy="4259950"/>
          </a:xfrm>
        </p:grpSpPr>
        <p:pic>
          <p:nvPicPr>
            <p:cNvPr id="3148" name="Google Shape;3148;p279"/>
            <p:cNvPicPr preferRelativeResize="0"/>
            <p:nvPr/>
          </p:nvPicPr>
          <p:blipFill>
            <a:blip r:embed="rId3">
              <a:alphaModFix/>
            </a:blip>
            <a:stretch>
              <a:fillRect/>
            </a:stretch>
          </p:blipFill>
          <p:spPr>
            <a:xfrm>
              <a:off x="3077075" y="4128450"/>
              <a:ext cx="1066800" cy="1066800"/>
            </a:xfrm>
            <a:prstGeom prst="rect">
              <a:avLst/>
            </a:prstGeom>
            <a:noFill/>
            <a:ln>
              <a:noFill/>
            </a:ln>
          </p:spPr>
        </p:pic>
        <p:pic>
          <p:nvPicPr>
            <p:cNvPr id="3149" name="Google Shape;3149;p279"/>
            <p:cNvPicPr preferRelativeResize="0"/>
            <p:nvPr/>
          </p:nvPicPr>
          <p:blipFill>
            <a:blip r:embed="rId4">
              <a:alphaModFix/>
            </a:blip>
            <a:stretch>
              <a:fillRect/>
            </a:stretch>
          </p:blipFill>
          <p:spPr>
            <a:xfrm>
              <a:off x="3077075" y="935300"/>
              <a:ext cx="1066800" cy="1066800"/>
            </a:xfrm>
            <a:prstGeom prst="rect">
              <a:avLst/>
            </a:prstGeom>
            <a:noFill/>
            <a:ln>
              <a:noFill/>
            </a:ln>
          </p:spPr>
        </p:pic>
        <p:pic>
          <p:nvPicPr>
            <p:cNvPr id="3150" name="Google Shape;3150;p279"/>
            <p:cNvPicPr preferRelativeResize="0"/>
            <p:nvPr/>
          </p:nvPicPr>
          <p:blipFill>
            <a:blip r:embed="rId5">
              <a:alphaModFix/>
            </a:blip>
            <a:stretch>
              <a:fillRect/>
            </a:stretch>
          </p:blipFill>
          <p:spPr>
            <a:xfrm>
              <a:off x="3077075" y="2002100"/>
              <a:ext cx="1066800" cy="1066800"/>
            </a:xfrm>
            <a:prstGeom prst="rect">
              <a:avLst/>
            </a:prstGeom>
            <a:noFill/>
            <a:ln>
              <a:noFill/>
            </a:ln>
          </p:spPr>
        </p:pic>
        <p:pic>
          <p:nvPicPr>
            <p:cNvPr id="3151" name="Google Shape;3151;p279"/>
            <p:cNvPicPr preferRelativeResize="0"/>
            <p:nvPr/>
          </p:nvPicPr>
          <p:blipFill>
            <a:blip r:embed="rId6">
              <a:alphaModFix/>
            </a:blip>
            <a:stretch>
              <a:fillRect/>
            </a:stretch>
          </p:blipFill>
          <p:spPr>
            <a:xfrm>
              <a:off x="3077075" y="3068900"/>
              <a:ext cx="1066800" cy="1066800"/>
            </a:xfrm>
            <a:prstGeom prst="rect">
              <a:avLst/>
            </a:prstGeom>
            <a:noFill/>
            <a:ln>
              <a:noFill/>
            </a:ln>
          </p:spPr>
        </p:pic>
      </p:grpSp>
      <p:cxnSp>
        <p:nvCxnSpPr>
          <p:cNvPr id="3152" name="Google Shape;3152;p279"/>
          <p:cNvCxnSpPr/>
          <p:nvPr/>
        </p:nvCxnSpPr>
        <p:spPr>
          <a:xfrm>
            <a:off x="6958025" y="773038"/>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53" name="Google Shape;3153;p279"/>
          <p:cNvCxnSpPr/>
          <p:nvPr/>
        </p:nvCxnSpPr>
        <p:spPr>
          <a:xfrm>
            <a:off x="49324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54" name="Google Shape;3154;p279"/>
          <p:cNvCxnSpPr/>
          <p:nvPr/>
        </p:nvCxnSpPr>
        <p:spPr>
          <a:xfrm>
            <a:off x="44897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55" name="Google Shape;3155;p279"/>
          <p:cNvCxnSpPr/>
          <p:nvPr/>
        </p:nvCxnSpPr>
        <p:spPr>
          <a:xfrm>
            <a:off x="4993875" y="3965337"/>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56" name="Google Shape;3156;p279"/>
          <p:cNvCxnSpPr/>
          <p:nvPr/>
        </p:nvCxnSpPr>
        <p:spPr>
          <a:xfrm>
            <a:off x="6881825" y="773038"/>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57" name="Google Shape;3157;p279"/>
          <p:cNvCxnSpPr/>
          <p:nvPr/>
        </p:nvCxnSpPr>
        <p:spPr>
          <a:xfrm>
            <a:off x="4780075" y="1857075"/>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58" name="Google Shape;3158;p279"/>
          <p:cNvCxnSpPr/>
          <p:nvPr/>
        </p:nvCxnSpPr>
        <p:spPr>
          <a:xfrm>
            <a:off x="4794500" y="3040363"/>
            <a:ext cx="0" cy="262800"/>
          </a:xfrm>
          <a:prstGeom prst="straightConnector1">
            <a:avLst/>
          </a:prstGeom>
          <a:noFill/>
          <a:ln cap="flat" cmpd="sng" w="38100">
            <a:solidFill>
              <a:srgbClr val="EA8600"/>
            </a:solidFill>
            <a:prstDash val="solid"/>
            <a:round/>
            <a:headEnd len="med" w="med" type="none"/>
            <a:tailEnd len="med" w="med" type="none"/>
          </a:ln>
        </p:spPr>
      </p:cxnSp>
      <p:cxnSp>
        <p:nvCxnSpPr>
          <p:cNvPr id="3159" name="Google Shape;3159;p279"/>
          <p:cNvCxnSpPr/>
          <p:nvPr/>
        </p:nvCxnSpPr>
        <p:spPr>
          <a:xfrm>
            <a:off x="7051275" y="3965337"/>
            <a:ext cx="0" cy="262800"/>
          </a:xfrm>
          <a:prstGeom prst="straightConnector1">
            <a:avLst/>
          </a:prstGeom>
          <a:noFill/>
          <a:ln cap="flat" cmpd="sng" w="38100">
            <a:solidFill>
              <a:srgbClr val="EA8600"/>
            </a:solidFill>
            <a:prstDash val="solid"/>
            <a:round/>
            <a:headEnd len="med" w="med" type="none"/>
            <a:tailEnd len="med" w="med" type="none"/>
          </a:ln>
        </p:spPr>
      </p:cxnSp>
      <p:sp>
        <p:nvSpPr>
          <p:cNvPr id="3160" name="Google Shape;3160;p279"/>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4" name="Shape 3164"/>
        <p:cNvGrpSpPr/>
        <p:nvPr/>
      </p:nvGrpSpPr>
      <p:grpSpPr>
        <a:xfrm>
          <a:off x="0" y="0"/>
          <a:ext cx="0" cy="0"/>
          <a:chOff x="0" y="0"/>
          <a:chExt cx="0" cy="0"/>
        </a:xfrm>
      </p:grpSpPr>
      <p:sp>
        <p:nvSpPr>
          <p:cNvPr id="3165" name="Google Shape;3165;p28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Ensemble</a:t>
            </a:r>
            <a:endParaRPr/>
          </a:p>
        </p:txBody>
      </p:sp>
      <p:sp>
        <p:nvSpPr>
          <p:cNvPr id="3166" name="Google Shape;3166;p280"/>
          <p:cNvSpPr txBox="1"/>
          <p:nvPr>
            <p:ph idx="1" type="body"/>
          </p:nvPr>
        </p:nvSpPr>
        <p:spPr>
          <a:xfrm>
            <a:off x="311700" y="1152475"/>
            <a:ext cx="31413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marginalizing over all seeds gives a stochastic representation.</a:t>
            </a:r>
            <a:endParaRPr/>
          </a:p>
        </p:txBody>
      </p:sp>
      <p:grpSp>
        <p:nvGrpSpPr>
          <p:cNvPr id="3167" name="Google Shape;3167;p280"/>
          <p:cNvGrpSpPr/>
          <p:nvPr/>
        </p:nvGrpSpPr>
        <p:grpSpPr>
          <a:xfrm>
            <a:off x="3896950" y="941537"/>
            <a:ext cx="3878700" cy="244800"/>
            <a:chOff x="4395375" y="1319737"/>
            <a:chExt cx="3878700" cy="244800"/>
          </a:xfrm>
        </p:grpSpPr>
        <p:cxnSp>
          <p:nvCxnSpPr>
            <p:cNvPr id="3168" name="Google Shape;3168;p280"/>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69" name="Google Shape;3169;p280"/>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70" name="Google Shape;3170;p280"/>
          <p:cNvCxnSpPr/>
          <p:nvPr/>
        </p:nvCxnSpPr>
        <p:spPr>
          <a:xfrm>
            <a:off x="7186625" y="773038"/>
            <a:ext cx="0" cy="262800"/>
          </a:xfrm>
          <a:prstGeom prst="straightConnector1">
            <a:avLst/>
          </a:prstGeom>
          <a:noFill/>
          <a:ln cap="flat" cmpd="sng" w="38100">
            <a:solidFill>
              <a:srgbClr val="9AA0A6"/>
            </a:solidFill>
            <a:prstDash val="solid"/>
            <a:round/>
            <a:headEnd len="med" w="med" type="none"/>
            <a:tailEnd len="med" w="med" type="none"/>
          </a:ln>
        </p:spPr>
      </p:cxnSp>
      <p:grpSp>
        <p:nvGrpSpPr>
          <p:cNvPr id="3171" name="Google Shape;3171;p280"/>
          <p:cNvGrpSpPr/>
          <p:nvPr/>
        </p:nvGrpSpPr>
        <p:grpSpPr>
          <a:xfrm>
            <a:off x="3896950" y="2024687"/>
            <a:ext cx="3878700" cy="244800"/>
            <a:chOff x="4395375" y="1319737"/>
            <a:chExt cx="3878700" cy="244800"/>
          </a:xfrm>
        </p:grpSpPr>
        <p:cxnSp>
          <p:nvCxnSpPr>
            <p:cNvPr id="3172" name="Google Shape;3172;p280"/>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73" name="Google Shape;3173;p280"/>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74" name="Google Shape;3174;p280"/>
          <p:cNvGrpSpPr/>
          <p:nvPr/>
        </p:nvGrpSpPr>
        <p:grpSpPr>
          <a:xfrm>
            <a:off x="3896950" y="3205737"/>
            <a:ext cx="3878700" cy="244800"/>
            <a:chOff x="4395375" y="1319737"/>
            <a:chExt cx="3878700" cy="244800"/>
          </a:xfrm>
        </p:grpSpPr>
        <p:cxnSp>
          <p:nvCxnSpPr>
            <p:cNvPr id="3175" name="Google Shape;3175;p280"/>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76" name="Google Shape;3176;p280"/>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grpSp>
        <p:nvGrpSpPr>
          <p:cNvPr id="3177" name="Google Shape;3177;p280"/>
          <p:cNvGrpSpPr/>
          <p:nvPr/>
        </p:nvGrpSpPr>
        <p:grpSpPr>
          <a:xfrm>
            <a:off x="3896950" y="4128462"/>
            <a:ext cx="3878700" cy="244800"/>
            <a:chOff x="4395375" y="1319737"/>
            <a:chExt cx="3878700" cy="244800"/>
          </a:xfrm>
        </p:grpSpPr>
        <p:cxnSp>
          <p:nvCxnSpPr>
            <p:cNvPr id="3178" name="Google Shape;3178;p280"/>
            <p:cNvCxnSpPr/>
            <p:nvPr/>
          </p:nvCxnSpPr>
          <p:spPr>
            <a:xfrm>
              <a:off x="4395375" y="1432200"/>
              <a:ext cx="3878700" cy="0"/>
            </a:xfrm>
            <a:prstGeom prst="straightConnector1">
              <a:avLst/>
            </a:prstGeom>
            <a:noFill/>
            <a:ln cap="flat" cmpd="sng" w="28575">
              <a:solidFill>
                <a:schemeClr val="dk2"/>
              </a:solidFill>
              <a:prstDash val="solid"/>
              <a:round/>
              <a:headEnd len="med" w="med" type="stealth"/>
              <a:tailEnd len="med" w="med" type="stealth"/>
            </a:ln>
          </p:spPr>
        </p:cxnSp>
        <p:cxnSp>
          <p:nvCxnSpPr>
            <p:cNvPr id="3179" name="Google Shape;3179;p280"/>
            <p:cNvCxnSpPr/>
            <p:nvPr/>
          </p:nvCxnSpPr>
          <p:spPr>
            <a:xfrm>
              <a:off x="6334725" y="1319737"/>
              <a:ext cx="0" cy="244800"/>
            </a:xfrm>
            <a:prstGeom prst="straightConnector1">
              <a:avLst/>
            </a:prstGeom>
            <a:noFill/>
            <a:ln cap="flat" cmpd="sng" w="28575">
              <a:solidFill>
                <a:schemeClr val="dk2"/>
              </a:solidFill>
              <a:prstDash val="solid"/>
              <a:round/>
              <a:headEnd len="med" w="med" type="none"/>
              <a:tailEnd len="med" w="med" type="none"/>
            </a:ln>
          </p:spPr>
        </p:cxnSp>
      </p:grpSp>
      <p:cxnSp>
        <p:nvCxnSpPr>
          <p:cNvPr id="3180" name="Google Shape;3180;p280"/>
          <p:cNvCxnSpPr/>
          <p:nvPr/>
        </p:nvCxnSpPr>
        <p:spPr>
          <a:xfrm>
            <a:off x="44752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81" name="Google Shape;3181;p280"/>
          <p:cNvCxnSpPr/>
          <p:nvPr/>
        </p:nvCxnSpPr>
        <p:spPr>
          <a:xfrm>
            <a:off x="47183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82" name="Google Shape;3182;p280"/>
          <p:cNvCxnSpPr/>
          <p:nvPr/>
        </p:nvCxnSpPr>
        <p:spPr>
          <a:xfrm>
            <a:off x="5070075" y="3965337"/>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83" name="Google Shape;3183;p280"/>
          <p:cNvCxnSpPr/>
          <p:nvPr/>
        </p:nvCxnSpPr>
        <p:spPr>
          <a:xfrm>
            <a:off x="8149650" y="1698050"/>
            <a:ext cx="0" cy="262800"/>
          </a:xfrm>
          <a:prstGeom prst="straightConnector1">
            <a:avLst/>
          </a:prstGeom>
          <a:noFill/>
          <a:ln cap="flat" cmpd="sng" w="38100">
            <a:solidFill>
              <a:srgbClr val="EA8600"/>
            </a:solidFill>
            <a:prstDash val="solid"/>
            <a:round/>
            <a:headEnd len="med" w="med" type="none"/>
            <a:tailEnd len="med" w="med" type="none"/>
          </a:ln>
        </p:spPr>
      </p:cxnSp>
      <p:grpSp>
        <p:nvGrpSpPr>
          <p:cNvPr id="3184" name="Google Shape;3184;p280"/>
          <p:cNvGrpSpPr/>
          <p:nvPr/>
        </p:nvGrpSpPr>
        <p:grpSpPr>
          <a:xfrm>
            <a:off x="7907350" y="563750"/>
            <a:ext cx="1066800" cy="4259950"/>
            <a:chOff x="3077075" y="935300"/>
            <a:chExt cx="1066800" cy="4259950"/>
          </a:xfrm>
        </p:grpSpPr>
        <p:pic>
          <p:nvPicPr>
            <p:cNvPr id="3185" name="Google Shape;3185;p280"/>
            <p:cNvPicPr preferRelativeResize="0"/>
            <p:nvPr/>
          </p:nvPicPr>
          <p:blipFill>
            <a:blip r:embed="rId3">
              <a:alphaModFix/>
            </a:blip>
            <a:stretch>
              <a:fillRect/>
            </a:stretch>
          </p:blipFill>
          <p:spPr>
            <a:xfrm>
              <a:off x="3077075" y="4128450"/>
              <a:ext cx="1066800" cy="1066800"/>
            </a:xfrm>
            <a:prstGeom prst="rect">
              <a:avLst/>
            </a:prstGeom>
            <a:noFill/>
            <a:ln>
              <a:noFill/>
            </a:ln>
          </p:spPr>
        </p:pic>
        <p:pic>
          <p:nvPicPr>
            <p:cNvPr id="3186" name="Google Shape;3186;p280"/>
            <p:cNvPicPr preferRelativeResize="0"/>
            <p:nvPr/>
          </p:nvPicPr>
          <p:blipFill>
            <a:blip r:embed="rId4">
              <a:alphaModFix/>
            </a:blip>
            <a:stretch>
              <a:fillRect/>
            </a:stretch>
          </p:blipFill>
          <p:spPr>
            <a:xfrm>
              <a:off x="3077075" y="935300"/>
              <a:ext cx="1066800" cy="1066800"/>
            </a:xfrm>
            <a:prstGeom prst="rect">
              <a:avLst/>
            </a:prstGeom>
            <a:noFill/>
            <a:ln>
              <a:noFill/>
            </a:ln>
          </p:spPr>
        </p:pic>
        <p:pic>
          <p:nvPicPr>
            <p:cNvPr id="3187" name="Google Shape;3187;p280"/>
            <p:cNvPicPr preferRelativeResize="0"/>
            <p:nvPr/>
          </p:nvPicPr>
          <p:blipFill>
            <a:blip r:embed="rId5">
              <a:alphaModFix/>
            </a:blip>
            <a:stretch>
              <a:fillRect/>
            </a:stretch>
          </p:blipFill>
          <p:spPr>
            <a:xfrm>
              <a:off x="3077075" y="2002100"/>
              <a:ext cx="1066800" cy="1066800"/>
            </a:xfrm>
            <a:prstGeom prst="rect">
              <a:avLst/>
            </a:prstGeom>
            <a:noFill/>
            <a:ln>
              <a:noFill/>
            </a:ln>
          </p:spPr>
        </p:pic>
        <p:pic>
          <p:nvPicPr>
            <p:cNvPr id="3188" name="Google Shape;3188;p280"/>
            <p:cNvPicPr preferRelativeResize="0"/>
            <p:nvPr/>
          </p:nvPicPr>
          <p:blipFill>
            <a:blip r:embed="rId6">
              <a:alphaModFix/>
            </a:blip>
            <a:stretch>
              <a:fillRect/>
            </a:stretch>
          </p:blipFill>
          <p:spPr>
            <a:xfrm>
              <a:off x="3077075" y="3068900"/>
              <a:ext cx="1066800" cy="1066800"/>
            </a:xfrm>
            <a:prstGeom prst="rect">
              <a:avLst/>
            </a:prstGeom>
            <a:noFill/>
            <a:ln>
              <a:noFill/>
            </a:ln>
          </p:spPr>
        </p:pic>
      </p:grpSp>
      <p:cxnSp>
        <p:nvCxnSpPr>
          <p:cNvPr id="3189" name="Google Shape;3189;p280"/>
          <p:cNvCxnSpPr/>
          <p:nvPr/>
        </p:nvCxnSpPr>
        <p:spPr>
          <a:xfrm>
            <a:off x="6958025" y="773038"/>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0" name="Google Shape;3190;p280"/>
          <p:cNvCxnSpPr/>
          <p:nvPr/>
        </p:nvCxnSpPr>
        <p:spPr>
          <a:xfrm>
            <a:off x="49324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1" name="Google Shape;3191;p280"/>
          <p:cNvCxnSpPr/>
          <p:nvPr/>
        </p:nvCxnSpPr>
        <p:spPr>
          <a:xfrm>
            <a:off x="44897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2" name="Google Shape;3192;p280"/>
          <p:cNvCxnSpPr/>
          <p:nvPr/>
        </p:nvCxnSpPr>
        <p:spPr>
          <a:xfrm>
            <a:off x="4993875" y="3965337"/>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3" name="Google Shape;3193;p280"/>
          <p:cNvCxnSpPr/>
          <p:nvPr/>
        </p:nvCxnSpPr>
        <p:spPr>
          <a:xfrm>
            <a:off x="6881825" y="773038"/>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4" name="Google Shape;3194;p280"/>
          <p:cNvCxnSpPr/>
          <p:nvPr/>
        </p:nvCxnSpPr>
        <p:spPr>
          <a:xfrm>
            <a:off x="4780075" y="1857075"/>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5" name="Google Shape;3195;p280"/>
          <p:cNvCxnSpPr/>
          <p:nvPr/>
        </p:nvCxnSpPr>
        <p:spPr>
          <a:xfrm>
            <a:off x="4794500" y="3040363"/>
            <a:ext cx="0" cy="262800"/>
          </a:xfrm>
          <a:prstGeom prst="straightConnector1">
            <a:avLst/>
          </a:prstGeom>
          <a:noFill/>
          <a:ln cap="flat" cmpd="sng" w="38100">
            <a:solidFill>
              <a:srgbClr val="9AA0A6"/>
            </a:solidFill>
            <a:prstDash val="solid"/>
            <a:round/>
            <a:headEnd len="med" w="med" type="none"/>
            <a:tailEnd len="med" w="med" type="none"/>
          </a:ln>
        </p:spPr>
      </p:cxnSp>
      <p:cxnSp>
        <p:nvCxnSpPr>
          <p:cNvPr id="3196" name="Google Shape;3196;p280"/>
          <p:cNvCxnSpPr/>
          <p:nvPr/>
        </p:nvCxnSpPr>
        <p:spPr>
          <a:xfrm>
            <a:off x="7051275" y="3965337"/>
            <a:ext cx="0" cy="262800"/>
          </a:xfrm>
          <a:prstGeom prst="straightConnector1">
            <a:avLst/>
          </a:prstGeom>
          <a:noFill/>
          <a:ln cap="flat" cmpd="sng" w="38100">
            <a:solidFill>
              <a:srgbClr val="9AA0A6"/>
            </a:solidFill>
            <a:prstDash val="solid"/>
            <a:round/>
            <a:headEnd len="med" w="med" type="none"/>
            <a:tailEnd len="med" w="med" type="none"/>
          </a:ln>
        </p:spPr>
      </p:cxnSp>
      <p:pic>
        <p:nvPicPr>
          <p:cNvPr id="3197" name="Google Shape;3197;p280"/>
          <p:cNvPicPr preferRelativeResize="0"/>
          <p:nvPr/>
        </p:nvPicPr>
        <p:blipFill rotWithShape="1">
          <a:blip r:embed="rId7">
            <a:alphaModFix amt="66000"/>
          </a:blip>
          <a:srcRect b="11894" l="30713" r="22913" t="0"/>
          <a:stretch/>
        </p:blipFill>
        <p:spPr>
          <a:xfrm>
            <a:off x="5973462" y="465319"/>
            <a:ext cx="1969124" cy="572700"/>
          </a:xfrm>
          <a:prstGeom prst="rect">
            <a:avLst/>
          </a:prstGeom>
          <a:noFill/>
          <a:ln>
            <a:noFill/>
          </a:ln>
        </p:spPr>
      </p:pic>
      <p:pic>
        <p:nvPicPr>
          <p:cNvPr id="3198" name="Google Shape;3198;p280"/>
          <p:cNvPicPr preferRelativeResize="0"/>
          <p:nvPr/>
        </p:nvPicPr>
        <p:blipFill rotWithShape="1">
          <a:blip r:embed="rId7">
            <a:alphaModFix amt="66000"/>
          </a:blip>
          <a:srcRect b="11894" l="30713" r="22913" t="0"/>
          <a:stretch/>
        </p:blipFill>
        <p:spPr>
          <a:xfrm>
            <a:off x="4090701" y="1557922"/>
            <a:ext cx="1131775" cy="572700"/>
          </a:xfrm>
          <a:prstGeom prst="rect">
            <a:avLst/>
          </a:prstGeom>
          <a:noFill/>
          <a:ln>
            <a:noFill/>
          </a:ln>
        </p:spPr>
      </p:pic>
      <p:pic>
        <p:nvPicPr>
          <p:cNvPr id="3199" name="Google Shape;3199;p280"/>
          <p:cNvPicPr preferRelativeResize="0"/>
          <p:nvPr/>
        </p:nvPicPr>
        <p:blipFill rotWithShape="1">
          <a:blip r:embed="rId7">
            <a:alphaModFix amt="66000"/>
          </a:blip>
          <a:srcRect b="11894" l="30713" r="22913" t="0"/>
          <a:stretch/>
        </p:blipFill>
        <p:spPr>
          <a:xfrm>
            <a:off x="4087947" y="2729381"/>
            <a:ext cx="1744850" cy="572700"/>
          </a:xfrm>
          <a:prstGeom prst="rect">
            <a:avLst/>
          </a:prstGeom>
          <a:noFill/>
          <a:ln>
            <a:noFill/>
          </a:ln>
        </p:spPr>
      </p:pic>
      <p:pic>
        <p:nvPicPr>
          <p:cNvPr id="3200" name="Google Shape;3200;p280"/>
          <p:cNvPicPr preferRelativeResize="0"/>
          <p:nvPr/>
        </p:nvPicPr>
        <p:blipFill rotWithShape="1">
          <a:blip r:embed="rId7">
            <a:alphaModFix amt="66000"/>
          </a:blip>
          <a:srcRect b="11894" l="30713" r="22913" t="0"/>
          <a:stretch/>
        </p:blipFill>
        <p:spPr>
          <a:xfrm>
            <a:off x="4087950" y="3655425"/>
            <a:ext cx="3687701" cy="572700"/>
          </a:xfrm>
          <a:prstGeom prst="rect">
            <a:avLst/>
          </a:prstGeom>
          <a:noFill/>
          <a:ln>
            <a:noFill/>
          </a:ln>
        </p:spPr>
      </p:pic>
      <p:sp>
        <p:nvSpPr>
          <p:cNvPr id="3201" name="Google Shape;3201;p280"/>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5" name="Shape 3205"/>
        <p:cNvGrpSpPr/>
        <p:nvPr/>
      </p:nvGrpSpPr>
      <p:grpSpPr>
        <a:xfrm>
          <a:off x="0" y="0"/>
          <a:ext cx="0" cy="0"/>
          <a:chOff x="0" y="0"/>
          <a:chExt cx="0" cy="0"/>
        </a:xfrm>
      </p:grpSpPr>
      <p:pic>
        <p:nvPicPr>
          <p:cNvPr id="3206" name="Google Shape;3206;p281"/>
          <p:cNvPicPr preferRelativeResize="0"/>
          <p:nvPr/>
        </p:nvPicPr>
        <p:blipFill rotWithShape="1">
          <a:blip r:embed="rId3">
            <a:alphaModFix/>
          </a:blip>
          <a:srcRect b="0" l="0" r="0" t="0"/>
          <a:stretch/>
        </p:blipFill>
        <p:spPr>
          <a:xfrm>
            <a:off x="1389600" y="450150"/>
            <a:ext cx="6364801" cy="4243201"/>
          </a:xfrm>
          <a:prstGeom prst="rect">
            <a:avLst/>
          </a:prstGeom>
          <a:noFill/>
          <a:ln>
            <a:noFill/>
          </a:ln>
        </p:spPr>
      </p:pic>
      <p:sp>
        <p:nvSpPr>
          <p:cNvPr id="3207" name="Google Shape;3207;p281"/>
          <p:cNvSpPr txBox="1"/>
          <p:nvPr/>
        </p:nvSpPr>
        <p:spPr>
          <a:xfrm>
            <a:off x="45275" y="4540950"/>
            <a:ext cx="5220000" cy="6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Google Sans"/>
                <a:ea typeface="Google Sans"/>
                <a:cs typeface="Google Sans"/>
                <a:sym typeface="Google Sans"/>
              </a:rPr>
              <a:t>Information in Infinite Ensembles of Infinitely-Wide Neural Networks - </a:t>
            </a:r>
            <a:r>
              <a:rPr lang="en" sz="1200">
                <a:latin typeface="Google Sans"/>
                <a:ea typeface="Google Sans"/>
                <a:cs typeface="Google Sans"/>
                <a:sym typeface="Google Sans"/>
              </a:rPr>
              <a:t>Shwartz-Ziv &amp; Alemi / </a:t>
            </a:r>
            <a:r>
              <a:rPr lang="en" sz="1200">
                <a:latin typeface="Roboto Mono"/>
                <a:ea typeface="Roboto Mono"/>
                <a:cs typeface="Roboto Mono"/>
                <a:sym typeface="Roboto Mono"/>
              </a:rPr>
              <a:t>1911.09189</a:t>
            </a:r>
            <a:endParaRPr sz="1200">
              <a:latin typeface="Roboto Mono"/>
              <a:ea typeface="Roboto Mono"/>
              <a:cs typeface="Roboto Mono"/>
              <a:sym typeface="Roboto Mono"/>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211" name="Shape 3211"/>
        <p:cNvGrpSpPr/>
        <p:nvPr/>
      </p:nvGrpSpPr>
      <p:grpSpPr>
        <a:xfrm>
          <a:off x="0" y="0"/>
          <a:ext cx="0" cy="0"/>
          <a:chOff x="0" y="0"/>
          <a:chExt cx="0" cy="0"/>
        </a:xfrm>
      </p:grpSpPr>
      <p:sp>
        <p:nvSpPr>
          <p:cNvPr id="3212" name="Google Shape;3212;p28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Semi Supervised Learning</a:t>
            </a:r>
            <a:endParaRPr>
              <a:solidFill>
                <a:schemeClr val="lt1"/>
              </a:solidFill>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6" name="Shape 3216"/>
        <p:cNvGrpSpPr/>
        <p:nvPr/>
      </p:nvGrpSpPr>
      <p:grpSpPr>
        <a:xfrm>
          <a:off x="0" y="0"/>
          <a:ext cx="0" cy="0"/>
          <a:chOff x="0" y="0"/>
          <a:chExt cx="0" cy="0"/>
        </a:xfrm>
      </p:grpSpPr>
      <p:sp>
        <p:nvSpPr>
          <p:cNvPr id="3217" name="Google Shape;3217;p283"/>
          <p:cNvSpPr txBox="1"/>
          <p:nvPr>
            <p:ph idx="2" type="title"/>
          </p:nvPr>
        </p:nvSpPr>
        <p:spPr>
          <a:xfrm>
            <a:off x="417675" y="341875"/>
            <a:ext cx="79182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Real World</a:t>
            </a:r>
            <a:endParaRPr sz="3000"/>
          </a:p>
        </p:txBody>
      </p:sp>
      <p:sp>
        <p:nvSpPr>
          <p:cNvPr id="3218" name="Google Shape;3218;p283"/>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219" name="Google Shape;3219;p283"/>
          <p:cNvSpPr/>
          <p:nvPr/>
        </p:nvSpPr>
        <p:spPr>
          <a:xfrm>
            <a:off x="1266750" y="1678800"/>
            <a:ext cx="6610500" cy="1785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sz="2400">
                <a:latin typeface="Roboto"/>
                <a:ea typeface="Roboto"/>
                <a:cs typeface="Roboto"/>
                <a:sym typeface="Roboto"/>
              </a:rPr>
              <a:t>N</a:t>
            </a:r>
            <a:endParaRPr sz="2400">
              <a:latin typeface="Roboto"/>
              <a:ea typeface="Roboto"/>
              <a:cs typeface="Roboto"/>
              <a:sym typeface="Roboto"/>
            </a:endParaRPr>
          </a:p>
        </p:txBody>
      </p:sp>
      <p:sp>
        <p:nvSpPr>
          <p:cNvPr id="3220" name="Google Shape;3220;p283"/>
          <p:cNvSpPr/>
          <p:nvPr/>
        </p:nvSpPr>
        <p:spPr>
          <a:xfrm>
            <a:off x="1615888" y="2005050"/>
            <a:ext cx="1133400" cy="11334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t/>
            </a:r>
            <a:endParaRPr sz="3000">
              <a:latin typeface="Roboto"/>
              <a:ea typeface="Roboto"/>
              <a:cs typeface="Roboto"/>
              <a:sym typeface="Roboto"/>
            </a:endParaRPr>
          </a:p>
        </p:txBody>
      </p:sp>
      <p:sp>
        <p:nvSpPr>
          <p:cNvPr id="3221" name="Google Shape;3221;p283"/>
          <p:cNvSpPr/>
          <p:nvPr/>
        </p:nvSpPr>
        <p:spPr>
          <a:xfrm>
            <a:off x="6394688" y="2005050"/>
            <a:ext cx="1133400" cy="11334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latin typeface="Roboto"/>
                <a:ea typeface="Roboto"/>
                <a:cs typeface="Roboto"/>
                <a:sym typeface="Roboto"/>
              </a:rPr>
              <a:t>"turtle"</a:t>
            </a:r>
            <a:endParaRPr sz="1600">
              <a:latin typeface="Roboto"/>
              <a:ea typeface="Roboto"/>
              <a:cs typeface="Roboto"/>
              <a:sym typeface="Roboto"/>
            </a:endParaRPr>
          </a:p>
        </p:txBody>
      </p:sp>
      <p:sp>
        <p:nvSpPr>
          <p:cNvPr id="3222" name="Google Shape;3222;p283"/>
          <p:cNvSpPr/>
          <p:nvPr/>
        </p:nvSpPr>
        <p:spPr>
          <a:xfrm>
            <a:off x="4005288" y="2005050"/>
            <a:ext cx="1133400" cy="11334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4500">
                <a:solidFill>
                  <a:schemeClr val="dk1"/>
                </a:solidFill>
                <a:latin typeface="Roboto"/>
                <a:ea typeface="Roboto"/>
                <a:cs typeface="Roboto"/>
                <a:sym typeface="Roboto"/>
              </a:rPr>
              <a:t>🐢</a:t>
            </a:r>
            <a:endParaRPr sz="4500">
              <a:latin typeface="Roboto"/>
              <a:ea typeface="Roboto"/>
              <a:cs typeface="Roboto"/>
              <a:sym typeface="Roboto"/>
            </a:endParaRPr>
          </a:p>
        </p:txBody>
      </p:sp>
      <p:cxnSp>
        <p:nvCxnSpPr>
          <p:cNvPr id="3223" name="Google Shape;3223;p283"/>
          <p:cNvCxnSpPr>
            <a:stCxn id="3222" idx="2"/>
            <a:endCxn id="3220" idx="6"/>
          </p:cNvCxnSpPr>
          <p:nvPr/>
        </p:nvCxnSpPr>
        <p:spPr>
          <a:xfrm rot="10800000">
            <a:off x="2749188" y="2571750"/>
            <a:ext cx="1256100" cy="0"/>
          </a:xfrm>
          <a:prstGeom prst="straightConnector1">
            <a:avLst/>
          </a:prstGeom>
          <a:noFill/>
          <a:ln cap="flat" cmpd="sng" w="28575">
            <a:solidFill>
              <a:srgbClr val="595959"/>
            </a:solidFill>
            <a:prstDash val="solid"/>
            <a:round/>
            <a:headEnd len="med" w="med" type="none"/>
            <a:tailEnd len="med" w="med" type="triangle"/>
          </a:ln>
        </p:spPr>
      </p:cxnSp>
      <p:cxnSp>
        <p:nvCxnSpPr>
          <p:cNvPr id="3224" name="Google Shape;3224;p283"/>
          <p:cNvCxnSpPr>
            <a:stCxn id="3222" idx="6"/>
            <a:endCxn id="3221" idx="2"/>
          </p:cNvCxnSpPr>
          <p:nvPr/>
        </p:nvCxnSpPr>
        <p:spPr>
          <a:xfrm>
            <a:off x="5138688" y="2571750"/>
            <a:ext cx="1256100" cy="0"/>
          </a:xfrm>
          <a:prstGeom prst="straightConnector1">
            <a:avLst/>
          </a:prstGeom>
          <a:noFill/>
          <a:ln cap="flat" cmpd="sng" w="28575">
            <a:solidFill>
              <a:srgbClr val="595959"/>
            </a:solidFill>
            <a:prstDash val="solid"/>
            <a:round/>
            <a:headEnd len="med" w="med" type="none"/>
            <a:tailEnd len="med" w="med" type="triangle"/>
          </a:ln>
        </p:spPr>
      </p:cxnSp>
      <p:sp>
        <p:nvSpPr>
          <p:cNvPr id="3225" name="Google Shape;3225;p283"/>
          <p:cNvSpPr/>
          <p:nvPr/>
        </p:nvSpPr>
        <p:spPr>
          <a:xfrm>
            <a:off x="6394688" y="164675"/>
            <a:ext cx="1133400" cy="11334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100">
                <a:latin typeface="Roboto"/>
                <a:ea typeface="Roboto"/>
                <a:cs typeface="Roboto"/>
                <a:sym typeface="Roboto"/>
              </a:rPr>
              <a:t>ɸ</a:t>
            </a:r>
            <a:endParaRPr sz="3100">
              <a:latin typeface="Roboto"/>
              <a:ea typeface="Roboto"/>
              <a:cs typeface="Roboto"/>
              <a:sym typeface="Roboto"/>
            </a:endParaRPr>
          </a:p>
        </p:txBody>
      </p:sp>
      <p:cxnSp>
        <p:nvCxnSpPr>
          <p:cNvPr id="3226" name="Google Shape;3226;p283"/>
          <p:cNvCxnSpPr>
            <a:stCxn id="3225" idx="4"/>
            <a:endCxn id="3221" idx="0"/>
          </p:cNvCxnSpPr>
          <p:nvPr/>
        </p:nvCxnSpPr>
        <p:spPr>
          <a:xfrm>
            <a:off x="6961388" y="1298075"/>
            <a:ext cx="0" cy="707100"/>
          </a:xfrm>
          <a:prstGeom prst="straightConnector1">
            <a:avLst/>
          </a:prstGeom>
          <a:noFill/>
          <a:ln cap="flat" cmpd="sng" w="28575">
            <a:solidFill>
              <a:srgbClr val="595959"/>
            </a:solidFill>
            <a:prstDash val="solid"/>
            <a:round/>
            <a:headEnd len="med" w="med" type="none"/>
            <a:tailEnd len="med" w="med" type="triangle"/>
          </a:ln>
        </p:spPr>
      </p:cxnSp>
      <p:cxnSp>
        <p:nvCxnSpPr>
          <p:cNvPr id="3227" name="Google Shape;3227;p283"/>
          <p:cNvCxnSpPr>
            <a:stCxn id="3225" idx="3"/>
            <a:endCxn id="3222" idx="7"/>
          </p:cNvCxnSpPr>
          <p:nvPr/>
        </p:nvCxnSpPr>
        <p:spPr>
          <a:xfrm flipH="1">
            <a:off x="4972770" y="1132092"/>
            <a:ext cx="1587900" cy="1038900"/>
          </a:xfrm>
          <a:prstGeom prst="straightConnector1">
            <a:avLst/>
          </a:prstGeom>
          <a:noFill/>
          <a:ln cap="flat" cmpd="sng" w="28575">
            <a:solidFill>
              <a:srgbClr val="595959"/>
            </a:solidFill>
            <a:prstDash val="solid"/>
            <a:round/>
            <a:headEnd len="med" w="med" type="none"/>
            <a:tailEnd len="med" w="med" type="triangle"/>
          </a:ln>
        </p:spPr>
      </p:cxnSp>
      <p:sp>
        <p:nvSpPr>
          <p:cNvPr id="3228" name="Google Shape;3228;p283"/>
          <p:cNvSpPr/>
          <p:nvPr/>
        </p:nvSpPr>
        <p:spPr>
          <a:xfrm>
            <a:off x="1615888" y="3769300"/>
            <a:ext cx="1133400" cy="11334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Roboto"/>
                <a:ea typeface="Roboto"/>
                <a:cs typeface="Roboto"/>
                <a:sym typeface="Roboto"/>
              </a:rPr>
              <a:t>θ</a:t>
            </a:r>
            <a:endParaRPr sz="3000">
              <a:latin typeface="Roboto"/>
              <a:ea typeface="Roboto"/>
              <a:cs typeface="Roboto"/>
              <a:sym typeface="Roboto"/>
            </a:endParaRPr>
          </a:p>
        </p:txBody>
      </p:sp>
      <p:cxnSp>
        <p:nvCxnSpPr>
          <p:cNvPr id="3229" name="Google Shape;3229;p283"/>
          <p:cNvCxnSpPr>
            <a:stCxn id="3228" idx="0"/>
            <a:endCxn id="3220" idx="4"/>
          </p:cNvCxnSpPr>
          <p:nvPr/>
        </p:nvCxnSpPr>
        <p:spPr>
          <a:xfrm rot="10800000">
            <a:off x="2182588" y="3138400"/>
            <a:ext cx="0" cy="630900"/>
          </a:xfrm>
          <a:prstGeom prst="straightConnector1">
            <a:avLst/>
          </a:prstGeom>
          <a:noFill/>
          <a:ln cap="flat" cmpd="sng" w="28575">
            <a:solidFill>
              <a:srgbClr val="595959"/>
            </a:solidFill>
            <a:prstDash val="solid"/>
            <a:round/>
            <a:headEnd len="med" w="med" type="none"/>
            <a:tailEnd len="med" w="med" type="triangle"/>
          </a:ln>
        </p:spPr>
      </p:cxnSp>
      <p:cxnSp>
        <p:nvCxnSpPr>
          <p:cNvPr id="3230" name="Google Shape;3230;p283"/>
          <p:cNvCxnSpPr>
            <a:stCxn id="3222" idx="3"/>
            <a:endCxn id="3228" idx="7"/>
          </p:cNvCxnSpPr>
          <p:nvPr/>
        </p:nvCxnSpPr>
        <p:spPr>
          <a:xfrm flipH="1">
            <a:off x="2583370" y="2972467"/>
            <a:ext cx="1587900" cy="962700"/>
          </a:xfrm>
          <a:prstGeom prst="straightConnector1">
            <a:avLst/>
          </a:prstGeom>
          <a:noFill/>
          <a:ln cap="flat" cmpd="sng" w="28575">
            <a:solidFill>
              <a:srgbClr val="595959"/>
            </a:solidFill>
            <a:prstDash val="dash"/>
            <a:round/>
            <a:headEnd len="med" w="med" type="none"/>
            <a:tailEnd len="med" w="med" type="triangle"/>
          </a:ln>
        </p:spPr>
      </p:cxnSp>
      <p:cxnSp>
        <p:nvCxnSpPr>
          <p:cNvPr id="3231" name="Google Shape;3231;p283"/>
          <p:cNvCxnSpPr>
            <a:endCxn id="3228" idx="6"/>
          </p:cNvCxnSpPr>
          <p:nvPr/>
        </p:nvCxnSpPr>
        <p:spPr>
          <a:xfrm flipH="1">
            <a:off x="2749288" y="2972500"/>
            <a:ext cx="3811500" cy="1363500"/>
          </a:xfrm>
          <a:prstGeom prst="straightConnector1">
            <a:avLst/>
          </a:prstGeom>
          <a:noFill/>
          <a:ln cap="flat" cmpd="sng" w="28575">
            <a:solidFill>
              <a:srgbClr val="595959"/>
            </a:solidFill>
            <a:prstDash val="dash"/>
            <a:round/>
            <a:headEnd len="med" w="med" type="none"/>
            <a:tailEnd len="med" w="med" type="triangle"/>
          </a:ln>
        </p:spPr>
      </p:cxnSp>
      <p:pic>
        <p:nvPicPr>
          <p:cNvPr id="3232" name="Google Shape;3232;p283"/>
          <p:cNvPicPr preferRelativeResize="0"/>
          <p:nvPr/>
        </p:nvPicPr>
        <p:blipFill>
          <a:blip r:embed="rId3">
            <a:alphaModFix/>
          </a:blip>
          <a:stretch>
            <a:fillRect/>
          </a:stretch>
        </p:blipFill>
        <p:spPr>
          <a:xfrm>
            <a:off x="1162275" y="1010337"/>
            <a:ext cx="2040648" cy="493800"/>
          </a:xfrm>
          <a:prstGeom prst="rect">
            <a:avLst/>
          </a:prstGeom>
          <a:noFill/>
          <a:ln>
            <a:noFill/>
          </a:ln>
        </p:spPr>
      </p:pic>
      <p:pic>
        <p:nvPicPr>
          <p:cNvPr id="3233" name="Google Shape;3233;p283"/>
          <p:cNvPicPr preferRelativeResize="0"/>
          <p:nvPr/>
        </p:nvPicPr>
        <p:blipFill>
          <a:blip r:embed="rId4">
            <a:alphaModFix/>
          </a:blip>
          <a:stretch>
            <a:fillRect/>
          </a:stretch>
        </p:blipFill>
        <p:spPr>
          <a:xfrm>
            <a:off x="4972775" y="4066837"/>
            <a:ext cx="2743457" cy="538325"/>
          </a:xfrm>
          <a:prstGeom prst="rect">
            <a:avLst/>
          </a:prstGeom>
          <a:noFill/>
          <a:ln>
            <a:noFill/>
          </a:ln>
        </p:spPr>
      </p:pic>
      <p:sp>
        <p:nvSpPr>
          <p:cNvPr id="3234" name="Google Shape;3234;p283"/>
          <p:cNvSpPr/>
          <p:nvPr/>
        </p:nvSpPr>
        <p:spPr>
          <a:xfrm>
            <a:off x="4005300" y="1132100"/>
            <a:ext cx="11334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 X</a:t>
            </a:r>
            <a:endParaRPr sz="1200">
              <a:latin typeface="Open Sans"/>
              <a:ea typeface="Open Sans"/>
              <a:cs typeface="Open Sans"/>
              <a:sym typeface="Open Sans"/>
            </a:endParaRPr>
          </a:p>
        </p:txBody>
      </p:sp>
      <p:sp>
        <p:nvSpPr>
          <p:cNvPr id="3235" name="Google Shape;3235;p283"/>
          <p:cNvSpPr/>
          <p:nvPr/>
        </p:nvSpPr>
        <p:spPr>
          <a:xfrm>
            <a:off x="8010262" y="2363100"/>
            <a:ext cx="1014000" cy="4173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Labels: Y</a:t>
            </a:r>
            <a:endParaRPr sz="1200">
              <a:latin typeface="Open Sans"/>
              <a:ea typeface="Open Sans"/>
              <a:cs typeface="Open Sans"/>
              <a:sym typeface="Open Sans"/>
            </a:endParaRPr>
          </a:p>
        </p:txBody>
      </p:sp>
      <p:sp>
        <p:nvSpPr>
          <p:cNvPr id="3236" name="Google Shape;3236;p283"/>
          <p:cNvSpPr/>
          <p:nvPr/>
        </p:nvSpPr>
        <p:spPr>
          <a:xfrm>
            <a:off x="341472" y="2363097"/>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 Z</a:t>
            </a:r>
            <a:endParaRPr sz="1200">
              <a:latin typeface="Open Sans"/>
              <a:ea typeface="Open Sans"/>
              <a:cs typeface="Open Sans"/>
              <a:sym typeface="Open Sans"/>
            </a:endParaRPr>
          </a:p>
        </p:txBody>
      </p:sp>
      <p:sp>
        <p:nvSpPr>
          <p:cNvPr id="3237" name="Google Shape;3237;p283"/>
          <p:cNvSpPr/>
          <p:nvPr/>
        </p:nvSpPr>
        <p:spPr>
          <a:xfrm>
            <a:off x="3521860" y="4127351"/>
            <a:ext cx="820800" cy="417300"/>
          </a:xfrm>
          <a:prstGeom prst="roundRect">
            <a:avLst>
              <a:gd fmla="val 16667" name="adj"/>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Params</a:t>
            </a:r>
            <a:endParaRPr sz="1200">
              <a:latin typeface="Roboto"/>
              <a:ea typeface="Roboto"/>
              <a:cs typeface="Roboto"/>
              <a:sym typeface="Roboto"/>
            </a:endParaRPr>
          </a:p>
        </p:txBody>
      </p:sp>
      <p:sp>
        <p:nvSpPr>
          <p:cNvPr id="3238" name="Google Shape;3238;p283"/>
          <p:cNvSpPr/>
          <p:nvPr/>
        </p:nvSpPr>
        <p:spPr>
          <a:xfrm>
            <a:off x="7732176" y="522726"/>
            <a:ext cx="820800" cy="417300"/>
          </a:xfrm>
          <a:prstGeom prst="roundRect">
            <a:avLst>
              <a:gd fmla="val 16667" name="adj"/>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Universe</a:t>
            </a:r>
            <a:endParaRPr sz="1200">
              <a:latin typeface="Roboto"/>
              <a:ea typeface="Roboto"/>
              <a:cs typeface="Roboto"/>
              <a:sym typeface="Roboto"/>
            </a:endParaRPr>
          </a:p>
        </p:txBody>
      </p:sp>
      <p:pic>
        <p:nvPicPr>
          <p:cNvPr id="3239" name="Google Shape;3239;p283"/>
          <p:cNvPicPr preferRelativeResize="0"/>
          <p:nvPr/>
        </p:nvPicPr>
        <p:blipFill rotWithShape="1">
          <a:blip r:embed="rId5">
            <a:alphaModFix/>
          </a:blip>
          <a:srcRect b="10466" l="9327" r="4711" t="0"/>
          <a:stretch/>
        </p:blipFill>
        <p:spPr>
          <a:xfrm>
            <a:off x="1772200" y="2279701"/>
            <a:ext cx="820800" cy="584098"/>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3" name="Shape 3243"/>
        <p:cNvGrpSpPr/>
        <p:nvPr/>
      </p:nvGrpSpPr>
      <p:grpSpPr>
        <a:xfrm>
          <a:off x="0" y="0"/>
          <a:ext cx="0" cy="0"/>
          <a:chOff x="0" y="0"/>
          <a:chExt cx="0" cy="0"/>
        </a:xfrm>
      </p:grpSpPr>
      <p:sp>
        <p:nvSpPr>
          <p:cNvPr id="3244" name="Google Shape;3244;p284"/>
          <p:cNvSpPr txBox="1"/>
          <p:nvPr>
            <p:ph idx="2" type="title"/>
          </p:nvPr>
        </p:nvSpPr>
        <p:spPr>
          <a:xfrm>
            <a:off x="417675" y="341875"/>
            <a:ext cx="3502800" cy="4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World P</a:t>
            </a:r>
            <a:endParaRPr sz="3000"/>
          </a:p>
          <a:p>
            <a:pPr indent="0" lvl="0" marL="0" rtl="0" algn="l">
              <a:spcBef>
                <a:spcPts val="0"/>
              </a:spcBef>
              <a:spcAft>
                <a:spcPts val="0"/>
              </a:spcAft>
              <a:buNone/>
            </a:pPr>
            <a:r>
              <a:rPr b="0" lang="en" sz="2400"/>
              <a:t>world we have</a:t>
            </a:r>
            <a:endParaRPr b="0" sz="2400"/>
          </a:p>
        </p:txBody>
      </p:sp>
      <p:sp>
        <p:nvSpPr>
          <p:cNvPr id="3245" name="Google Shape;3245;p284"/>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246" name="Google Shape;3246;p284"/>
          <p:cNvSpPr/>
          <p:nvPr/>
        </p:nvSpPr>
        <p:spPr>
          <a:xfrm>
            <a:off x="195938" y="226621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3247" name="Google Shape;3247;p284"/>
          <p:cNvSpPr/>
          <p:nvPr/>
        </p:nvSpPr>
        <p:spPr>
          <a:xfrm>
            <a:off x="413115" y="246915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3248" name="Google Shape;3248;p284"/>
          <p:cNvSpPr/>
          <p:nvPr/>
        </p:nvSpPr>
        <p:spPr>
          <a:xfrm>
            <a:off x="3385723" y="246915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sp>
        <p:nvSpPr>
          <p:cNvPr id="3249" name="Google Shape;3249;p284"/>
          <p:cNvSpPr/>
          <p:nvPr/>
        </p:nvSpPr>
        <p:spPr>
          <a:xfrm>
            <a:off x="1899419" y="246915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3250" name="Google Shape;3250;p284"/>
          <p:cNvCxnSpPr>
            <a:stCxn id="3249" idx="2"/>
            <a:endCxn id="3247" idx="6"/>
          </p:cNvCxnSpPr>
          <p:nvPr/>
        </p:nvCxnSpPr>
        <p:spPr>
          <a:xfrm rot="10800000">
            <a:off x="1118219" y="282165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251" name="Google Shape;3251;p284"/>
          <p:cNvCxnSpPr>
            <a:stCxn id="3249" idx="6"/>
            <a:endCxn id="3248" idx="2"/>
          </p:cNvCxnSpPr>
          <p:nvPr/>
        </p:nvCxnSpPr>
        <p:spPr>
          <a:xfrm>
            <a:off x="2604419" y="2821653"/>
            <a:ext cx="781200" cy="0"/>
          </a:xfrm>
          <a:prstGeom prst="straightConnector1">
            <a:avLst/>
          </a:prstGeom>
          <a:noFill/>
          <a:ln cap="flat" cmpd="sng" w="28575">
            <a:solidFill>
              <a:srgbClr val="595959"/>
            </a:solidFill>
            <a:prstDash val="solid"/>
            <a:round/>
            <a:headEnd len="med" w="med" type="none"/>
            <a:tailEnd len="med" w="med" type="triangle"/>
          </a:ln>
        </p:spPr>
      </p:cxnSp>
      <p:sp>
        <p:nvSpPr>
          <p:cNvPr id="3252" name="Google Shape;3252;p284"/>
          <p:cNvSpPr/>
          <p:nvPr/>
        </p:nvSpPr>
        <p:spPr>
          <a:xfrm>
            <a:off x="3385723" y="1324363"/>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cxnSp>
        <p:nvCxnSpPr>
          <p:cNvPr id="3253" name="Google Shape;3253;p284"/>
          <p:cNvCxnSpPr>
            <a:stCxn id="3252" idx="4"/>
            <a:endCxn id="3248" idx="0"/>
          </p:cNvCxnSpPr>
          <p:nvPr/>
        </p:nvCxnSpPr>
        <p:spPr>
          <a:xfrm>
            <a:off x="3738223" y="2029363"/>
            <a:ext cx="0" cy="439800"/>
          </a:xfrm>
          <a:prstGeom prst="straightConnector1">
            <a:avLst/>
          </a:prstGeom>
          <a:noFill/>
          <a:ln cap="flat" cmpd="sng" w="28575">
            <a:solidFill>
              <a:srgbClr val="595959"/>
            </a:solidFill>
            <a:prstDash val="solid"/>
            <a:round/>
            <a:headEnd len="med" w="med" type="none"/>
            <a:tailEnd len="med" w="med" type="triangle"/>
          </a:ln>
        </p:spPr>
      </p:cxnSp>
      <p:cxnSp>
        <p:nvCxnSpPr>
          <p:cNvPr id="3254" name="Google Shape;3254;p284"/>
          <p:cNvCxnSpPr>
            <a:stCxn id="3252" idx="3"/>
            <a:endCxn id="3249" idx="7"/>
          </p:cNvCxnSpPr>
          <p:nvPr/>
        </p:nvCxnSpPr>
        <p:spPr>
          <a:xfrm flipH="1">
            <a:off x="2501068" y="1926118"/>
            <a:ext cx="987900" cy="646200"/>
          </a:xfrm>
          <a:prstGeom prst="straightConnector1">
            <a:avLst/>
          </a:prstGeom>
          <a:noFill/>
          <a:ln cap="flat" cmpd="sng" w="28575">
            <a:solidFill>
              <a:srgbClr val="595959"/>
            </a:solidFill>
            <a:prstDash val="solid"/>
            <a:round/>
            <a:headEnd len="med" w="med" type="none"/>
            <a:tailEnd len="med" w="med" type="triangle"/>
          </a:ln>
        </p:spPr>
      </p:cxnSp>
      <p:sp>
        <p:nvSpPr>
          <p:cNvPr id="3255" name="Google Shape;3255;p284"/>
          <p:cNvSpPr/>
          <p:nvPr/>
        </p:nvSpPr>
        <p:spPr>
          <a:xfrm>
            <a:off x="413050" y="356643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cxnSp>
        <p:nvCxnSpPr>
          <p:cNvPr id="3256" name="Google Shape;3256;p284"/>
          <p:cNvCxnSpPr>
            <a:stCxn id="3255" idx="0"/>
            <a:endCxn id="3247" idx="4"/>
          </p:cNvCxnSpPr>
          <p:nvPr/>
        </p:nvCxnSpPr>
        <p:spPr>
          <a:xfrm rot="10800000">
            <a:off x="765550" y="3174032"/>
            <a:ext cx="0" cy="392400"/>
          </a:xfrm>
          <a:prstGeom prst="straightConnector1">
            <a:avLst/>
          </a:prstGeom>
          <a:noFill/>
          <a:ln cap="flat" cmpd="sng" w="28575">
            <a:solidFill>
              <a:srgbClr val="595959"/>
            </a:solidFill>
            <a:prstDash val="solid"/>
            <a:round/>
            <a:headEnd len="med" w="med" type="none"/>
            <a:tailEnd len="med" w="med" type="triangle"/>
          </a:ln>
        </p:spPr>
      </p:cxnSp>
      <p:cxnSp>
        <p:nvCxnSpPr>
          <p:cNvPr id="3257" name="Google Shape;3257;p284"/>
          <p:cNvCxnSpPr>
            <a:stCxn id="3249" idx="3"/>
            <a:endCxn id="3255" idx="7"/>
          </p:cNvCxnSpPr>
          <p:nvPr/>
        </p:nvCxnSpPr>
        <p:spPr>
          <a:xfrm flipH="1">
            <a:off x="1014764" y="3070908"/>
            <a:ext cx="987900" cy="598800"/>
          </a:xfrm>
          <a:prstGeom prst="straightConnector1">
            <a:avLst/>
          </a:prstGeom>
          <a:noFill/>
          <a:ln cap="flat" cmpd="sng" w="28575">
            <a:solidFill>
              <a:srgbClr val="595959"/>
            </a:solidFill>
            <a:prstDash val="dash"/>
            <a:round/>
            <a:headEnd len="med" w="med" type="none"/>
            <a:tailEnd len="med" w="med" type="triangle"/>
          </a:ln>
        </p:spPr>
      </p:cxnSp>
      <p:cxnSp>
        <p:nvCxnSpPr>
          <p:cNvPr id="3258" name="Google Shape;3258;p284"/>
          <p:cNvCxnSpPr>
            <a:endCxn id="3255" idx="6"/>
          </p:cNvCxnSpPr>
          <p:nvPr/>
        </p:nvCxnSpPr>
        <p:spPr>
          <a:xfrm flipH="1">
            <a:off x="1118050" y="3071132"/>
            <a:ext cx="2370900" cy="847800"/>
          </a:xfrm>
          <a:prstGeom prst="straightConnector1">
            <a:avLst/>
          </a:prstGeom>
          <a:noFill/>
          <a:ln cap="flat" cmpd="sng" w="28575">
            <a:solidFill>
              <a:srgbClr val="595959"/>
            </a:solidFill>
            <a:prstDash val="dash"/>
            <a:round/>
            <a:headEnd len="med" w="med" type="none"/>
            <a:tailEnd len="med" w="med" type="triangle"/>
          </a:ln>
        </p:spPr>
      </p:cxnSp>
      <p:pic>
        <p:nvPicPr>
          <p:cNvPr id="3259" name="Google Shape;3259;p284"/>
          <p:cNvPicPr preferRelativeResize="0"/>
          <p:nvPr/>
        </p:nvPicPr>
        <p:blipFill>
          <a:blip r:embed="rId3">
            <a:alphaModFix/>
          </a:blip>
          <a:stretch>
            <a:fillRect/>
          </a:stretch>
        </p:blipFill>
        <p:spPr>
          <a:xfrm>
            <a:off x="874050" y="1799850"/>
            <a:ext cx="1269366" cy="307164"/>
          </a:xfrm>
          <a:prstGeom prst="rect">
            <a:avLst/>
          </a:prstGeom>
          <a:noFill/>
          <a:ln>
            <a:noFill/>
          </a:ln>
        </p:spPr>
      </p:pic>
      <p:pic>
        <p:nvPicPr>
          <p:cNvPr id="3260" name="Google Shape;3260;p284"/>
          <p:cNvPicPr preferRelativeResize="0"/>
          <p:nvPr/>
        </p:nvPicPr>
        <p:blipFill>
          <a:blip r:embed="rId4">
            <a:alphaModFix/>
          </a:blip>
          <a:stretch>
            <a:fillRect/>
          </a:stretch>
        </p:blipFill>
        <p:spPr>
          <a:xfrm>
            <a:off x="1605533" y="3751482"/>
            <a:ext cx="1706542" cy="334861"/>
          </a:xfrm>
          <a:prstGeom prst="rect">
            <a:avLst/>
          </a:prstGeom>
          <a:noFill/>
          <a:ln>
            <a:noFill/>
          </a:ln>
        </p:spPr>
      </p:pic>
      <p:sp>
        <p:nvSpPr>
          <p:cNvPr id="3261" name="Google Shape;3261;p284"/>
          <p:cNvSpPr txBox="1"/>
          <p:nvPr>
            <p:ph idx="2" type="title"/>
          </p:nvPr>
        </p:nvSpPr>
        <p:spPr>
          <a:xfrm>
            <a:off x="4880100" y="341875"/>
            <a:ext cx="3502800" cy="4938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3000"/>
              <a:t>World Q</a:t>
            </a:r>
            <a:endParaRPr sz="3000"/>
          </a:p>
          <a:p>
            <a:pPr indent="0" lvl="0" marL="0" rtl="0" algn="r">
              <a:spcBef>
                <a:spcPts val="0"/>
              </a:spcBef>
              <a:spcAft>
                <a:spcPts val="0"/>
              </a:spcAft>
              <a:buNone/>
            </a:pPr>
            <a:r>
              <a:rPr b="0" lang="en" sz="2400"/>
              <a:t>world we want</a:t>
            </a:r>
            <a:endParaRPr b="0" sz="2400"/>
          </a:p>
        </p:txBody>
      </p:sp>
      <p:sp>
        <p:nvSpPr>
          <p:cNvPr id="3262" name="Google Shape;3262;p284"/>
          <p:cNvSpPr/>
          <p:nvPr/>
        </p:nvSpPr>
        <p:spPr>
          <a:xfrm>
            <a:off x="4872025" y="2289999"/>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rPr lang="en">
                <a:latin typeface="Roboto"/>
                <a:ea typeface="Roboto"/>
                <a:cs typeface="Roboto"/>
                <a:sym typeface="Roboto"/>
              </a:rPr>
              <a:t>N</a:t>
            </a:r>
            <a:endParaRPr>
              <a:latin typeface="Roboto"/>
              <a:ea typeface="Roboto"/>
              <a:cs typeface="Roboto"/>
              <a:sym typeface="Roboto"/>
            </a:endParaRPr>
          </a:p>
        </p:txBody>
      </p:sp>
      <p:sp>
        <p:nvSpPr>
          <p:cNvPr id="3263" name="Google Shape;3263;p284"/>
          <p:cNvSpPr/>
          <p:nvPr/>
        </p:nvSpPr>
        <p:spPr>
          <a:xfrm>
            <a:off x="6575565" y="2492940"/>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3264" name="Google Shape;3264;p284"/>
          <p:cNvSpPr/>
          <p:nvPr/>
        </p:nvSpPr>
        <p:spPr>
          <a:xfrm>
            <a:off x="8061810" y="2492940"/>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chemeClr val="dk1"/>
                </a:solidFill>
                <a:latin typeface="Roboto"/>
                <a:ea typeface="Roboto"/>
                <a:cs typeface="Roboto"/>
                <a:sym typeface="Roboto"/>
              </a:rPr>
              <a:t>"turtle"</a:t>
            </a:r>
            <a:endParaRPr sz="2400">
              <a:latin typeface="Roboto"/>
              <a:ea typeface="Roboto"/>
              <a:cs typeface="Roboto"/>
              <a:sym typeface="Roboto"/>
            </a:endParaRPr>
          </a:p>
        </p:txBody>
      </p:sp>
      <p:sp>
        <p:nvSpPr>
          <p:cNvPr id="3265" name="Google Shape;3265;p284"/>
          <p:cNvSpPr/>
          <p:nvPr/>
        </p:nvSpPr>
        <p:spPr>
          <a:xfrm>
            <a:off x="5089307" y="2492940"/>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3266" name="Google Shape;3266;p284"/>
          <p:cNvSpPr/>
          <p:nvPr/>
        </p:nvSpPr>
        <p:spPr>
          <a:xfrm>
            <a:off x="8061810" y="1348150"/>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sp>
        <p:nvSpPr>
          <p:cNvPr id="3267" name="Google Shape;3267;p284"/>
          <p:cNvSpPr/>
          <p:nvPr/>
        </p:nvSpPr>
        <p:spPr>
          <a:xfrm>
            <a:off x="5089137" y="3590220"/>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cxnSp>
        <p:nvCxnSpPr>
          <p:cNvPr id="3268" name="Google Shape;3268;p284"/>
          <p:cNvCxnSpPr>
            <a:stCxn id="3263" idx="6"/>
            <a:endCxn id="3264" idx="2"/>
          </p:cNvCxnSpPr>
          <p:nvPr/>
        </p:nvCxnSpPr>
        <p:spPr>
          <a:xfrm>
            <a:off x="7280565" y="2845440"/>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269" name="Google Shape;3269;p284"/>
          <p:cNvCxnSpPr>
            <a:stCxn id="3263" idx="2"/>
            <a:endCxn id="3265" idx="6"/>
          </p:cNvCxnSpPr>
          <p:nvPr/>
        </p:nvCxnSpPr>
        <p:spPr>
          <a:xfrm rot="10800000">
            <a:off x="5794365" y="2845440"/>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270" name="Google Shape;3270;p284"/>
          <p:cNvCxnSpPr/>
          <p:nvPr/>
        </p:nvCxnSpPr>
        <p:spPr>
          <a:xfrm>
            <a:off x="4594850" y="194300"/>
            <a:ext cx="0" cy="4812000"/>
          </a:xfrm>
          <a:prstGeom prst="straightConnector1">
            <a:avLst/>
          </a:prstGeom>
          <a:noFill/>
          <a:ln cap="flat" cmpd="sng" w="38100">
            <a:solidFill>
              <a:srgbClr val="9E9E9E"/>
            </a:solidFill>
            <a:prstDash val="solid"/>
            <a:round/>
            <a:headEnd len="med" w="med" type="none"/>
            <a:tailEnd len="med" w="med" type="none"/>
          </a:ln>
        </p:spPr>
      </p:cxnSp>
      <p:sp>
        <p:nvSpPr>
          <p:cNvPr id="3271" name="Google Shape;3271;p284"/>
          <p:cNvSpPr/>
          <p:nvPr/>
        </p:nvSpPr>
        <p:spPr>
          <a:xfrm>
            <a:off x="5031398" y="1744784"/>
            <a:ext cx="820800" cy="417300"/>
          </a:xfrm>
          <a:prstGeom prst="roundRect">
            <a:avLst>
              <a:gd fmla="val 16667" name="adj"/>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Images</a:t>
            </a:r>
            <a:endParaRPr sz="1200">
              <a:latin typeface="Open Sans"/>
              <a:ea typeface="Open Sans"/>
              <a:cs typeface="Open Sans"/>
              <a:sym typeface="Open Sans"/>
            </a:endParaRPr>
          </a:p>
        </p:txBody>
      </p:sp>
      <p:sp>
        <p:nvSpPr>
          <p:cNvPr id="3272" name="Google Shape;3272;p284"/>
          <p:cNvSpPr/>
          <p:nvPr/>
        </p:nvSpPr>
        <p:spPr>
          <a:xfrm>
            <a:off x="8003896" y="3601259"/>
            <a:ext cx="820800" cy="417300"/>
          </a:xfrm>
          <a:prstGeom prst="roundRect">
            <a:avLst>
              <a:gd fmla="val 16667" name="adj"/>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Labels</a:t>
            </a:r>
            <a:endParaRPr sz="1200">
              <a:latin typeface="Open Sans"/>
              <a:ea typeface="Open Sans"/>
              <a:cs typeface="Open Sans"/>
              <a:sym typeface="Open Sans"/>
            </a:endParaRPr>
          </a:p>
        </p:txBody>
      </p:sp>
      <p:sp>
        <p:nvSpPr>
          <p:cNvPr id="3273" name="Google Shape;3273;p284"/>
          <p:cNvSpPr/>
          <p:nvPr/>
        </p:nvSpPr>
        <p:spPr>
          <a:xfrm>
            <a:off x="6517672" y="3601247"/>
            <a:ext cx="820800" cy="417300"/>
          </a:xfrm>
          <a:prstGeom prst="roundRect">
            <a:avLst>
              <a:gd fmla="val 16667" name="adj"/>
            </a:avLst>
          </a:prstGeom>
          <a:solidFill>
            <a:srgbClr val="CEEAD6"/>
          </a:solidFill>
          <a:ln cap="flat" cmpd="sng" w="28575">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Open Sans"/>
                <a:ea typeface="Open Sans"/>
                <a:cs typeface="Open Sans"/>
                <a:sym typeface="Open Sans"/>
              </a:rPr>
              <a:t>Rep</a:t>
            </a:r>
            <a:endParaRPr sz="1200">
              <a:latin typeface="Open Sans"/>
              <a:ea typeface="Open Sans"/>
              <a:cs typeface="Open Sans"/>
              <a:sym typeface="Open Sans"/>
            </a:endParaRPr>
          </a:p>
        </p:txBody>
      </p:sp>
      <p:sp>
        <p:nvSpPr>
          <p:cNvPr id="3274" name="Google Shape;3274;p284"/>
          <p:cNvSpPr/>
          <p:nvPr/>
        </p:nvSpPr>
        <p:spPr>
          <a:xfrm>
            <a:off x="5031222" y="4543801"/>
            <a:ext cx="820800" cy="417300"/>
          </a:xfrm>
          <a:prstGeom prst="roundRect">
            <a:avLst>
              <a:gd fmla="val 16667" name="adj"/>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Params</a:t>
            </a:r>
            <a:endParaRPr sz="1200">
              <a:latin typeface="Roboto"/>
              <a:ea typeface="Roboto"/>
              <a:cs typeface="Roboto"/>
              <a:sym typeface="Roboto"/>
            </a:endParaRPr>
          </a:p>
        </p:txBody>
      </p:sp>
      <p:sp>
        <p:nvSpPr>
          <p:cNvPr id="3275" name="Google Shape;3275;p284"/>
          <p:cNvSpPr/>
          <p:nvPr/>
        </p:nvSpPr>
        <p:spPr>
          <a:xfrm>
            <a:off x="6974101" y="1382551"/>
            <a:ext cx="820800" cy="417300"/>
          </a:xfrm>
          <a:prstGeom prst="roundRect">
            <a:avLst>
              <a:gd fmla="val 16667" name="adj"/>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Universe</a:t>
            </a:r>
            <a:endParaRPr sz="1200">
              <a:latin typeface="Roboto"/>
              <a:ea typeface="Roboto"/>
              <a:cs typeface="Roboto"/>
              <a:sym typeface="Roboto"/>
            </a:endParaRPr>
          </a:p>
        </p:txBody>
      </p:sp>
      <p:pic>
        <p:nvPicPr>
          <p:cNvPr id="3276" name="Google Shape;3276;p284"/>
          <p:cNvPicPr preferRelativeResize="0"/>
          <p:nvPr/>
        </p:nvPicPr>
        <p:blipFill rotWithShape="1">
          <a:blip r:embed="rId5">
            <a:alphaModFix/>
          </a:blip>
          <a:srcRect b="10466" l="9327" r="4711" t="0"/>
          <a:stretch/>
        </p:blipFill>
        <p:spPr>
          <a:xfrm>
            <a:off x="489842" y="2625450"/>
            <a:ext cx="551416" cy="392401"/>
          </a:xfrm>
          <a:prstGeom prst="rect">
            <a:avLst/>
          </a:prstGeom>
          <a:noFill/>
          <a:ln>
            <a:noFill/>
          </a:ln>
        </p:spPr>
      </p:pic>
      <p:pic>
        <p:nvPicPr>
          <p:cNvPr id="3277" name="Google Shape;3277;p284"/>
          <p:cNvPicPr preferRelativeResize="0"/>
          <p:nvPr/>
        </p:nvPicPr>
        <p:blipFill rotWithShape="1">
          <a:blip r:embed="rId5">
            <a:alphaModFix/>
          </a:blip>
          <a:srcRect b="10466" l="9327" r="4711" t="0"/>
          <a:stretch/>
        </p:blipFill>
        <p:spPr>
          <a:xfrm>
            <a:off x="6652367" y="2649250"/>
            <a:ext cx="551416" cy="392401"/>
          </a:xfrm>
          <a:prstGeom prst="rect">
            <a:avLst/>
          </a:prstGeom>
          <a:noFill/>
          <a:ln>
            <a:noFill/>
          </a:ln>
        </p:spPr>
      </p:pic>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1" name="Shape 3281"/>
        <p:cNvGrpSpPr/>
        <p:nvPr/>
      </p:nvGrpSpPr>
      <p:grpSpPr>
        <a:xfrm>
          <a:off x="0" y="0"/>
          <a:ext cx="0" cy="0"/>
          <a:chOff x="0" y="0"/>
          <a:chExt cx="0" cy="0"/>
        </a:xfrm>
      </p:grpSpPr>
      <p:sp>
        <p:nvSpPr>
          <p:cNvPr id="3282" name="Google Shape;3282;p285"/>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283" name="Google Shape;3283;p28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Functionals</a:t>
            </a:r>
            <a:endParaRPr b="1" sz="3000">
              <a:solidFill>
                <a:srgbClr val="000000"/>
              </a:solidFill>
              <a:latin typeface="Google Sans"/>
              <a:ea typeface="Google Sans"/>
              <a:cs typeface="Google Sans"/>
              <a:sym typeface="Google Sans"/>
            </a:endParaRPr>
          </a:p>
        </p:txBody>
      </p:sp>
      <p:grpSp>
        <p:nvGrpSpPr>
          <p:cNvPr id="3284" name="Google Shape;3284;p285"/>
          <p:cNvGrpSpPr/>
          <p:nvPr/>
        </p:nvGrpSpPr>
        <p:grpSpPr>
          <a:xfrm>
            <a:off x="4693375" y="1444425"/>
            <a:ext cx="4393800" cy="1385700"/>
            <a:chOff x="130950" y="1444425"/>
            <a:chExt cx="4393800" cy="1385700"/>
          </a:xfrm>
        </p:grpSpPr>
        <p:sp>
          <p:nvSpPr>
            <p:cNvPr id="3285" name="Google Shape;3285;p285"/>
            <p:cNvSpPr/>
            <p:nvPr/>
          </p:nvSpPr>
          <p:spPr>
            <a:xfrm>
              <a:off x="130950" y="1444425"/>
              <a:ext cx="4393800" cy="13857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6" name="Google Shape;3286;p285"/>
            <p:cNvPicPr preferRelativeResize="0"/>
            <p:nvPr/>
          </p:nvPicPr>
          <p:blipFill>
            <a:blip r:embed="rId3">
              <a:alphaModFix/>
            </a:blip>
            <a:stretch>
              <a:fillRect/>
            </a:stretch>
          </p:blipFill>
          <p:spPr>
            <a:xfrm>
              <a:off x="160913" y="1606975"/>
              <a:ext cx="4333875" cy="1038225"/>
            </a:xfrm>
            <a:prstGeom prst="rect">
              <a:avLst/>
            </a:prstGeom>
            <a:noFill/>
            <a:ln>
              <a:noFill/>
            </a:ln>
          </p:spPr>
        </p:pic>
      </p:grpSp>
      <p:grpSp>
        <p:nvGrpSpPr>
          <p:cNvPr id="3287" name="Google Shape;3287;p285"/>
          <p:cNvGrpSpPr/>
          <p:nvPr/>
        </p:nvGrpSpPr>
        <p:grpSpPr>
          <a:xfrm>
            <a:off x="4693363" y="2998075"/>
            <a:ext cx="4393800" cy="1385700"/>
            <a:chOff x="130938" y="3009800"/>
            <a:chExt cx="4393800" cy="1385700"/>
          </a:xfrm>
        </p:grpSpPr>
        <p:sp>
          <p:nvSpPr>
            <p:cNvPr id="3288" name="Google Shape;3288;p285"/>
            <p:cNvSpPr/>
            <p:nvPr/>
          </p:nvSpPr>
          <p:spPr>
            <a:xfrm>
              <a:off x="130938" y="3009800"/>
              <a:ext cx="4393800" cy="13857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89" name="Google Shape;3289;p285"/>
            <p:cNvPicPr preferRelativeResize="0"/>
            <p:nvPr/>
          </p:nvPicPr>
          <p:blipFill>
            <a:blip r:embed="rId4">
              <a:alphaModFix/>
            </a:blip>
            <a:stretch>
              <a:fillRect/>
            </a:stretch>
          </p:blipFill>
          <p:spPr>
            <a:xfrm>
              <a:off x="365688" y="3354988"/>
              <a:ext cx="3924300" cy="847725"/>
            </a:xfrm>
            <a:prstGeom prst="rect">
              <a:avLst/>
            </a:prstGeom>
            <a:noFill/>
            <a:ln>
              <a:noFill/>
            </a:ln>
          </p:spPr>
        </p:pic>
      </p:grpSp>
      <p:grpSp>
        <p:nvGrpSpPr>
          <p:cNvPr id="3290" name="Google Shape;3290;p285"/>
          <p:cNvGrpSpPr/>
          <p:nvPr/>
        </p:nvGrpSpPr>
        <p:grpSpPr>
          <a:xfrm>
            <a:off x="130938" y="2998075"/>
            <a:ext cx="4393800" cy="1385700"/>
            <a:chOff x="4693363" y="1444425"/>
            <a:chExt cx="4393800" cy="1385700"/>
          </a:xfrm>
        </p:grpSpPr>
        <p:sp>
          <p:nvSpPr>
            <p:cNvPr id="3291" name="Google Shape;3291;p285"/>
            <p:cNvSpPr/>
            <p:nvPr/>
          </p:nvSpPr>
          <p:spPr>
            <a:xfrm>
              <a:off x="4693363" y="1444425"/>
              <a:ext cx="4393800" cy="13857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2" name="Google Shape;3292;p285"/>
            <p:cNvPicPr preferRelativeResize="0"/>
            <p:nvPr/>
          </p:nvPicPr>
          <p:blipFill>
            <a:blip r:embed="rId5">
              <a:alphaModFix/>
            </a:blip>
            <a:stretch>
              <a:fillRect/>
            </a:stretch>
          </p:blipFill>
          <p:spPr>
            <a:xfrm>
              <a:off x="4894788" y="1789613"/>
              <a:ext cx="3990975" cy="847725"/>
            </a:xfrm>
            <a:prstGeom prst="rect">
              <a:avLst/>
            </a:prstGeom>
            <a:noFill/>
            <a:ln>
              <a:noFill/>
            </a:ln>
          </p:spPr>
        </p:pic>
      </p:grpSp>
      <p:grpSp>
        <p:nvGrpSpPr>
          <p:cNvPr id="3293" name="Google Shape;3293;p285"/>
          <p:cNvGrpSpPr/>
          <p:nvPr/>
        </p:nvGrpSpPr>
        <p:grpSpPr>
          <a:xfrm>
            <a:off x="130938" y="1444413"/>
            <a:ext cx="4393800" cy="1385700"/>
            <a:chOff x="4693363" y="3032863"/>
            <a:chExt cx="4393800" cy="1385700"/>
          </a:xfrm>
        </p:grpSpPr>
        <p:sp>
          <p:nvSpPr>
            <p:cNvPr id="3294" name="Google Shape;3294;p285"/>
            <p:cNvSpPr/>
            <p:nvPr/>
          </p:nvSpPr>
          <p:spPr>
            <a:xfrm>
              <a:off x="4693363" y="3032863"/>
              <a:ext cx="4393800" cy="13857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5" name="Google Shape;3295;p285"/>
            <p:cNvPicPr preferRelativeResize="0"/>
            <p:nvPr/>
          </p:nvPicPr>
          <p:blipFill>
            <a:blip r:embed="rId6">
              <a:alphaModFix/>
            </a:blip>
            <a:stretch>
              <a:fillRect/>
            </a:stretch>
          </p:blipFill>
          <p:spPr>
            <a:xfrm>
              <a:off x="4875738" y="3191513"/>
              <a:ext cx="4029075" cy="952500"/>
            </a:xfrm>
            <a:prstGeom prst="rect">
              <a:avLst/>
            </a:prstGeom>
            <a:noFill/>
            <a:ln>
              <a:noFill/>
            </a:ln>
          </p:spPr>
        </p:pic>
      </p:gr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9" name="Shape 3299"/>
        <p:cNvGrpSpPr/>
        <p:nvPr/>
      </p:nvGrpSpPr>
      <p:grpSpPr>
        <a:xfrm>
          <a:off x="0" y="0"/>
          <a:ext cx="0" cy="0"/>
          <a:chOff x="0" y="0"/>
          <a:chExt cx="0" cy="0"/>
        </a:xfrm>
      </p:grpSpPr>
      <p:sp>
        <p:nvSpPr>
          <p:cNvPr id="3300" name="Google Shape;3300;p286"/>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301" name="Google Shape;3301;p286"/>
          <p:cNvSpPr txBox="1"/>
          <p:nvPr/>
        </p:nvSpPr>
        <p:spPr>
          <a:xfrm>
            <a:off x="311700" y="1152475"/>
            <a:ext cx="3933900" cy="29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800">
                <a:solidFill>
                  <a:schemeClr val="dk2"/>
                </a:solidFill>
                <a:latin typeface="Open Sans"/>
                <a:ea typeface="Open Sans"/>
                <a:cs typeface="Open Sans"/>
                <a:sym typeface="Open Sans"/>
              </a:rPr>
              <a:t>The </a:t>
            </a:r>
            <a:r>
              <a:rPr i="1" lang="en" sz="1800">
                <a:solidFill>
                  <a:schemeClr val="dk2"/>
                </a:solidFill>
                <a:latin typeface="Open Sans"/>
                <a:ea typeface="Open Sans"/>
                <a:cs typeface="Open Sans"/>
                <a:sym typeface="Open Sans"/>
              </a:rPr>
              <a:t>entropy</a:t>
            </a:r>
            <a:r>
              <a:rPr lang="en" sz="1800">
                <a:solidFill>
                  <a:schemeClr val="dk2"/>
                </a:solidFill>
                <a:latin typeface="Open Sans"/>
                <a:ea typeface="Open Sans"/>
                <a:cs typeface="Open Sans"/>
                <a:sym typeface="Open Sans"/>
              </a:rPr>
              <a:t> is the relative entropy between our posterior over parameters and our </a:t>
            </a:r>
            <a:r>
              <a:rPr i="1" lang="en" sz="1800">
                <a:solidFill>
                  <a:schemeClr val="dk2"/>
                </a:solidFill>
                <a:latin typeface="Open Sans"/>
                <a:ea typeface="Open Sans"/>
                <a:cs typeface="Open Sans"/>
                <a:sym typeface="Open Sans"/>
              </a:rPr>
              <a:t>prior</a:t>
            </a:r>
            <a:r>
              <a:rPr lang="en" sz="1800">
                <a:solidFill>
                  <a:schemeClr val="dk2"/>
                </a:solidFill>
                <a:latin typeface="Open Sans"/>
                <a:ea typeface="Open Sans"/>
                <a:cs typeface="Open Sans"/>
                <a:sym typeface="Open Sans"/>
              </a:rPr>
              <a:t>.</a:t>
            </a:r>
            <a:endParaRPr sz="1800">
              <a:solidFill>
                <a:srgbClr val="595959"/>
              </a:solidFill>
              <a:latin typeface="Open Sans"/>
              <a:ea typeface="Open Sans"/>
              <a:cs typeface="Open Sans"/>
              <a:sym typeface="Open Sans"/>
            </a:endParaRPr>
          </a:p>
        </p:txBody>
      </p:sp>
      <p:sp>
        <p:nvSpPr>
          <p:cNvPr id="3302" name="Google Shape;3302;p286"/>
          <p:cNvSpPr/>
          <p:nvPr/>
        </p:nvSpPr>
        <p:spPr>
          <a:xfrm>
            <a:off x="4725738" y="220906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t/>
            </a:r>
            <a:endParaRPr>
              <a:latin typeface="Roboto"/>
              <a:ea typeface="Roboto"/>
              <a:cs typeface="Roboto"/>
              <a:sym typeface="Roboto"/>
            </a:endParaRPr>
          </a:p>
        </p:txBody>
      </p:sp>
      <p:cxnSp>
        <p:nvCxnSpPr>
          <p:cNvPr id="3303" name="Google Shape;3303;p286"/>
          <p:cNvCxnSpPr>
            <a:stCxn id="3304" idx="2"/>
            <a:endCxn id="3305" idx="6"/>
          </p:cNvCxnSpPr>
          <p:nvPr/>
        </p:nvCxnSpPr>
        <p:spPr>
          <a:xfrm rot="10800000">
            <a:off x="5648019" y="276450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306" name="Google Shape;3306;p286"/>
          <p:cNvCxnSpPr>
            <a:stCxn id="3304" idx="6"/>
            <a:endCxn id="3307" idx="2"/>
          </p:cNvCxnSpPr>
          <p:nvPr/>
        </p:nvCxnSpPr>
        <p:spPr>
          <a:xfrm>
            <a:off x="7134219" y="2764503"/>
            <a:ext cx="781200" cy="0"/>
          </a:xfrm>
          <a:prstGeom prst="straightConnector1">
            <a:avLst/>
          </a:prstGeom>
          <a:noFill/>
          <a:ln cap="flat" cmpd="sng" w="28575">
            <a:solidFill>
              <a:srgbClr val="595959"/>
            </a:solidFill>
            <a:prstDash val="solid"/>
            <a:round/>
            <a:headEnd len="med" w="med" type="none"/>
            <a:tailEnd len="med" w="med" type="triangle"/>
          </a:ln>
        </p:spPr>
      </p:cxnSp>
      <p:sp>
        <p:nvSpPr>
          <p:cNvPr id="3308" name="Google Shape;3308;p286"/>
          <p:cNvSpPr/>
          <p:nvPr/>
        </p:nvSpPr>
        <p:spPr>
          <a:xfrm>
            <a:off x="7915523" y="1267213"/>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cxnSp>
        <p:nvCxnSpPr>
          <p:cNvPr id="3309" name="Google Shape;3309;p286"/>
          <p:cNvCxnSpPr>
            <a:stCxn id="3308" idx="4"/>
            <a:endCxn id="3307" idx="0"/>
          </p:cNvCxnSpPr>
          <p:nvPr/>
        </p:nvCxnSpPr>
        <p:spPr>
          <a:xfrm>
            <a:off x="8268023" y="1972213"/>
            <a:ext cx="0" cy="439800"/>
          </a:xfrm>
          <a:prstGeom prst="straightConnector1">
            <a:avLst/>
          </a:prstGeom>
          <a:noFill/>
          <a:ln cap="flat" cmpd="sng" w="28575">
            <a:solidFill>
              <a:srgbClr val="595959"/>
            </a:solidFill>
            <a:prstDash val="solid"/>
            <a:round/>
            <a:headEnd len="med" w="med" type="none"/>
            <a:tailEnd len="med" w="med" type="triangle"/>
          </a:ln>
        </p:spPr>
      </p:cxnSp>
      <p:cxnSp>
        <p:nvCxnSpPr>
          <p:cNvPr id="3310" name="Google Shape;3310;p286"/>
          <p:cNvCxnSpPr>
            <a:stCxn id="3308" idx="3"/>
            <a:endCxn id="3304" idx="7"/>
          </p:cNvCxnSpPr>
          <p:nvPr/>
        </p:nvCxnSpPr>
        <p:spPr>
          <a:xfrm flipH="1">
            <a:off x="7030868" y="1868968"/>
            <a:ext cx="987900" cy="646200"/>
          </a:xfrm>
          <a:prstGeom prst="straightConnector1">
            <a:avLst/>
          </a:prstGeom>
          <a:noFill/>
          <a:ln cap="flat" cmpd="sng" w="28575">
            <a:solidFill>
              <a:srgbClr val="595959"/>
            </a:solidFill>
            <a:prstDash val="solid"/>
            <a:round/>
            <a:headEnd len="med" w="med" type="none"/>
            <a:tailEnd len="med" w="med" type="triangle"/>
          </a:ln>
        </p:spPr>
      </p:cxnSp>
      <p:sp>
        <p:nvSpPr>
          <p:cNvPr id="3305" name="Google Shape;3305;p286"/>
          <p:cNvSpPr/>
          <p:nvPr/>
        </p:nvSpPr>
        <p:spPr>
          <a:xfrm>
            <a:off x="4942915" y="241200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pic>
        <p:nvPicPr>
          <p:cNvPr id="3311" name="Google Shape;3311;p286"/>
          <p:cNvPicPr preferRelativeResize="0"/>
          <p:nvPr/>
        </p:nvPicPr>
        <p:blipFill rotWithShape="1">
          <a:blip r:embed="rId3">
            <a:alphaModFix/>
          </a:blip>
          <a:srcRect b="10466" l="9327" r="4711" t="0"/>
          <a:stretch/>
        </p:blipFill>
        <p:spPr>
          <a:xfrm>
            <a:off x="5019642" y="2568300"/>
            <a:ext cx="551416" cy="392401"/>
          </a:xfrm>
          <a:prstGeom prst="rect">
            <a:avLst/>
          </a:prstGeom>
          <a:noFill/>
          <a:ln>
            <a:noFill/>
          </a:ln>
        </p:spPr>
      </p:pic>
      <p:cxnSp>
        <p:nvCxnSpPr>
          <p:cNvPr id="3312" name="Google Shape;3312;p286"/>
          <p:cNvCxnSpPr>
            <a:stCxn id="3313" idx="0"/>
            <a:endCxn id="3305" idx="4"/>
          </p:cNvCxnSpPr>
          <p:nvPr/>
        </p:nvCxnSpPr>
        <p:spPr>
          <a:xfrm rot="10800000">
            <a:off x="5295350" y="3116882"/>
            <a:ext cx="0" cy="392400"/>
          </a:xfrm>
          <a:prstGeom prst="straightConnector1">
            <a:avLst/>
          </a:prstGeom>
          <a:noFill/>
          <a:ln cap="flat" cmpd="sng" w="28575">
            <a:solidFill>
              <a:srgbClr val="595959"/>
            </a:solidFill>
            <a:prstDash val="solid"/>
            <a:round/>
            <a:headEnd len="med" w="med" type="none"/>
            <a:tailEnd len="med" w="med" type="triangle"/>
          </a:ln>
        </p:spPr>
      </p:cxnSp>
      <p:cxnSp>
        <p:nvCxnSpPr>
          <p:cNvPr id="3314" name="Google Shape;3314;p286"/>
          <p:cNvCxnSpPr>
            <a:stCxn id="3304" idx="3"/>
            <a:endCxn id="3313" idx="7"/>
          </p:cNvCxnSpPr>
          <p:nvPr/>
        </p:nvCxnSpPr>
        <p:spPr>
          <a:xfrm flipH="1">
            <a:off x="5544564" y="3013758"/>
            <a:ext cx="987900" cy="598800"/>
          </a:xfrm>
          <a:prstGeom prst="straightConnector1">
            <a:avLst/>
          </a:prstGeom>
          <a:noFill/>
          <a:ln cap="flat" cmpd="sng" w="28575">
            <a:solidFill>
              <a:srgbClr val="595959"/>
            </a:solidFill>
            <a:prstDash val="dash"/>
            <a:round/>
            <a:headEnd len="med" w="med" type="none"/>
            <a:tailEnd len="med" w="med" type="triangle"/>
          </a:ln>
        </p:spPr>
      </p:cxnSp>
      <p:cxnSp>
        <p:nvCxnSpPr>
          <p:cNvPr id="3315" name="Google Shape;3315;p286"/>
          <p:cNvCxnSpPr>
            <a:endCxn id="3313" idx="6"/>
          </p:cNvCxnSpPr>
          <p:nvPr/>
        </p:nvCxnSpPr>
        <p:spPr>
          <a:xfrm flipH="1">
            <a:off x="5647850" y="3013982"/>
            <a:ext cx="2370900" cy="847800"/>
          </a:xfrm>
          <a:prstGeom prst="straightConnector1">
            <a:avLst/>
          </a:prstGeom>
          <a:noFill/>
          <a:ln cap="flat" cmpd="sng" w="28575">
            <a:solidFill>
              <a:srgbClr val="595959"/>
            </a:solidFill>
            <a:prstDash val="dash"/>
            <a:round/>
            <a:headEnd len="med" w="med" type="none"/>
            <a:tailEnd len="med" w="med" type="triangle"/>
          </a:ln>
        </p:spPr>
      </p:cxnSp>
      <p:sp>
        <p:nvSpPr>
          <p:cNvPr id="3316" name="Google Shape;3316;p286"/>
          <p:cNvSpPr/>
          <p:nvPr/>
        </p:nvSpPr>
        <p:spPr>
          <a:xfrm>
            <a:off x="4572100" y="1152475"/>
            <a:ext cx="4423800" cy="3229500"/>
          </a:xfrm>
          <a:prstGeom prst="rect">
            <a:avLst/>
          </a:prstGeom>
          <a:solidFill>
            <a:srgbClr val="FFFFFF">
              <a:alpha val="67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7" name="Google Shape;3317;p286"/>
          <p:cNvSpPr txBox="1"/>
          <p:nvPr/>
        </p:nvSpPr>
        <p:spPr>
          <a:xfrm>
            <a:off x="311700" y="445025"/>
            <a:ext cx="8520600" cy="572700"/>
          </a:xfrm>
          <a:prstGeom prst="rect">
            <a:avLst/>
          </a:prstGeom>
          <a:solidFill>
            <a:srgbClr val="FEEFC3"/>
          </a:solidFill>
          <a:ln cap="flat" cmpd="sng" w="1905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Entropy</a:t>
            </a:r>
            <a:endParaRPr b="1" sz="3000">
              <a:solidFill>
                <a:srgbClr val="000000"/>
              </a:solidFill>
              <a:latin typeface="Google Sans"/>
              <a:ea typeface="Google Sans"/>
              <a:cs typeface="Google Sans"/>
              <a:sym typeface="Google Sans"/>
            </a:endParaRPr>
          </a:p>
        </p:txBody>
      </p:sp>
      <p:sp>
        <p:nvSpPr>
          <p:cNvPr id="3304" name="Google Shape;3304;p286"/>
          <p:cNvSpPr/>
          <p:nvPr/>
        </p:nvSpPr>
        <p:spPr>
          <a:xfrm>
            <a:off x="6429219" y="241200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3307" name="Google Shape;3307;p286"/>
          <p:cNvSpPr/>
          <p:nvPr/>
        </p:nvSpPr>
        <p:spPr>
          <a:xfrm>
            <a:off x="7915523" y="241200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sp>
        <p:nvSpPr>
          <p:cNvPr id="3313" name="Google Shape;3313;p286"/>
          <p:cNvSpPr/>
          <p:nvPr/>
        </p:nvSpPr>
        <p:spPr>
          <a:xfrm>
            <a:off x="4942850" y="350928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grpSp>
        <p:nvGrpSpPr>
          <p:cNvPr id="3318" name="Google Shape;3318;p286"/>
          <p:cNvGrpSpPr/>
          <p:nvPr/>
        </p:nvGrpSpPr>
        <p:grpSpPr>
          <a:xfrm>
            <a:off x="81738" y="3610670"/>
            <a:ext cx="4393800" cy="1385700"/>
            <a:chOff x="4693363" y="3032863"/>
            <a:chExt cx="4393800" cy="1385700"/>
          </a:xfrm>
        </p:grpSpPr>
        <p:sp>
          <p:nvSpPr>
            <p:cNvPr id="3319" name="Google Shape;3319;p286"/>
            <p:cNvSpPr/>
            <p:nvPr/>
          </p:nvSpPr>
          <p:spPr>
            <a:xfrm>
              <a:off x="4693363" y="3032863"/>
              <a:ext cx="4393800" cy="13857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20" name="Google Shape;3320;p286"/>
            <p:cNvPicPr preferRelativeResize="0"/>
            <p:nvPr/>
          </p:nvPicPr>
          <p:blipFill>
            <a:blip r:embed="rId4">
              <a:alphaModFix/>
            </a:blip>
            <a:stretch>
              <a:fillRect/>
            </a:stretch>
          </p:blipFill>
          <p:spPr>
            <a:xfrm>
              <a:off x="4875738" y="3191513"/>
              <a:ext cx="4029075" cy="952500"/>
            </a:xfrm>
            <a:prstGeom prst="rect">
              <a:avLst/>
            </a:prstGeom>
            <a:noFill/>
            <a:ln>
              <a:noFill/>
            </a:ln>
          </p:spPr>
        </p:pic>
      </p:gr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4" name="Shape 3324"/>
        <p:cNvGrpSpPr/>
        <p:nvPr/>
      </p:nvGrpSpPr>
      <p:grpSpPr>
        <a:xfrm>
          <a:off x="0" y="0"/>
          <a:ext cx="0" cy="0"/>
          <a:chOff x="0" y="0"/>
          <a:chExt cx="0" cy="0"/>
        </a:xfrm>
      </p:grpSpPr>
      <p:sp>
        <p:nvSpPr>
          <p:cNvPr id="3325" name="Google Shape;3325;p287"/>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326" name="Google Shape;3326;p287"/>
          <p:cNvSpPr txBox="1"/>
          <p:nvPr/>
        </p:nvSpPr>
        <p:spPr>
          <a:xfrm>
            <a:off x="311700" y="445025"/>
            <a:ext cx="8520600" cy="572700"/>
          </a:xfrm>
          <a:prstGeom prst="rect">
            <a:avLst/>
          </a:prstGeom>
          <a:solidFill>
            <a:srgbClr val="D2E3FC"/>
          </a:solidFill>
          <a:ln cap="flat" cmpd="sng" w="1905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Classification Error</a:t>
            </a:r>
            <a:endParaRPr b="1" sz="3000">
              <a:solidFill>
                <a:srgbClr val="000000"/>
              </a:solidFill>
              <a:latin typeface="Google Sans"/>
              <a:ea typeface="Google Sans"/>
              <a:cs typeface="Google Sans"/>
              <a:sym typeface="Google Sans"/>
            </a:endParaRPr>
          </a:p>
        </p:txBody>
      </p:sp>
      <p:sp>
        <p:nvSpPr>
          <p:cNvPr id="3327" name="Google Shape;3327;p287"/>
          <p:cNvSpPr txBox="1"/>
          <p:nvPr/>
        </p:nvSpPr>
        <p:spPr>
          <a:xfrm>
            <a:off x="311700" y="1152475"/>
            <a:ext cx="3933900" cy="29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800">
                <a:solidFill>
                  <a:srgbClr val="595959"/>
                </a:solidFill>
                <a:latin typeface="Open Sans"/>
                <a:ea typeface="Open Sans"/>
                <a:cs typeface="Open Sans"/>
                <a:sym typeface="Open Sans"/>
              </a:rPr>
              <a:t>The </a:t>
            </a:r>
            <a:r>
              <a:rPr i="1" lang="en" sz="1800">
                <a:solidFill>
                  <a:srgbClr val="595959"/>
                </a:solidFill>
                <a:latin typeface="Open Sans"/>
                <a:ea typeface="Open Sans"/>
                <a:cs typeface="Open Sans"/>
                <a:sym typeface="Open Sans"/>
              </a:rPr>
              <a:t>classification error </a:t>
            </a:r>
            <a:r>
              <a:rPr lang="en" sz="1800">
                <a:solidFill>
                  <a:srgbClr val="595959"/>
                </a:solidFill>
                <a:latin typeface="Open Sans"/>
                <a:ea typeface="Open Sans"/>
                <a:cs typeface="Open Sans"/>
                <a:sym typeface="Open Sans"/>
              </a:rPr>
              <a:t>measures our supervised learning performance.</a:t>
            </a:r>
            <a:endParaRPr sz="1800">
              <a:solidFill>
                <a:srgbClr val="595959"/>
              </a:solidFill>
              <a:latin typeface="Open Sans"/>
              <a:ea typeface="Open Sans"/>
              <a:cs typeface="Open Sans"/>
              <a:sym typeface="Open Sans"/>
            </a:endParaRPr>
          </a:p>
        </p:txBody>
      </p:sp>
      <p:sp>
        <p:nvSpPr>
          <p:cNvPr id="3328" name="Google Shape;3328;p287"/>
          <p:cNvSpPr/>
          <p:nvPr/>
        </p:nvSpPr>
        <p:spPr>
          <a:xfrm>
            <a:off x="4725738" y="220906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t/>
            </a:r>
            <a:endParaRPr>
              <a:latin typeface="Roboto"/>
              <a:ea typeface="Roboto"/>
              <a:cs typeface="Roboto"/>
              <a:sym typeface="Roboto"/>
            </a:endParaRPr>
          </a:p>
        </p:txBody>
      </p:sp>
      <p:sp>
        <p:nvSpPr>
          <p:cNvPr id="3329" name="Google Shape;3329;p287"/>
          <p:cNvSpPr/>
          <p:nvPr/>
        </p:nvSpPr>
        <p:spPr>
          <a:xfrm>
            <a:off x="6429219" y="241200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cxnSp>
        <p:nvCxnSpPr>
          <p:cNvPr id="3330" name="Google Shape;3330;p287"/>
          <p:cNvCxnSpPr>
            <a:stCxn id="3329" idx="2"/>
            <a:endCxn id="3331" idx="6"/>
          </p:cNvCxnSpPr>
          <p:nvPr/>
        </p:nvCxnSpPr>
        <p:spPr>
          <a:xfrm rot="10800000">
            <a:off x="5648019" y="276450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332" name="Google Shape;3332;p287"/>
          <p:cNvCxnSpPr>
            <a:stCxn id="3329" idx="6"/>
            <a:endCxn id="3333" idx="2"/>
          </p:cNvCxnSpPr>
          <p:nvPr/>
        </p:nvCxnSpPr>
        <p:spPr>
          <a:xfrm>
            <a:off x="7134219" y="2764503"/>
            <a:ext cx="781200" cy="0"/>
          </a:xfrm>
          <a:prstGeom prst="straightConnector1">
            <a:avLst/>
          </a:prstGeom>
          <a:noFill/>
          <a:ln cap="flat" cmpd="sng" w="28575">
            <a:solidFill>
              <a:srgbClr val="595959"/>
            </a:solidFill>
            <a:prstDash val="solid"/>
            <a:round/>
            <a:headEnd len="med" w="med" type="none"/>
            <a:tailEnd len="med" w="med" type="triangle"/>
          </a:ln>
        </p:spPr>
      </p:cxnSp>
      <p:sp>
        <p:nvSpPr>
          <p:cNvPr id="3334" name="Google Shape;3334;p287"/>
          <p:cNvSpPr/>
          <p:nvPr/>
        </p:nvSpPr>
        <p:spPr>
          <a:xfrm>
            <a:off x="7915523" y="1267213"/>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cxnSp>
        <p:nvCxnSpPr>
          <p:cNvPr id="3335" name="Google Shape;3335;p287"/>
          <p:cNvCxnSpPr>
            <a:stCxn id="3334" idx="4"/>
            <a:endCxn id="3333" idx="0"/>
          </p:cNvCxnSpPr>
          <p:nvPr/>
        </p:nvCxnSpPr>
        <p:spPr>
          <a:xfrm>
            <a:off x="8268023" y="1972213"/>
            <a:ext cx="0" cy="439800"/>
          </a:xfrm>
          <a:prstGeom prst="straightConnector1">
            <a:avLst/>
          </a:prstGeom>
          <a:noFill/>
          <a:ln cap="flat" cmpd="sng" w="28575">
            <a:solidFill>
              <a:srgbClr val="595959"/>
            </a:solidFill>
            <a:prstDash val="solid"/>
            <a:round/>
            <a:headEnd len="med" w="med" type="none"/>
            <a:tailEnd len="med" w="med" type="triangle"/>
          </a:ln>
        </p:spPr>
      </p:cxnSp>
      <p:cxnSp>
        <p:nvCxnSpPr>
          <p:cNvPr id="3336" name="Google Shape;3336;p287"/>
          <p:cNvCxnSpPr>
            <a:stCxn id="3334" idx="3"/>
            <a:endCxn id="3329" idx="7"/>
          </p:cNvCxnSpPr>
          <p:nvPr/>
        </p:nvCxnSpPr>
        <p:spPr>
          <a:xfrm flipH="1">
            <a:off x="7030868" y="1868968"/>
            <a:ext cx="987900" cy="646200"/>
          </a:xfrm>
          <a:prstGeom prst="straightConnector1">
            <a:avLst/>
          </a:prstGeom>
          <a:noFill/>
          <a:ln cap="flat" cmpd="sng" w="28575">
            <a:solidFill>
              <a:srgbClr val="595959"/>
            </a:solidFill>
            <a:prstDash val="solid"/>
            <a:round/>
            <a:headEnd len="med" w="med" type="none"/>
            <a:tailEnd len="med" w="med" type="triangle"/>
          </a:ln>
        </p:spPr>
      </p:cxnSp>
      <p:sp>
        <p:nvSpPr>
          <p:cNvPr id="3337" name="Google Shape;3337;p287"/>
          <p:cNvSpPr/>
          <p:nvPr/>
        </p:nvSpPr>
        <p:spPr>
          <a:xfrm>
            <a:off x="4942850" y="350928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cxnSp>
        <p:nvCxnSpPr>
          <p:cNvPr id="3338" name="Google Shape;3338;p287"/>
          <p:cNvCxnSpPr>
            <a:stCxn id="3337" idx="0"/>
            <a:endCxn id="3331" idx="4"/>
          </p:cNvCxnSpPr>
          <p:nvPr/>
        </p:nvCxnSpPr>
        <p:spPr>
          <a:xfrm rot="10800000">
            <a:off x="5295350" y="3116882"/>
            <a:ext cx="0" cy="392400"/>
          </a:xfrm>
          <a:prstGeom prst="straightConnector1">
            <a:avLst/>
          </a:prstGeom>
          <a:noFill/>
          <a:ln cap="flat" cmpd="sng" w="28575">
            <a:solidFill>
              <a:srgbClr val="595959"/>
            </a:solidFill>
            <a:prstDash val="solid"/>
            <a:round/>
            <a:headEnd len="med" w="med" type="none"/>
            <a:tailEnd len="med" w="med" type="triangle"/>
          </a:ln>
        </p:spPr>
      </p:cxnSp>
      <p:cxnSp>
        <p:nvCxnSpPr>
          <p:cNvPr id="3339" name="Google Shape;3339;p287"/>
          <p:cNvCxnSpPr>
            <a:stCxn id="3329" idx="3"/>
            <a:endCxn id="3337" idx="7"/>
          </p:cNvCxnSpPr>
          <p:nvPr/>
        </p:nvCxnSpPr>
        <p:spPr>
          <a:xfrm flipH="1">
            <a:off x="5544564" y="3013758"/>
            <a:ext cx="987900" cy="598800"/>
          </a:xfrm>
          <a:prstGeom prst="straightConnector1">
            <a:avLst/>
          </a:prstGeom>
          <a:noFill/>
          <a:ln cap="flat" cmpd="sng" w="28575">
            <a:solidFill>
              <a:srgbClr val="595959"/>
            </a:solidFill>
            <a:prstDash val="dash"/>
            <a:round/>
            <a:headEnd len="med" w="med" type="none"/>
            <a:tailEnd len="med" w="med" type="triangle"/>
          </a:ln>
        </p:spPr>
      </p:cxnSp>
      <p:cxnSp>
        <p:nvCxnSpPr>
          <p:cNvPr id="3340" name="Google Shape;3340;p287"/>
          <p:cNvCxnSpPr>
            <a:endCxn id="3337" idx="6"/>
          </p:cNvCxnSpPr>
          <p:nvPr/>
        </p:nvCxnSpPr>
        <p:spPr>
          <a:xfrm flipH="1">
            <a:off x="5647850" y="3013982"/>
            <a:ext cx="2370900" cy="847800"/>
          </a:xfrm>
          <a:prstGeom prst="straightConnector1">
            <a:avLst/>
          </a:prstGeom>
          <a:noFill/>
          <a:ln cap="flat" cmpd="sng" w="28575">
            <a:solidFill>
              <a:srgbClr val="595959"/>
            </a:solidFill>
            <a:prstDash val="dash"/>
            <a:round/>
            <a:headEnd len="med" w="med" type="none"/>
            <a:tailEnd len="med" w="med" type="triangle"/>
          </a:ln>
        </p:spPr>
      </p:cxnSp>
      <p:sp>
        <p:nvSpPr>
          <p:cNvPr id="3341" name="Google Shape;3341;p287"/>
          <p:cNvSpPr/>
          <p:nvPr/>
        </p:nvSpPr>
        <p:spPr>
          <a:xfrm>
            <a:off x="4572100" y="1152475"/>
            <a:ext cx="4423800" cy="3229500"/>
          </a:xfrm>
          <a:prstGeom prst="rect">
            <a:avLst/>
          </a:prstGeom>
          <a:solidFill>
            <a:srgbClr val="FFFFFF">
              <a:alpha val="67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1" name="Google Shape;3331;p287"/>
          <p:cNvSpPr/>
          <p:nvPr/>
        </p:nvSpPr>
        <p:spPr>
          <a:xfrm>
            <a:off x="4942915" y="241200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sp>
        <p:nvSpPr>
          <p:cNvPr id="3333" name="Google Shape;3333;p287"/>
          <p:cNvSpPr/>
          <p:nvPr/>
        </p:nvSpPr>
        <p:spPr>
          <a:xfrm>
            <a:off x="7915523" y="241200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pic>
        <p:nvPicPr>
          <p:cNvPr id="3342" name="Google Shape;3342;p287"/>
          <p:cNvPicPr preferRelativeResize="0"/>
          <p:nvPr/>
        </p:nvPicPr>
        <p:blipFill rotWithShape="1">
          <a:blip r:embed="rId3">
            <a:alphaModFix/>
          </a:blip>
          <a:srcRect b="10466" l="9327" r="4711" t="0"/>
          <a:stretch/>
        </p:blipFill>
        <p:spPr>
          <a:xfrm>
            <a:off x="5019642" y="2568300"/>
            <a:ext cx="551416" cy="392401"/>
          </a:xfrm>
          <a:prstGeom prst="rect">
            <a:avLst/>
          </a:prstGeom>
          <a:noFill/>
          <a:ln>
            <a:noFill/>
          </a:ln>
        </p:spPr>
      </p:pic>
      <p:grpSp>
        <p:nvGrpSpPr>
          <p:cNvPr id="3343" name="Google Shape;3343;p287"/>
          <p:cNvGrpSpPr/>
          <p:nvPr/>
        </p:nvGrpSpPr>
        <p:grpSpPr>
          <a:xfrm>
            <a:off x="81738" y="3610825"/>
            <a:ext cx="4393800" cy="1385700"/>
            <a:chOff x="130938" y="3009800"/>
            <a:chExt cx="4393800" cy="1385700"/>
          </a:xfrm>
        </p:grpSpPr>
        <p:sp>
          <p:nvSpPr>
            <p:cNvPr id="3344" name="Google Shape;3344;p287"/>
            <p:cNvSpPr/>
            <p:nvPr/>
          </p:nvSpPr>
          <p:spPr>
            <a:xfrm>
              <a:off x="130938" y="3009800"/>
              <a:ext cx="4393800" cy="13857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45" name="Google Shape;3345;p287"/>
            <p:cNvPicPr preferRelativeResize="0"/>
            <p:nvPr/>
          </p:nvPicPr>
          <p:blipFill>
            <a:blip r:embed="rId4">
              <a:alphaModFix/>
            </a:blip>
            <a:stretch>
              <a:fillRect/>
            </a:stretch>
          </p:blipFill>
          <p:spPr>
            <a:xfrm>
              <a:off x="365688" y="3354988"/>
              <a:ext cx="3924300" cy="847725"/>
            </a:xfrm>
            <a:prstGeom prst="rect">
              <a:avLst/>
            </a:prstGeom>
            <a:noFill/>
            <a:ln>
              <a:noFill/>
            </a:ln>
          </p:spPr>
        </p:pic>
      </p:gr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9" name="Shape 3349"/>
        <p:cNvGrpSpPr/>
        <p:nvPr/>
      </p:nvGrpSpPr>
      <p:grpSpPr>
        <a:xfrm>
          <a:off x="0" y="0"/>
          <a:ext cx="0" cy="0"/>
          <a:chOff x="0" y="0"/>
          <a:chExt cx="0" cy="0"/>
        </a:xfrm>
      </p:grpSpPr>
      <p:sp>
        <p:nvSpPr>
          <p:cNvPr id="3350" name="Google Shape;3350;p288"/>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351" name="Google Shape;3351;p288"/>
          <p:cNvSpPr txBox="1"/>
          <p:nvPr/>
        </p:nvSpPr>
        <p:spPr>
          <a:xfrm>
            <a:off x="311700" y="1152475"/>
            <a:ext cx="3933900" cy="29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latin typeface="Open Sans"/>
                <a:ea typeface="Open Sans"/>
                <a:cs typeface="Open Sans"/>
                <a:sym typeface="Open Sans"/>
              </a:rPr>
              <a:t>The </a:t>
            </a:r>
            <a:r>
              <a:rPr i="1" lang="en" sz="1800">
                <a:solidFill>
                  <a:schemeClr val="dk2"/>
                </a:solidFill>
                <a:latin typeface="Open Sans"/>
                <a:ea typeface="Open Sans"/>
                <a:cs typeface="Open Sans"/>
                <a:sym typeface="Open Sans"/>
              </a:rPr>
              <a:t>distortion</a:t>
            </a:r>
            <a:r>
              <a:rPr lang="en" sz="1800">
                <a:solidFill>
                  <a:schemeClr val="dk2"/>
                </a:solidFill>
                <a:latin typeface="Open Sans"/>
                <a:ea typeface="Open Sans"/>
                <a:cs typeface="Open Sans"/>
                <a:sym typeface="Open Sans"/>
              </a:rPr>
              <a:t> measures our unsupervised learning performance.</a:t>
            </a:r>
            <a:endParaRPr sz="1800">
              <a:solidFill>
                <a:schemeClr val="dk2"/>
              </a:solidFill>
              <a:latin typeface="Open Sans"/>
              <a:ea typeface="Open Sans"/>
              <a:cs typeface="Open Sans"/>
              <a:sym typeface="Open Sans"/>
            </a:endParaRPr>
          </a:p>
          <a:p>
            <a:pPr indent="0" lvl="0" marL="0" rtl="0" algn="l">
              <a:lnSpc>
                <a:spcPct val="115000"/>
              </a:lnSpc>
              <a:spcBef>
                <a:spcPts val="1600"/>
              </a:spcBef>
              <a:spcAft>
                <a:spcPts val="1600"/>
              </a:spcAft>
              <a:buNone/>
            </a:pPr>
            <a:r>
              <a:t/>
            </a:r>
            <a:endParaRPr sz="1800">
              <a:solidFill>
                <a:srgbClr val="595959"/>
              </a:solidFill>
              <a:latin typeface="Open Sans"/>
              <a:ea typeface="Open Sans"/>
              <a:cs typeface="Open Sans"/>
              <a:sym typeface="Open Sans"/>
            </a:endParaRPr>
          </a:p>
        </p:txBody>
      </p:sp>
      <p:sp>
        <p:nvSpPr>
          <p:cNvPr id="3352" name="Google Shape;3352;p288"/>
          <p:cNvSpPr/>
          <p:nvPr/>
        </p:nvSpPr>
        <p:spPr>
          <a:xfrm>
            <a:off x="4725738" y="220906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t/>
            </a:r>
            <a:endParaRPr>
              <a:latin typeface="Roboto"/>
              <a:ea typeface="Roboto"/>
              <a:cs typeface="Roboto"/>
              <a:sym typeface="Roboto"/>
            </a:endParaRPr>
          </a:p>
        </p:txBody>
      </p:sp>
      <p:cxnSp>
        <p:nvCxnSpPr>
          <p:cNvPr id="3353" name="Google Shape;3353;p288"/>
          <p:cNvCxnSpPr>
            <a:stCxn id="3354" idx="2"/>
            <a:endCxn id="3355" idx="6"/>
          </p:cNvCxnSpPr>
          <p:nvPr/>
        </p:nvCxnSpPr>
        <p:spPr>
          <a:xfrm rot="10800000">
            <a:off x="5648019" y="276450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356" name="Google Shape;3356;p288"/>
          <p:cNvCxnSpPr>
            <a:stCxn id="3354" idx="6"/>
            <a:endCxn id="3357" idx="2"/>
          </p:cNvCxnSpPr>
          <p:nvPr/>
        </p:nvCxnSpPr>
        <p:spPr>
          <a:xfrm>
            <a:off x="7134219" y="2764503"/>
            <a:ext cx="781200" cy="0"/>
          </a:xfrm>
          <a:prstGeom prst="straightConnector1">
            <a:avLst/>
          </a:prstGeom>
          <a:noFill/>
          <a:ln cap="flat" cmpd="sng" w="28575">
            <a:solidFill>
              <a:srgbClr val="595959"/>
            </a:solidFill>
            <a:prstDash val="solid"/>
            <a:round/>
            <a:headEnd len="med" w="med" type="none"/>
            <a:tailEnd len="med" w="med" type="triangle"/>
          </a:ln>
        </p:spPr>
      </p:cxnSp>
      <p:sp>
        <p:nvSpPr>
          <p:cNvPr id="3358" name="Google Shape;3358;p288"/>
          <p:cNvSpPr/>
          <p:nvPr/>
        </p:nvSpPr>
        <p:spPr>
          <a:xfrm>
            <a:off x="7915523" y="1267213"/>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cxnSp>
        <p:nvCxnSpPr>
          <p:cNvPr id="3359" name="Google Shape;3359;p288"/>
          <p:cNvCxnSpPr>
            <a:stCxn id="3358" idx="4"/>
            <a:endCxn id="3357" idx="0"/>
          </p:cNvCxnSpPr>
          <p:nvPr/>
        </p:nvCxnSpPr>
        <p:spPr>
          <a:xfrm>
            <a:off x="8268023" y="1972213"/>
            <a:ext cx="0" cy="439800"/>
          </a:xfrm>
          <a:prstGeom prst="straightConnector1">
            <a:avLst/>
          </a:prstGeom>
          <a:noFill/>
          <a:ln cap="flat" cmpd="sng" w="28575">
            <a:solidFill>
              <a:srgbClr val="595959"/>
            </a:solidFill>
            <a:prstDash val="solid"/>
            <a:round/>
            <a:headEnd len="med" w="med" type="none"/>
            <a:tailEnd len="med" w="med" type="triangle"/>
          </a:ln>
        </p:spPr>
      </p:cxnSp>
      <p:cxnSp>
        <p:nvCxnSpPr>
          <p:cNvPr id="3360" name="Google Shape;3360;p288"/>
          <p:cNvCxnSpPr>
            <a:stCxn id="3358" idx="3"/>
            <a:endCxn id="3354" idx="7"/>
          </p:cNvCxnSpPr>
          <p:nvPr/>
        </p:nvCxnSpPr>
        <p:spPr>
          <a:xfrm flipH="1">
            <a:off x="7030868" y="1868968"/>
            <a:ext cx="987900" cy="646200"/>
          </a:xfrm>
          <a:prstGeom prst="straightConnector1">
            <a:avLst/>
          </a:prstGeom>
          <a:noFill/>
          <a:ln cap="flat" cmpd="sng" w="28575">
            <a:solidFill>
              <a:srgbClr val="595959"/>
            </a:solidFill>
            <a:prstDash val="solid"/>
            <a:round/>
            <a:headEnd len="med" w="med" type="none"/>
            <a:tailEnd len="med" w="med" type="triangle"/>
          </a:ln>
        </p:spPr>
      </p:cxnSp>
      <p:sp>
        <p:nvSpPr>
          <p:cNvPr id="3361" name="Google Shape;3361;p288"/>
          <p:cNvSpPr/>
          <p:nvPr/>
        </p:nvSpPr>
        <p:spPr>
          <a:xfrm>
            <a:off x="4942850" y="350928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cxnSp>
        <p:nvCxnSpPr>
          <p:cNvPr id="3362" name="Google Shape;3362;p288"/>
          <p:cNvCxnSpPr>
            <a:stCxn id="3361" idx="0"/>
            <a:endCxn id="3355" idx="4"/>
          </p:cNvCxnSpPr>
          <p:nvPr/>
        </p:nvCxnSpPr>
        <p:spPr>
          <a:xfrm rot="10800000">
            <a:off x="5295350" y="3116882"/>
            <a:ext cx="0" cy="392400"/>
          </a:xfrm>
          <a:prstGeom prst="straightConnector1">
            <a:avLst/>
          </a:prstGeom>
          <a:noFill/>
          <a:ln cap="flat" cmpd="sng" w="28575">
            <a:solidFill>
              <a:srgbClr val="595959"/>
            </a:solidFill>
            <a:prstDash val="solid"/>
            <a:round/>
            <a:headEnd len="med" w="med" type="none"/>
            <a:tailEnd len="med" w="med" type="triangle"/>
          </a:ln>
        </p:spPr>
      </p:cxnSp>
      <p:cxnSp>
        <p:nvCxnSpPr>
          <p:cNvPr id="3363" name="Google Shape;3363;p288"/>
          <p:cNvCxnSpPr>
            <a:stCxn id="3354" idx="3"/>
            <a:endCxn id="3361" idx="7"/>
          </p:cNvCxnSpPr>
          <p:nvPr/>
        </p:nvCxnSpPr>
        <p:spPr>
          <a:xfrm flipH="1">
            <a:off x="5544564" y="3013758"/>
            <a:ext cx="987900" cy="598800"/>
          </a:xfrm>
          <a:prstGeom prst="straightConnector1">
            <a:avLst/>
          </a:prstGeom>
          <a:noFill/>
          <a:ln cap="flat" cmpd="sng" w="28575">
            <a:solidFill>
              <a:srgbClr val="595959"/>
            </a:solidFill>
            <a:prstDash val="dash"/>
            <a:round/>
            <a:headEnd len="med" w="med" type="none"/>
            <a:tailEnd len="med" w="med" type="triangle"/>
          </a:ln>
        </p:spPr>
      </p:cxnSp>
      <p:sp>
        <p:nvSpPr>
          <p:cNvPr id="3357" name="Google Shape;3357;p288"/>
          <p:cNvSpPr/>
          <p:nvPr/>
        </p:nvSpPr>
        <p:spPr>
          <a:xfrm>
            <a:off x="7915523" y="241200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cxnSp>
        <p:nvCxnSpPr>
          <p:cNvPr id="3364" name="Google Shape;3364;p288"/>
          <p:cNvCxnSpPr>
            <a:endCxn id="3361" idx="6"/>
          </p:cNvCxnSpPr>
          <p:nvPr/>
        </p:nvCxnSpPr>
        <p:spPr>
          <a:xfrm flipH="1">
            <a:off x="5647850" y="3013982"/>
            <a:ext cx="2370900" cy="847800"/>
          </a:xfrm>
          <a:prstGeom prst="straightConnector1">
            <a:avLst/>
          </a:prstGeom>
          <a:noFill/>
          <a:ln cap="flat" cmpd="sng" w="28575">
            <a:solidFill>
              <a:srgbClr val="595959"/>
            </a:solidFill>
            <a:prstDash val="dash"/>
            <a:round/>
            <a:headEnd len="med" w="med" type="none"/>
            <a:tailEnd len="med" w="med" type="triangle"/>
          </a:ln>
        </p:spPr>
      </p:cxnSp>
      <p:sp>
        <p:nvSpPr>
          <p:cNvPr id="3365" name="Google Shape;3365;p288"/>
          <p:cNvSpPr/>
          <p:nvPr/>
        </p:nvSpPr>
        <p:spPr>
          <a:xfrm>
            <a:off x="4648300" y="1152475"/>
            <a:ext cx="4423800" cy="3229500"/>
          </a:xfrm>
          <a:prstGeom prst="rect">
            <a:avLst/>
          </a:prstGeom>
          <a:solidFill>
            <a:srgbClr val="FFFFFF">
              <a:alpha val="67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288"/>
          <p:cNvSpPr/>
          <p:nvPr/>
        </p:nvSpPr>
        <p:spPr>
          <a:xfrm>
            <a:off x="6429219" y="241200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3355" name="Google Shape;3355;p288"/>
          <p:cNvSpPr/>
          <p:nvPr/>
        </p:nvSpPr>
        <p:spPr>
          <a:xfrm>
            <a:off x="4942915" y="241200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pic>
        <p:nvPicPr>
          <p:cNvPr id="3366" name="Google Shape;3366;p288"/>
          <p:cNvPicPr preferRelativeResize="0"/>
          <p:nvPr/>
        </p:nvPicPr>
        <p:blipFill rotWithShape="1">
          <a:blip r:embed="rId3">
            <a:alphaModFix/>
          </a:blip>
          <a:srcRect b="10466" l="9327" r="4711" t="0"/>
          <a:stretch/>
        </p:blipFill>
        <p:spPr>
          <a:xfrm>
            <a:off x="5019642" y="2568300"/>
            <a:ext cx="551416" cy="392401"/>
          </a:xfrm>
          <a:prstGeom prst="rect">
            <a:avLst/>
          </a:prstGeom>
          <a:noFill/>
          <a:ln>
            <a:noFill/>
          </a:ln>
        </p:spPr>
      </p:pic>
      <p:sp>
        <p:nvSpPr>
          <p:cNvPr id="3367" name="Google Shape;3367;p288"/>
          <p:cNvSpPr txBox="1"/>
          <p:nvPr/>
        </p:nvSpPr>
        <p:spPr>
          <a:xfrm>
            <a:off x="311700" y="445025"/>
            <a:ext cx="8520600" cy="572700"/>
          </a:xfrm>
          <a:prstGeom prst="rect">
            <a:avLst/>
          </a:prstGeom>
          <a:solidFill>
            <a:srgbClr val="FAD2CF"/>
          </a:solidFill>
          <a:ln cap="flat" cmpd="sng" w="1905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Distortion</a:t>
            </a:r>
            <a:endParaRPr b="1" sz="3000">
              <a:solidFill>
                <a:srgbClr val="000000"/>
              </a:solidFill>
              <a:latin typeface="Google Sans"/>
              <a:ea typeface="Google Sans"/>
              <a:cs typeface="Google Sans"/>
              <a:sym typeface="Google Sans"/>
            </a:endParaRPr>
          </a:p>
        </p:txBody>
      </p:sp>
      <p:grpSp>
        <p:nvGrpSpPr>
          <p:cNvPr id="3368" name="Google Shape;3368;p288"/>
          <p:cNvGrpSpPr/>
          <p:nvPr/>
        </p:nvGrpSpPr>
        <p:grpSpPr>
          <a:xfrm>
            <a:off x="81738" y="3612550"/>
            <a:ext cx="4393800" cy="1385700"/>
            <a:chOff x="4693363" y="1444425"/>
            <a:chExt cx="4393800" cy="1385700"/>
          </a:xfrm>
        </p:grpSpPr>
        <p:sp>
          <p:nvSpPr>
            <p:cNvPr id="3369" name="Google Shape;3369;p288"/>
            <p:cNvSpPr/>
            <p:nvPr/>
          </p:nvSpPr>
          <p:spPr>
            <a:xfrm>
              <a:off x="4693363" y="1444425"/>
              <a:ext cx="4393800" cy="13857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70" name="Google Shape;3370;p288"/>
            <p:cNvPicPr preferRelativeResize="0"/>
            <p:nvPr/>
          </p:nvPicPr>
          <p:blipFill>
            <a:blip r:embed="rId4">
              <a:alphaModFix/>
            </a:blip>
            <a:stretch>
              <a:fillRect/>
            </a:stretch>
          </p:blipFill>
          <p:spPr>
            <a:xfrm>
              <a:off x="4894788" y="1789613"/>
              <a:ext cx="3990975" cy="847725"/>
            </a:xfrm>
            <a:prstGeom prst="rect">
              <a:avLst/>
            </a:prstGeom>
            <a:noFill/>
            <a:ln>
              <a:noFill/>
            </a:ln>
          </p:spPr>
        </p:pic>
      </p:gr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4" name="Shape 3374"/>
        <p:cNvGrpSpPr/>
        <p:nvPr/>
      </p:nvGrpSpPr>
      <p:grpSpPr>
        <a:xfrm>
          <a:off x="0" y="0"/>
          <a:ext cx="0" cy="0"/>
          <a:chOff x="0" y="0"/>
          <a:chExt cx="0" cy="0"/>
        </a:xfrm>
      </p:grpSpPr>
      <p:sp>
        <p:nvSpPr>
          <p:cNvPr id="3375" name="Google Shape;3375;p289"/>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376" name="Google Shape;3376;p289"/>
          <p:cNvSpPr txBox="1"/>
          <p:nvPr/>
        </p:nvSpPr>
        <p:spPr>
          <a:xfrm>
            <a:off x="311700" y="445025"/>
            <a:ext cx="8520600" cy="572700"/>
          </a:xfrm>
          <a:prstGeom prst="rect">
            <a:avLst/>
          </a:prstGeom>
          <a:solidFill>
            <a:srgbClr val="CEEAD6"/>
          </a:solidFill>
          <a:ln cap="flat" cmpd="sng" w="1905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Rate</a:t>
            </a:r>
            <a:endParaRPr b="1" sz="3000">
              <a:solidFill>
                <a:srgbClr val="000000"/>
              </a:solidFill>
              <a:latin typeface="Google Sans"/>
              <a:ea typeface="Google Sans"/>
              <a:cs typeface="Google Sans"/>
              <a:sym typeface="Google Sans"/>
            </a:endParaRPr>
          </a:p>
        </p:txBody>
      </p:sp>
      <p:sp>
        <p:nvSpPr>
          <p:cNvPr id="3377" name="Google Shape;3377;p289"/>
          <p:cNvSpPr txBox="1"/>
          <p:nvPr/>
        </p:nvSpPr>
        <p:spPr>
          <a:xfrm>
            <a:off x="311700" y="1152475"/>
            <a:ext cx="3933900" cy="291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2"/>
                </a:solidFill>
                <a:latin typeface="Open Sans"/>
                <a:ea typeface="Open Sans"/>
                <a:cs typeface="Open Sans"/>
                <a:sym typeface="Open Sans"/>
              </a:rPr>
              <a:t>The </a:t>
            </a:r>
            <a:r>
              <a:rPr i="1" lang="en" sz="1800">
                <a:solidFill>
                  <a:schemeClr val="dk2"/>
                </a:solidFill>
                <a:latin typeface="Open Sans"/>
                <a:ea typeface="Open Sans"/>
                <a:cs typeface="Open Sans"/>
                <a:sym typeface="Open Sans"/>
              </a:rPr>
              <a:t>rate</a:t>
            </a:r>
            <a:r>
              <a:rPr lang="en" sz="1800">
                <a:solidFill>
                  <a:schemeClr val="dk2"/>
                </a:solidFill>
                <a:latin typeface="Open Sans"/>
                <a:ea typeface="Open Sans"/>
                <a:cs typeface="Open Sans"/>
                <a:sym typeface="Open Sans"/>
              </a:rPr>
              <a:t> measures the cost of encoding samples into our representation.</a:t>
            </a:r>
            <a:endParaRPr sz="1800">
              <a:solidFill>
                <a:schemeClr val="dk2"/>
              </a:solidFill>
              <a:latin typeface="Open Sans"/>
              <a:ea typeface="Open Sans"/>
              <a:cs typeface="Open Sans"/>
              <a:sym typeface="Open Sans"/>
            </a:endParaRPr>
          </a:p>
          <a:p>
            <a:pPr indent="0" lvl="0" marL="0" rtl="0" algn="l">
              <a:lnSpc>
                <a:spcPct val="115000"/>
              </a:lnSpc>
              <a:spcBef>
                <a:spcPts val="1600"/>
              </a:spcBef>
              <a:spcAft>
                <a:spcPts val="1600"/>
              </a:spcAft>
              <a:buNone/>
            </a:pPr>
            <a:r>
              <a:t/>
            </a:r>
            <a:endParaRPr sz="1800">
              <a:solidFill>
                <a:srgbClr val="595959"/>
              </a:solidFill>
              <a:latin typeface="Open Sans"/>
              <a:ea typeface="Open Sans"/>
              <a:cs typeface="Open Sans"/>
              <a:sym typeface="Open Sans"/>
            </a:endParaRPr>
          </a:p>
        </p:txBody>
      </p:sp>
      <p:sp>
        <p:nvSpPr>
          <p:cNvPr id="3378" name="Google Shape;3378;p289"/>
          <p:cNvSpPr/>
          <p:nvPr/>
        </p:nvSpPr>
        <p:spPr>
          <a:xfrm>
            <a:off x="4725738" y="2209062"/>
            <a:ext cx="4112100" cy="1110900"/>
          </a:xfrm>
          <a:prstGeom prst="roundRect">
            <a:avLst>
              <a:gd fmla="val 16667" name="adj"/>
            </a:avLst>
          </a:prstGeom>
          <a:solidFill>
            <a:srgbClr val="EEEEEE"/>
          </a:solidFill>
          <a:ln cap="flat" cmpd="sng" w="28575">
            <a:solidFill>
              <a:srgbClr val="595959"/>
            </a:solidFill>
            <a:prstDash val="solid"/>
            <a:round/>
            <a:headEnd len="sm" w="sm" type="none"/>
            <a:tailEnd len="sm" w="sm" type="none"/>
          </a:ln>
        </p:spPr>
        <p:txBody>
          <a:bodyPr anchorCtr="0" anchor="b" bIns="91425" lIns="91425" spcFirstLastPara="1" rIns="91425" wrap="square" tIns="91425">
            <a:noAutofit/>
          </a:bodyPr>
          <a:lstStyle/>
          <a:p>
            <a:pPr indent="0" lvl="0" marL="0" rtl="0" algn="r">
              <a:spcBef>
                <a:spcPts val="0"/>
              </a:spcBef>
              <a:spcAft>
                <a:spcPts val="0"/>
              </a:spcAft>
              <a:buNone/>
            </a:pPr>
            <a:r>
              <a:t/>
            </a:r>
            <a:endParaRPr>
              <a:latin typeface="Roboto"/>
              <a:ea typeface="Roboto"/>
              <a:cs typeface="Roboto"/>
              <a:sym typeface="Roboto"/>
            </a:endParaRPr>
          </a:p>
        </p:txBody>
      </p:sp>
      <p:cxnSp>
        <p:nvCxnSpPr>
          <p:cNvPr id="3379" name="Google Shape;3379;p289"/>
          <p:cNvCxnSpPr>
            <a:stCxn id="3380" idx="2"/>
            <a:endCxn id="3381" idx="6"/>
          </p:cNvCxnSpPr>
          <p:nvPr/>
        </p:nvCxnSpPr>
        <p:spPr>
          <a:xfrm rot="10800000">
            <a:off x="5648019" y="2764503"/>
            <a:ext cx="781200" cy="0"/>
          </a:xfrm>
          <a:prstGeom prst="straightConnector1">
            <a:avLst/>
          </a:prstGeom>
          <a:noFill/>
          <a:ln cap="flat" cmpd="sng" w="28575">
            <a:solidFill>
              <a:srgbClr val="595959"/>
            </a:solidFill>
            <a:prstDash val="solid"/>
            <a:round/>
            <a:headEnd len="med" w="med" type="none"/>
            <a:tailEnd len="med" w="med" type="triangle"/>
          </a:ln>
        </p:spPr>
      </p:cxnSp>
      <p:cxnSp>
        <p:nvCxnSpPr>
          <p:cNvPr id="3382" name="Google Shape;3382;p289"/>
          <p:cNvCxnSpPr>
            <a:stCxn id="3380" idx="6"/>
            <a:endCxn id="3383" idx="2"/>
          </p:cNvCxnSpPr>
          <p:nvPr/>
        </p:nvCxnSpPr>
        <p:spPr>
          <a:xfrm>
            <a:off x="7134219" y="2764503"/>
            <a:ext cx="781200" cy="0"/>
          </a:xfrm>
          <a:prstGeom prst="straightConnector1">
            <a:avLst/>
          </a:prstGeom>
          <a:noFill/>
          <a:ln cap="flat" cmpd="sng" w="28575">
            <a:solidFill>
              <a:srgbClr val="595959"/>
            </a:solidFill>
            <a:prstDash val="solid"/>
            <a:round/>
            <a:headEnd len="med" w="med" type="none"/>
            <a:tailEnd len="med" w="med" type="triangle"/>
          </a:ln>
        </p:spPr>
      </p:cxnSp>
      <p:sp>
        <p:nvSpPr>
          <p:cNvPr id="3384" name="Google Shape;3384;p289"/>
          <p:cNvSpPr/>
          <p:nvPr/>
        </p:nvSpPr>
        <p:spPr>
          <a:xfrm>
            <a:off x="7915523" y="1267213"/>
            <a:ext cx="705000" cy="705000"/>
          </a:xfrm>
          <a:prstGeom prst="ellipse">
            <a:avLst/>
          </a:prstGeom>
          <a:solidFill>
            <a:srgbClr val="F1F3F4"/>
          </a:solidFill>
          <a:ln cap="flat" cmpd="sng" w="2857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ɸ</a:t>
            </a:r>
            <a:endParaRPr sz="2400">
              <a:latin typeface="Roboto"/>
              <a:ea typeface="Roboto"/>
              <a:cs typeface="Roboto"/>
              <a:sym typeface="Roboto"/>
            </a:endParaRPr>
          </a:p>
        </p:txBody>
      </p:sp>
      <p:cxnSp>
        <p:nvCxnSpPr>
          <p:cNvPr id="3385" name="Google Shape;3385;p289"/>
          <p:cNvCxnSpPr>
            <a:stCxn id="3384" idx="4"/>
            <a:endCxn id="3383" idx="0"/>
          </p:cNvCxnSpPr>
          <p:nvPr/>
        </p:nvCxnSpPr>
        <p:spPr>
          <a:xfrm>
            <a:off x="8268023" y="1972213"/>
            <a:ext cx="0" cy="439800"/>
          </a:xfrm>
          <a:prstGeom prst="straightConnector1">
            <a:avLst/>
          </a:prstGeom>
          <a:noFill/>
          <a:ln cap="flat" cmpd="sng" w="28575">
            <a:solidFill>
              <a:srgbClr val="595959"/>
            </a:solidFill>
            <a:prstDash val="solid"/>
            <a:round/>
            <a:headEnd len="med" w="med" type="none"/>
            <a:tailEnd len="med" w="med" type="triangle"/>
          </a:ln>
        </p:spPr>
      </p:cxnSp>
      <p:cxnSp>
        <p:nvCxnSpPr>
          <p:cNvPr id="3386" name="Google Shape;3386;p289"/>
          <p:cNvCxnSpPr>
            <a:stCxn id="3384" idx="3"/>
            <a:endCxn id="3380" idx="7"/>
          </p:cNvCxnSpPr>
          <p:nvPr/>
        </p:nvCxnSpPr>
        <p:spPr>
          <a:xfrm flipH="1">
            <a:off x="7030868" y="1868968"/>
            <a:ext cx="987900" cy="646200"/>
          </a:xfrm>
          <a:prstGeom prst="straightConnector1">
            <a:avLst/>
          </a:prstGeom>
          <a:noFill/>
          <a:ln cap="flat" cmpd="sng" w="28575">
            <a:solidFill>
              <a:srgbClr val="595959"/>
            </a:solidFill>
            <a:prstDash val="solid"/>
            <a:round/>
            <a:headEnd len="med" w="med" type="none"/>
            <a:tailEnd len="med" w="med" type="triangle"/>
          </a:ln>
        </p:spPr>
      </p:cxnSp>
      <p:cxnSp>
        <p:nvCxnSpPr>
          <p:cNvPr id="3387" name="Google Shape;3387;p289"/>
          <p:cNvCxnSpPr>
            <a:stCxn id="3388" idx="0"/>
            <a:endCxn id="3381" idx="4"/>
          </p:cNvCxnSpPr>
          <p:nvPr/>
        </p:nvCxnSpPr>
        <p:spPr>
          <a:xfrm rot="10800000">
            <a:off x="5295350" y="3116882"/>
            <a:ext cx="0" cy="392400"/>
          </a:xfrm>
          <a:prstGeom prst="straightConnector1">
            <a:avLst/>
          </a:prstGeom>
          <a:noFill/>
          <a:ln cap="flat" cmpd="sng" w="28575">
            <a:solidFill>
              <a:srgbClr val="595959"/>
            </a:solidFill>
            <a:prstDash val="solid"/>
            <a:round/>
            <a:headEnd len="med" w="med" type="none"/>
            <a:tailEnd len="med" w="med" type="triangle"/>
          </a:ln>
        </p:spPr>
      </p:cxnSp>
      <p:cxnSp>
        <p:nvCxnSpPr>
          <p:cNvPr id="3389" name="Google Shape;3389;p289"/>
          <p:cNvCxnSpPr>
            <a:stCxn id="3380" idx="3"/>
            <a:endCxn id="3388" idx="7"/>
          </p:cNvCxnSpPr>
          <p:nvPr/>
        </p:nvCxnSpPr>
        <p:spPr>
          <a:xfrm flipH="1">
            <a:off x="5544564" y="3013758"/>
            <a:ext cx="987900" cy="598800"/>
          </a:xfrm>
          <a:prstGeom prst="straightConnector1">
            <a:avLst/>
          </a:prstGeom>
          <a:noFill/>
          <a:ln cap="flat" cmpd="sng" w="28575">
            <a:solidFill>
              <a:srgbClr val="595959"/>
            </a:solidFill>
            <a:prstDash val="dash"/>
            <a:round/>
            <a:headEnd len="med" w="med" type="none"/>
            <a:tailEnd len="med" w="med" type="triangle"/>
          </a:ln>
        </p:spPr>
      </p:cxnSp>
      <p:sp>
        <p:nvSpPr>
          <p:cNvPr id="3383" name="Google Shape;3383;p289"/>
          <p:cNvSpPr/>
          <p:nvPr/>
        </p:nvSpPr>
        <p:spPr>
          <a:xfrm>
            <a:off x="7915523" y="2412003"/>
            <a:ext cx="705000" cy="705000"/>
          </a:xfrm>
          <a:prstGeom prst="ellipse">
            <a:avLst/>
          </a:prstGeom>
          <a:solidFill>
            <a:srgbClr val="D2E3FC"/>
          </a:solidFill>
          <a:ln cap="flat" cmpd="sng" w="28575">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"turtle"</a:t>
            </a:r>
            <a:endParaRPr sz="2300">
              <a:latin typeface="Roboto"/>
              <a:ea typeface="Roboto"/>
              <a:cs typeface="Roboto"/>
              <a:sym typeface="Roboto"/>
            </a:endParaRPr>
          </a:p>
        </p:txBody>
      </p:sp>
      <p:cxnSp>
        <p:nvCxnSpPr>
          <p:cNvPr id="3390" name="Google Shape;3390;p289"/>
          <p:cNvCxnSpPr>
            <a:endCxn id="3388" idx="6"/>
          </p:cNvCxnSpPr>
          <p:nvPr/>
        </p:nvCxnSpPr>
        <p:spPr>
          <a:xfrm flipH="1">
            <a:off x="5647850" y="3013982"/>
            <a:ext cx="2370900" cy="847800"/>
          </a:xfrm>
          <a:prstGeom prst="straightConnector1">
            <a:avLst/>
          </a:prstGeom>
          <a:noFill/>
          <a:ln cap="flat" cmpd="sng" w="28575">
            <a:solidFill>
              <a:srgbClr val="595959"/>
            </a:solidFill>
            <a:prstDash val="dash"/>
            <a:round/>
            <a:headEnd len="med" w="med" type="none"/>
            <a:tailEnd len="med" w="med" type="triangle"/>
          </a:ln>
        </p:spPr>
      </p:cxnSp>
      <p:sp>
        <p:nvSpPr>
          <p:cNvPr id="3391" name="Google Shape;3391;p289"/>
          <p:cNvSpPr/>
          <p:nvPr/>
        </p:nvSpPr>
        <p:spPr>
          <a:xfrm>
            <a:off x="4572100" y="1152475"/>
            <a:ext cx="4423800" cy="3229500"/>
          </a:xfrm>
          <a:prstGeom prst="rect">
            <a:avLst/>
          </a:prstGeom>
          <a:solidFill>
            <a:srgbClr val="FFFFFF">
              <a:alpha val="6704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1" name="Google Shape;3381;p289"/>
          <p:cNvSpPr/>
          <p:nvPr/>
        </p:nvSpPr>
        <p:spPr>
          <a:xfrm>
            <a:off x="4942915" y="2412003"/>
            <a:ext cx="705000" cy="705000"/>
          </a:xfrm>
          <a:prstGeom prst="ellipse">
            <a:avLst/>
          </a:prstGeom>
          <a:solidFill>
            <a:srgbClr val="CEEAD6"/>
          </a:solidFill>
          <a:ln cap="flat" cmpd="sng" w="28575">
            <a:solidFill>
              <a:srgbClr val="18803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400">
              <a:latin typeface="Roboto"/>
              <a:ea typeface="Roboto"/>
              <a:cs typeface="Roboto"/>
              <a:sym typeface="Roboto"/>
            </a:endParaRPr>
          </a:p>
        </p:txBody>
      </p:sp>
      <p:pic>
        <p:nvPicPr>
          <p:cNvPr id="3392" name="Google Shape;3392;p289"/>
          <p:cNvPicPr preferRelativeResize="0"/>
          <p:nvPr/>
        </p:nvPicPr>
        <p:blipFill rotWithShape="1">
          <a:blip r:embed="rId3">
            <a:alphaModFix/>
          </a:blip>
          <a:srcRect b="10466" l="9327" r="4711" t="0"/>
          <a:stretch/>
        </p:blipFill>
        <p:spPr>
          <a:xfrm>
            <a:off x="5019642" y="2568300"/>
            <a:ext cx="551416" cy="392401"/>
          </a:xfrm>
          <a:prstGeom prst="rect">
            <a:avLst/>
          </a:prstGeom>
          <a:noFill/>
          <a:ln>
            <a:noFill/>
          </a:ln>
        </p:spPr>
      </p:pic>
      <p:sp>
        <p:nvSpPr>
          <p:cNvPr id="3380" name="Google Shape;3380;p289"/>
          <p:cNvSpPr/>
          <p:nvPr/>
        </p:nvSpPr>
        <p:spPr>
          <a:xfrm>
            <a:off x="6429219" y="2412003"/>
            <a:ext cx="705000" cy="705000"/>
          </a:xfrm>
          <a:prstGeom prst="ellipse">
            <a:avLst/>
          </a:prstGeom>
          <a:solidFill>
            <a:srgbClr val="FAD2CF"/>
          </a:solidFill>
          <a:ln cap="flat" cmpd="sng" w="28575">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a:t>
            </a:r>
            <a:endParaRPr sz="2400">
              <a:latin typeface="Roboto"/>
              <a:ea typeface="Roboto"/>
              <a:cs typeface="Roboto"/>
              <a:sym typeface="Roboto"/>
            </a:endParaRPr>
          </a:p>
        </p:txBody>
      </p:sp>
      <p:sp>
        <p:nvSpPr>
          <p:cNvPr id="3388" name="Google Shape;3388;p289"/>
          <p:cNvSpPr/>
          <p:nvPr/>
        </p:nvSpPr>
        <p:spPr>
          <a:xfrm>
            <a:off x="4942850" y="3509282"/>
            <a:ext cx="705000" cy="705000"/>
          </a:xfrm>
          <a:prstGeom prst="ellipse">
            <a:avLst/>
          </a:prstGeom>
          <a:solidFill>
            <a:srgbClr val="FEEFC3"/>
          </a:solidFill>
          <a:ln cap="flat" cmpd="sng" w="28575">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Roboto"/>
                <a:ea typeface="Roboto"/>
                <a:cs typeface="Roboto"/>
                <a:sym typeface="Roboto"/>
              </a:rPr>
              <a:t>θ</a:t>
            </a:r>
            <a:endParaRPr sz="2400">
              <a:latin typeface="Roboto"/>
              <a:ea typeface="Roboto"/>
              <a:cs typeface="Roboto"/>
              <a:sym typeface="Roboto"/>
            </a:endParaRPr>
          </a:p>
        </p:txBody>
      </p:sp>
      <p:grpSp>
        <p:nvGrpSpPr>
          <p:cNvPr id="3393" name="Google Shape;3393;p289"/>
          <p:cNvGrpSpPr/>
          <p:nvPr/>
        </p:nvGrpSpPr>
        <p:grpSpPr>
          <a:xfrm>
            <a:off x="81750" y="3613418"/>
            <a:ext cx="4393800" cy="1385700"/>
            <a:chOff x="130950" y="1444425"/>
            <a:chExt cx="4393800" cy="1385700"/>
          </a:xfrm>
        </p:grpSpPr>
        <p:sp>
          <p:nvSpPr>
            <p:cNvPr id="3394" name="Google Shape;3394;p289"/>
            <p:cNvSpPr/>
            <p:nvPr/>
          </p:nvSpPr>
          <p:spPr>
            <a:xfrm>
              <a:off x="130950" y="1444425"/>
              <a:ext cx="4393800" cy="13857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95" name="Google Shape;3395;p289"/>
            <p:cNvPicPr preferRelativeResize="0"/>
            <p:nvPr/>
          </p:nvPicPr>
          <p:blipFill>
            <a:blip r:embed="rId4">
              <a:alphaModFix/>
            </a:blip>
            <a:stretch>
              <a:fillRect/>
            </a:stretch>
          </p:blipFill>
          <p:spPr>
            <a:xfrm>
              <a:off x="160913" y="1606975"/>
              <a:ext cx="4333875" cy="1038225"/>
            </a:xfrm>
            <a:prstGeom prst="rect">
              <a:avLst/>
            </a:prstGeom>
            <a:noFill/>
            <a:ln>
              <a:noFill/>
            </a:ln>
          </p:spPr>
        </p:pic>
      </p:grpSp>
    </p:spTree>
  </p:cSld>
  <p:clrMapOvr>
    <a:masterClrMapping/>
  </p:clrMapOvr>
</p:sld>
</file>

<file path=ppt/slides/slide2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9" name="Shape 3399"/>
        <p:cNvGrpSpPr/>
        <p:nvPr/>
      </p:nvGrpSpPr>
      <p:grpSpPr>
        <a:xfrm>
          <a:off x="0" y="0"/>
          <a:ext cx="0" cy="0"/>
          <a:chOff x="0" y="0"/>
          <a:chExt cx="0" cy="0"/>
        </a:xfrm>
      </p:grpSpPr>
      <p:sp>
        <p:nvSpPr>
          <p:cNvPr id="3400" name="Google Shape;3400;p290"/>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01" name="Google Shape;3401;p290"/>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Functionals</a:t>
            </a:r>
            <a:endParaRPr b="1" sz="3000">
              <a:solidFill>
                <a:srgbClr val="000000"/>
              </a:solidFill>
              <a:latin typeface="Google Sans"/>
              <a:ea typeface="Google Sans"/>
              <a:cs typeface="Google Sans"/>
              <a:sym typeface="Google Sans"/>
            </a:endParaRPr>
          </a:p>
        </p:txBody>
      </p:sp>
      <p:grpSp>
        <p:nvGrpSpPr>
          <p:cNvPr id="3402" name="Google Shape;3402;p290"/>
          <p:cNvGrpSpPr/>
          <p:nvPr/>
        </p:nvGrpSpPr>
        <p:grpSpPr>
          <a:xfrm>
            <a:off x="4693375" y="1444425"/>
            <a:ext cx="4393800" cy="1385700"/>
            <a:chOff x="130950" y="1444425"/>
            <a:chExt cx="4393800" cy="1385700"/>
          </a:xfrm>
        </p:grpSpPr>
        <p:sp>
          <p:nvSpPr>
            <p:cNvPr id="3403" name="Google Shape;3403;p290"/>
            <p:cNvSpPr/>
            <p:nvPr/>
          </p:nvSpPr>
          <p:spPr>
            <a:xfrm>
              <a:off x="130950" y="1444425"/>
              <a:ext cx="4393800" cy="13857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04" name="Google Shape;3404;p290"/>
            <p:cNvPicPr preferRelativeResize="0"/>
            <p:nvPr/>
          </p:nvPicPr>
          <p:blipFill>
            <a:blip r:embed="rId3">
              <a:alphaModFix/>
            </a:blip>
            <a:stretch>
              <a:fillRect/>
            </a:stretch>
          </p:blipFill>
          <p:spPr>
            <a:xfrm>
              <a:off x="160913" y="1606975"/>
              <a:ext cx="4333875" cy="1038225"/>
            </a:xfrm>
            <a:prstGeom prst="rect">
              <a:avLst/>
            </a:prstGeom>
            <a:noFill/>
            <a:ln>
              <a:noFill/>
            </a:ln>
          </p:spPr>
        </p:pic>
      </p:grpSp>
      <p:grpSp>
        <p:nvGrpSpPr>
          <p:cNvPr id="3405" name="Google Shape;3405;p290"/>
          <p:cNvGrpSpPr/>
          <p:nvPr/>
        </p:nvGrpSpPr>
        <p:grpSpPr>
          <a:xfrm>
            <a:off x="4693363" y="2998075"/>
            <a:ext cx="4393800" cy="1385700"/>
            <a:chOff x="130938" y="3009800"/>
            <a:chExt cx="4393800" cy="1385700"/>
          </a:xfrm>
        </p:grpSpPr>
        <p:sp>
          <p:nvSpPr>
            <p:cNvPr id="3406" name="Google Shape;3406;p290"/>
            <p:cNvSpPr/>
            <p:nvPr/>
          </p:nvSpPr>
          <p:spPr>
            <a:xfrm>
              <a:off x="130938" y="3009800"/>
              <a:ext cx="4393800" cy="13857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07" name="Google Shape;3407;p290"/>
            <p:cNvPicPr preferRelativeResize="0"/>
            <p:nvPr/>
          </p:nvPicPr>
          <p:blipFill>
            <a:blip r:embed="rId4">
              <a:alphaModFix/>
            </a:blip>
            <a:stretch>
              <a:fillRect/>
            </a:stretch>
          </p:blipFill>
          <p:spPr>
            <a:xfrm>
              <a:off x="365688" y="3354988"/>
              <a:ext cx="3924300" cy="847725"/>
            </a:xfrm>
            <a:prstGeom prst="rect">
              <a:avLst/>
            </a:prstGeom>
            <a:noFill/>
            <a:ln>
              <a:noFill/>
            </a:ln>
          </p:spPr>
        </p:pic>
      </p:grpSp>
      <p:grpSp>
        <p:nvGrpSpPr>
          <p:cNvPr id="3408" name="Google Shape;3408;p290"/>
          <p:cNvGrpSpPr/>
          <p:nvPr/>
        </p:nvGrpSpPr>
        <p:grpSpPr>
          <a:xfrm>
            <a:off x="130938" y="2998075"/>
            <a:ext cx="4393800" cy="1385700"/>
            <a:chOff x="4693363" y="1444425"/>
            <a:chExt cx="4393800" cy="1385700"/>
          </a:xfrm>
        </p:grpSpPr>
        <p:sp>
          <p:nvSpPr>
            <p:cNvPr id="3409" name="Google Shape;3409;p290"/>
            <p:cNvSpPr/>
            <p:nvPr/>
          </p:nvSpPr>
          <p:spPr>
            <a:xfrm>
              <a:off x="4693363" y="1444425"/>
              <a:ext cx="4393800" cy="13857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0" name="Google Shape;3410;p290"/>
            <p:cNvPicPr preferRelativeResize="0"/>
            <p:nvPr/>
          </p:nvPicPr>
          <p:blipFill>
            <a:blip r:embed="rId5">
              <a:alphaModFix/>
            </a:blip>
            <a:stretch>
              <a:fillRect/>
            </a:stretch>
          </p:blipFill>
          <p:spPr>
            <a:xfrm>
              <a:off x="4894788" y="1789613"/>
              <a:ext cx="3990975" cy="847725"/>
            </a:xfrm>
            <a:prstGeom prst="rect">
              <a:avLst/>
            </a:prstGeom>
            <a:noFill/>
            <a:ln>
              <a:noFill/>
            </a:ln>
          </p:spPr>
        </p:pic>
      </p:grpSp>
      <p:grpSp>
        <p:nvGrpSpPr>
          <p:cNvPr id="3411" name="Google Shape;3411;p290"/>
          <p:cNvGrpSpPr/>
          <p:nvPr/>
        </p:nvGrpSpPr>
        <p:grpSpPr>
          <a:xfrm>
            <a:off x="130938" y="1444413"/>
            <a:ext cx="4393800" cy="1385700"/>
            <a:chOff x="4693363" y="3032863"/>
            <a:chExt cx="4393800" cy="1385700"/>
          </a:xfrm>
        </p:grpSpPr>
        <p:sp>
          <p:nvSpPr>
            <p:cNvPr id="3412" name="Google Shape;3412;p290"/>
            <p:cNvSpPr/>
            <p:nvPr/>
          </p:nvSpPr>
          <p:spPr>
            <a:xfrm>
              <a:off x="4693363" y="3032863"/>
              <a:ext cx="4393800" cy="13857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13" name="Google Shape;3413;p290"/>
            <p:cNvPicPr preferRelativeResize="0"/>
            <p:nvPr/>
          </p:nvPicPr>
          <p:blipFill>
            <a:blip r:embed="rId6">
              <a:alphaModFix/>
            </a:blip>
            <a:stretch>
              <a:fillRect/>
            </a:stretch>
          </p:blipFill>
          <p:spPr>
            <a:xfrm>
              <a:off x="4875738" y="3191513"/>
              <a:ext cx="4029075" cy="952500"/>
            </a:xfrm>
            <a:prstGeom prst="rect">
              <a:avLst/>
            </a:prstGeom>
            <a:noFill/>
            <a:ln>
              <a:noFill/>
            </a:ln>
          </p:spPr>
        </p:pic>
      </p:grpSp>
    </p:spTree>
  </p:cSld>
  <p:clrMapOvr>
    <a:masterClrMapping/>
  </p:clrMapOvr>
</p:sld>
</file>

<file path=ppt/slides/slide2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7" name="Shape 3417"/>
        <p:cNvGrpSpPr/>
        <p:nvPr/>
      </p:nvGrpSpPr>
      <p:grpSpPr>
        <a:xfrm>
          <a:off x="0" y="0"/>
          <a:ext cx="0" cy="0"/>
          <a:chOff x="0" y="0"/>
          <a:chExt cx="0" cy="0"/>
        </a:xfrm>
      </p:grpSpPr>
      <p:sp>
        <p:nvSpPr>
          <p:cNvPr id="3418" name="Google Shape;3418;p291"/>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19" name="Google Shape;3419;p291"/>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General </a:t>
            </a:r>
            <a:r>
              <a:rPr b="1" lang="en" sz="3000">
                <a:solidFill>
                  <a:schemeClr val="dk1"/>
                </a:solidFill>
                <a:latin typeface="Google Sans"/>
                <a:ea typeface="Google Sans"/>
                <a:cs typeface="Google Sans"/>
                <a:sym typeface="Google Sans"/>
              </a:rPr>
              <a:t>Loss</a:t>
            </a:r>
            <a:endParaRPr b="1" sz="3000">
              <a:solidFill>
                <a:schemeClr val="dk1"/>
              </a:solidFill>
              <a:latin typeface="Google Sans"/>
              <a:ea typeface="Google Sans"/>
              <a:cs typeface="Google Sans"/>
              <a:sym typeface="Google Sans"/>
            </a:endParaRPr>
          </a:p>
        </p:txBody>
      </p:sp>
      <p:sp>
        <p:nvSpPr>
          <p:cNvPr id="3420" name="Google Shape;3420;p291"/>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pic>
        <p:nvPicPr>
          <p:cNvPr id="3421" name="Google Shape;3421;p291"/>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22" name="Google Shape;3422;p291"/>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423" name="Google Shape;3423;p291"/>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
        <p:nvSpPr>
          <p:cNvPr id="3424" name="Google Shape;3424;p291"/>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
        <p:nvSpPr>
          <p:cNvPr id="3425" name="Google Shape;3425;p291"/>
          <p:cNvSpPr txBox="1"/>
          <p:nvPr/>
        </p:nvSpPr>
        <p:spPr>
          <a:xfrm>
            <a:off x="7899307" y="2609709"/>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Entropy</a:t>
            </a:r>
            <a:endParaRPr i="1">
              <a:solidFill>
                <a:srgbClr val="9E9E9E"/>
              </a:solidFill>
              <a:latin typeface="Roboto"/>
              <a:ea typeface="Roboto"/>
              <a:cs typeface="Roboto"/>
              <a:sym typeface="Roboto"/>
            </a:endParaRPr>
          </a:p>
        </p:txBody>
      </p:sp>
    </p:spTree>
  </p:cSld>
  <p:clrMapOvr>
    <a:masterClrMapping/>
  </p:clrMapOvr>
</p:sld>
</file>

<file path=ppt/slides/slide2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9" name="Shape 3429"/>
        <p:cNvGrpSpPr/>
        <p:nvPr/>
      </p:nvGrpSpPr>
      <p:grpSpPr>
        <a:xfrm>
          <a:off x="0" y="0"/>
          <a:ext cx="0" cy="0"/>
          <a:chOff x="0" y="0"/>
          <a:chExt cx="0" cy="0"/>
        </a:xfrm>
      </p:grpSpPr>
      <p:sp>
        <p:nvSpPr>
          <p:cNvPr id="3430" name="Google Shape;3430;p292"/>
          <p:cNvSpPr/>
          <p:nvPr/>
        </p:nvSpPr>
        <p:spPr>
          <a:xfrm>
            <a:off x="6200718" y="1578800"/>
            <a:ext cx="6834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292"/>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32" name="Google Shape;3432;p292"/>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Classifier</a:t>
            </a:r>
            <a:endParaRPr b="1" sz="3000">
              <a:solidFill>
                <a:schemeClr val="dk1"/>
              </a:solidFill>
              <a:latin typeface="Google Sans"/>
              <a:ea typeface="Google Sans"/>
              <a:cs typeface="Google Sans"/>
              <a:sym typeface="Google Sans"/>
            </a:endParaRPr>
          </a:p>
        </p:txBody>
      </p:sp>
      <p:sp>
        <p:nvSpPr>
          <p:cNvPr id="3433" name="Google Shape;3433;p292"/>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pic>
        <p:nvPicPr>
          <p:cNvPr id="3434" name="Google Shape;3434;p292"/>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35" name="Google Shape;3435;p292"/>
          <p:cNvSpPr/>
          <p:nvPr/>
        </p:nvSpPr>
        <p:spPr>
          <a:xfrm>
            <a:off x="1714500" y="1362200"/>
            <a:ext cx="44742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292"/>
          <p:cNvSpPr/>
          <p:nvPr/>
        </p:nvSpPr>
        <p:spPr>
          <a:xfrm>
            <a:off x="7050050" y="1406550"/>
            <a:ext cx="19458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292"/>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Normal Supervised Learning</a:t>
            </a:r>
            <a:endParaRPr sz="2400">
              <a:latin typeface="Google Sans"/>
              <a:ea typeface="Google Sans"/>
              <a:cs typeface="Google Sans"/>
              <a:sym typeface="Google Sans"/>
            </a:endParaRPr>
          </a:p>
        </p:txBody>
      </p:sp>
      <p:sp>
        <p:nvSpPr>
          <p:cNvPr id="3438" name="Google Shape;3438;p292"/>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Tree>
  </p:cSld>
  <p:clrMapOvr>
    <a:masterClrMapping/>
  </p:clrMapOvr>
</p:sld>
</file>

<file path=ppt/slides/slide2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2" name="Shape 3442"/>
        <p:cNvGrpSpPr/>
        <p:nvPr/>
      </p:nvGrpSpPr>
      <p:grpSpPr>
        <a:xfrm>
          <a:off x="0" y="0"/>
          <a:ext cx="0" cy="0"/>
          <a:chOff x="0" y="0"/>
          <a:chExt cx="0" cy="0"/>
        </a:xfrm>
      </p:grpSpPr>
      <p:sp>
        <p:nvSpPr>
          <p:cNvPr id="3443" name="Google Shape;3443;p293"/>
          <p:cNvSpPr/>
          <p:nvPr/>
        </p:nvSpPr>
        <p:spPr>
          <a:xfrm>
            <a:off x="1655786" y="1623032"/>
            <a:ext cx="1244700" cy="9642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4" name="Google Shape;3444;p293"/>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45" name="Google Shape;3445;p293"/>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VIB</a:t>
            </a:r>
            <a:endParaRPr b="1" sz="3000">
              <a:solidFill>
                <a:schemeClr val="dk1"/>
              </a:solidFill>
              <a:latin typeface="Google Sans"/>
              <a:ea typeface="Google Sans"/>
              <a:cs typeface="Google Sans"/>
              <a:sym typeface="Google Sans"/>
            </a:endParaRPr>
          </a:p>
        </p:txBody>
      </p:sp>
      <p:sp>
        <p:nvSpPr>
          <p:cNvPr id="3446" name="Google Shape;3446;p293"/>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447" name="Google Shape;3447;p293"/>
          <p:cNvSpPr/>
          <p:nvPr/>
        </p:nvSpPr>
        <p:spPr>
          <a:xfrm>
            <a:off x="6200718" y="1578800"/>
            <a:ext cx="6834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48" name="Google Shape;3448;p293"/>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49" name="Google Shape;3449;p293"/>
          <p:cNvSpPr/>
          <p:nvPr/>
        </p:nvSpPr>
        <p:spPr>
          <a:xfrm>
            <a:off x="3663875" y="1362200"/>
            <a:ext cx="25251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293"/>
          <p:cNvSpPr/>
          <p:nvPr/>
        </p:nvSpPr>
        <p:spPr>
          <a:xfrm>
            <a:off x="7050050" y="1406550"/>
            <a:ext cx="19458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293"/>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Variational Information Bottleneck</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Alemi et al. 2016</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1612.00410</a:t>
            </a:r>
            <a:endParaRPr sz="2400">
              <a:solidFill>
                <a:srgbClr val="9E9E9E"/>
              </a:solidFill>
              <a:latin typeface="Roboto Mono"/>
              <a:ea typeface="Roboto Mono"/>
              <a:cs typeface="Roboto Mono"/>
              <a:sym typeface="Roboto Mono"/>
            </a:endParaRPr>
          </a:p>
        </p:txBody>
      </p:sp>
      <p:sp>
        <p:nvSpPr>
          <p:cNvPr id="3452" name="Google Shape;3452;p293"/>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453" name="Google Shape;3453;p293"/>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Tree>
  </p:cSld>
  <p:clrMapOvr>
    <a:masterClrMapping/>
  </p:clrMapOvr>
</p:sld>
</file>

<file path=ppt/slides/slide2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7" name="Shape 3457"/>
        <p:cNvGrpSpPr/>
        <p:nvPr/>
      </p:nvGrpSpPr>
      <p:grpSpPr>
        <a:xfrm>
          <a:off x="0" y="0"/>
          <a:ext cx="0" cy="0"/>
          <a:chOff x="0" y="0"/>
          <a:chExt cx="0" cy="0"/>
        </a:xfrm>
      </p:grpSpPr>
      <p:sp>
        <p:nvSpPr>
          <p:cNvPr id="3458" name="Google Shape;3458;p294"/>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59" name="Google Shape;3459;p294"/>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Autoencoder</a:t>
            </a:r>
            <a:endParaRPr b="1" sz="3000">
              <a:solidFill>
                <a:schemeClr val="dk1"/>
              </a:solidFill>
              <a:latin typeface="Google Sans"/>
              <a:ea typeface="Google Sans"/>
              <a:cs typeface="Google Sans"/>
              <a:sym typeface="Google Sans"/>
            </a:endParaRPr>
          </a:p>
        </p:txBody>
      </p:sp>
      <p:sp>
        <p:nvSpPr>
          <p:cNvPr id="3460" name="Google Shape;3460;p294"/>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461" name="Google Shape;3461;p294"/>
          <p:cNvSpPr/>
          <p:nvPr/>
        </p:nvSpPr>
        <p:spPr>
          <a:xfrm>
            <a:off x="4133493" y="1613232"/>
            <a:ext cx="683400" cy="9642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62" name="Google Shape;3462;p294"/>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63" name="Google Shape;3463;p294"/>
          <p:cNvSpPr/>
          <p:nvPr/>
        </p:nvSpPr>
        <p:spPr>
          <a:xfrm>
            <a:off x="3663875" y="13622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4" name="Google Shape;3464;p294"/>
          <p:cNvSpPr/>
          <p:nvPr/>
        </p:nvSpPr>
        <p:spPr>
          <a:xfrm>
            <a:off x="4943875" y="1406550"/>
            <a:ext cx="40521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5" name="Google Shape;3465;p294"/>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Autoencoder</a:t>
            </a:r>
            <a:endParaRPr sz="2400">
              <a:latin typeface="Google Sans"/>
              <a:ea typeface="Google Sans"/>
              <a:cs typeface="Google Sans"/>
              <a:sym typeface="Google Sans"/>
            </a:endParaRPr>
          </a:p>
          <a:p>
            <a:pPr indent="0" lvl="0" marL="0" rtl="0" algn="ctr">
              <a:spcBef>
                <a:spcPts val="0"/>
              </a:spcBef>
              <a:spcAft>
                <a:spcPts val="0"/>
              </a:spcAft>
              <a:buNone/>
            </a:pPr>
            <a:r>
              <a:t/>
            </a:r>
            <a:endParaRPr i="1" sz="2400">
              <a:solidFill>
                <a:srgbClr val="9E9E9E"/>
              </a:solidFill>
              <a:latin typeface="Google Sans"/>
              <a:ea typeface="Google Sans"/>
              <a:cs typeface="Google Sans"/>
              <a:sym typeface="Google Sans"/>
            </a:endParaRPr>
          </a:p>
        </p:txBody>
      </p:sp>
      <p:sp>
        <p:nvSpPr>
          <p:cNvPr id="3466" name="Google Shape;3466;p294"/>
          <p:cNvSpPr/>
          <p:nvPr/>
        </p:nvSpPr>
        <p:spPr>
          <a:xfrm>
            <a:off x="1726025" y="1526350"/>
            <a:ext cx="20082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7" name="Google Shape;3467;p294"/>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Tree>
  </p:cSld>
  <p:clrMapOvr>
    <a:masterClrMapping/>
  </p:clrMapOvr>
</p:sld>
</file>

<file path=ppt/slides/slide2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1" name="Shape 3471"/>
        <p:cNvGrpSpPr/>
        <p:nvPr/>
      </p:nvGrpSpPr>
      <p:grpSpPr>
        <a:xfrm>
          <a:off x="0" y="0"/>
          <a:ext cx="0" cy="0"/>
          <a:chOff x="0" y="0"/>
          <a:chExt cx="0" cy="0"/>
        </a:xfrm>
      </p:grpSpPr>
      <p:sp>
        <p:nvSpPr>
          <p:cNvPr id="3472" name="Google Shape;3472;p295"/>
          <p:cNvSpPr/>
          <p:nvPr/>
        </p:nvSpPr>
        <p:spPr>
          <a:xfrm>
            <a:off x="2170107" y="1623025"/>
            <a:ext cx="683400" cy="9642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3" name="Google Shape;3473;p295"/>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74" name="Google Shape;3474;p295"/>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VAE</a:t>
            </a:r>
            <a:endParaRPr b="1" sz="3000">
              <a:solidFill>
                <a:schemeClr val="dk1"/>
              </a:solidFill>
              <a:latin typeface="Google Sans"/>
              <a:ea typeface="Google Sans"/>
              <a:cs typeface="Google Sans"/>
              <a:sym typeface="Google Sans"/>
            </a:endParaRPr>
          </a:p>
        </p:txBody>
      </p:sp>
      <p:sp>
        <p:nvSpPr>
          <p:cNvPr id="3475" name="Google Shape;3475;p295"/>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476" name="Google Shape;3476;p295"/>
          <p:cNvSpPr/>
          <p:nvPr/>
        </p:nvSpPr>
        <p:spPr>
          <a:xfrm>
            <a:off x="4133493" y="1613232"/>
            <a:ext cx="683400" cy="9642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77" name="Google Shape;3477;p295"/>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78" name="Google Shape;3478;p295"/>
          <p:cNvSpPr/>
          <p:nvPr/>
        </p:nvSpPr>
        <p:spPr>
          <a:xfrm>
            <a:off x="3663875" y="13622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9" name="Google Shape;3479;p295"/>
          <p:cNvSpPr/>
          <p:nvPr/>
        </p:nvSpPr>
        <p:spPr>
          <a:xfrm>
            <a:off x="4943875" y="1406550"/>
            <a:ext cx="40521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0" name="Google Shape;3480;p295"/>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Variational Autoencoder</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Kingma / Rezende 2013</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1312.6114/1401.4082</a:t>
            </a:r>
            <a:endParaRPr i="1" sz="2400">
              <a:solidFill>
                <a:srgbClr val="9E9E9E"/>
              </a:solidFill>
              <a:latin typeface="Roboto Mono"/>
              <a:ea typeface="Roboto Mono"/>
              <a:cs typeface="Roboto Mono"/>
              <a:sym typeface="Roboto Mono"/>
            </a:endParaRPr>
          </a:p>
        </p:txBody>
      </p:sp>
      <p:sp>
        <p:nvSpPr>
          <p:cNvPr id="3481" name="Google Shape;3481;p295"/>
          <p:cNvSpPr/>
          <p:nvPr/>
        </p:nvSpPr>
        <p:spPr>
          <a:xfrm>
            <a:off x="1725993" y="152635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2" name="Google Shape;3482;p295"/>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483" name="Google Shape;3483;p295"/>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Tree>
  </p:cSld>
  <p:clrMapOvr>
    <a:masterClrMapping/>
  </p:clrMapOvr>
</p:sld>
</file>

<file path=ppt/slides/slide2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7" name="Shape 3487"/>
        <p:cNvGrpSpPr/>
        <p:nvPr/>
      </p:nvGrpSpPr>
      <p:grpSpPr>
        <a:xfrm>
          <a:off x="0" y="0"/>
          <a:ext cx="0" cy="0"/>
          <a:chOff x="0" y="0"/>
          <a:chExt cx="0" cy="0"/>
        </a:xfrm>
      </p:grpSpPr>
      <p:sp>
        <p:nvSpPr>
          <p:cNvPr id="3488" name="Google Shape;3488;p296"/>
          <p:cNvSpPr/>
          <p:nvPr/>
        </p:nvSpPr>
        <p:spPr>
          <a:xfrm>
            <a:off x="1714495" y="1623025"/>
            <a:ext cx="1139100" cy="9642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9" name="Google Shape;3489;p296"/>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490" name="Google Shape;3490;p296"/>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𝛽-VAE</a:t>
            </a:r>
            <a:endParaRPr b="1" sz="3000">
              <a:solidFill>
                <a:schemeClr val="dk1"/>
              </a:solidFill>
              <a:latin typeface="Google Sans"/>
              <a:ea typeface="Google Sans"/>
              <a:cs typeface="Google Sans"/>
              <a:sym typeface="Google Sans"/>
            </a:endParaRPr>
          </a:p>
        </p:txBody>
      </p:sp>
      <p:sp>
        <p:nvSpPr>
          <p:cNvPr id="3491" name="Google Shape;3491;p296"/>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492" name="Google Shape;3492;p296"/>
          <p:cNvSpPr/>
          <p:nvPr/>
        </p:nvSpPr>
        <p:spPr>
          <a:xfrm>
            <a:off x="4133493" y="1613232"/>
            <a:ext cx="683400" cy="9642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93" name="Google Shape;3493;p296"/>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494" name="Google Shape;3494;p296"/>
          <p:cNvSpPr/>
          <p:nvPr/>
        </p:nvSpPr>
        <p:spPr>
          <a:xfrm>
            <a:off x="3663875" y="13622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5" name="Google Shape;3495;p296"/>
          <p:cNvSpPr/>
          <p:nvPr/>
        </p:nvSpPr>
        <p:spPr>
          <a:xfrm>
            <a:off x="4943875" y="1406550"/>
            <a:ext cx="40521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296"/>
          <p:cNvSpPr txBox="1"/>
          <p:nvPr/>
        </p:nvSpPr>
        <p:spPr>
          <a:xfrm>
            <a:off x="589000" y="3196425"/>
            <a:ext cx="38862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𝛽-VAE</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Higgins et al. 2017</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1606.05579</a:t>
            </a:r>
            <a:endParaRPr sz="2400">
              <a:solidFill>
                <a:srgbClr val="9E9E9E"/>
              </a:solidFill>
              <a:latin typeface="Roboto Mono"/>
              <a:ea typeface="Roboto Mono"/>
              <a:cs typeface="Roboto Mono"/>
              <a:sym typeface="Roboto Mono"/>
            </a:endParaRPr>
          </a:p>
        </p:txBody>
      </p:sp>
      <p:sp>
        <p:nvSpPr>
          <p:cNvPr id="3497" name="Google Shape;3497;p296"/>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498" name="Google Shape;3498;p296"/>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
        <p:nvSpPr>
          <p:cNvPr id="3499" name="Google Shape;3499;p296"/>
          <p:cNvSpPr txBox="1"/>
          <p:nvPr/>
        </p:nvSpPr>
        <p:spPr>
          <a:xfrm>
            <a:off x="4475200" y="3196425"/>
            <a:ext cx="38862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Google Sans"/>
                <a:ea typeface="Google Sans"/>
                <a:cs typeface="Google Sans"/>
                <a:sym typeface="Google Sans"/>
              </a:rPr>
              <a:t>Fixing a Broken ELBO</a:t>
            </a:r>
            <a:endParaRPr sz="2400">
              <a:solidFill>
                <a:schemeClr val="dk1"/>
              </a:solidFill>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Alemi et al. 2018  </a:t>
            </a:r>
            <a:r>
              <a:rPr lang="en" sz="2400">
                <a:solidFill>
                  <a:srgbClr val="9E9E9E"/>
                </a:solidFill>
                <a:latin typeface="Roboto Mono"/>
                <a:ea typeface="Roboto Mono"/>
                <a:cs typeface="Roboto Mono"/>
                <a:sym typeface="Roboto Mono"/>
              </a:rPr>
              <a:t>1711.00464</a:t>
            </a:r>
            <a:endParaRPr sz="2400">
              <a:solidFill>
                <a:srgbClr val="9E9E9E"/>
              </a:solidFill>
              <a:latin typeface="Roboto Mono"/>
              <a:ea typeface="Roboto Mono"/>
              <a:cs typeface="Roboto Mono"/>
              <a:sym typeface="Roboto Mono"/>
            </a:endParaRPr>
          </a:p>
          <a:p>
            <a:pPr indent="0" lvl="0" marL="0" rtl="0" algn="ctr">
              <a:spcBef>
                <a:spcPts val="0"/>
              </a:spcBef>
              <a:spcAft>
                <a:spcPts val="0"/>
              </a:spcAft>
              <a:buNone/>
            </a:pPr>
            <a:r>
              <a:t/>
            </a:r>
            <a:endParaRPr sz="2400">
              <a:solidFill>
                <a:srgbClr val="9E9E9E"/>
              </a:solidFill>
              <a:latin typeface="Roboto Mono"/>
              <a:ea typeface="Roboto Mono"/>
              <a:cs typeface="Roboto Mono"/>
              <a:sym typeface="Roboto Mono"/>
            </a:endParaRPr>
          </a:p>
        </p:txBody>
      </p:sp>
    </p:spTree>
  </p:cSld>
  <p:clrMapOvr>
    <a:masterClrMapping/>
  </p:clrMapOvr>
</p:sld>
</file>

<file path=ppt/slides/slide2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3" name="Shape 3503"/>
        <p:cNvGrpSpPr/>
        <p:nvPr/>
      </p:nvGrpSpPr>
      <p:grpSpPr>
        <a:xfrm>
          <a:off x="0" y="0"/>
          <a:ext cx="0" cy="0"/>
          <a:chOff x="0" y="0"/>
          <a:chExt cx="0" cy="0"/>
        </a:xfrm>
      </p:grpSpPr>
      <p:sp>
        <p:nvSpPr>
          <p:cNvPr id="3504" name="Google Shape;3504;p297"/>
          <p:cNvSpPr/>
          <p:nvPr/>
        </p:nvSpPr>
        <p:spPr>
          <a:xfrm>
            <a:off x="5745030" y="1578800"/>
            <a:ext cx="11391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5" name="Google Shape;3505;p297"/>
          <p:cNvSpPr/>
          <p:nvPr/>
        </p:nvSpPr>
        <p:spPr>
          <a:xfrm>
            <a:off x="2170198" y="1623025"/>
            <a:ext cx="683400" cy="9642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6" name="Google Shape;3506;p297"/>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507" name="Google Shape;3507;p297"/>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SS-VAE</a:t>
            </a:r>
            <a:endParaRPr b="1" sz="3000">
              <a:solidFill>
                <a:schemeClr val="dk1"/>
              </a:solidFill>
              <a:latin typeface="Google Sans"/>
              <a:ea typeface="Google Sans"/>
              <a:cs typeface="Google Sans"/>
              <a:sym typeface="Google Sans"/>
            </a:endParaRPr>
          </a:p>
        </p:txBody>
      </p:sp>
      <p:sp>
        <p:nvSpPr>
          <p:cNvPr id="3508" name="Google Shape;3508;p297"/>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509" name="Google Shape;3509;p297"/>
          <p:cNvSpPr/>
          <p:nvPr/>
        </p:nvSpPr>
        <p:spPr>
          <a:xfrm>
            <a:off x="4133493" y="1613232"/>
            <a:ext cx="683400" cy="9642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10" name="Google Shape;3510;p297"/>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511" name="Google Shape;3511;p297"/>
          <p:cNvSpPr/>
          <p:nvPr/>
        </p:nvSpPr>
        <p:spPr>
          <a:xfrm>
            <a:off x="3663875" y="13622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2" name="Google Shape;3512;p297"/>
          <p:cNvSpPr/>
          <p:nvPr/>
        </p:nvSpPr>
        <p:spPr>
          <a:xfrm>
            <a:off x="6963950" y="1406550"/>
            <a:ext cx="18795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3" name="Google Shape;3513;p297"/>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Semi Supervised VAE</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Kingma et al. 2014</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1406.5298</a:t>
            </a:r>
            <a:endParaRPr sz="2400">
              <a:solidFill>
                <a:srgbClr val="9E9E9E"/>
              </a:solidFill>
              <a:latin typeface="Roboto Mono"/>
              <a:ea typeface="Roboto Mono"/>
              <a:cs typeface="Roboto Mono"/>
              <a:sym typeface="Roboto Mono"/>
            </a:endParaRPr>
          </a:p>
        </p:txBody>
      </p:sp>
      <p:sp>
        <p:nvSpPr>
          <p:cNvPr id="3514" name="Google Shape;3514;p297"/>
          <p:cNvSpPr/>
          <p:nvPr/>
        </p:nvSpPr>
        <p:spPr>
          <a:xfrm>
            <a:off x="1724057" y="14911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297"/>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516" name="Google Shape;3516;p297"/>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
        <p:nvSpPr>
          <p:cNvPr id="3517" name="Google Shape;3517;p297"/>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Tree>
  </p:cSld>
  <p:clrMapOvr>
    <a:masterClrMapping/>
  </p:clrMapOvr>
</p:sld>
</file>

<file path=ppt/slides/slide2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1" name="Shape 3521"/>
        <p:cNvGrpSpPr/>
        <p:nvPr/>
      </p:nvGrpSpPr>
      <p:grpSpPr>
        <a:xfrm>
          <a:off x="0" y="0"/>
          <a:ext cx="0" cy="0"/>
          <a:chOff x="0" y="0"/>
          <a:chExt cx="0" cy="0"/>
        </a:xfrm>
      </p:grpSpPr>
      <p:sp>
        <p:nvSpPr>
          <p:cNvPr id="3522" name="Google Shape;3522;p298"/>
          <p:cNvSpPr/>
          <p:nvPr/>
        </p:nvSpPr>
        <p:spPr>
          <a:xfrm>
            <a:off x="8249509" y="1578800"/>
            <a:ext cx="683400" cy="9642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298"/>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524" name="Google Shape;3524;p298"/>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BBB</a:t>
            </a:r>
            <a:endParaRPr b="1" sz="3000">
              <a:solidFill>
                <a:schemeClr val="dk1"/>
              </a:solidFill>
              <a:latin typeface="Google Sans"/>
              <a:ea typeface="Google Sans"/>
              <a:cs typeface="Google Sans"/>
              <a:sym typeface="Google Sans"/>
            </a:endParaRPr>
          </a:p>
        </p:txBody>
      </p:sp>
      <p:sp>
        <p:nvSpPr>
          <p:cNvPr id="3525" name="Google Shape;3525;p298"/>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526" name="Google Shape;3526;p298"/>
          <p:cNvSpPr/>
          <p:nvPr/>
        </p:nvSpPr>
        <p:spPr>
          <a:xfrm>
            <a:off x="6200718" y="1578800"/>
            <a:ext cx="6834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27" name="Google Shape;3527;p298"/>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528" name="Google Shape;3528;p298"/>
          <p:cNvSpPr/>
          <p:nvPr/>
        </p:nvSpPr>
        <p:spPr>
          <a:xfrm>
            <a:off x="1714500" y="1362200"/>
            <a:ext cx="44745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9" name="Google Shape;3529;p298"/>
          <p:cNvSpPr/>
          <p:nvPr/>
        </p:nvSpPr>
        <p:spPr>
          <a:xfrm>
            <a:off x="7762220" y="1418300"/>
            <a:ext cx="4878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298"/>
          <p:cNvSpPr txBox="1"/>
          <p:nvPr/>
        </p:nvSpPr>
        <p:spPr>
          <a:xfrm>
            <a:off x="673325" y="3174238"/>
            <a:ext cx="39090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Bayes by Backprop</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Blundell et al. 2015</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1505.05424</a:t>
            </a:r>
            <a:endParaRPr i="1" sz="2400">
              <a:solidFill>
                <a:srgbClr val="9E9E9E"/>
              </a:solidFill>
              <a:latin typeface="Google Sans"/>
              <a:ea typeface="Google Sans"/>
              <a:cs typeface="Google Sans"/>
              <a:sym typeface="Google Sans"/>
            </a:endParaRPr>
          </a:p>
        </p:txBody>
      </p:sp>
      <p:sp>
        <p:nvSpPr>
          <p:cNvPr id="3531" name="Google Shape;3531;p298"/>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
        <p:nvSpPr>
          <p:cNvPr id="3532" name="Google Shape;3532;p298"/>
          <p:cNvSpPr txBox="1"/>
          <p:nvPr/>
        </p:nvSpPr>
        <p:spPr>
          <a:xfrm>
            <a:off x="7899307" y="2609709"/>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Entropy</a:t>
            </a:r>
            <a:endParaRPr i="1">
              <a:solidFill>
                <a:srgbClr val="9E9E9E"/>
              </a:solidFill>
              <a:latin typeface="Roboto"/>
              <a:ea typeface="Roboto"/>
              <a:cs typeface="Roboto"/>
              <a:sym typeface="Roboto"/>
            </a:endParaRPr>
          </a:p>
        </p:txBody>
      </p:sp>
      <p:sp>
        <p:nvSpPr>
          <p:cNvPr id="3533" name="Google Shape;3533;p298"/>
          <p:cNvSpPr txBox="1"/>
          <p:nvPr/>
        </p:nvSpPr>
        <p:spPr>
          <a:xfrm>
            <a:off x="4561675" y="3174250"/>
            <a:ext cx="39090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2400">
                <a:solidFill>
                  <a:schemeClr val="dk1"/>
                </a:solidFill>
                <a:latin typeface="Google Sans"/>
                <a:ea typeface="Google Sans"/>
                <a:cs typeface="Google Sans"/>
                <a:sym typeface="Google Sans"/>
              </a:rPr>
              <a:t>Neural Process</a:t>
            </a:r>
            <a:endParaRPr sz="2400">
              <a:solidFill>
                <a:schemeClr val="dk1"/>
              </a:solidFill>
              <a:latin typeface="Google Sans"/>
              <a:ea typeface="Google Sans"/>
              <a:cs typeface="Google Sans"/>
              <a:sym typeface="Google Sans"/>
            </a:endParaRPr>
          </a:p>
          <a:p>
            <a:pPr indent="0" lvl="0" marL="0" rtl="0" algn="ctr">
              <a:spcBef>
                <a:spcPts val="0"/>
              </a:spcBef>
              <a:spcAft>
                <a:spcPts val="0"/>
              </a:spcAft>
              <a:buClr>
                <a:schemeClr val="dk1"/>
              </a:buClr>
              <a:buSzPts val="1100"/>
              <a:buFont typeface="Arial"/>
              <a:buNone/>
            </a:pPr>
            <a:r>
              <a:rPr i="1" lang="en" sz="2400">
                <a:solidFill>
                  <a:srgbClr val="9E9E9E"/>
                </a:solidFill>
                <a:latin typeface="Google Sans"/>
                <a:ea typeface="Google Sans"/>
                <a:cs typeface="Google Sans"/>
                <a:sym typeface="Google Sans"/>
              </a:rPr>
              <a:t>Gernelo et al. 2018</a:t>
            </a:r>
            <a:endParaRPr sz="2400">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1807.01622</a:t>
            </a:r>
            <a:endParaRPr i="1" sz="2400">
              <a:solidFill>
                <a:srgbClr val="9E9E9E"/>
              </a:solidFill>
              <a:latin typeface="Google Sans"/>
              <a:ea typeface="Google Sans"/>
              <a:cs typeface="Google Sans"/>
              <a:sym typeface="Google Sans"/>
            </a:endParaRPr>
          </a:p>
        </p:txBody>
      </p:sp>
    </p:spTree>
  </p:cSld>
  <p:clrMapOvr>
    <a:masterClrMapping/>
  </p:clrMapOvr>
</p:sld>
</file>

<file path=ppt/slides/slide2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7" name="Shape 3537"/>
        <p:cNvGrpSpPr/>
        <p:nvPr/>
      </p:nvGrpSpPr>
      <p:grpSpPr>
        <a:xfrm>
          <a:off x="0" y="0"/>
          <a:ext cx="0" cy="0"/>
          <a:chOff x="0" y="0"/>
          <a:chExt cx="0" cy="0"/>
        </a:xfrm>
      </p:grpSpPr>
      <p:sp>
        <p:nvSpPr>
          <p:cNvPr id="3538" name="Google Shape;3538;p299"/>
          <p:cNvSpPr/>
          <p:nvPr/>
        </p:nvSpPr>
        <p:spPr>
          <a:xfrm>
            <a:off x="7715243" y="1578800"/>
            <a:ext cx="1217700" cy="9642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9" name="Google Shape;3539;p299"/>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540" name="Google Shape;3540;p299"/>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IBL</a:t>
            </a:r>
            <a:endParaRPr b="1" sz="3000">
              <a:solidFill>
                <a:schemeClr val="dk1"/>
              </a:solidFill>
              <a:latin typeface="Google Sans"/>
              <a:ea typeface="Google Sans"/>
              <a:cs typeface="Google Sans"/>
              <a:sym typeface="Google Sans"/>
            </a:endParaRPr>
          </a:p>
        </p:txBody>
      </p:sp>
      <p:sp>
        <p:nvSpPr>
          <p:cNvPr id="3541" name="Google Shape;3541;p299"/>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sp>
        <p:nvSpPr>
          <p:cNvPr id="3542" name="Google Shape;3542;p299"/>
          <p:cNvSpPr/>
          <p:nvPr/>
        </p:nvSpPr>
        <p:spPr>
          <a:xfrm>
            <a:off x="6200718" y="1578800"/>
            <a:ext cx="6834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43" name="Google Shape;3543;p299"/>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544" name="Google Shape;3544;p299"/>
          <p:cNvSpPr/>
          <p:nvPr/>
        </p:nvSpPr>
        <p:spPr>
          <a:xfrm>
            <a:off x="1714500" y="1362200"/>
            <a:ext cx="44745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299"/>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Google Sans"/>
                <a:ea typeface="Google Sans"/>
                <a:cs typeface="Google Sans"/>
                <a:sym typeface="Google Sans"/>
              </a:rPr>
              <a:t>Information Bottleneck Lagrangian</a:t>
            </a:r>
            <a:endParaRPr sz="2400">
              <a:latin typeface="Google Sans"/>
              <a:ea typeface="Google Sans"/>
              <a:cs typeface="Google Sans"/>
              <a:sym typeface="Google Sans"/>
            </a:endParaRPr>
          </a:p>
          <a:p>
            <a:pPr indent="0" lvl="0" marL="0" rtl="0" algn="ctr">
              <a:spcBef>
                <a:spcPts val="0"/>
              </a:spcBef>
              <a:spcAft>
                <a:spcPts val="0"/>
              </a:spcAft>
              <a:buNone/>
            </a:pPr>
            <a:r>
              <a:rPr i="1" lang="en" sz="2400">
                <a:solidFill>
                  <a:srgbClr val="9E9E9E"/>
                </a:solidFill>
                <a:latin typeface="Google Sans"/>
                <a:ea typeface="Google Sans"/>
                <a:cs typeface="Google Sans"/>
                <a:sym typeface="Google Sans"/>
              </a:rPr>
              <a:t>Achille &amp; Soatto 2017</a:t>
            </a:r>
            <a:endParaRPr i="1" sz="2400">
              <a:solidFill>
                <a:srgbClr val="9E9E9E"/>
              </a:solidFill>
              <a:latin typeface="Google Sans"/>
              <a:ea typeface="Google Sans"/>
              <a:cs typeface="Google Sans"/>
              <a:sym typeface="Google Sans"/>
            </a:endParaRPr>
          </a:p>
          <a:p>
            <a:pPr indent="0" lvl="0" marL="0" rtl="0" algn="ctr">
              <a:spcBef>
                <a:spcPts val="0"/>
              </a:spcBef>
              <a:spcAft>
                <a:spcPts val="0"/>
              </a:spcAft>
              <a:buNone/>
            </a:pPr>
            <a:r>
              <a:rPr lang="en" sz="2400">
                <a:solidFill>
                  <a:srgbClr val="9E9E9E"/>
                </a:solidFill>
                <a:latin typeface="Roboto Mono"/>
                <a:ea typeface="Roboto Mono"/>
                <a:cs typeface="Roboto Mono"/>
                <a:sym typeface="Roboto Mono"/>
              </a:rPr>
              <a:t>1706.01350</a:t>
            </a:r>
            <a:endParaRPr sz="2400">
              <a:solidFill>
                <a:srgbClr val="9E9E9E"/>
              </a:solidFill>
              <a:latin typeface="Roboto Mono"/>
              <a:ea typeface="Roboto Mono"/>
              <a:cs typeface="Roboto Mono"/>
              <a:sym typeface="Roboto Mono"/>
            </a:endParaRPr>
          </a:p>
        </p:txBody>
      </p:sp>
      <p:sp>
        <p:nvSpPr>
          <p:cNvPr id="3546" name="Google Shape;3546;p299"/>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
        <p:nvSpPr>
          <p:cNvPr id="3547" name="Google Shape;3547;p299"/>
          <p:cNvSpPr txBox="1"/>
          <p:nvPr/>
        </p:nvSpPr>
        <p:spPr>
          <a:xfrm>
            <a:off x="7899307" y="2609709"/>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Entropy</a:t>
            </a:r>
            <a:endParaRPr i="1">
              <a:solidFill>
                <a:srgbClr val="9E9E9E"/>
              </a:solidFill>
              <a:latin typeface="Roboto"/>
              <a:ea typeface="Roboto"/>
              <a:cs typeface="Roboto"/>
              <a:sym typeface="Roboto"/>
            </a:endParaRPr>
          </a:p>
        </p:txBody>
      </p:sp>
    </p:spTree>
  </p:cSld>
  <p:clrMapOvr>
    <a:masterClrMapping/>
  </p:clrMapOvr>
</p:sld>
</file>

<file path=ppt/slides/slide2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1" name="Shape 3551"/>
        <p:cNvGrpSpPr/>
        <p:nvPr/>
      </p:nvGrpSpPr>
      <p:grpSpPr>
        <a:xfrm>
          <a:off x="0" y="0"/>
          <a:ext cx="0" cy="0"/>
          <a:chOff x="0" y="0"/>
          <a:chExt cx="0" cy="0"/>
        </a:xfrm>
      </p:grpSpPr>
      <p:sp>
        <p:nvSpPr>
          <p:cNvPr id="3552" name="Google Shape;3552;p300"/>
          <p:cNvSpPr/>
          <p:nvPr/>
        </p:nvSpPr>
        <p:spPr>
          <a:xfrm>
            <a:off x="2170198" y="1623025"/>
            <a:ext cx="683400" cy="964200"/>
          </a:xfrm>
          <a:prstGeom prst="roundRect">
            <a:avLst>
              <a:gd fmla="val 16667" name="adj"/>
            </a:avLst>
          </a:prstGeom>
          <a:solidFill>
            <a:srgbClr val="CEEAD6"/>
          </a:solidFill>
          <a:ln cap="flat" cmpd="sng" w="38100">
            <a:solidFill>
              <a:srgbClr val="137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3" name="Google Shape;3553;p300"/>
          <p:cNvSpPr/>
          <p:nvPr/>
        </p:nvSpPr>
        <p:spPr>
          <a:xfrm>
            <a:off x="3677804" y="1613225"/>
            <a:ext cx="1139100" cy="964200"/>
          </a:xfrm>
          <a:prstGeom prst="roundRect">
            <a:avLst>
              <a:gd fmla="val 16667" name="adj"/>
            </a:avLst>
          </a:prstGeom>
          <a:solidFill>
            <a:srgbClr val="FAD2CF"/>
          </a:solidFill>
          <a:ln cap="flat" cmpd="sng" w="38100">
            <a:solidFill>
              <a:srgbClr val="B314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4" name="Google Shape;3554;p300"/>
          <p:cNvSpPr/>
          <p:nvPr/>
        </p:nvSpPr>
        <p:spPr>
          <a:xfrm>
            <a:off x="5745030" y="1578800"/>
            <a:ext cx="1139100" cy="964200"/>
          </a:xfrm>
          <a:prstGeom prst="roundRect">
            <a:avLst>
              <a:gd fmla="val 16667" name="adj"/>
            </a:avLst>
          </a:prstGeom>
          <a:solidFill>
            <a:srgbClr val="D2E3FC"/>
          </a:solidFill>
          <a:ln cap="flat" cmpd="sng" w="38100">
            <a:solidFill>
              <a:srgbClr val="185AB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300"/>
          <p:cNvSpPr/>
          <p:nvPr/>
        </p:nvSpPr>
        <p:spPr>
          <a:xfrm>
            <a:off x="7715243" y="1578800"/>
            <a:ext cx="1217700" cy="964200"/>
          </a:xfrm>
          <a:prstGeom prst="roundRect">
            <a:avLst>
              <a:gd fmla="val 16667" name="adj"/>
            </a:avLst>
          </a:prstGeom>
          <a:solidFill>
            <a:srgbClr val="FEEFC3"/>
          </a:solidFill>
          <a:ln cap="flat" cmpd="sng" w="38100">
            <a:solidFill>
              <a:srgbClr val="EA86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300"/>
          <p:cNvSpPr txBox="1"/>
          <p:nvPr>
            <p:ph idx="12" type="sldNum"/>
          </p:nvPr>
        </p:nvSpPr>
        <p:spPr>
          <a:xfrm>
            <a:off x="8382900" y="4774376"/>
            <a:ext cx="612900" cy="18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200"/>
              <a:buFont typeface="Arial"/>
              <a:buNone/>
            </a:pPr>
            <a:r>
              <a:rPr lang="en"/>
              <a:t>P </a:t>
            </a:r>
            <a:fld id="{00000000-1234-1234-1234-123412341234}" type="slidenum">
              <a:rPr lang="en"/>
              <a:t>‹#›</a:t>
            </a:fld>
            <a:endParaRPr sz="1000">
              <a:solidFill>
                <a:srgbClr val="9AA0A6"/>
              </a:solidFill>
              <a:latin typeface="Roboto Light"/>
              <a:ea typeface="Roboto Light"/>
              <a:cs typeface="Roboto Light"/>
              <a:sym typeface="Roboto Light"/>
            </a:endParaRPr>
          </a:p>
        </p:txBody>
      </p:sp>
      <p:sp>
        <p:nvSpPr>
          <p:cNvPr id="3557" name="Google Shape;3557;p300"/>
          <p:cNvSpPr txBox="1"/>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Google Sans"/>
                <a:ea typeface="Google Sans"/>
                <a:cs typeface="Google Sans"/>
                <a:sym typeface="Google Sans"/>
              </a:rPr>
              <a:t>General Loss</a:t>
            </a:r>
            <a:endParaRPr b="1" sz="3000">
              <a:solidFill>
                <a:schemeClr val="dk1"/>
              </a:solidFill>
              <a:latin typeface="Google Sans"/>
              <a:ea typeface="Google Sans"/>
              <a:cs typeface="Google Sans"/>
              <a:sym typeface="Google Sans"/>
            </a:endParaRPr>
          </a:p>
        </p:txBody>
      </p:sp>
      <p:sp>
        <p:nvSpPr>
          <p:cNvPr id="3558" name="Google Shape;3558;p300"/>
          <p:cNvSpPr txBox="1"/>
          <p:nvPr>
            <p:ph type="title"/>
          </p:nvPr>
        </p:nvSpPr>
        <p:spPr>
          <a:xfrm>
            <a:off x="130951" y="4760105"/>
            <a:ext cx="2805600" cy="230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i="1" lang="en" sz="1100"/>
              <a:t>TherML  arXiv:1807.04162 </a:t>
            </a:r>
            <a:endParaRPr i="1" sz="1100"/>
          </a:p>
        </p:txBody>
      </p:sp>
      <p:pic>
        <p:nvPicPr>
          <p:cNvPr id="3559" name="Google Shape;3559;p300"/>
          <p:cNvPicPr preferRelativeResize="0"/>
          <p:nvPr/>
        </p:nvPicPr>
        <p:blipFill>
          <a:blip r:embed="rId3">
            <a:alphaModFix/>
          </a:blip>
          <a:stretch>
            <a:fillRect/>
          </a:stretch>
        </p:blipFill>
        <p:spPr>
          <a:xfrm>
            <a:off x="338138" y="1733775"/>
            <a:ext cx="8467725" cy="742950"/>
          </a:xfrm>
          <a:prstGeom prst="rect">
            <a:avLst/>
          </a:prstGeom>
          <a:noFill/>
          <a:ln>
            <a:noFill/>
          </a:ln>
        </p:spPr>
      </p:pic>
      <p:sp>
        <p:nvSpPr>
          <p:cNvPr id="3560" name="Google Shape;3560;p300"/>
          <p:cNvSpPr txBox="1"/>
          <p:nvPr/>
        </p:nvSpPr>
        <p:spPr>
          <a:xfrm>
            <a:off x="976213" y="3196425"/>
            <a:ext cx="7191600" cy="1171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latin typeface="Google Sans"/>
                <a:ea typeface="Google Sans"/>
                <a:cs typeface="Google Sans"/>
                <a:sym typeface="Google Sans"/>
              </a:rPr>
              <a:t>Profit?</a:t>
            </a:r>
            <a:endParaRPr sz="2400">
              <a:latin typeface="Google Sans"/>
              <a:ea typeface="Google Sans"/>
              <a:cs typeface="Google Sans"/>
              <a:sym typeface="Google Sans"/>
            </a:endParaRPr>
          </a:p>
          <a:p>
            <a:pPr indent="0" lvl="0" marL="0" rtl="0" algn="ctr">
              <a:spcBef>
                <a:spcPts val="0"/>
              </a:spcBef>
              <a:spcAft>
                <a:spcPts val="0"/>
              </a:spcAft>
              <a:buNone/>
            </a:pPr>
            <a:r>
              <a:t/>
            </a:r>
            <a:endParaRPr i="1" sz="2400">
              <a:solidFill>
                <a:srgbClr val="9E9E9E"/>
              </a:solidFill>
              <a:latin typeface="Google Sans"/>
              <a:ea typeface="Google Sans"/>
              <a:cs typeface="Google Sans"/>
              <a:sym typeface="Google Sans"/>
            </a:endParaRPr>
          </a:p>
        </p:txBody>
      </p:sp>
      <p:sp>
        <p:nvSpPr>
          <p:cNvPr id="3561" name="Google Shape;3561;p300"/>
          <p:cNvSpPr/>
          <p:nvPr/>
        </p:nvSpPr>
        <p:spPr>
          <a:xfrm>
            <a:off x="1724057" y="1491100"/>
            <a:ext cx="434400" cy="1397400"/>
          </a:xfrm>
          <a:prstGeom prst="rect">
            <a:avLst/>
          </a:prstGeom>
          <a:solidFill>
            <a:srgbClr val="FFFFFF">
              <a:alpha val="7269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300"/>
          <p:cNvSpPr txBox="1"/>
          <p:nvPr/>
        </p:nvSpPr>
        <p:spPr>
          <a:xfrm>
            <a:off x="2078544" y="2642205"/>
            <a:ext cx="8454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Rate</a:t>
            </a:r>
            <a:endParaRPr i="1">
              <a:solidFill>
                <a:srgbClr val="9E9E9E"/>
              </a:solidFill>
              <a:latin typeface="Roboto"/>
              <a:ea typeface="Roboto"/>
              <a:cs typeface="Roboto"/>
              <a:sym typeface="Roboto"/>
            </a:endParaRPr>
          </a:p>
        </p:txBody>
      </p:sp>
      <p:sp>
        <p:nvSpPr>
          <p:cNvPr id="3563" name="Google Shape;3563;p300"/>
          <p:cNvSpPr txBox="1"/>
          <p:nvPr/>
        </p:nvSpPr>
        <p:spPr>
          <a:xfrm>
            <a:off x="3921976" y="2648625"/>
            <a:ext cx="963300" cy="375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Distortion</a:t>
            </a:r>
            <a:endParaRPr i="1">
              <a:solidFill>
                <a:srgbClr val="9E9E9E"/>
              </a:solidFill>
              <a:latin typeface="Roboto"/>
              <a:ea typeface="Roboto"/>
              <a:cs typeface="Roboto"/>
              <a:sym typeface="Roboto"/>
            </a:endParaRPr>
          </a:p>
        </p:txBody>
      </p:sp>
      <p:sp>
        <p:nvSpPr>
          <p:cNvPr id="3564" name="Google Shape;3564;p300"/>
          <p:cNvSpPr txBox="1"/>
          <p:nvPr/>
        </p:nvSpPr>
        <p:spPr>
          <a:xfrm>
            <a:off x="5972832" y="2624684"/>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Classification Error</a:t>
            </a:r>
            <a:endParaRPr i="1">
              <a:solidFill>
                <a:srgbClr val="9E9E9E"/>
              </a:solidFill>
              <a:latin typeface="Roboto"/>
              <a:ea typeface="Roboto"/>
              <a:cs typeface="Roboto"/>
              <a:sym typeface="Roboto"/>
            </a:endParaRPr>
          </a:p>
        </p:txBody>
      </p:sp>
      <p:sp>
        <p:nvSpPr>
          <p:cNvPr id="3565" name="Google Shape;3565;p300"/>
          <p:cNvSpPr txBox="1"/>
          <p:nvPr/>
        </p:nvSpPr>
        <p:spPr>
          <a:xfrm>
            <a:off x="7899307" y="2609709"/>
            <a:ext cx="12447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
                <a:solidFill>
                  <a:srgbClr val="9E9E9E"/>
                </a:solidFill>
                <a:latin typeface="Roboto"/>
                <a:ea typeface="Roboto"/>
                <a:cs typeface="Roboto"/>
                <a:sym typeface="Roboto"/>
              </a:rPr>
              <a:t>Entropy</a:t>
            </a:r>
            <a:endParaRPr i="1">
              <a:solidFill>
                <a:srgbClr val="9E9E9E"/>
              </a:solidFill>
              <a:latin typeface="Roboto"/>
              <a:ea typeface="Roboto"/>
              <a:cs typeface="Roboto"/>
              <a:sym typeface="Roboto"/>
            </a:endParaRPr>
          </a:p>
        </p:txBody>
      </p:sp>
    </p:spTree>
  </p:cSld>
  <p:clrMapOvr>
    <a:masterClrMapping/>
  </p:clrMapOvr>
</p:sld>
</file>

<file path=ppt/slides/slide2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69" name="Shape 3569"/>
        <p:cNvGrpSpPr/>
        <p:nvPr/>
      </p:nvGrpSpPr>
      <p:grpSpPr>
        <a:xfrm>
          <a:off x="0" y="0"/>
          <a:ext cx="0" cy="0"/>
          <a:chOff x="0" y="0"/>
          <a:chExt cx="0" cy="0"/>
        </a:xfrm>
      </p:grpSpPr>
      <p:sp>
        <p:nvSpPr>
          <p:cNvPr id="3570" name="Google Shape;3570;p30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Data Processing Inequality</a:t>
            </a:r>
            <a:endParaRPr/>
          </a:p>
        </p:txBody>
      </p:sp>
      <p:sp>
        <p:nvSpPr>
          <p:cNvPr id="3571" name="Google Shape;3571;p301"/>
          <p:cNvSpPr txBox="1"/>
          <p:nvPr/>
        </p:nvSpPr>
        <p:spPr>
          <a:xfrm>
            <a:off x="311725" y="148472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What happens if we "process" our distribution?</a:t>
            </a:r>
            <a:endParaRPr>
              <a:latin typeface="Google Sans"/>
              <a:ea typeface="Google Sans"/>
              <a:cs typeface="Google Sans"/>
              <a:sym typeface="Google Sans"/>
            </a:endParaRPr>
          </a:p>
        </p:txBody>
      </p:sp>
      <p:pic>
        <p:nvPicPr>
          <p:cNvPr id="3572" name="Google Shape;3572;p301"/>
          <p:cNvPicPr preferRelativeResize="0"/>
          <p:nvPr/>
        </p:nvPicPr>
        <p:blipFill>
          <a:blip r:embed="rId3">
            <a:alphaModFix/>
          </a:blip>
          <a:stretch>
            <a:fillRect/>
          </a:stretch>
        </p:blipFill>
        <p:spPr>
          <a:xfrm>
            <a:off x="2286025" y="3951400"/>
            <a:ext cx="4572000" cy="390525"/>
          </a:xfrm>
          <a:prstGeom prst="rect">
            <a:avLst/>
          </a:prstGeom>
          <a:noFill/>
          <a:ln>
            <a:noFill/>
          </a:ln>
        </p:spPr>
      </p:pic>
      <p:pic>
        <p:nvPicPr>
          <p:cNvPr id="3573" name="Google Shape;3573;p301"/>
          <p:cNvPicPr preferRelativeResize="0"/>
          <p:nvPr/>
        </p:nvPicPr>
        <p:blipFill>
          <a:blip r:embed="rId4">
            <a:alphaModFix/>
          </a:blip>
          <a:stretch>
            <a:fillRect/>
          </a:stretch>
        </p:blipFill>
        <p:spPr>
          <a:xfrm>
            <a:off x="3176588" y="1981200"/>
            <a:ext cx="2790825" cy="590550"/>
          </a:xfrm>
          <a:prstGeom prst="rect">
            <a:avLst/>
          </a:prstGeom>
          <a:noFill/>
          <a:ln>
            <a:noFill/>
          </a:ln>
        </p:spPr>
      </p:pic>
      <p:pic>
        <p:nvPicPr>
          <p:cNvPr id="3574" name="Google Shape;3574;p301"/>
          <p:cNvPicPr preferRelativeResize="0"/>
          <p:nvPr/>
        </p:nvPicPr>
        <p:blipFill>
          <a:blip r:embed="rId5">
            <a:alphaModFix/>
          </a:blip>
          <a:stretch>
            <a:fillRect/>
          </a:stretch>
        </p:blipFill>
        <p:spPr>
          <a:xfrm>
            <a:off x="365363" y="2700575"/>
            <a:ext cx="3819525" cy="857250"/>
          </a:xfrm>
          <a:prstGeom prst="rect">
            <a:avLst/>
          </a:prstGeom>
          <a:noFill/>
          <a:ln>
            <a:noFill/>
          </a:ln>
        </p:spPr>
      </p:pic>
      <p:pic>
        <p:nvPicPr>
          <p:cNvPr id="3575" name="Google Shape;3575;p301"/>
          <p:cNvPicPr preferRelativeResize="0"/>
          <p:nvPr/>
        </p:nvPicPr>
        <p:blipFill>
          <a:blip r:embed="rId6">
            <a:alphaModFix/>
          </a:blip>
          <a:stretch>
            <a:fillRect/>
          </a:stretch>
        </p:blipFill>
        <p:spPr>
          <a:xfrm>
            <a:off x="4767913" y="2700575"/>
            <a:ext cx="3781425" cy="857250"/>
          </a:xfrm>
          <a:prstGeom prst="rect">
            <a:avLst/>
          </a:prstGeom>
          <a:noFill/>
          <a:ln>
            <a:noFill/>
          </a:ln>
        </p:spPr>
      </p:pic>
      <p:sp>
        <p:nvSpPr>
          <p:cNvPr id="3576" name="Google Shape;3576;p301"/>
          <p:cNvSpPr txBox="1"/>
          <p:nvPr/>
        </p:nvSpPr>
        <p:spPr>
          <a:xfrm>
            <a:off x="471150" y="4633075"/>
            <a:ext cx="83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Any processing makes it harder to distinguish between the two distributions.</a:t>
            </a:r>
            <a:endParaRPr>
              <a:latin typeface="Google Sans"/>
              <a:ea typeface="Google Sans"/>
              <a:cs typeface="Google Sans"/>
              <a:sym typeface="Google Sans"/>
            </a:endParaRPr>
          </a:p>
        </p:txBody>
      </p:sp>
    </p:spTree>
  </p:cSld>
  <p:clrMapOvr>
    <a:masterClrMapping/>
  </p:clrMapOvr>
</p:sld>
</file>

<file path=ppt/slides/slide2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0" name="Shape 3580"/>
        <p:cNvGrpSpPr/>
        <p:nvPr/>
      </p:nvGrpSpPr>
      <p:grpSpPr>
        <a:xfrm>
          <a:off x="0" y="0"/>
          <a:ext cx="0" cy="0"/>
          <a:chOff x="0" y="0"/>
          <a:chExt cx="0" cy="0"/>
        </a:xfrm>
      </p:grpSpPr>
      <p:sp>
        <p:nvSpPr>
          <p:cNvPr id="3581" name="Google Shape;3581;p30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Monotonicity</a:t>
            </a:r>
            <a:endParaRPr/>
          </a:p>
        </p:txBody>
      </p:sp>
      <p:sp>
        <p:nvSpPr>
          <p:cNvPr id="3582" name="Google Shape;3582;p302"/>
          <p:cNvSpPr txBox="1"/>
          <p:nvPr/>
        </p:nvSpPr>
        <p:spPr>
          <a:xfrm>
            <a:off x="311725" y="1484725"/>
            <a:ext cx="852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Marginalization is a kind of processing.</a:t>
            </a:r>
            <a:endParaRPr>
              <a:latin typeface="Google Sans"/>
              <a:ea typeface="Google Sans"/>
              <a:cs typeface="Google Sans"/>
              <a:sym typeface="Google Sans"/>
            </a:endParaRPr>
          </a:p>
        </p:txBody>
      </p:sp>
      <p:sp>
        <p:nvSpPr>
          <p:cNvPr id="3583" name="Google Shape;3583;p302"/>
          <p:cNvSpPr txBox="1"/>
          <p:nvPr/>
        </p:nvSpPr>
        <p:spPr>
          <a:xfrm>
            <a:off x="471150" y="4633075"/>
            <a:ext cx="8361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If you only look at a subset of variables, its harder to distinguish between two distributions.</a:t>
            </a:r>
            <a:endParaRPr>
              <a:latin typeface="Google Sans"/>
              <a:ea typeface="Google Sans"/>
              <a:cs typeface="Google Sans"/>
              <a:sym typeface="Google Sans"/>
            </a:endParaRPr>
          </a:p>
        </p:txBody>
      </p:sp>
      <p:pic>
        <p:nvPicPr>
          <p:cNvPr id="3584" name="Google Shape;3584;p302"/>
          <p:cNvPicPr preferRelativeResize="0"/>
          <p:nvPr/>
        </p:nvPicPr>
        <p:blipFill>
          <a:blip r:embed="rId3">
            <a:alphaModFix/>
          </a:blip>
          <a:stretch>
            <a:fillRect/>
          </a:stretch>
        </p:blipFill>
        <p:spPr>
          <a:xfrm>
            <a:off x="3080675" y="2037325"/>
            <a:ext cx="2982704" cy="510850"/>
          </a:xfrm>
          <a:prstGeom prst="rect">
            <a:avLst/>
          </a:prstGeom>
          <a:noFill/>
          <a:ln>
            <a:noFill/>
          </a:ln>
        </p:spPr>
      </p:pic>
      <p:pic>
        <p:nvPicPr>
          <p:cNvPr id="3585" name="Google Shape;3585;p302"/>
          <p:cNvPicPr preferRelativeResize="0"/>
          <p:nvPr/>
        </p:nvPicPr>
        <p:blipFill>
          <a:blip r:embed="rId4">
            <a:alphaModFix/>
          </a:blip>
          <a:stretch>
            <a:fillRect/>
          </a:stretch>
        </p:blipFill>
        <p:spPr>
          <a:xfrm>
            <a:off x="2003850" y="3299350"/>
            <a:ext cx="5295900" cy="390525"/>
          </a:xfrm>
          <a:prstGeom prst="rect">
            <a:avLst/>
          </a:prstGeom>
          <a:noFill/>
          <a:ln>
            <a:noFill/>
          </a:ln>
        </p:spPr>
      </p:pic>
    </p:spTree>
  </p:cSld>
  <p:clrMapOvr>
    <a:masterClrMapping/>
  </p:clrMapOvr>
</p:sld>
</file>

<file path=ppt/slides/slide2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9" name="Shape 3589"/>
        <p:cNvGrpSpPr/>
        <p:nvPr/>
      </p:nvGrpSpPr>
      <p:grpSpPr>
        <a:xfrm>
          <a:off x="0" y="0"/>
          <a:ext cx="0" cy="0"/>
          <a:chOff x="0" y="0"/>
          <a:chExt cx="0" cy="0"/>
        </a:xfrm>
      </p:grpSpPr>
      <p:sp>
        <p:nvSpPr>
          <p:cNvPr id="3590" name="Google Shape;3590;p303"/>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Hypotheses</a:t>
            </a:r>
            <a:endParaRPr/>
          </a:p>
        </p:txBody>
      </p:sp>
      <p:sp>
        <p:nvSpPr>
          <p:cNvPr id="3591" name="Google Shape;3591;p303"/>
          <p:cNvSpPr txBox="1"/>
          <p:nvPr/>
        </p:nvSpPr>
        <p:spPr>
          <a:xfrm>
            <a:off x="393300" y="4147400"/>
            <a:ext cx="8357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some random variable X takes on a value x given that some model is true</a:t>
            </a:r>
            <a:endParaRPr sz="2400">
              <a:latin typeface="Google Sans"/>
              <a:ea typeface="Google Sans"/>
              <a:cs typeface="Google Sans"/>
              <a:sym typeface="Google Sans"/>
            </a:endParaRPr>
          </a:p>
        </p:txBody>
      </p:sp>
      <p:pic>
        <p:nvPicPr>
          <p:cNvPr id="3592" name="Google Shape;3592;p303"/>
          <p:cNvPicPr preferRelativeResize="0"/>
          <p:nvPr/>
        </p:nvPicPr>
        <p:blipFill>
          <a:blip r:embed="rId3">
            <a:alphaModFix/>
          </a:blip>
          <a:stretch>
            <a:fillRect/>
          </a:stretch>
        </p:blipFill>
        <p:spPr>
          <a:xfrm>
            <a:off x="1062063" y="1893775"/>
            <a:ext cx="7019925" cy="771525"/>
          </a:xfrm>
          <a:prstGeom prst="rect">
            <a:avLst/>
          </a:prstGeom>
          <a:noFill/>
          <a:ln>
            <a:noFill/>
          </a:ln>
        </p:spPr>
      </p:pic>
      <p:pic>
        <p:nvPicPr>
          <p:cNvPr id="3593" name="Google Shape;3593;p303"/>
          <p:cNvPicPr preferRelativeResize="0"/>
          <p:nvPr/>
        </p:nvPicPr>
        <p:blipFill>
          <a:blip r:embed="rId4">
            <a:alphaModFix/>
          </a:blip>
          <a:stretch>
            <a:fillRect/>
          </a:stretch>
        </p:blipFill>
        <p:spPr>
          <a:xfrm>
            <a:off x="1062075" y="2828413"/>
            <a:ext cx="7019925" cy="771525"/>
          </a:xfrm>
          <a:prstGeom prst="rect">
            <a:avLst/>
          </a:prstGeom>
          <a:noFill/>
          <a:ln>
            <a:noFill/>
          </a:ln>
        </p:spPr>
      </p:pic>
    </p:spTree>
  </p:cSld>
  <p:clrMapOvr>
    <a:masterClrMapping/>
  </p:clrMapOvr>
</p:sld>
</file>

<file path=ppt/slides/slide2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7" name="Shape 3597"/>
        <p:cNvGrpSpPr/>
        <p:nvPr/>
      </p:nvGrpSpPr>
      <p:grpSpPr>
        <a:xfrm>
          <a:off x="0" y="0"/>
          <a:ext cx="0" cy="0"/>
          <a:chOff x="0" y="0"/>
          <a:chExt cx="0" cy="0"/>
        </a:xfrm>
      </p:grpSpPr>
      <p:sp>
        <p:nvSpPr>
          <p:cNvPr id="3598" name="Google Shape;3598;p304"/>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Probability Densities</a:t>
            </a:r>
            <a:endParaRPr/>
          </a:p>
        </p:txBody>
      </p:sp>
      <p:sp>
        <p:nvSpPr>
          <p:cNvPr id="3599" name="Google Shape;3599;p304"/>
          <p:cNvSpPr txBox="1"/>
          <p:nvPr/>
        </p:nvSpPr>
        <p:spPr>
          <a:xfrm>
            <a:off x="393300" y="3691550"/>
            <a:ext cx="8357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some continuous random variable X takes on a value between x and x + dx given that some model is true</a:t>
            </a:r>
            <a:endParaRPr sz="2400">
              <a:latin typeface="Google Sans"/>
              <a:ea typeface="Google Sans"/>
              <a:cs typeface="Google Sans"/>
              <a:sym typeface="Google Sans"/>
            </a:endParaRPr>
          </a:p>
        </p:txBody>
      </p:sp>
      <p:pic>
        <p:nvPicPr>
          <p:cNvPr id="3600" name="Google Shape;3600;p304"/>
          <p:cNvPicPr preferRelativeResize="0"/>
          <p:nvPr/>
        </p:nvPicPr>
        <p:blipFill>
          <a:blip r:embed="rId3">
            <a:alphaModFix/>
          </a:blip>
          <a:stretch>
            <a:fillRect/>
          </a:stretch>
        </p:blipFill>
        <p:spPr>
          <a:xfrm>
            <a:off x="152425" y="2273925"/>
            <a:ext cx="8839198" cy="595653"/>
          </a:xfrm>
          <a:prstGeom prst="rect">
            <a:avLst/>
          </a:prstGeom>
          <a:noFill/>
          <a:ln>
            <a:noFill/>
          </a:ln>
        </p:spPr>
      </p:pic>
    </p:spTree>
  </p:cSld>
  <p:clrMapOvr>
    <a:masterClrMapping/>
  </p:clrMapOvr>
</p:sld>
</file>

<file path=ppt/slides/slide2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04" name="Shape 3604"/>
        <p:cNvGrpSpPr/>
        <p:nvPr/>
      </p:nvGrpSpPr>
      <p:grpSpPr>
        <a:xfrm>
          <a:off x="0" y="0"/>
          <a:ext cx="0" cy="0"/>
          <a:chOff x="0" y="0"/>
          <a:chExt cx="0" cy="0"/>
        </a:xfrm>
      </p:grpSpPr>
      <p:sp>
        <p:nvSpPr>
          <p:cNvPr id="3605" name="Google Shape;3605;p305"/>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Product Rule Again</a:t>
            </a:r>
            <a:endParaRPr/>
          </a:p>
        </p:txBody>
      </p:sp>
      <p:sp>
        <p:nvSpPr>
          <p:cNvPr id="3606" name="Google Shape;3606;p305"/>
          <p:cNvSpPr txBox="1"/>
          <p:nvPr/>
        </p:nvSpPr>
        <p:spPr>
          <a:xfrm>
            <a:off x="393300" y="4147400"/>
            <a:ext cx="8357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Product Rule still applies</a:t>
            </a:r>
            <a:endParaRPr sz="2400">
              <a:latin typeface="Google Sans"/>
              <a:ea typeface="Google Sans"/>
              <a:cs typeface="Google Sans"/>
              <a:sym typeface="Google Sans"/>
            </a:endParaRPr>
          </a:p>
        </p:txBody>
      </p:sp>
      <p:pic>
        <p:nvPicPr>
          <p:cNvPr id="3607" name="Google Shape;3607;p305"/>
          <p:cNvPicPr preferRelativeResize="0"/>
          <p:nvPr/>
        </p:nvPicPr>
        <p:blipFill>
          <a:blip r:embed="rId3">
            <a:alphaModFix/>
          </a:blip>
          <a:stretch>
            <a:fillRect/>
          </a:stretch>
        </p:blipFill>
        <p:spPr>
          <a:xfrm>
            <a:off x="1238250" y="2185988"/>
            <a:ext cx="6667500" cy="771525"/>
          </a:xfrm>
          <a:prstGeom prst="rect">
            <a:avLst/>
          </a:prstGeom>
          <a:noFill/>
          <a:ln>
            <a:noFill/>
          </a:ln>
        </p:spPr>
      </p:pic>
    </p:spTree>
  </p:cSld>
  <p:clrMapOvr>
    <a:masterClrMapping/>
  </p:clrMapOvr>
</p:sld>
</file>

<file path=ppt/slides/slide2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11" name="Shape 3611"/>
        <p:cNvGrpSpPr/>
        <p:nvPr/>
      </p:nvGrpSpPr>
      <p:grpSpPr>
        <a:xfrm>
          <a:off x="0" y="0"/>
          <a:ext cx="0" cy="0"/>
          <a:chOff x="0" y="0"/>
          <a:chExt cx="0" cy="0"/>
        </a:xfrm>
      </p:grpSpPr>
      <p:sp>
        <p:nvSpPr>
          <p:cNvPr id="3612" name="Google Shape;3612;p306"/>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Maximum Likelihood</a:t>
            </a:r>
            <a:endParaRPr/>
          </a:p>
        </p:txBody>
      </p:sp>
      <p:sp>
        <p:nvSpPr>
          <p:cNvPr id="3613" name="Google Shape;3613;p306"/>
          <p:cNvSpPr txBox="1"/>
          <p:nvPr/>
        </p:nvSpPr>
        <p:spPr>
          <a:xfrm>
            <a:off x="320250" y="1494525"/>
            <a:ext cx="8520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Google Sans"/>
                <a:ea typeface="Google Sans"/>
                <a:cs typeface="Google Sans"/>
                <a:sym typeface="Google Sans"/>
              </a:rPr>
              <a:t>We don't have access to the true distribution of data, only samples.</a:t>
            </a:r>
            <a:endParaRPr>
              <a:latin typeface="Google Sans"/>
              <a:ea typeface="Google Sans"/>
              <a:cs typeface="Google Sans"/>
              <a:sym typeface="Google Sans"/>
            </a:endParaRPr>
          </a:p>
          <a:p>
            <a:pPr indent="0" lvl="0" marL="0" rtl="0" algn="l">
              <a:spcBef>
                <a:spcPts val="0"/>
              </a:spcBef>
              <a:spcAft>
                <a:spcPts val="0"/>
              </a:spcAft>
              <a:buNone/>
            </a:pPr>
            <a:r>
              <a:t/>
            </a:r>
            <a:endParaRPr>
              <a:latin typeface="Google Sans"/>
              <a:ea typeface="Google Sans"/>
              <a:cs typeface="Google Sans"/>
              <a:sym typeface="Google Sans"/>
            </a:endParaRPr>
          </a:p>
        </p:txBody>
      </p:sp>
      <p:sp>
        <p:nvSpPr>
          <p:cNvPr id="3614" name="Google Shape;3614;p306"/>
          <p:cNvSpPr txBox="1"/>
          <p:nvPr/>
        </p:nvSpPr>
        <p:spPr>
          <a:xfrm>
            <a:off x="7203750" y="3447475"/>
            <a:ext cx="1796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accent4"/>
                </a:solidFill>
                <a:latin typeface="Google Sans"/>
                <a:ea typeface="Google Sans"/>
                <a:cs typeface="Google Sans"/>
                <a:sym typeface="Google Sans"/>
              </a:rPr>
              <a:t>Empirical Cross Entropy</a:t>
            </a:r>
            <a:endParaRPr>
              <a:solidFill>
                <a:schemeClr val="accent4"/>
              </a:solidFill>
              <a:latin typeface="Google Sans"/>
              <a:ea typeface="Google Sans"/>
              <a:cs typeface="Google Sans"/>
              <a:sym typeface="Google Sans"/>
            </a:endParaRPr>
          </a:p>
        </p:txBody>
      </p:sp>
      <p:pic>
        <p:nvPicPr>
          <p:cNvPr id="3615" name="Google Shape;3615;p306"/>
          <p:cNvPicPr preferRelativeResize="0"/>
          <p:nvPr/>
        </p:nvPicPr>
        <p:blipFill>
          <a:blip r:embed="rId3">
            <a:alphaModFix/>
          </a:blip>
          <a:stretch>
            <a:fillRect/>
          </a:stretch>
        </p:blipFill>
        <p:spPr>
          <a:xfrm>
            <a:off x="6193800" y="1408350"/>
            <a:ext cx="2847950" cy="701775"/>
          </a:xfrm>
          <a:prstGeom prst="rect">
            <a:avLst/>
          </a:prstGeom>
          <a:noFill/>
          <a:ln>
            <a:noFill/>
          </a:ln>
        </p:spPr>
      </p:pic>
      <p:pic>
        <p:nvPicPr>
          <p:cNvPr id="3616" name="Google Shape;3616;p306"/>
          <p:cNvPicPr preferRelativeResize="0"/>
          <p:nvPr/>
        </p:nvPicPr>
        <p:blipFill>
          <a:blip r:embed="rId4">
            <a:alphaModFix/>
          </a:blip>
          <a:stretch>
            <a:fillRect/>
          </a:stretch>
        </p:blipFill>
        <p:spPr>
          <a:xfrm>
            <a:off x="160950" y="2696225"/>
            <a:ext cx="8839199" cy="693271"/>
          </a:xfrm>
          <a:prstGeom prst="rect">
            <a:avLst/>
          </a:prstGeom>
          <a:noFill/>
          <a:ln>
            <a:noFill/>
          </a:ln>
        </p:spPr>
      </p:pic>
      <p:pic>
        <p:nvPicPr>
          <p:cNvPr id="3617" name="Google Shape;3617;p306"/>
          <p:cNvPicPr preferRelativeResize="0"/>
          <p:nvPr/>
        </p:nvPicPr>
        <p:blipFill>
          <a:blip r:embed="rId5">
            <a:alphaModFix/>
          </a:blip>
          <a:stretch>
            <a:fillRect/>
          </a:stretch>
        </p:blipFill>
        <p:spPr>
          <a:xfrm>
            <a:off x="3695700" y="4190621"/>
            <a:ext cx="1752600" cy="619125"/>
          </a:xfrm>
          <a:prstGeom prst="rect">
            <a:avLst/>
          </a:prstGeom>
          <a:noFill/>
          <a:ln>
            <a:noFill/>
          </a:ln>
        </p:spPr>
      </p:pic>
    </p:spTree>
  </p:cSld>
  <p:clrMapOvr>
    <a:masterClrMapping/>
  </p:clrMapOvr>
</p:sld>
</file>

<file path=ppt/slides/slide2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21" name="Shape 3621"/>
        <p:cNvGrpSpPr/>
        <p:nvPr/>
      </p:nvGrpSpPr>
      <p:grpSpPr>
        <a:xfrm>
          <a:off x="0" y="0"/>
          <a:ext cx="0" cy="0"/>
          <a:chOff x="0" y="0"/>
          <a:chExt cx="0" cy="0"/>
        </a:xfrm>
      </p:grpSpPr>
      <p:sp>
        <p:nvSpPr>
          <p:cNvPr id="3622" name="Google Shape;3622;p307"/>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Probabilities</a:t>
            </a:r>
            <a:endParaRPr/>
          </a:p>
        </p:txBody>
      </p:sp>
      <p:sp>
        <p:nvSpPr>
          <p:cNvPr id="3623" name="Google Shape;3623;p307"/>
          <p:cNvSpPr txBox="1"/>
          <p:nvPr/>
        </p:nvSpPr>
        <p:spPr>
          <a:xfrm>
            <a:off x="411175" y="4281500"/>
            <a:ext cx="8357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A is true.</a:t>
            </a:r>
            <a:endParaRPr sz="2400">
              <a:latin typeface="Google Sans"/>
              <a:ea typeface="Google Sans"/>
              <a:cs typeface="Google Sans"/>
              <a:sym typeface="Google Sans"/>
            </a:endParaRPr>
          </a:p>
        </p:txBody>
      </p:sp>
      <p:pic>
        <p:nvPicPr>
          <p:cNvPr id="3624" name="Google Shape;3624;p307"/>
          <p:cNvPicPr preferRelativeResize="0"/>
          <p:nvPr/>
        </p:nvPicPr>
        <p:blipFill>
          <a:blip r:embed="rId3">
            <a:alphaModFix/>
          </a:blip>
          <a:stretch>
            <a:fillRect/>
          </a:stretch>
        </p:blipFill>
        <p:spPr>
          <a:xfrm>
            <a:off x="3580225" y="2185988"/>
            <a:ext cx="2019300" cy="771525"/>
          </a:xfrm>
          <a:prstGeom prst="rect">
            <a:avLst/>
          </a:prstGeom>
          <a:noFill/>
          <a:ln>
            <a:noFill/>
          </a:ln>
        </p:spPr>
      </p:pic>
    </p:spTree>
  </p:cSld>
  <p:clrMapOvr>
    <a:masterClrMapping/>
  </p:clrMapOvr>
</p:sld>
</file>

<file path=ppt/slides/slide2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28" name="Shape 3628"/>
        <p:cNvGrpSpPr/>
        <p:nvPr/>
      </p:nvGrpSpPr>
      <p:grpSpPr>
        <a:xfrm>
          <a:off x="0" y="0"/>
          <a:ext cx="0" cy="0"/>
          <a:chOff x="0" y="0"/>
          <a:chExt cx="0" cy="0"/>
        </a:xfrm>
      </p:grpSpPr>
      <p:sp>
        <p:nvSpPr>
          <p:cNvPr id="3629" name="Google Shape;3629;p308"/>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Conditional </a:t>
            </a:r>
            <a:r>
              <a:rPr lang="en"/>
              <a:t>Probabilities</a:t>
            </a:r>
            <a:endParaRPr/>
          </a:p>
        </p:txBody>
      </p:sp>
      <p:sp>
        <p:nvSpPr>
          <p:cNvPr id="3630" name="Google Shape;3630;p308"/>
          <p:cNvSpPr txBox="1"/>
          <p:nvPr/>
        </p:nvSpPr>
        <p:spPr>
          <a:xfrm>
            <a:off x="411175" y="4281500"/>
            <a:ext cx="8357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X is true, given that </a:t>
            </a:r>
            <a:r>
              <a:rPr lang="en" sz="2400">
                <a:latin typeface="Google Sans"/>
                <a:ea typeface="Google Sans"/>
                <a:cs typeface="Google Sans"/>
                <a:sym typeface="Google Sans"/>
              </a:rPr>
              <a:t>𝝮 </a:t>
            </a:r>
            <a:r>
              <a:rPr lang="en" sz="2400">
                <a:latin typeface="Google Sans"/>
                <a:ea typeface="Google Sans"/>
                <a:cs typeface="Google Sans"/>
                <a:sym typeface="Google Sans"/>
              </a:rPr>
              <a:t>is true.</a:t>
            </a:r>
            <a:endParaRPr sz="2400">
              <a:latin typeface="Google Sans"/>
              <a:ea typeface="Google Sans"/>
              <a:cs typeface="Google Sans"/>
              <a:sym typeface="Google Sans"/>
            </a:endParaRPr>
          </a:p>
        </p:txBody>
      </p:sp>
      <p:pic>
        <p:nvPicPr>
          <p:cNvPr id="3631" name="Google Shape;3631;p308"/>
          <p:cNvPicPr preferRelativeResize="0"/>
          <p:nvPr/>
        </p:nvPicPr>
        <p:blipFill>
          <a:blip r:embed="rId3">
            <a:alphaModFix/>
          </a:blip>
          <a:stretch>
            <a:fillRect/>
          </a:stretch>
        </p:blipFill>
        <p:spPr>
          <a:xfrm>
            <a:off x="3176588" y="2185988"/>
            <a:ext cx="2790825" cy="771525"/>
          </a:xfrm>
          <a:prstGeom prst="rect">
            <a:avLst/>
          </a:prstGeom>
          <a:noFill/>
          <a:ln>
            <a:noFill/>
          </a:ln>
        </p:spPr>
      </p:pic>
    </p:spTree>
  </p:cSld>
  <p:clrMapOvr>
    <a:masterClrMapping/>
  </p:clrMapOvr>
</p:sld>
</file>

<file path=ppt/slides/slide2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35" name="Shape 3635"/>
        <p:cNvGrpSpPr/>
        <p:nvPr/>
      </p:nvGrpSpPr>
      <p:grpSpPr>
        <a:xfrm>
          <a:off x="0" y="0"/>
          <a:ext cx="0" cy="0"/>
          <a:chOff x="0" y="0"/>
          <a:chExt cx="0" cy="0"/>
        </a:xfrm>
      </p:grpSpPr>
      <p:sp>
        <p:nvSpPr>
          <p:cNvPr id="3636" name="Google Shape;3636;p309"/>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Joint </a:t>
            </a:r>
            <a:r>
              <a:rPr lang="en"/>
              <a:t>Probabilities</a:t>
            </a:r>
            <a:endParaRPr/>
          </a:p>
        </p:txBody>
      </p:sp>
      <p:sp>
        <p:nvSpPr>
          <p:cNvPr id="3637" name="Google Shape;3637;p309"/>
          <p:cNvSpPr txBox="1"/>
          <p:nvPr/>
        </p:nvSpPr>
        <p:spPr>
          <a:xfrm>
            <a:off x="411175" y="4281500"/>
            <a:ext cx="8357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A and B are true.</a:t>
            </a:r>
            <a:endParaRPr sz="2400">
              <a:latin typeface="Google Sans"/>
              <a:ea typeface="Google Sans"/>
              <a:cs typeface="Google Sans"/>
              <a:sym typeface="Google Sans"/>
            </a:endParaRPr>
          </a:p>
        </p:txBody>
      </p:sp>
      <p:pic>
        <p:nvPicPr>
          <p:cNvPr id="3638" name="Google Shape;3638;p309"/>
          <p:cNvPicPr preferRelativeResize="0"/>
          <p:nvPr/>
        </p:nvPicPr>
        <p:blipFill>
          <a:blip r:embed="rId3">
            <a:alphaModFix/>
          </a:blip>
          <a:stretch>
            <a:fillRect/>
          </a:stretch>
        </p:blipFill>
        <p:spPr>
          <a:xfrm>
            <a:off x="3095625" y="2185988"/>
            <a:ext cx="2952750" cy="771525"/>
          </a:xfrm>
          <a:prstGeom prst="rect">
            <a:avLst/>
          </a:prstGeom>
          <a:noFill/>
          <a:ln>
            <a:noFill/>
          </a:ln>
        </p:spPr>
      </p:pic>
    </p:spTree>
  </p:cSld>
  <p:clrMapOvr>
    <a:masterClrMapping/>
  </p:clrMapOvr>
</p:sld>
</file>

<file path=ppt/slides/slide2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2" name="Shape 3642"/>
        <p:cNvGrpSpPr/>
        <p:nvPr/>
      </p:nvGrpSpPr>
      <p:grpSpPr>
        <a:xfrm>
          <a:off x="0" y="0"/>
          <a:ext cx="0" cy="0"/>
          <a:chOff x="0" y="0"/>
          <a:chExt cx="0" cy="0"/>
        </a:xfrm>
      </p:grpSpPr>
      <p:sp>
        <p:nvSpPr>
          <p:cNvPr id="3643" name="Google Shape;3643;p310"/>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Product Rule</a:t>
            </a:r>
            <a:endParaRPr/>
          </a:p>
        </p:txBody>
      </p:sp>
      <p:sp>
        <p:nvSpPr>
          <p:cNvPr id="3644" name="Google Shape;3644;p310"/>
          <p:cNvSpPr txBox="1"/>
          <p:nvPr/>
        </p:nvSpPr>
        <p:spPr>
          <a:xfrm>
            <a:off x="393325" y="3763050"/>
            <a:ext cx="8357400" cy="1293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The probability that A and B are true is the same as the probability that A is true times the probability that B is true, provided A is true</a:t>
            </a:r>
            <a:endParaRPr sz="2400">
              <a:latin typeface="Google Sans"/>
              <a:ea typeface="Google Sans"/>
              <a:cs typeface="Google Sans"/>
              <a:sym typeface="Google Sans"/>
            </a:endParaRPr>
          </a:p>
        </p:txBody>
      </p:sp>
      <p:pic>
        <p:nvPicPr>
          <p:cNvPr id="3645" name="Google Shape;3645;p310"/>
          <p:cNvPicPr preferRelativeResize="0"/>
          <p:nvPr/>
        </p:nvPicPr>
        <p:blipFill>
          <a:blip r:embed="rId3">
            <a:alphaModFix/>
          </a:blip>
          <a:stretch>
            <a:fillRect/>
          </a:stretch>
        </p:blipFill>
        <p:spPr>
          <a:xfrm>
            <a:off x="152400" y="2190913"/>
            <a:ext cx="8839201" cy="761676"/>
          </a:xfrm>
          <a:prstGeom prst="rect">
            <a:avLst/>
          </a:prstGeom>
          <a:noFill/>
          <a:ln>
            <a:noFill/>
          </a:ln>
        </p:spPr>
      </p:pic>
    </p:spTree>
  </p:cSld>
  <p:clrMapOvr>
    <a:masterClrMapping/>
  </p:clrMapOvr>
</p:sld>
</file>

<file path=ppt/slides/slide2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49" name="Shape 3649"/>
        <p:cNvGrpSpPr/>
        <p:nvPr/>
      </p:nvGrpSpPr>
      <p:grpSpPr>
        <a:xfrm>
          <a:off x="0" y="0"/>
          <a:ext cx="0" cy="0"/>
          <a:chOff x="0" y="0"/>
          <a:chExt cx="0" cy="0"/>
        </a:xfrm>
      </p:grpSpPr>
      <p:sp>
        <p:nvSpPr>
          <p:cNvPr id="3650" name="Google Shape;3650;p311"/>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Independence</a:t>
            </a:r>
            <a:endParaRPr/>
          </a:p>
        </p:txBody>
      </p:sp>
      <p:sp>
        <p:nvSpPr>
          <p:cNvPr id="3651" name="Google Shape;3651;p311"/>
          <p:cNvSpPr txBox="1"/>
          <p:nvPr/>
        </p:nvSpPr>
        <p:spPr>
          <a:xfrm>
            <a:off x="393325" y="3763050"/>
            <a:ext cx="83574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400">
                <a:latin typeface="Google Sans"/>
                <a:ea typeface="Google Sans"/>
                <a:cs typeface="Google Sans"/>
                <a:sym typeface="Google Sans"/>
              </a:rPr>
              <a:t>Probabilities multiply for independent events.</a:t>
            </a:r>
            <a:endParaRPr sz="2400">
              <a:latin typeface="Google Sans"/>
              <a:ea typeface="Google Sans"/>
              <a:cs typeface="Google Sans"/>
              <a:sym typeface="Google Sans"/>
            </a:endParaRPr>
          </a:p>
        </p:txBody>
      </p:sp>
      <p:pic>
        <p:nvPicPr>
          <p:cNvPr id="3652" name="Google Shape;3652;p311"/>
          <p:cNvPicPr preferRelativeResize="0"/>
          <p:nvPr/>
        </p:nvPicPr>
        <p:blipFill>
          <a:blip r:embed="rId3">
            <a:alphaModFix/>
          </a:blip>
          <a:stretch>
            <a:fillRect/>
          </a:stretch>
        </p:blipFill>
        <p:spPr>
          <a:xfrm>
            <a:off x="490563" y="2571750"/>
            <a:ext cx="8162925" cy="771525"/>
          </a:xfrm>
          <a:prstGeom prst="rect">
            <a:avLst/>
          </a:prstGeom>
          <a:noFill/>
          <a:ln>
            <a:noFill/>
          </a:ln>
        </p:spPr>
      </p:pic>
      <p:pic>
        <p:nvPicPr>
          <p:cNvPr id="3653" name="Google Shape;3653;p311"/>
          <p:cNvPicPr preferRelativeResize="0"/>
          <p:nvPr/>
        </p:nvPicPr>
        <p:blipFill>
          <a:blip r:embed="rId4">
            <a:alphaModFix/>
          </a:blip>
          <a:stretch>
            <a:fillRect/>
          </a:stretch>
        </p:blipFill>
        <p:spPr>
          <a:xfrm>
            <a:off x="2735163" y="1509525"/>
            <a:ext cx="3673750" cy="481500"/>
          </a:xfrm>
          <a:prstGeom prst="rect">
            <a:avLst/>
          </a:prstGeom>
          <a:noFill/>
          <a:ln>
            <a:noFill/>
          </a:ln>
        </p:spPr>
      </p:pic>
    </p:spTree>
  </p:cSld>
  <p:clrMapOvr>
    <a:masterClrMapping/>
  </p:clrMapOvr>
</p:sld>
</file>

<file path=ppt/slides/slide2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57" name="Shape 3657"/>
        <p:cNvGrpSpPr/>
        <p:nvPr/>
      </p:nvGrpSpPr>
      <p:grpSpPr>
        <a:xfrm>
          <a:off x="0" y="0"/>
          <a:ext cx="0" cy="0"/>
          <a:chOff x="0" y="0"/>
          <a:chExt cx="0" cy="0"/>
        </a:xfrm>
      </p:grpSpPr>
      <p:sp>
        <p:nvSpPr>
          <p:cNvPr id="3658" name="Google Shape;3658;p312"/>
          <p:cNvSpPr txBox="1"/>
          <p:nvPr>
            <p:ph type="title"/>
          </p:nvPr>
        </p:nvSpPr>
        <p:spPr>
          <a:xfrm>
            <a:off x="311725" y="500925"/>
            <a:ext cx="8520600" cy="62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Bayes Rule</a:t>
            </a:r>
            <a:endParaRPr/>
          </a:p>
        </p:txBody>
      </p:sp>
      <p:sp>
        <p:nvSpPr>
          <p:cNvPr id="3659" name="Google Shape;3659;p312"/>
          <p:cNvSpPr txBox="1"/>
          <p:nvPr/>
        </p:nvSpPr>
        <p:spPr>
          <a:xfrm>
            <a:off x="393300" y="4397700"/>
            <a:ext cx="8357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latin typeface="Google Sans"/>
                <a:ea typeface="Google Sans"/>
                <a:cs typeface="Google Sans"/>
                <a:sym typeface="Google Sans"/>
              </a:rPr>
              <a:t>Bayes Rule = Joint probability sliced two ways + algebra.</a:t>
            </a:r>
            <a:endParaRPr sz="2400">
              <a:latin typeface="Google Sans"/>
              <a:ea typeface="Google Sans"/>
              <a:cs typeface="Google Sans"/>
              <a:sym typeface="Google Sans"/>
            </a:endParaRPr>
          </a:p>
        </p:txBody>
      </p:sp>
      <p:pic>
        <p:nvPicPr>
          <p:cNvPr id="3660" name="Google Shape;3660;p312"/>
          <p:cNvPicPr preferRelativeResize="0"/>
          <p:nvPr/>
        </p:nvPicPr>
        <p:blipFill>
          <a:blip r:embed="rId3">
            <a:alphaModFix/>
          </a:blip>
          <a:stretch>
            <a:fillRect/>
          </a:stretch>
        </p:blipFill>
        <p:spPr>
          <a:xfrm>
            <a:off x="152400" y="1518350"/>
            <a:ext cx="8839200" cy="455745"/>
          </a:xfrm>
          <a:prstGeom prst="rect">
            <a:avLst/>
          </a:prstGeom>
          <a:noFill/>
          <a:ln>
            <a:noFill/>
          </a:ln>
        </p:spPr>
      </p:pic>
      <p:pic>
        <p:nvPicPr>
          <p:cNvPr id="3661" name="Google Shape;3661;p312"/>
          <p:cNvPicPr preferRelativeResize="0"/>
          <p:nvPr/>
        </p:nvPicPr>
        <p:blipFill>
          <a:blip r:embed="rId4">
            <a:alphaModFix/>
          </a:blip>
          <a:stretch>
            <a:fillRect/>
          </a:stretch>
        </p:blipFill>
        <p:spPr>
          <a:xfrm>
            <a:off x="310863" y="2367820"/>
            <a:ext cx="8522331" cy="174340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